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328" r:id="rId2"/>
    <p:sldId id="347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8" r:id="rId19"/>
    <p:sldId id="344" r:id="rId20"/>
    <p:sldId id="345" r:id="rId21"/>
    <p:sldId id="346" r:id="rId22"/>
  </p:sldIdLst>
  <p:sldSz cx="9144000" cy="6858000" type="screen4x3"/>
  <p:notesSz cx="6858000" cy="9144000"/>
  <p:embeddedFontLst>
    <p:embeddedFont>
      <p:font typeface="가을체" panose="020B0600000101010101" charset="-127"/>
      <p:regular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D2Coding" panose="020B0609020101020101" pitchFamily="49" charset="-127"/>
      <p:regular r:id="rId29"/>
      <p:bold r:id="rId30"/>
    </p:embeddedFont>
    <p:embeddedFont>
      <p:font typeface="HY견고딕" panose="02030600000101010101" pitchFamily="18" charset="-127"/>
      <p:regular r:id="rId31"/>
    </p:embeddedFont>
    <p:embeddedFont>
      <p:font typeface="나눔바른고딕" panose="020B0603020101020101" pitchFamily="50" charset="-127"/>
      <p:regular r:id="rId32"/>
      <p:bold r:id="rId3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FF"/>
    <a:srgbClr val="CC00CC"/>
    <a:srgbClr val="0099FF"/>
    <a:srgbClr val="FF9900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>
        <p:scale>
          <a:sx n="100" d="100"/>
          <a:sy n="100" d="100"/>
        </p:scale>
        <p:origin x="1044" y="276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15. </a:t>
            </a:r>
            <a:r>
              <a:rPr lang="ko-KR" altLang="en-US" dirty="0"/>
              <a:t>동적 메모리 할당</a:t>
            </a:r>
            <a:br>
              <a:rPr lang="ko-KR" altLang="en-US" dirty="0"/>
            </a:br>
            <a:r>
              <a:rPr lang="en-US" altLang="ko-KR" sz="2800" dirty="0"/>
              <a:t>(Dynamic Memory Allocation)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 </a:t>
            </a:r>
            <a:r>
              <a:rPr lang="ko-KR" altLang="en-US" dirty="0"/>
              <a:t>정적 할당과 동적 할당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3200" dirty="0"/>
              <a:t>메모리 구조</a:t>
            </a:r>
            <a:endParaRPr lang="en-US" altLang="ko-KR" sz="3200" dirty="0"/>
          </a:p>
          <a:p>
            <a:pPr lvl="1"/>
            <a:endParaRPr lang="en-US" altLang="ko-KR" sz="2800" dirty="0"/>
          </a:p>
          <a:p>
            <a:pPr lvl="1"/>
            <a:r>
              <a:rPr lang="ko-KR" altLang="en-US" sz="2800" dirty="0"/>
              <a:t>코드 영역</a:t>
            </a:r>
            <a:endParaRPr lang="en-US" altLang="ko-KR" sz="2800" dirty="0"/>
          </a:p>
          <a:p>
            <a:pPr lvl="2"/>
            <a:endParaRPr lang="en-US" altLang="ko-KR" sz="2400" dirty="0"/>
          </a:p>
          <a:p>
            <a:pPr lvl="1"/>
            <a:r>
              <a:rPr lang="ko-KR" altLang="en-US" sz="2800" dirty="0"/>
              <a:t>데이터 영역</a:t>
            </a:r>
            <a:r>
              <a:rPr lang="en-US" altLang="ko-KR" sz="2800" dirty="0"/>
              <a:t>(Data)</a:t>
            </a:r>
          </a:p>
          <a:p>
            <a:pPr lvl="2"/>
            <a:r>
              <a:rPr lang="ko-KR" altLang="en-US" sz="2400" dirty="0"/>
              <a:t>전역변수</a:t>
            </a:r>
            <a:endParaRPr lang="en-US" altLang="ko-KR" sz="2400" dirty="0"/>
          </a:p>
          <a:p>
            <a:pPr lvl="2"/>
            <a:r>
              <a:rPr lang="en-US" altLang="ko-KR" sz="2400" dirty="0"/>
              <a:t>static </a:t>
            </a:r>
            <a:r>
              <a:rPr lang="ko-KR" altLang="en-US" sz="2400" dirty="0"/>
              <a:t>변수</a:t>
            </a:r>
            <a:endParaRPr lang="en-US" altLang="ko-KR" sz="2400" dirty="0"/>
          </a:p>
          <a:p>
            <a:pPr lvl="2"/>
            <a:endParaRPr lang="en-US" altLang="ko-KR" sz="2400" dirty="0"/>
          </a:p>
          <a:p>
            <a:pPr lvl="1"/>
            <a:r>
              <a:rPr lang="ko-KR" altLang="en-US" sz="2800" dirty="0"/>
              <a:t>스택</a:t>
            </a:r>
            <a:r>
              <a:rPr lang="en-US" altLang="ko-KR" sz="2800" dirty="0"/>
              <a:t>(Stack)</a:t>
            </a:r>
          </a:p>
          <a:p>
            <a:pPr lvl="2"/>
            <a:endParaRPr lang="en-US" altLang="ko-KR" sz="2400" dirty="0"/>
          </a:p>
          <a:p>
            <a:pPr lvl="1"/>
            <a:r>
              <a:rPr lang="ko-KR" altLang="en-US" sz="2800" dirty="0"/>
              <a:t>힙</a:t>
            </a:r>
            <a:r>
              <a:rPr lang="en-US" altLang="ko-KR" sz="2800" dirty="0"/>
              <a:t>(Heap)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25377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 </a:t>
            </a:r>
            <a:r>
              <a:rPr lang="ko-KR" altLang="en-US" dirty="0"/>
              <a:t>정적 할당과 동적 할당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자동 할당 </a:t>
            </a:r>
            <a:r>
              <a:rPr lang="en-US" altLang="ko-KR" sz="2400" dirty="0"/>
              <a:t>(Stack)</a:t>
            </a:r>
          </a:p>
          <a:p>
            <a:pPr lvl="1"/>
            <a:r>
              <a:rPr lang="ko-KR" altLang="en-US" sz="2000" dirty="0"/>
              <a:t>함수 호출 시 생성 </a:t>
            </a:r>
            <a:r>
              <a:rPr lang="en-US" altLang="ko-KR" sz="2000" dirty="0"/>
              <a:t>/ </a:t>
            </a:r>
            <a:r>
              <a:rPr lang="ko-KR" altLang="en-US" sz="2000" dirty="0"/>
              <a:t>종료 시 자동 제거</a:t>
            </a:r>
          </a:p>
          <a:p>
            <a:pPr lvl="1"/>
            <a:r>
              <a:rPr lang="ko-KR" altLang="en-US" sz="2000" dirty="0"/>
              <a:t>지역 변수 저장</a:t>
            </a:r>
          </a:p>
          <a:p>
            <a:pPr lvl="1"/>
            <a:r>
              <a:rPr lang="ko-KR" altLang="en-US" sz="2000" dirty="0"/>
              <a:t>크기 제한 존재 → 스택 </a:t>
            </a:r>
            <a:r>
              <a:rPr lang="ko-KR" altLang="en-US" sz="2000" dirty="0" err="1"/>
              <a:t>오버플로우</a:t>
            </a:r>
            <a:r>
              <a:rPr lang="ko-KR" altLang="en-US" sz="2000" dirty="0"/>
              <a:t> 가능</a:t>
            </a:r>
            <a:endParaRPr lang="en-US" altLang="ko-KR" sz="2000" dirty="0"/>
          </a:p>
          <a:p>
            <a:pPr lvl="3"/>
            <a:endParaRPr lang="ko-KR" altLang="en-US" sz="1400" dirty="0"/>
          </a:p>
          <a:p>
            <a:r>
              <a:rPr lang="ko-KR" altLang="en-US" sz="2400" dirty="0"/>
              <a:t>정적 할당 </a:t>
            </a:r>
            <a:r>
              <a:rPr lang="en-US" altLang="ko-KR" sz="2400" dirty="0"/>
              <a:t>(Data </a:t>
            </a:r>
            <a:r>
              <a:rPr lang="ko-KR" altLang="en-US" sz="2400" dirty="0"/>
              <a:t>영역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컴파일 시점에 크기 결정</a:t>
            </a:r>
          </a:p>
          <a:p>
            <a:pPr lvl="1"/>
            <a:r>
              <a:rPr lang="ko-KR" altLang="en-US" sz="2000" dirty="0"/>
              <a:t>프로그램 시작 시 할당 </a:t>
            </a:r>
            <a:r>
              <a:rPr lang="en-US" altLang="ko-KR" sz="2000" dirty="0"/>
              <a:t>/ </a:t>
            </a:r>
            <a:r>
              <a:rPr lang="ko-KR" altLang="en-US" sz="2000" dirty="0"/>
              <a:t>종료 시까지 유지</a:t>
            </a:r>
          </a:p>
          <a:p>
            <a:pPr lvl="1"/>
            <a:r>
              <a:rPr lang="ko-KR" altLang="en-US" sz="2000" dirty="0"/>
              <a:t>전역 변수</a:t>
            </a:r>
            <a:r>
              <a:rPr lang="en-US" altLang="ko-KR" sz="2000" dirty="0"/>
              <a:t>, static </a:t>
            </a:r>
            <a:r>
              <a:rPr lang="ko-KR" altLang="en-US" sz="2000" dirty="0"/>
              <a:t>변수</a:t>
            </a:r>
          </a:p>
          <a:p>
            <a:pPr lvl="1"/>
            <a:r>
              <a:rPr lang="ko-KR" altLang="en-US" sz="2000" dirty="0"/>
              <a:t>크기 고정 → 실행 중 변경 불가</a:t>
            </a:r>
          </a:p>
          <a:p>
            <a:pPr lvl="3"/>
            <a:endParaRPr lang="ko-KR" altLang="en-US" sz="1400" dirty="0"/>
          </a:p>
          <a:p>
            <a:r>
              <a:rPr lang="ko-KR" altLang="en-US" sz="2400" dirty="0"/>
              <a:t>동적 할당 </a:t>
            </a:r>
            <a:r>
              <a:rPr lang="en-US" altLang="ko-KR" sz="2400" dirty="0"/>
              <a:t>(Heap)</a:t>
            </a:r>
          </a:p>
          <a:p>
            <a:pPr lvl="1"/>
            <a:r>
              <a:rPr lang="ko-KR" altLang="en-US" sz="2000" dirty="0"/>
              <a:t>실행 중 필요할 때 메모리 요청 → 사용 후 자원 반환</a:t>
            </a:r>
            <a:endParaRPr lang="en-US" altLang="ko-KR" sz="2000" dirty="0"/>
          </a:p>
          <a:p>
            <a:pPr lvl="2"/>
            <a:r>
              <a:rPr lang="ko-KR" altLang="en-US" sz="1600" dirty="0"/>
              <a:t>자원 요청 → 자원 확인 → 자원 사용 → 자원 반환</a:t>
            </a:r>
            <a:endParaRPr lang="ko-KR" altLang="en-US" sz="1100" dirty="0"/>
          </a:p>
          <a:p>
            <a:pPr lvl="2"/>
            <a:r>
              <a:rPr lang="ko-KR" altLang="en-US" sz="1600" dirty="0"/>
              <a:t>직접 해제 필요 </a:t>
            </a:r>
            <a:r>
              <a:rPr lang="en-US" altLang="ko-KR" sz="1600" dirty="0"/>
              <a:t>(free)</a:t>
            </a:r>
          </a:p>
          <a:p>
            <a:pPr lvl="1"/>
            <a:r>
              <a:rPr lang="ko-KR" altLang="en-US" sz="2000" dirty="0"/>
              <a:t>포인터로 주소 반환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18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 </a:t>
            </a:r>
            <a:r>
              <a:rPr lang="ko-KR" altLang="en-US" dirty="0"/>
              <a:t>메모리 관련 함수들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>
                <a:latin typeface="+mn-ea"/>
                <a:ea typeface="+mn-ea"/>
              </a:rPr>
              <a:t>동적할당</a:t>
            </a:r>
            <a:endParaRPr lang="en-US" altLang="ko-KR" sz="2400" dirty="0">
              <a:latin typeface="+mn-ea"/>
              <a:ea typeface="+mn-ea"/>
            </a:endParaRPr>
          </a:p>
          <a:p>
            <a:pPr lvl="1"/>
            <a:r>
              <a:rPr lang="ko-KR" altLang="en-US" sz="2000" dirty="0">
                <a:latin typeface="+mn-ea"/>
                <a:ea typeface="+mn-ea"/>
              </a:rPr>
              <a:t>헤더 파일</a:t>
            </a:r>
            <a:endParaRPr lang="en-US" altLang="ko-KR" sz="2000" dirty="0">
              <a:latin typeface="+mn-ea"/>
              <a:ea typeface="+mn-ea"/>
            </a:endParaRPr>
          </a:p>
          <a:p>
            <a:pPr marL="457200" lvl="1" indent="0">
              <a:buNone/>
            </a:pPr>
            <a:r>
              <a:rPr lang="en-US" altLang="ko-KR" sz="2800" i="0" u="none" strike="noStrike" dirty="0">
                <a:solidFill>
                  <a:srgbClr val="4078F2"/>
                </a:solidFill>
                <a:effectLst/>
                <a:latin typeface="+mn-ea"/>
                <a:ea typeface="+mn-ea"/>
              </a:rPr>
              <a:t>	#include </a:t>
            </a:r>
            <a:r>
              <a:rPr lang="en-US" altLang="ko-KR" sz="2800" i="0" u="none" strike="noStrike" dirty="0">
                <a:solidFill>
                  <a:srgbClr val="50A14F"/>
                </a:solidFill>
                <a:effectLst/>
                <a:latin typeface="+mn-ea"/>
                <a:ea typeface="+mn-ea"/>
              </a:rPr>
              <a:t>&lt;stdlib.h&gt;</a:t>
            </a:r>
            <a:endParaRPr lang="en-US" altLang="ko-KR" sz="2800" dirty="0">
              <a:latin typeface="+mn-ea"/>
              <a:ea typeface="+mn-ea"/>
            </a:endParaRPr>
          </a:p>
          <a:p>
            <a:pPr lvl="1"/>
            <a:r>
              <a:rPr lang="en-US" altLang="ko-KR" sz="2000" dirty="0">
                <a:latin typeface="+mn-ea"/>
                <a:ea typeface="+mn-ea"/>
              </a:rPr>
              <a:t>malloc</a:t>
            </a:r>
            <a:r>
              <a:rPr lang="en-US" altLang="ko-KR" sz="2000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(size_t size)</a:t>
            </a:r>
            <a:endParaRPr lang="en-US" altLang="ko-KR" sz="2000" dirty="0">
              <a:latin typeface="+mn-ea"/>
              <a:ea typeface="+mn-ea"/>
            </a:endParaRPr>
          </a:p>
          <a:p>
            <a:pPr lvl="1"/>
            <a:r>
              <a:rPr lang="en-US" altLang="ko-KR" sz="2000" dirty="0">
                <a:latin typeface="+mn-ea"/>
                <a:ea typeface="+mn-ea"/>
              </a:rPr>
              <a:t>calloc</a:t>
            </a:r>
            <a:r>
              <a:rPr lang="en-US" altLang="ko-KR" sz="2000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(size_t count, size_t size)</a:t>
            </a:r>
            <a:endParaRPr lang="en-US" altLang="ko-KR" sz="2000" dirty="0">
              <a:latin typeface="+mn-ea"/>
              <a:ea typeface="+mn-ea"/>
            </a:endParaRPr>
          </a:p>
          <a:p>
            <a:pPr lvl="1"/>
            <a:r>
              <a:rPr lang="en-US" altLang="ko-KR" sz="2000" dirty="0">
                <a:latin typeface="+mn-ea"/>
                <a:ea typeface="+mn-ea"/>
              </a:rPr>
              <a:t>realloc</a:t>
            </a:r>
            <a:r>
              <a:rPr lang="en-US" altLang="ko-KR" sz="2000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(void* ptr, size_t new_size)</a:t>
            </a:r>
          </a:p>
          <a:p>
            <a:pPr lvl="1"/>
            <a:r>
              <a:rPr lang="ko-KR" altLang="en-US" sz="2000" dirty="0">
                <a:latin typeface="+mn-ea"/>
                <a:ea typeface="+mn-ea"/>
              </a:rPr>
              <a:t>해제 </a:t>
            </a:r>
            <a:r>
              <a:rPr lang="en-US" altLang="ko-KR" sz="2000" dirty="0">
                <a:latin typeface="+mn-ea"/>
                <a:ea typeface="+mn-ea"/>
              </a:rPr>
              <a:t>: </a:t>
            </a:r>
            <a:r>
              <a:rPr lang="en-US" altLang="ko-KR" sz="2000" i="0" u="none" strike="noStrike" dirty="0">
                <a:solidFill>
                  <a:srgbClr val="000000"/>
                </a:solidFill>
                <a:effectLst/>
                <a:latin typeface="+mn-ea"/>
                <a:ea typeface="+mn-ea"/>
              </a:rPr>
              <a:t>free(void* ptr)</a:t>
            </a:r>
            <a:endParaRPr lang="en-US" altLang="ko-KR" sz="2000" dirty="0">
              <a:latin typeface="+mn-ea"/>
              <a:ea typeface="+mn-ea"/>
            </a:endParaRPr>
          </a:p>
          <a:p>
            <a:pPr lvl="3"/>
            <a:endParaRPr lang="en-US" altLang="ko-KR" sz="1400" dirty="0">
              <a:latin typeface="+mn-ea"/>
              <a:ea typeface="+mn-ea"/>
            </a:endParaRPr>
          </a:p>
          <a:p>
            <a:r>
              <a:rPr lang="ko-KR" altLang="en-US" sz="2400" dirty="0">
                <a:latin typeface="+mn-ea"/>
                <a:ea typeface="+mn-ea"/>
              </a:rPr>
              <a:t>메모리 조작</a:t>
            </a:r>
            <a:endParaRPr lang="en-US" altLang="ko-KR" sz="2400" dirty="0">
              <a:latin typeface="+mn-ea"/>
              <a:ea typeface="+mn-ea"/>
            </a:endParaRPr>
          </a:p>
          <a:p>
            <a:pPr lvl="1"/>
            <a:r>
              <a:rPr lang="ko-KR" altLang="en-US" sz="2000" dirty="0">
                <a:latin typeface="+mn-ea"/>
                <a:ea typeface="+mn-ea"/>
              </a:rPr>
              <a:t>헤더 파일</a:t>
            </a:r>
            <a:endParaRPr lang="en-US" altLang="ko-KR" sz="2000" dirty="0">
              <a:latin typeface="+mn-ea"/>
              <a:ea typeface="+mn-ea"/>
            </a:endParaRPr>
          </a:p>
          <a:p>
            <a:pPr marL="457200" lvl="1" indent="0">
              <a:buNone/>
            </a:pPr>
            <a:r>
              <a:rPr lang="en-US" altLang="ko-KR" sz="2800" i="0" u="none" strike="noStrike" dirty="0">
                <a:solidFill>
                  <a:srgbClr val="4078F2"/>
                </a:solidFill>
                <a:effectLst/>
                <a:latin typeface="+mn-ea"/>
                <a:ea typeface="+mn-ea"/>
              </a:rPr>
              <a:t>	#include </a:t>
            </a:r>
            <a:r>
              <a:rPr lang="en-US" altLang="ko-KR" sz="2800" i="0" u="none" strike="noStrike" dirty="0">
                <a:solidFill>
                  <a:srgbClr val="CC00FF"/>
                </a:solidFill>
                <a:effectLst/>
                <a:latin typeface="+mn-ea"/>
                <a:ea typeface="+mn-ea"/>
              </a:rPr>
              <a:t>&lt;string.h&gt;</a:t>
            </a:r>
            <a:endParaRPr lang="en-US" altLang="ko-KR" sz="2800" dirty="0">
              <a:solidFill>
                <a:srgbClr val="CC00FF"/>
              </a:solidFill>
              <a:latin typeface="+mn-ea"/>
              <a:ea typeface="+mn-ea"/>
            </a:endParaRPr>
          </a:p>
          <a:p>
            <a:pPr lvl="1"/>
            <a:r>
              <a:rPr lang="en-US" altLang="ko-KR" sz="2000" dirty="0">
                <a:latin typeface="+mn-ea"/>
                <a:ea typeface="+mn-ea"/>
              </a:rPr>
              <a:t>memset</a:t>
            </a:r>
          </a:p>
          <a:p>
            <a:pPr lvl="1"/>
            <a:r>
              <a:rPr lang="en-US" altLang="ko-KR" sz="2000" dirty="0">
                <a:latin typeface="+mn-ea"/>
                <a:ea typeface="+mn-ea"/>
              </a:rPr>
              <a:t>memcpy</a:t>
            </a:r>
          </a:p>
          <a:p>
            <a:pPr lvl="1"/>
            <a:r>
              <a:rPr lang="en-US" altLang="ko-KR" sz="2000" dirty="0">
                <a:latin typeface="+mn-ea"/>
                <a:ea typeface="+mn-ea"/>
              </a:rPr>
              <a:t>memmove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5550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15.2.1 memset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memset</a:t>
            </a:r>
            <a:br>
              <a:rPr lang="en-US" altLang="ko-KR" sz="24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ptr,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value,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num)</a:t>
            </a:r>
          </a:p>
          <a:p>
            <a:endParaRPr lang="en-US" altLang="ko-KR" sz="240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 구분 없이 메모리를 바이트 단위로 채움</a:t>
            </a:r>
            <a:b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dirty="0"/>
              <a:t>value</a:t>
            </a:r>
            <a:r>
              <a:rPr lang="ko-KR" altLang="en-US" sz="2400" dirty="0"/>
              <a:t>의 하위 </a:t>
            </a:r>
            <a:r>
              <a:rPr lang="en-US" altLang="ko-KR" sz="2400" dirty="0"/>
              <a:t>1</a:t>
            </a:r>
            <a:r>
              <a:rPr lang="ko-KR" altLang="en-US" sz="2400" dirty="0"/>
              <a:t>바이트를 반복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9168E-3AE2-459E-9D87-8D789313EEB0}"/>
              </a:ext>
            </a:extLst>
          </p:cNvPr>
          <p:cNvSpPr txBox="1"/>
          <p:nvPr/>
        </p:nvSpPr>
        <p:spPr>
          <a:xfrm>
            <a:off x="395536" y="3429000"/>
            <a:ext cx="7992888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(arr,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(arr));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배열의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모든 바이트가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F1CDC-2417-470D-993E-87765AD48580}"/>
              </a:ext>
            </a:extLst>
          </p:cNvPr>
          <p:cNvSpPr txBox="1"/>
          <p:nvPr/>
        </p:nvSpPr>
        <p:spPr>
          <a:xfrm>
            <a:off x="395536" y="4276450"/>
            <a:ext cx="7992888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(arr,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(arr)); 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→ 0x01010101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로 채워 짐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91035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15.2.2 memcpy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memcpy</a:t>
            </a:r>
            <a:br>
              <a:rPr lang="en-US" altLang="ko-KR" sz="24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src,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num)</a:t>
            </a:r>
          </a:p>
          <a:p>
            <a:pPr lvl="3"/>
            <a:endParaRPr lang="en-US" altLang="ko-KR" sz="140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ko-KR" altLang="en-US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 구분 없이 지정한 바이트 수만큼 그대로 복사</a:t>
            </a:r>
            <a:endParaRPr lang="en-US" altLang="ko-KR" sz="200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altLang="ko-KR" sz="20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 lvl="1"/>
            <a:endParaRPr lang="en-US" altLang="ko-KR" sz="200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altLang="ko-KR" sz="20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 lvl="1"/>
            <a:endParaRPr lang="en-US" altLang="ko-KR" sz="200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240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주의</a:t>
            </a:r>
          </a:p>
          <a:p>
            <a:pPr lvl="1"/>
            <a:r>
              <a:rPr lang="ko-KR" altLang="en-US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메모리 영역이 겹치면 정의되지 않음 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(UB) → </a:t>
            </a:r>
            <a:r>
              <a:rPr lang="en-US" altLang="ko-KR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memmove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사용</a:t>
            </a:r>
            <a:endParaRPr lang="en-US" altLang="ko-KR" sz="200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ko-KR" altLang="en-US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플랫폼에 따라 결과 달라질 수 있음</a:t>
            </a:r>
          </a:p>
          <a:p>
            <a:endParaRPr lang="en-US" altLang="ko-KR" sz="1800" b="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ED507-E34E-403D-9DAA-2DB146D4B7CB}"/>
              </a:ext>
            </a:extLst>
          </p:cNvPr>
          <p:cNvSpPr txBox="1"/>
          <p:nvPr/>
        </p:nvSpPr>
        <p:spPr>
          <a:xfrm>
            <a:off x="971600" y="2228671"/>
            <a:ext cx="7272808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(&amp;b, &amp;a,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50E10-3DA5-4B77-8D12-2FC6CFDD0F30}"/>
              </a:ext>
            </a:extLst>
          </p:cNvPr>
          <p:cNvSpPr txBox="1"/>
          <p:nvPr/>
        </p:nvSpPr>
        <p:spPr>
          <a:xfrm>
            <a:off x="971600" y="5517232"/>
            <a:ext cx="7272808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buffer[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abcdefghi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 +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buffer,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  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위험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3512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15.2.3 memmove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memmove</a:t>
            </a:r>
            <a:br>
              <a:rPr lang="en-US" altLang="ko-KR" sz="24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src,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num)</a:t>
            </a:r>
          </a:p>
          <a:p>
            <a:pPr lvl="2"/>
            <a:endParaRPr lang="en-US" altLang="ko-KR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r>
              <a:rPr lang="en-US" altLang="ko-KR" dirty="0"/>
              <a:t>memmove</a:t>
            </a:r>
          </a:p>
          <a:p>
            <a:pPr lvl="1"/>
            <a:r>
              <a:rPr lang="ko-KR" altLang="en-US" dirty="0"/>
              <a:t>메모리를 바이트 단위로 복사</a:t>
            </a:r>
          </a:p>
          <a:p>
            <a:pPr lvl="1"/>
            <a:r>
              <a:rPr lang="ko-KR" altLang="en-US" dirty="0"/>
              <a:t>복사 영역이 겹쳐도 안전하게 동작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memcpy </a:t>
            </a:r>
            <a:r>
              <a:rPr lang="ko-KR" altLang="en-US" dirty="0"/>
              <a:t>와 비교</a:t>
            </a:r>
            <a:endParaRPr lang="en-US" altLang="ko-KR" dirty="0"/>
          </a:p>
          <a:p>
            <a:pPr lvl="1"/>
            <a:r>
              <a:rPr lang="ko-KR" altLang="en-US" dirty="0"/>
              <a:t>상대적으로 느림</a:t>
            </a:r>
          </a:p>
          <a:p>
            <a:pPr lvl="1"/>
            <a:r>
              <a:rPr lang="ko-KR" altLang="en-US" dirty="0"/>
              <a:t>겹쳐도 안전</a:t>
            </a:r>
            <a:endParaRPr lang="ko-KR" altLang="en-US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18C3E3-26CC-4D47-A285-2B0A6160B16B}"/>
              </a:ext>
            </a:extLst>
          </p:cNvPr>
          <p:cNvSpPr txBox="1"/>
          <p:nvPr/>
        </p:nvSpPr>
        <p:spPr>
          <a:xfrm>
            <a:off x="611560" y="5324296"/>
            <a:ext cx="7416824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안전한 복사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buffer[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abcdefghi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memmove(buffer +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buffer,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  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안전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3226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15.3.1 malloc </a:t>
            </a:r>
            <a:r>
              <a:rPr lang="ko-KR" altLang="en-US" dirty="0"/>
              <a:t>기본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A626A4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dirty="0">
                <a:solidFill>
                  <a:srgbClr val="383A4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</a:t>
            </a:r>
            <a:r>
              <a:rPr lang="en-US" altLang="ko-KR" dirty="0">
                <a:solidFill>
                  <a:srgbClr val="4078F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malloc</a:t>
            </a:r>
            <a:r>
              <a:rPr lang="en-US" altLang="ko-KR" dirty="0">
                <a:solidFill>
                  <a:srgbClr val="383A4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A626A4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size_t</a:t>
            </a:r>
            <a:r>
              <a:rPr lang="en-US" altLang="ko-KR" dirty="0">
                <a:solidFill>
                  <a:srgbClr val="383A4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_Size)</a:t>
            </a:r>
            <a:endParaRPr lang="ko-KR" altLang="en-US" dirty="0">
              <a:latin typeface="Consolas" panose="020B0609020204030204" pitchFamily="49" charset="0"/>
              <a:ea typeface="D2Coding" panose="020B0609020101020101" pitchFamily="49" charset="-127"/>
            </a:endParaRPr>
          </a:p>
          <a:p>
            <a:pPr lvl="1"/>
            <a:r>
              <a:rPr lang="ko-KR" altLang="en-US" sz="1800" dirty="0"/>
              <a:t>요청한 크기만큼 힙 메모리 할당</a:t>
            </a:r>
          </a:p>
          <a:p>
            <a:pPr lvl="1"/>
            <a:r>
              <a:rPr lang="ko-KR" altLang="en-US" sz="1800" dirty="0"/>
              <a:t>성공</a:t>
            </a:r>
            <a:r>
              <a:rPr lang="en-US" altLang="ko-KR" sz="1800" dirty="0"/>
              <a:t>: </a:t>
            </a:r>
            <a:r>
              <a:rPr lang="ko-KR" altLang="en-US" sz="1800" dirty="0"/>
              <a:t>주소 반환 </a:t>
            </a:r>
            <a:r>
              <a:rPr lang="en-US" altLang="ko-KR" sz="1800" dirty="0"/>
              <a:t>(void*), </a:t>
            </a:r>
            <a:r>
              <a:rPr lang="ko-KR" altLang="en-US" sz="1800" dirty="0"/>
              <a:t>실패</a:t>
            </a:r>
            <a:r>
              <a:rPr lang="en-US" altLang="ko-KR" sz="1800" dirty="0"/>
              <a:t>: </a:t>
            </a:r>
            <a:r>
              <a:rPr lang="en-US" altLang="ko-KR" sz="1800" dirty="0">
                <a:solidFill>
                  <a:srgbClr val="CC00FF"/>
                </a:solidFill>
              </a:rPr>
              <a:t>NULL</a:t>
            </a:r>
            <a:r>
              <a:rPr lang="en-US" altLang="ko-KR" sz="1800" dirty="0"/>
              <a:t> </a:t>
            </a:r>
            <a:r>
              <a:rPr lang="ko-KR" altLang="en-US" sz="1800" dirty="0"/>
              <a:t>반환</a:t>
            </a:r>
            <a:endParaRPr lang="en-US" altLang="ko-KR" sz="1800" dirty="0"/>
          </a:p>
          <a:p>
            <a:pPr lvl="1"/>
            <a:r>
              <a:rPr lang="en-US" altLang="ko-KR" sz="1800" dirty="0"/>
              <a:t>malloc </a:t>
            </a:r>
            <a:r>
              <a:rPr lang="ko-KR" altLang="en-US" sz="1800" dirty="0"/>
              <a:t>메모리는 초기화되지 않음 → 필요 시 </a:t>
            </a:r>
            <a:r>
              <a:rPr lang="en-US" altLang="ko-KR" sz="1800" dirty="0">
                <a:solidFill>
                  <a:srgbClr val="CC00FF"/>
                </a:solidFill>
              </a:rPr>
              <a:t>memset</a:t>
            </a:r>
            <a:r>
              <a:rPr lang="en-US" altLang="ko-KR" sz="1800" dirty="0"/>
              <a:t> </a:t>
            </a:r>
            <a:r>
              <a:rPr lang="ko-KR" altLang="en-US" sz="1800" dirty="0"/>
              <a:t>등으로 초기화</a:t>
            </a:r>
            <a:endParaRPr lang="en-US" altLang="ko-KR" sz="1800" dirty="0"/>
          </a:p>
          <a:p>
            <a:pPr lvl="1"/>
            <a:r>
              <a:rPr lang="en-US" altLang="ko-KR" sz="1800" dirty="0"/>
              <a:t>C vs C++</a:t>
            </a:r>
          </a:p>
          <a:p>
            <a:pPr lvl="2"/>
            <a:r>
              <a:rPr lang="en-US" altLang="ko-KR" sz="1600" dirty="0"/>
              <a:t>C:  void* </a:t>
            </a:r>
            <a:r>
              <a:rPr lang="ko-KR" altLang="en-US" sz="1600" dirty="0"/>
              <a:t>자동 변환 → 캐스팅 생략 가능</a:t>
            </a:r>
          </a:p>
          <a:p>
            <a:pPr lvl="2"/>
            <a:r>
              <a:rPr lang="en-US" altLang="ko-KR" sz="1600" dirty="0"/>
              <a:t>C++: </a:t>
            </a:r>
            <a:r>
              <a:rPr lang="ko-KR" altLang="en-US" sz="1600" dirty="0"/>
              <a:t>자동 변환 안됨 명시적 캐스팅 필요</a:t>
            </a:r>
            <a:endParaRPr lang="en-US" altLang="ko-KR" sz="1600" dirty="0"/>
          </a:p>
          <a:p>
            <a:pPr lvl="2"/>
            <a:endParaRPr lang="ko-KR" altLang="en-US" sz="1600" dirty="0"/>
          </a:p>
          <a:p>
            <a:pPr lvl="1"/>
            <a:endParaRPr lang="en-US" altLang="ko-KR" sz="1800" dirty="0"/>
          </a:p>
          <a:p>
            <a:pPr lvl="2"/>
            <a:endParaRPr lang="en-US" altLang="ko-KR" sz="1200" dirty="0"/>
          </a:p>
          <a:p>
            <a:endParaRPr lang="en-US" altLang="ko-KR" sz="2000" dirty="0"/>
          </a:p>
          <a:p>
            <a:r>
              <a:rPr lang="en-US" altLang="ko-KR" dirty="0">
                <a:solidFill>
                  <a:srgbClr val="A626A4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dirty="0">
                <a:solidFill>
                  <a:srgbClr val="383A4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rgbClr val="4078F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free</a:t>
            </a:r>
            <a:r>
              <a:rPr lang="en-US" altLang="ko-KR" dirty="0">
                <a:solidFill>
                  <a:srgbClr val="383A4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A626A4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dirty="0">
                <a:solidFill>
                  <a:srgbClr val="383A4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_Block)</a:t>
            </a:r>
            <a:endParaRPr lang="ko-KR" altLang="en-US" dirty="0"/>
          </a:p>
          <a:p>
            <a:pPr lvl="1"/>
            <a:r>
              <a:rPr lang="en-US" altLang="ko-KR" sz="1800" dirty="0"/>
              <a:t>malloc / calloc / realloc</a:t>
            </a:r>
            <a:r>
              <a:rPr lang="ko-KR" altLang="en-US" sz="1800" dirty="0"/>
              <a:t>으로 생성한 메모리만 해제 </a:t>
            </a:r>
            <a:endParaRPr lang="en-US" altLang="ko-KR" sz="1800" dirty="0"/>
          </a:p>
          <a:p>
            <a:pPr lvl="1"/>
            <a:r>
              <a:rPr lang="ko-KR" altLang="en-US" sz="1800" dirty="0"/>
              <a:t>사용 후 반드시 </a:t>
            </a:r>
            <a:r>
              <a:rPr lang="en-US" altLang="ko-KR" sz="1800" dirty="0">
                <a:solidFill>
                  <a:srgbClr val="CC00FF"/>
                </a:solidFill>
              </a:rPr>
              <a:t>free</a:t>
            </a:r>
            <a:r>
              <a:rPr lang="en-US" altLang="ko-KR" sz="1800" dirty="0"/>
              <a:t> </a:t>
            </a:r>
            <a:r>
              <a:rPr lang="ko-KR" altLang="en-US" sz="1800" dirty="0"/>
              <a:t>로 해제 ← 해제하지 않으면 </a:t>
            </a:r>
            <a:r>
              <a:rPr lang="ko-KR" altLang="en-US" sz="1800" dirty="0">
                <a:solidFill>
                  <a:srgbClr val="CC00CC"/>
                </a:solidFill>
              </a:rPr>
              <a:t>메모리 누수</a:t>
            </a:r>
            <a:endParaRPr lang="ko-KR" altLang="en-US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567FB-17D7-C5FD-8D0D-05F1AF691D80}"/>
              </a:ext>
            </a:extLst>
          </p:cNvPr>
          <p:cNvSpPr txBox="1"/>
          <p:nvPr/>
        </p:nvSpPr>
        <p:spPr>
          <a:xfrm>
            <a:off x="2699792" y="3284984"/>
            <a:ext cx="5400601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C++ </a:t>
            </a:r>
            <a:r>
              <a:rPr lang="ko-KR" altLang="en-US" sz="2000" i="1" u="none" strike="noStrike" dirty="0">
                <a:solidFill>
                  <a:srgbClr val="A0A1A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호환을 위한 명시적 캐스팅</a:t>
            </a:r>
            <a:br>
              <a:rPr lang="ko-KR" altLang="en-US" sz="2000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 ptr = 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*)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malloc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buf_size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3E12A4-936B-1955-1914-22AA05F3A4CC}"/>
              </a:ext>
            </a:extLst>
          </p:cNvPr>
          <p:cNvSpPr txBox="1"/>
          <p:nvPr/>
        </p:nvSpPr>
        <p:spPr>
          <a:xfrm>
            <a:off x="2705518" y="5661248"/>
            <a:ext cx="5400600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free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ptr_arr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20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ptr_arr</a:t>
            </a: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sz="20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r>
              <a:rPr lang="en-US" altLang="ko-KR" sz="2000" i="1" dirty="0">
                <a:solidFill>
                  <a:srgbClr val="A0A1A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// </a:t>
            </a:r>
            <a:r>
              <a:rPr lang="ko-KR" altLang="en-US" sz="2000" i="1" dirty="0" err="1">
                <a:solidFill>
                  <a:srgbClr val="A0A1A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댕글링</a:t>
            </a:r>
            <a:r>
              <a:rPr lang="ko-KR" altLang="en-US" sz="2000" i="1" dirty="0">
                <a:solidFill>
                  <a:srgbClr val="A0A1A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포인터 방지</a:t>
            </a:r>
            <a:endParaRPr lang="ko-KR" altLang="en-US" sz="200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253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15.3.2 malloc</a:t>
            </a:r>
            <a:r>
              <a:rPr lang="ko-KR" altLang="en-US" dirty="0"/>
              <a:t>을 이용한 구조체의 동적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구조체의 동적 생성</a:t>
            </a:r>
          </a:p>
          <a:p>
            <a:pPr lvl="1"/>
            <a:r>
              <a:rPr lang="ko-KR" altLang="en-US" dirty="0"/>
              <a:t>실행 중 </a:t>
            </a:r>
            <a:r>
              <a:rPr lang="en-US" altLang="ko-KR" dirty="0"/>
              <a:t>malloc</a:t>
            </a:r>
            <a:r>
              <a:rPr lang="ko-KR" altLang="en-US" dirty="0"/>
              <a:t>으로 메모리 확보 </a:t>
            </a:r>
          </a:p>
          <a:p>
            <a:pPr lvl="1"/>
            <a:r>
              <a:rPr lang="ko-KR" altLang="en-US" dirty="0"/>
              <a:t>확보한 메모리에 구조체 데이터 구성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8B0D0-085D-978F-B973-336701FE1490}"/>
              </a:ext>
            </a:extLst>
          </p:cNvPr>
          <p:cNvSpPr txBox="1"/>
          <p:nvPr/>
        </p:nvSpPr>
        <p:spPr>
          <a:xfrm>
            <a:off x="395535" y="2420888"/>
            <a:ext cx="3946243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1.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사용자 정의 구조체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.</a:t>
            </a:r>
            <a:endParaRPr lang="en-US" altLang="ko-KR" sz="1400" b="1" i="0" u="none" strike="noStrike" dirty="0">
              <a:solidFill>
                <a:srgbClr val="A626A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name[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type;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1: Knight, 2: Sorcerer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attack;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hp;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Player;</a:t>
            </a:r>
            <a:endParaRPr lang="ko-KR" alt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1AE62-1DEA-20FD-D4E8-9515A49FB645}"/>
              </a:ext>
            </a:extLst>
          </p:cNvPr>
          <p:cNvSpPr txBox="1"/>
          <p:nvPr/>
        </p:nvSpPr>
        <p:spPr>
          <a:xfrm>
            <a:off x="4629807" y="2420888"/>
            <a:ext cx="4041382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3. memset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으로 구조체를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0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으로 초기화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.</a:t>
            </a:r>
            <a:endParaRPr lang="en-US" altLang="ko-KR" sz="1400" b="1" dirty="0">
              <a:solidFill>
                <a:srgbClr val="A626A4"/>
              </a:solidFill>
              <a:latin typeface="Consolas" panose="020B0609020204030204" pitchFamily="49" charset="0"/>
            </a:endParaRPr>
          </a:p>
          <a:p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(Player));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4.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구조체 멤버 값 설정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(player-&gt;name,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"Knight"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player-&gt;type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player-&gt;attack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player-&gt;hp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621D2-4EF5-AD9F-9209-B4CA53B63501}"/>
              </a:ext>
            </a:extLst>
          </p:cNvPr>
          <p:cNvSpPr txBox="1"/>
          <p:nvPr/>
        </p:nvSpPr>
        <p:spPr>
          <a:xfrm>
            <a:off x="395534" y="4546178"/>
            <a:ext cx="3946243" cy="160043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2.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구조체를 위한 동적 할당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.</a:t>
            </a:r>
            <a:endParaRPr lang="en-US" altLang="ko-KR" sz="1400" b="1" dirty="0">
              <a:solidFill>
                <a:srgbClr val="A626A4"/>
              </a:solidFill>
              <a:latin typeface="Consolas" panose="020B0609020204030204" pitchFamily="49" charset="0"/>
            </a:endParaRPr>
          </a:p>
          <a:p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Player* player = (Player*)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(Player));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(!player)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메모리 할당 실패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...</a:t>
            </a:r>
            <a:endParaRPr lang="ko-KR" alt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DD5C4-7127-069D-3CF1-5FBF186E1C46}"/>
              </a:ext>
            </a:extLst>
          </p:cNvPr>
          <p:cNvSpPr txBox="1"/>
          <p:nvPr/>
        </p:nvSpPr>
        <p:spPr>
          <a:xfrm>
            <a:off x="4629807" y="4546178"/>
            <a:ext cx="4041382" cy="116955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5.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동적할당 메모리 해제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(player);</a:t>
            </a:r>
          </a:p>
          <a:p>
            <a:endParaRPr lang="en-US" altLang="ko-KR" sz="1400" b="1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b="1" i="1" dirty="0" err="1">
                <a:solidFill>
                  <a:srgbClr val="A0A1A7"/>
                </a:solidFill>
                <a:latin typeface="Consolas" panose="020B0609020204030204" pitchFamily="49" charset="0"/>
              </a:rPr>
              <a:t>댕글링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 포인터 방지</a:t>
            </a:r>
            <a:br>
              <a:rPr lang="ko-KR" altLang="en-US" sz="1400" b="1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player = </a:t>
            </a:r>
            <a:r>
              <a:rPr lang="en-US" altLang="ko-KR" sz="1400" b="1" dirty="0">
                <a:solidFill>
                  <a:srgbClr val="0184BB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02766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15.3.3 </a:t>
            </a:r>
            <a:r>
              <a:rPr lang="ko-KR" altLang="en-US" dirty="0"/>
              <a:t>배열 형태의 동적 메모리 할당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malloc → </a:t>
            </a:r>
            <a:r>
              <a:rPr lang="ko-KR" altLang="en-US" sz="2400" dirty="0"/>
              <a:t>연속된 메모리 확보 </a:t>
            </a:r>
          </a:p>
          <a:p>
            <a:pPr lvl="1"/>
            <a:r>
              <a:rPr lang="ko-KR" altLang="en-US" sz="2000" dirty="0"/>
              <a:t>포인터로 배열처럼 사용 </a:t>
            </a:r>
          </a:p>
          <a:p>
            <a:pPr lvl="1"/>
            <a:r>
              <a:rPr lang="ko-KR" altLang="en-US" sz="2000" dirty="0"/>
              <a:t>실행 중 크기 결정</a:t>
            </a:r>
            <a:endParaRPr lang="en-US" altLang="ko-KR" sz="2000" dirty="0"/>
          </a:p>
          <a:p>
            <a:pPr lvl="4"/>
            <a:endParaRPr lang="en-US" altLang="ko-KR" sz="1400" dirty="0"/>
          </a:p>
          <a:p>
            <a:r>
              <a:rPr lang="en-US" altLang="ko-KR" sz="2400" dirty="0"/>
              <a:t>Ex)</a:t>
            </a:r>
            <a:r>
              <a:rPr lang="ko-KR" altLang="en-US" sz="2400" dirty="0"/>
              <a:t> 문자열 복사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60DA2-B64E-17F0-497E-300A3B5DE1DE}"/>
              </a:ext>
            </a:extLst>
          </p:cNvPr>
          <p:cNvSpPr txBox="1"/>
          <p:nvPr/>
        </p:nvSpPr>
        <p:spPr>
          <a:xfrm>
            <a:off x="1259632" y="2842478"/>
            <a:ext cx="6408712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(input);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신규 저장공간 크기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 길이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널 종료 문자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('\0')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buf_len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연속된 메모리를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동적으로 할당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reversed = 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buf_len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 버퍼 전체를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으로 초기화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(reversed,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buf_len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입력 문자열을 뒤에서부터 읽어 역순으로 저장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reversed[i] = input[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 i];</a:t>
            </a:r>
          </a:p>
          <a:p>
            <a:endParaRPr lang="en-US" altLang="ko-KR" sz="1400" b="1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동적 할당 해제</a:t>
            </a:r>
            <a:br>
              <a:rPr lang="ko-KR" altLang="en-US" sz="1400" b="1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en-US" altLang="ko-KR" sz="1400" b="1" dirty="0">
                <a:solidFill>
                  <a:srgbClr val="C18401"/>
                </a:solidFill>
                <a:latin typeface="Consolas" panose="020B0609020204030204" pitchFamily="49" charset="0"/>
              </a:rPr>
              <a:t>free</a:t>
            </a:r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(reversed);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9226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15.3.4 </a:t>
            </a:r>
            <a:r>
              <a:rPr lang="ko-KR" altLang="en-US" dirty="0"/>
              <a:t>구조체 배열 동적 할당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malloc → </a:t>
            </a:r>
            <a:r>
              <a:rPr lang="ko-KR" altLang="en-US" sz="2400" dirty="0"/>
              <a:t>연속된 메모리 확보 </a:t>
            </a:r>
          </a:p>
          <a:p>
            <a:r>
              <a:rPr lang="ko-KR" altLang="en-US" sz="2400" dirty="0"/>
              <a:t>구조체 배열처럼 사용 </a:t>
            </a:r>
            <a:r>
              <a:rPr lang="en-US" altLang="ko-KR" sz="2400" dirty="0"/>
              <a:t>(items[i]) </a:t>
            </a:r>
          </a:p>
          <a:p>
            <a:r>
              <a:rPr lang="ko-KR" altLang="en-US" sz="2400" dirty="0"/>
              <a:t>배열과 달리 실행 중 요소 개수</a:t>
            </a:r>
            <a:r>
              <a:rPr lang="en-US" altLang="ko-KR" sz="2400" dirty="0"/>
              <a:t>(count) </a:t>
            </a:r>
            <a:r>
              <a:rPr lang="ko-KR" altLang="en-US" sz="2400" dirty="0"/>
              <a:t>설정</a:t>
            </a:r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C60FF-7F7D-3FA7-D386-EAAEAC746D07}"/>
              </a:ext>
            </a:extLst>
          </p:cNvPr>
          <p:cNvSpPr txBox="1"/>
          <p:nvPr/>
        </p:nvSpPr>
        <p:spPr>
          <a:xfrm>
            <a:off x="4892620" y="2131348"/>
            <a:ext cx="3921448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기본 능력치 설정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count; ++i)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items[i].attack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items[i].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defence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첫 번째 아이템 설정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(items[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].name,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"Sword"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items[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].type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items[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].attack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400" b="1" i="0" u="none" strike="noStrike" dirty="0">
              <a:solidFill>
                <a:srgbClr val="C1840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(items);  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 //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동적 할당 해제</a:t>
            </a:r>
            <a:br>
              <a:rPr lang="ko-KR" altLang="en-US" sz="1400" b="1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items = 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해제 후 안전 처리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ko-KR" alt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3B9FC-7F6E-D020-5883-47CD1BF9E3FE}"/>
              </a:ext>
            </a:extLst>
          </p:cNvPr>
          <p:cNvSpPr txBox="1"/>
          <p:nvPr/>
        </p:nvSpPr>
        <p:spPr>
          <a:xfrm>
            <a:off x="398656" y="2131348"/>
            <a:ext cx="4281488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Item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name[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type;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attack;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defence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Item;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i="0" u="none" strike="noStrike" dirty="0">
              <a:solidFill>
                <a:srgbClr val="A626A4"/>
              </a:solidFill>
              <a:effectLst/>
              <a:latin typeface="Consolas" panose="020B0609020204030204" pitchFamily="49" charset="0"/>
            </a:endParaRPr>
          </a:p>
          <a:p>
            <a:pPr rtl="0">
              <a:buNone/>
            </a:pP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count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400" b="1" dirty="0">
              <a:effectLst/>
            </a:endParaRPr>
          </a:p>
          <a:p>
            <a:pPr>
              <a:buNone/>
            </a:pP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item_size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(Item);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buf_size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item_size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count;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Item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구조체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개에 해당하는 연속 메모리 확보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Item* items = (Item*)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buf_size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전체 구조체 배열을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0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으로 초기화</a:t>
            </a:r>
            <a:br>
              <a:rPr lang="ko-KR" altLang="en-US" sz="1400" b="1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en-US" altLang="ko-KR" sz="1400" b="1" dirty="0">
                <a:solidFill>
                  <a:srgbClr val="C18401"/>
                </a:solidFill>
                <a:latin typeface="Consolas" panose="020B0609020204030204" pitchFamily="49" charset="0"/>
              </a:rPr>
              <a:t>memset</a:t>
            </a:r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(items, </a:t>
            </a:r>
            <a:r>
              <a:rPr lang="en-US" altLang="ko-KR" sz="1400" b="1" dirty="0">
                <a:solidFill>
                  <a:srgbClr val="986801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400" b="1" dirty="0">
                <a:solidFill>
                  <a:srgbClr val="A626A4"/>
                </a:solidFill>
                <a:latin typeface="Consolas" panose="020B0609020204030204" pitchFamily="49" charset="0"/>
              </a:rPr>
              <a:t>sizeof</a:t>
            </a:r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(Item) * count);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97022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15.4.1 </a:t>
            </a:r>
            <a:r>
              <a:rPr lang="en-US" altLang="ko-KR" dirty="0" err="1"/>
              <a:t>calloc</a:t>
            </a:r>
            <a:r>
              <a:rPr lang="en-US" altLang="ko-KR" dirty="0"/>
              <a:t>: 0</a:t>
            </a:r>
            <a:r>
              <a:rPr lang="ko-KR" altLang="en-US" dirty="0"/>
              <a:t>으로 초기화되는 할당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A626A4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* </a:t>
            </a:r>
            <a:r>
              <a:rPr lang="en-US" altLang="ko-KR" dirty="0">
                <a:solidFill>
                  <a:srgbClr val="4078F2"/>
                </a:solidFill>
                <a:latin typeface="Consolas" panose="020B0609020204030204" pitchFamily="49" charset="0"/>
              </a:rPr>
              <a:t>calloc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A626A4"/>
                </a:solidFill>
                <a:latin typeface="Consolas" panose="020B0609020204030204" pitchFamily="49" charset="0"/>
              </a:rPr>
              <a:t>size_t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 _Count, </a:t>
            </a:r>
            <a:r>
              <a:rPr lang="en-US" altLang="ko-KR" dirty="0">
                <a:solidFill>
                  <a:srgbClr val="A626A4"/>
                </a:solidFill>
                <a:latin typeface="Consolas" panose="020B0609020204030204" pitchFamily="49" charset="0"/>
              </a:rPr>
              <a:t>size_t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 _Size)</a:t>
            </a:r>
          </a:p>
          <a:p>
            <a:pPr lvl="4"/>
            <a:endParaRPr lang="ko-KR" altLang="en-US" dirty="0"/>
          </a:p>
          <a:p>
            <a:pPr lvl="1"/>
            <a:r>
              <a:rPr lang="en-US" altLang="ko-KR" dirty="0">
                <a:solidFill>
                  <a:srgbClr val="383A42"/>
                </a:solidFill>
                <a:latin typeface="+mn-ea"/>
              </a:rPr>
              <a:t>_Count</a:t>
            </a:r>
            <a:r>
              <a:rPr lang="en-US" altLang="ko-KR" dirty="0">
                <a:latin typeface="+mn-ea"/>
              </a:rPr>
              <a:t> * _</a:t>
            </a:r>
            <a:r>
              <a:rPr lang="en-US" altLang="ko-KR" dirty="0">
                <a:solidFill>
                  <a:srgbClr val="383A42"/>
                </a:solidFill>
                <a:latin typeface="+mn-ea"/>
              </a:rPr>
              <a:t>Size</a:t>
            </a:r>
            <a:r>
              <a:rPr lang="ko-KR" altLang="en-US" dirty="0">
                <a:latin typeface="+mn-ea"/>
              </a:rPr>
              <a:t> 바이트 할당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모든 메모리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으로 초기화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/>
              <a:t>malloc + memset </a:t>
            </a:r>
            <a:r>
              <a:rPr lang="ko-KR" altLang="en-US" dirty="0"/>
              <a:t>과 동일한 효과</a:t>
            </a:r>
            <a:endParaRPr lang="en-US" altLang="ko-KR" dirty="0"/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A9F69-D755-96C0-DDCB-3E7C8996110C}"/>
              </a:ext>
            </a:extLst>
          </p:cNvPr>
          <p:cNvSpPr txBox="1"/>
          <p:nvPr/>
        </p:nvSpPr>
        <p:spPr>
          <a:xfrm>
            <a:off x="353790" y="3068960"/>
            <a:ext cx="5040560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Enemy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name[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type;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attack;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Enemy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altLang="ko-KR" sz="1200" b="1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count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구조체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count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개에 해당하는 연속 메모리 확보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+ 0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으로 초기화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Enemy* enemies = (Enemy*)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calloc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(count,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(Enemy));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E4E11C-04DC-F502-1D04-AF967E596F83}"/>
              </a:ext>
            </a:extLst>
          </p:cNvPr>
          <p:cNvSpPr txBox="1"/>
          <p:nvPr/>
        </p:nvSpPr>
        <p:spPr>
          <a:xfrm>
            <a:off x="5394350" y="3068960"/>
            <a:ext cx="3498130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기본 공격력 설정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count; ++i)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enemies[i].attack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첫 번째 몬스터 설정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(enemies[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].name,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"Goblin"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enemies[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].type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enemies[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].attack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(enemies); </a:t>
            </a:r>
            <a:r>
              <a:rPr lang="en-US" altLang="ko-KR" sz="12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2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동적 할당 해제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enemies = </a:t>
            </a:r>
            <a:r>
              <a:rPr lang="en-US" altLang="ko-KR" sz="12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해제 후 안전 처리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84163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15.4.2 </a:t>
            </a:r>
            <a:r>
              <a:rPr lang="en-US" altLang="ko-KR" dirty="0" err="1"/>
              <a:t>realloc</a:t>
            </a:r>
            <a:r>
              <a:rPr lang="en-US" altLang="ko-KR" dirty="0"/>
              <a:t>: </a:t>
            </a:r>
            <a:r>
              <a:rPr lang="ko-KR" altLang="en-US" dirty="0"/>
              <a:t>크기 변경과 안전한 사용 패턴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A626A4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* </a:t>
            </a:r>
            <a:r>
              <a:rPr lang="en-US" altLang="ko-KR" dirty="0">
                <a:solidFill>
                  <a:srgbClr val="4078F2"/>
                </a:solidFill>
                <a:latin typeface="Consolas" panose="020B0609020204030204" pitchFamily="49" charset="0"/>
              </a:rPr>
              <a:t>realloc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dirty="0">
                <a:solidFill>
                  <a:srgbClr val="A626A4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 _Block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, </a:t>
            </a:r>
            <a:r>
              <a:rPr lang="en-US" altLang="ko-KR" dirty="0">
                <a:solidFill>
                  <a:srgbClr val="A626A4"/>
                </a:solidFill>
                <a:latin typeface="Consolas" panose="020B0609020204030204" pitchFamily="49" charset="0"/>
              </a:rPr>
              <a:t>size_t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 _Size)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기존 메모리 크기 변경  → 확장 </a:t>
            </a:r>
            <a:r>
              <a:rPr lang="en-US" altLang="ko-KR" dirty="0"/>
              <a:t>/ </a:t>
            </a:r>
            <a:r>
              <a:rPr lang="ko-KR" altLang="en-US" dirty="0"/>
              <a:t>축소 가능 </a:t>
            </a:r>
          </a:p>
          <a:p>
            <a:pPr lvl="1"/>
            <a:r>
              <a:rPr lang="ko-KR" altLang="en-US" dirty="0"/>
              <a:t>새로운 메모리 할당될 수 있음 </a:t>
            </a:r>
            <a:endParaRPr lang="en-US" altLang="ko-KR" dirty="0"/>
          </a:p>
          <a:p>
            <a:pPr lvl="2"/>
            <a:r>
              <a:rPr lang="ko-KR" altLang="en-US" dirty="0"/>
              <a:t>기존 데이터 자동 복사 </a:t>
            </a:r>
          </a:p>
          <a:p>
            <a:pPr lvl="2"/>
            <a:r>
              <a:rPr lang="ko-KR" altLang="en-US" dirty="0"/>
              <a:t>실패 시 → </a:t>
            </a:r>
            <a:r>
              <a:rPr lang="en-US" altLang="ko-KR" dirty="0"/>
              <a:t>NULL </a:t>
            </a:r>
            <a:r>
              <a:rPr lang="ko-KR" altLang="en-US" dirty="0"/>
              <a:t>반환 ← 기존 메모리는 그대로 유지 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ko-KR" altLang="en-US" dirty="0"/>
              <a:t>안전 패턴</a:t>
            </a:r>
            <a:endParaRPr lang="en-US" altLang="ko-KR" dirty="0"/>
          </a:p>
          <a:p>
            <a:pPr lvl="1"/>
            <a:r>
              <a:rPr lang="ko-KR" altLang="en-US" dirty="0"/>
              <a:t>성공 했을 때만 교체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2A8064-8C05-FF51-BDF4-BC9E31E27735}"/>
              </a:ext>
            </a:extLst>
          </p:cNvPr>
          <p:cNvSpPr txBox="1"/>
          <p:nvPr/>
        </p:nvSpPr>
        <p:spPr>
          <a:xfrm>
            <a:off x="971600" y="4552469"/>
            <a:ext cx="7416824" cy="16312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크기 늘리기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realloc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new_n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ptr =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성공했을 때만 교체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02624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15.5 </a:t>
            </a:r>
            <a:r>
              <a:rPr lang="ko-KR" altLang="en-US" dirty="0"/>
              <a:t>포인터와 동적 메모리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기본 원칙</a:t>
            </a:r>
            <a:endParaRPr lang="en-US" altLang="ko-KR" sz="2400" dirty="0"/>
          </a:p>
          <a:p>
            <a:pPr lvl="1"/>
            <a:r>
              <a:rPr lang="ko-KR" altLang="en-US" sz="2000" dirty="0"/>
              <a:t>할당</a:t>
            </a:r>
            <a:r>
              <a:rPr lang="en-US" altLang="ko-KR" sz="2000" dirty="0"/>
              <a:t>/ </a:t>
            </a:r>
            <a:r>
              <a:rPr lang="ko-KR" altLang="en-US" sz="2000" dirty="0"/>
              <a:t>해제 </a:t>
            </a:r>
            <a:r>
              <a:rPr lang="ko-KR" altLang="en-US" sz="2000" dirty="0" err="1"/>
              <a:t>한쌍</a:t>
            </a:r>
            <a:endParaRPr lang="ko-KR" altLang="en-US" sz="2000" dirty="0"/>
          </a:p>
          <a:p>
            <a:pPr lvl="1"/>
            <a:r>
              <a:rPr lang="en-US" altLang="ko-KR" sz="2000" dirty="0"/>
              <a:t>malloc → free </a:t>
            </a:r>
            <a:r>
              <a:rPr lang="ko-KR" altLang="en-US" sz="2000" dirty="0"/>
              <a:t>반드시 호출</a:t>
            </a:r>
            <a:endParaRPr lang="en-US" altLang="ko-KR" sz="2000" dirty="0"/>
          </a:p>
          <a:p>
            <a:pPr lvl="2"/>
            <a:endParaRPr lang="ko-KR" altLang="en-US" sz="1800" dirty="0"/>
          </a:p>
          <a:p>
            <a:r>
              <a:rPr lang="ko-KR" altLang="en-US" sz="2400" dirty="0" err="1"/>
              <a:t>댕글링</a:t>
            </a:r>
            <a:r>
              <a:rPr lang="ko-KR" altLang="en-US" sz="2400" dirty="0"/>
              <a:t> 포인터 방지</a:t>
            </a:r>
            <a:endParaRPr lang="en-US" altLang="ko-KR" sz="2400" dirty="0"/>
          </a:p>
          <a:p>
            <a:pPr lvl="1"/>
            <a:r>
              <a:rPr lang="ko-KR" altLang="en-US" sz="2000" dirty="0"/>
              <a:t>해제된 메모리를 가리키는 포인터</a:t>
            </a:r>
            <a:br>
              <a:rPr lang="en-US" altLang="ko-KR" sz="2000" dirty="0"/>
            </a:br>
            <a:r>
              <a:rPr lang="ko-KR" altLang="en-US" sz="2000" dirty="0"/>
              <a:t>→ 접근 시 오류 발생 가능 </a:t>
            </a:r>
          </a:p>
          <a:p>
            <a:pPr lvl="1"/>
            <a:r>
              <a:rPr lang="en-US" altLang="ko-KR" sz="2000" dirty="0"/>
              <a:t>free </a:t>
            </a:r>
            <a:r>
              <a:rPr lang="ko-KR" altLang="en-US" sz="2000" dirty="0"/>
              <a:t>이후 → 포인터를 </a:t>
            </a:r>
            <a:r>
              <a:rPr lang="en-US" altLang="ko-KR" sz="2000" dirty="0"/>
              <a:t>NULL</a:t>
            </a:r>
            <a:r>
              <a:rPr lang="ko-KR" altLang="en-US" sz="2000" dirty="0"/>
              <a:t>로 설정</a:t>
            </a:r>
            <a:endParaRPr lang="en-US" altLang="ko-KR" sz="2000" dirty="0"/>
          </a:p>
          <a:p>
            <a:pPr lvl="2"/>
            <a:endParaRPr lang="en-US" altLang="ko-KR" sz="1800" dirty="0"/>
          </a:p>
          <a:p>
            <a:r>
              <a:rPr lang="ko-KR" altLang="en-US" sz="2400" dirty="0"/>
              <a:t>소유권 </a:t>
            </a:r>
            <a:r>
              <a:rPr lang="en-US" altLang="ko-KR" sz="2400" dirty="0"/>
              <a:t>(Ownership)</a:t>
            </a:r>
          </a:p>
          <a:p>
            <a:pPr lvl="1"/>
            <a:r>
              <a:rPr lang="ko-KR" altLang="en-US" sz="2000" dirty="0"/>
              <a:t>메모리는 한 번만 해제 </a:t>
            </a:r>
          </a:p>
          <a:p>
            <a:pPr lvl="1"/>
            <a:r>
              <a:rPr lang="ko-KR" altLang="en-US" sz="2000" dirty="0"/>
              <a:t>누가 해제할지 명확히 정의 </a:t>
            </a:r>
          </a:p>
          <a:p>
            <a:pPr lvl="1"/>
            <a:r>
              <a:rPr lang="ko-KR" altLang="en-US" sz="2000" dirty="0"/>
              <a:t>반환 받은 쪽이 해제 책임</a:t>
            </a:r>
            <a:endParaRPr lang="en-US" altLang="ko-KR" sz="2000" dirty="0"/>
          </a:p>
          <a:p>
            <a:pPr lvl="1"/>
            <a:r>
              <a:rPr lang="ko-KR" altLang="en-US" sz="2000" dirty="0"/>
              <a:t>생성자 역할 함수 사용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05949-AF8F-83FD-5786-5B38F8700938}"/>
              </a:ext>
            </a:extLst>
          </p:cNvPr>
          <p:cNvSpPr txBox="1"/>
          <p:nvPr/>
        </p:nvSpPr>
        <p:spPr>
          <a:xfrm>
            <a:off x="3779912" y="4077072"/>
            <a:ext cx="5184576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CreateIntArray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arr =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n);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(!arr)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arr;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소유권을 호출자에게 넘김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27304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15.6 </a:t>
            </a:r>
            <a:r>
              <a:rPr lang="ko-KR" altLang="en-US" dirty="0"/>
              <a:t>얕은 복사 </a:t>
            </a:r>
            <a:r>
              <a:rPr lang="en-US" altLang="ko-KR" dirty="0"/>
              <a:t>vs</a:t>
            </a:r>
            <a:r>
              <a:rPr lang="ko-KR" altLang="en-US" dirty="0"/>
              <a:t> 깊은 복사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얕은 복사 </a:t>
            </a:r>
            <a:r>
              <a:rPr lang="en-US" altLang="ko-KR" dirty="0"/>
              <a:t>(Shallow Copy)</a:t>
            </a:r>
          </a:p>
          <a:p>
            <a:pPr lvl="1"/>
            <a:r>
              <a:rPr lang="ko-KR" altLang="en-US" dirty="0"/>
              <a:t>구조체 대입 → 값 그대로 복사 </a:t>
            </a:r>
          </a:p>
          <a:p>
            <a:pPr lvl="1"/>
            <a:r>
              <a:rPr lang="ko-KR" altLang="en-US" dirty="0"/>
              <a:t>포인터 멤버 → 주소만 복사  ← 동일한 메모리 공유</a:t>
            </a:r>
            <a:r>
              <a:rPr lang="en-US" altLang="ko-KR" dirty="0"/>
              <a:t>		</a:t>
            </a:r>
            <a:endParaRPr lang="ko-KR" altLang="en-US" dirty="0"/>
          </a:p>
          <a:p>
            <a:pPr lvl="1"/>
            <a:r>
              <a:rPr lang="ko-KR" altLang="en-US" dirty="0"/>
              <a:t>문제</a:t>
            </a:r>
          </a:p>
          <a:p>
            <a:pPr lvl="2"/>
            <a:r>
              <a:rPr lang="ko-KR" altLang="en-US" dirty="0"/>
              <a:t>한쪽 </a:t>
            </a:r>
            <a:r>
              <a:rPr lang="en-US" altLang="ko-KR" dirty="0"/>
              <a:t>free → </a:t>
            </a:r>
            <a:r>
              <a:rPr lang="ko-KR" altLang="en-US" dirty="0"/>
              <a:t>다른 쪽 </a:t>
            </a:r>
            <a:r>
              <a:rPr lang="ko-KR" altLang="en-US" dirty="0" err="1"/>
              <a:t>댕글링</a:t>
            </a:r>
            <a:r>
              <a:rPr lang="ko-KR" altLang="en-US" dirty="0"/>
              <a:t> 포인터 </a:t>
            </a:r>
          </a:p>
          <a:p>
            <a:pPr lvl="2"/>
            <a:r>
              <a:rPr lang="ko-KR" altLang="en-US" dirty="0"/>
              <a:t>이중 해제</a:t>
            </a:r>
            <a:r>
              <a:rPr lang="en-US" altLang="ko-KR" dirty="0"/>
              <a:t>(Double Free) </a:t>
            </a:r>
            <a:r>
              <a:rPr lang="ko-KR" altLang="en-US" dirty="0"/>
              <a:t>위험 </a:t>
            </a:r>
          </a:p>
          <a:p>
            <a:pPr lvl="3"/>
            <a:endParaRPr lang="ko-KR" altLang="en-US" dirty="0"/>
          </a:p>
          <a:p>
            <a:r>
              <a:rPr lang="ko-KR" altLang="en-US" dirty="0"/>
              <a:t>깊은 복사 </a:t>
            </a:r>
            <a:r>
              <a:rPr lang="en-US" altLang="ko-KR" dirty="0"/>
              <a:t>(Deep Copy)</a:t>
            </a:r>
          </a:p>
          <a:p>
            <a:pPr lvl="1"/>
            <a:r>
              <a:rPr lang="ko-KR" altLang="en-US" dirty="0"/>
              <a:t>메모리 새로 할당 </a:t>
            </a:r>
          </a:p>
          <a:p>
            <a:pPr lvl="1"/>
            <a:r>
              <a:rPr lang="ko-KR" altLang="en-US" dirty="0"/>
              <a:t>실제 데이터까지 복사 </a:t>
            </a:r>
          </a:p>
          <a:p>
            <a:pPr lvl="1"/>
            <a:r>
              <a:rPr lang="ko-KR" altLang="en-US" dirty="0"/>
              <a:t>서로 독립적인 메모리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AEC3F-CAA9-3FA9-8255-692911457AF9}"/>
              </a:ext>
            </a:extLst>
          </p:cNvPr>
          <p:cNvSpPr txBox="1"/>
          <p:nvPr/>
        </p:nvSpPr>
        <p:spPr>
          <a:xfrm>
            <a:off x="4322639" y="3501008"/>
            <a:ext cx="4713857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 </a:t>
            </a:r>
            <a:r>
              <a:rPr lang="en-US" altLang="ko-KR" sz="12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CopyPlayer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Player* ref)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Player p2 = {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 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모든 구조체 값을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으로 초기화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(!ref || !ref-&gt;name)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p2;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p2.level = ref-&gt;level;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p2.name = 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(ref-&gt;name) +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(!p2.name)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p2.level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p2;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새로 할당한 메모리에 실제 데이터를 복사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깊은 복사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(p2.name, ref-&gt;name);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p2;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25044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15.7.1 </a:t>
            </a:r>
            <a:r>
              <a:rPr lang="ko-KR" altLang="en-US" dirty="0"/>
              <a:t>연속 메모리를 이용한 다차원 배열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</a:t>
            </a:r>
            <a:r>
              <a:rPr lang="ko-KR" altLang="en-US" dirty="0"/>
              <a:t>차원 배열 → </a:t>
            </a:r>
            <a:r>
              <a:rPr lang="en-US" altLang="ko-KR" dirty="0"/>
              <a:t>1</a:t>
            </a:r>
            <a:r>
              <a:rPr lang="ko-KR" altLang="en-US" dirty="0"/>
              <a:t>차원 연속 메모리 구조 </a:t>
            </a:r>
          </a:p>
          <a:p>
            <a:pPr lvl="1"/>
            <a:r>
              <a:rPr lang="ko-KR" altLang="en-US" dirty="0"/>
              <a:t>정적 배열과 메모리 배치가 완전히 동일</a:t>
            </a:r>
          </a:p>
          <a:p>
            <a:endParaRPr lang="en-US" altLang="ko-KR" dirty="0"/>
          </a:p>
          <a:p>
            <a:r>
              <a:rPr lang="ko-KR" altLang="en-US" dirty="0"/>
              <a:t>접근 방식 차이</a:t>
            </a:r>
          </a:p>
          <a:p>
            <a:pPr lvl="1"/>
            <a:r>
              <a:rPr lang="ko-KR" altLang="en-US" dirty="0"/>
              <a:t>정적 배열  → 동적 메모리 </a:t>
            </a:r>
            <a:endParaRPr lang="en-US" altLang="ko-KR" dirty="0"/>
          </a:p>
          <a:p>
            <a:pPr lvl="2"/>
            <a:r>
              <a:rPr lang="en-US" altLang="ko-KR" dirty="0"/>
              <a:t>arr[r][c] </a:t>
            </a:r>
            <a:r>
              <a:rPr lang="ko-KR" altLang="en-US" dirty="0"/>
              <a:t>→ </a:t>
            </a:r>
            <a:r>
              <a:rPr lang="en-US" altLang="ko-KR" dirty="0"/>
              <a:t>arr2d[r * cols + c]</a:t>
            </a:r>
          </a:p>
          <a:p>
            <a:pPr lvl="1"/>
            <a:r>
              <a:rPr lang="ko-KR" altLang="en-US" dirty="0"/>
              <a:t>인덱스 직접 계산 필요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EE569-779C-87A0-85F1-20178046CAFB}"/>
              </a:ext>
            </a:extLst>
          </p:cNvPr>
          <p:cNvSpPr txBox="1"/>
          <p:nvPr/>
        </p:nvSpPr>
        <p:spPr>
          <a:xfrm>
            <a:off x="251520" y="3970080"/>
            <a:ext cx="8640960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rows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cols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 err="1">
                <a:solidFill>
                  <a:srgbClr val="383A42"/>
                </a:solidFill>
                <a:latin typeface="Consolas" panose="020B0609020204030204" pitchFamily="49" charset="0"/>
              </a:rPr>
              <a:t>arrayCount</a:t>
            </a:r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600" b="1" dirty="0">
                <a:solidFill>
                  <a:srgbClr val="986801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arr2d =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600" b="1" dirty="0" err="1">
                <a:solidFill>
                  <a:srgbClr val="383A42"/>
                </a:solidFill>
                <a:latin typeface="Consolas" panose="020B0609020204030204" pitchFamily="49" charset="0"/>
              </a:rPr>
              <a:t>arrayCount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r &lt; rows; ++r)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c &lt; cols; ++c)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arr2d[r * cols + c] = r *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c;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31747-41BB-C697-C208-D12551D8BAFC}"/>
              </a:ext>
            </a:extLst>
          </p:cNvPr>
          <p:cNvSpPr txBox="1"/>
          <p:nvPr/>
        </p:nvSpPr>
        <p:spPr>
          <a:xfrm>
            <a:off x="4860032" y="5694347"/>
            <a:ext cx="4032448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i / cols;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행 인덱스 계산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 = i % cols;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열 인덱스 계산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arr2d[r * cols + c]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87618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15.7.2 </a:t>
            </a:r>
            <a:r>
              <a:rPr lang="ko-KR" altLang="en-US" dirty="0"/>
              <a:t>비 연속 메모리를 이용한 다차원 배열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분산 메모리를 다차원 배열처럼 사용</a:t>
            </a:r>
            <a:endParaRPr lang="en-US" altLang="ko-KR" sz="2400" dirty="0"/>
          </a:p>
          <a:p>
            <a:pPr lvl="1"/>
            <a:r>
              <a:rPr lang="en-US" altLang="ko-KR" sz="2000" dirty="0" err="1">
                <a:solidFill>
                  <a:srgbClr val="0000FF"/>
                </a:solidFill>
              </a:rPr>
              <a:t>ppp</a:t>
            </a:r>
            <a:r>
              <a:rPr lang="en-US" altLang="ko-KR" sz="2000" dirty="0">
                <a:solidFill>
                  <a:srgbClr val="0000FF"/>
                </a:solidFill>
              </a:rPr>
              <a:t>[i][j][k]</a:t>
            </a:r>
          </a:p>
          <a:p>
            <a:endParaRPr lang="en-US" altLang="ko-KR" sz="2400" dirty="0"/>
          </a:p>
          <a:p>
            <a:pPr lvl="1"/>
            <a:r>
              <a:rPr lang="ko-KR" altLang="en-US" sz="2000" dirty="0"/>
              <a:t>각 차원을 개별적으로 </a:t>
            </a:r>
            <a:r>
              <a:rPr lang="en-US" altLang="ko-KR" sz="2000" dirty="0"/>
              <a:t>malloc </a:t>
            </a:r>
          </a:p>
          <a:p>
            <a:pPr lvl="1"/>
            <a:r>
              <a:rPr lang="ko-KR" altLang="en-US" sz="2000" dirty="0"/>
              <a:t>전체 메모리는 하나로 이어져 있지 않음 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주의</a:t>
            </a:r>
          </a:p>
          <a:p>
            <a:pPr lvl="1"/>
            <a:r>
              <a:rPr lang="en-US" altLang="ko-KR" sz="2000" dirty="0"/>
              <a:t>memcpy</a:t>
            </a:r>
            <a:r>
              <a:rPr lang="ko-KR" altLang="en-US" sz="2000" dirty="0"/>
              <a:t>로 한 번에 복사 ❌</a:t>
            </a:r>
            <a:endParaRPr lang="en-US" altLang="ko-KR" sz="2000" dirty="0"/>
          </a:p>
          <a:p>
            <a:pPr lvl="2"/>
            <a:r>
              <a:rPr lang="ko-KR" altLang="en-US" sz="1600" dirty="0"/>
              <a:t>연속 메모리 아님</a:t>
            </a:r>
            <a:endParaRPr lang="en-US" altLang="ko-KR" sz="1600" dirty="0"/>
          </a:p>
          <a:p>
            <a:pPr lvl="2"/>
            <a:r>
              <a:rPr lang="ko-KR" altLang="en-US" sz="1600" dirty="0"/>
              <a:t>요소를 순차적으로 접근해서 복사</a:t>
            </a:r>
            <a:endParaRPr lang="en-US" altLang="ko-KR" sz="1600" dirty="0"/>
          </a:p>
          <a:p>
            <a:pPr lvl="1"/>
            <a:r>
              <a:rPr lang="ko-KR" altLang="en-US" sz="2000" dirty="0"/>
              <a:t>메모리 해제</a:t>
            </a:r>
            <a:endParaRPr lang="en-US" altLang="ko-KR" sz="2000" dirty="0"/>
          </a:p>
          <a:p>
            <a:pPr lvl="2"/>
            <a:r>
              <a:rPr lang="ko-KR" altLang="en-US" sz="1600" dirty="0"/>
              <a:t>연속 메모리 아님</a:t>
            </a:r>
            <a:endParaRPr lang="en-US" altLang="ko-KR" sz="1600" dirty="0"/>
          </a:p>
          <a:p>
            <a:pPr lvl="2"/>
            <a:r>
              <a:rPr lang="ko-KR" altLang="en-US" sz="1600" dirty="0"/>
              <a:t>반드시 역순으로 </a:t>
            </a:r>
            <a:r>
              <a:rPr lang="en-US" altLang="ko-KR" sz="1600" dirty="0"/>
              <a:t>free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435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737FF-1FB5-85D6-D4F0-35BCA71D8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B8B8D-1FA3-FB36-5420-D7C74A1E4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15.7.2 </a:t>
            </a:r>
            <a:r>
              <a:rPr lang="ko-KR" altLang="en-US" dirty="0"/>
              <a:t>비 연속 메모리를 이용한 다차원 배열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177D1-FDE5-3FA2-9E38-94EF45750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39EF4E-80A8-DF24-570E-DBCB55CFAE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FA211-42F9-2D3C-7EAF-EC202C483F3C}"/>
              </a:ext>
            </a:extLst>
          </p:cNvPr>
          <p:cNvSpPr txBox="1"/>
          <p:nvPr/>
        </p:nvSpPr>
        <p:spPr>
          <a:xfrm>
            <a:off x="367949" y="1268760"/>
            <a:ext cx="5284171" cy="46628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iWidth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iHeight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iDepth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***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***)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**) *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iWidth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iWidth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 =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**)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 *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iHeight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iHeight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++j)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[i][j] =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iDepth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k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k &lt;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iDepth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++k)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[i][j][k] = k + j *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iDepth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i *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iDepth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iHeight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iWidth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iHeight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++j)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k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k &lt;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iDepth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++k)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 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"array[%d][%d][%d] = %d\n"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i, j, k,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[i][j][k]);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endParaRPr lang="ko-KR" altLang="en-US" sz="1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60120-85E9-0132-C37A-F94041DABF60}"/>
              </a:ext>
            </a:extLst>
          </p:cNvPr>
          <p:cNvSpPr txBox="1"/>
          <p:nvPr/>
        </p:nvSpPr>
        <p:spPr>
          <a:xfrm>
            <a:off x="5796137" y="1257360"/>
            <a:ext cx="3240360" cy="195438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iWidth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iHeight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++j)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[i][j]);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ppp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100660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15.8 </a:t>
            </a:r>
            <a:r>
              <a:rPr lang="ko-KR" altLang="en-US" dirty="0"/>
              <a:t>동적 메모리 관리 원칙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기본 규칙</a:t>
            </a:r>
          </a:p>
          <a:p>
            <a:pPr lvl="1"/>
            <a:r>
              <a:rPr lang="ko-KR" altLang="en-US" sz="2000" dirty="0"/>
              <a:t>할당 ↔ 해제 한 쌍 </a:t>
            </a:r>
            <a:r>
              <a:rPr lang="en-US" altLang="ko-KR" sz="2000" dirty="0"/>
              <a:t>malloc / calloc / realloc → free </a:t>
            </a:r>
          </a:p>
          <a:p>
            <a:pPr lvl="2"/>
            <a:endParaRPr lang="en-US" altLang="ko-KR" sz="1800" dirty="0"/>
          </a:p>
          <a:p>
            <a:r>
              <a:rPr lang="ko-KR" altLang="en-US" sz="2400" dirty="0"/>
              <a:t>소유권</a:t>
            </a:r>
          </a:p>
          <a:p>
            <a:pPr lvl="1"/>
            <a:r>
              <a:rPr lang="ko-KR" altLang="en-US" sz="2000" dirty="0"/>
              <a:t>누가 </a:t>
            </a:r>
            <a:r>
              <a:rPr lang="en-US" altLang="ko-KR" sz="2000" dirty="0"/>
              <a:t>free</a:t>
            </a:r>
            <a:r>
              <a:rPr lang="ko-KR" altLang="en-US" sz="2000" dirty="0"/>
              <a:t>할지 명확히 </a:t>
            </a:r>
            <a:r>
              <a:rPr lang="en-US" altLang="ko-KR" sz="2000" dirty="0"/>
              <a:t>→  </a:t>
            </a:r>
            <a:r>
              <a:rPr lang="ko-KR" altLang="en-US" sz="2000" dirty="0"/>
              <a:t>반환 받은 쪽이 해제 </a:t>
            </a:r>
            <a:endParaRPr lang="en-US" altLang="ko-KR" sz="2000" dirty="0"/>
          </a:p>
          <a:p>
            <a:pPr lvl="2"/>
            <a:endParaRPr lang="ko-KR" altLang="en-US" sz="1800" dirty="0"/>
          </a:p>
          <a:p>
            <a:r>
              <a:rPr lang="ko-KR" altLang="en-US" sz="2400" dirty="0"/>
              <a:t>안전한 사용</a:t>
            </a:r>
          </a:p>
          <a:p>
            <a:pPr lvl="1"/>
            <a:r>
              <a:rPr lang="ko-KR" altLang="en-US" sz="2000" dirty="0"/>
              <a:t>포인터 잃어버리지 않기</a:t>
            </a:r>
            <a:r>
              <a:rPr lang="en-US" altLang="ko-KR" sz="2000" dirty="0"/>
              <a:t>: realloc → </a:t>
            </a:r>
            <a:r>
              <a:rPr lang="ko-KR" altLang="en-US" sz="2000" dirty="0"/>
              <a:t>임시 포인터 사용 </a:t>
            </a:r>
          </a:p>
          <a:p>
            <a:pPr lvl="1"/>
            <a:r>
              <a:rPr lang="ko-KR" altLang="en-US" sz="2000" dirty="0"/>
              <a:t>이중 해제 금지</a:t>
            </a:r>
            <a:r>
              <a:rPr lang="en-US" altLang="ko-KR" sz="2000" dirty="0"/>
              <a:t>: 	</a:t>
            </a:r>
            <a:r>
              <a:rPr lang="ko-KR" altLang="en-US" sz="2000" dirty="0"/>
              <a:t>같은 주소 두 번 </a:t>
            </a:r>
            <a:r>
              <a:rPr lang="en-US" altLang="ko-KR" sz="2000" dirty="0"/>
              <a:t>free ❌ </a:t>
            </a:r>
          </a:p>
          <a:p>
            <a:pPr lvl="1"/>
            <a:r>
              <a:rPr lang="ko-KR" altLang="en-US" sz="2000" dirty="0" err="1"/>
              <a:t>댕글링</a:t>
            </a:r>
            <a:r>
              <a:rPr lang="ko-KR" altLang="en-US" sz="2000" dirty="0"/>
              <a:t> 포인터 방지</a:t>
            </a:r>
            <a:r>
              <a:rPr lang="en-US" altLang="ko-KR" sz="2000" dirty="0"/>
              <a:t>: free </a:t>
            </a:r>
            <a:r>
              <a:rPr lang="ko-KR" altLang="en-US" sz="2000" dirty="0"/>
              <a:t>이후 → </a:t>
            </a:r>
            <a:r>
              <a:rPr lang="en-US" altLang="ko-KR" sz="2000" dirty="0"/>
              <a:t>NULL </a:t>
            </a:r>
            <a:r>
              <a:rPr lang="ko-KR" altLang="en-US" sz="2000" dirty="0"/>
              <a:t>설정</a:t>
            </a:r>
            <a:endParaRPr lang="en-US" altLang="ko-KR" sz="2000" dirty="0"/>
          </a:p>
          <a:p>
            <a:pPr lvl="2"/>
            <a:endParaRPr lang="ko-KR" altLang="en-US" sz="1800" dirty="0"/>
          </a:p>
          <a:p>
            <a:r>
              <a:rPr lang="ko-KR" altLang="en-US" sz="2400" dirty="0"/>
              <a:t>복사 주의</a:t>
            </a:r>
          </a:p>
          <a:p>
            <a:pPr lvl="1"/>
            <a:r>
              <a:rPr lang="ko-KR" altLang="en-US" sz="2000" dirty="0"/>
              <a:t>포인터 멤버 → 얕은 복사</a:t>
            </a:r>
            <a:endParaRPr lang="en-US" altLang="ko-KR" sz="2000" dirty="0"/>
          </a:p>
          <a:p>
            <a:pPr lvl="1"/>
            <a:r>
              <a:rPr lang="ko-KR" altLang="en-US" sz="2000" dirty="0"/>
              <a:t>필요 시 깊은 복사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832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동적 메모리</a:t>
            </a:r>
          </a:p>
          <a:p>
            <a:pPr lvl="1"/>
            <a:r>
              <a:rPr lang="ko-KR" altLang="en-US" sz="1800" dirty="0"/>
              <a:t>실행 중 메모리 크기 결정 </a:t>
            </a:r>
          </a:p>
          <a:p>
            <a:pPr lvl="1"/>
            <a:r>
              <a:rPr lang="en-US" altLang="ko-KR" sz="1800" dirty="0"/>
              <a:t>malloc / calloc / realloc</a:t>
            </a:r>
            <a:br>
              <a:rPr lang="en-US" altLang="ko-KR" sz="1800" dirty="0"/>
            </a:br>
            <a:r>
              <a:rPr lang="en-US" altLang="ko-KR" sz="1800" dirty="0"/>
              <a:t>→ </a:t>
            </a:r>
            <a:r>
              <a:rPr lang="ko-KR" altLang="en-US" sz="1800" dirty="0"/>
              <a:t>반드시 </a:t>
            </a:r>
            <a:r>
              <a:rPr lang="en-US" altLang="ko-KR" sz="1800" dirty="0"/>
              <a:t>free</a:t>
            </a:r>
          </a:p>
          <a:p>
            <a:pPr lvl="1"/>
            <a:endParaRPr lang="ko-KR" altLang="en-US" dirty="0"/>
          </a:p>
          <a:p>
            <a:r>
              <a:rPr lang="ko-KR" altLang="en-US" sz="2400" dirty="0"/>
              <a:t>안전 규칙</a:t>
            </a:r>
          </a:p>
          <a:p>
            <a:pPr lvl="1"/>
            <a:r>
              <a:rPr lang="en-US" altLang="ko-KR" sz="1800" dirty="0"/>
              <a:t>free </a:t>
            </a:r>
            <a:r>
              <a:rPr lang="ko-KR" altLang="en-US" sz="1800" dirty="0"/>
              <a:t>이후 → </a:t>
            </a:r>
            <a:r>
              <a:rPr lang="en-US" altLang="ko-KR" sz="1800" dirty="0"/>
              <a:t>NULL </a:t>
            </a:r>
            <a:r>
              <a:rPr lang="ko-KR" altLang="en-US" sz="1800" dirty="0"/>
              <a:t>설정</a:t>
            </a:r>
            <a:br>
              <a:rPr lang="en-US" altLang="ko-KR" sz="1800" dirty="0"/>
            </a:br>
            <a:r>
              <a:rPr lang="ko-KR" altLang="en-US" sz="1800" dirty="0"/>
              <a:t>← </a:t>
            </a:r>
            <a:r>
              <a:rPr lang="ko-KR" altLang="en-US" sz="1800" dirty="0" err="1"/>
              <a:t>댕글링</a:t>
            </a:r>
            <a:r>
              <a:rPr lang="ko-KR" altLang="en-US" sz="1800" dirty="0"/>
              <a:t> 포인터 방지 </a:t>
            </a:r>
          </a:p>
          <a:p>
            <a:pPr lvl="1"/>
            <a:r>
              <a:rPr lang="ko-KR" altLang="en-US" sz="1800" dirty="0"/>
              <a:t>이중 해제 ❌</a:t>
            </a:r>
            <a:endParaRPr lang="en-US" altLang="ko-KR" sz="1800" dirty="0"/>
          </a:p>
          <a:p>
            <a:pPr lvl="2"/>
            <a:endParaRPr lang="ko-KR" altLang="en-US" sz="1800" dirty="0"/>
          </a:p>
          <a:p>
            <a:r>
              <a:rPr lang="ko-KR" altLang="en-US" sz="2400" dirty="0"/>
              <a:t>소유권</a:t>
            </a:r>
          </a:p>
          <a:p>
            <a:pPr lvl="1"/>
            <a:r>
              <a:rPr lang="ko-KR" altLang="en-US" sz="1800" dirty="0"/>
              <a:t>메모리는 한 번만 해제</a:t>
            </a:r>
            <a:br>
              <a:rPr lang="en-US" altLang="ko-KR" sz="1800" dirty="0"/>
            </a:br>
            <a:r>
              <a:rPr lang="ko-KR" altLang="en-US" sz="1800" dirty="0"/>
              <a:t>→ 반환 받은 쪽이 책임 </a:t>
            </a:r>
            <a:endParaRPr lang="ko-KR" altLang="en-US" sz="11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71225EB-5E2B-5127-12CA-3CA6A1D755E1}"/>
              </a:ext>
            </a:extLst>
          </p:cNvPr>
          <p:cNvSpPr txBox="1">
            <a:spLocks/>
          </p:cNvSpPr>
          <p:nvPr/>
        </p:nvSpPr>
        <p:spPr bwMode="auto">
          <a:xfrm>
            <a:off x="4355976" y="728662"/>
            <a:ext cx="4248472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/>
              <a:t>복사</a:t>
            </a:r>
            <a:endParaRPr lang="ko-KR" altLang="en-US" dirty="0"/>
          </a:p>
          <a:p>
            <a:pPr lvl="1"/>
            <a:r>
              <a:rPr lang="ko-KR" altLang="en-US" sz="2000" dirty="0"/>
              <a:t>포인터 멤버 → 얕은 복사</a:t>
            </a:r>
            <a:br>
              <a:rPr lang="en-US" altLang="ko-KR" sz="2000" dirty="0"/>
            </a:br>
            <a:r>
              <a:rPr lang="ko-KR" altLang="en-US" sz="2000" dirty="0"/>
              <a:t>→  주소만 복사 </a:t>
            </a:r>
          </a:p>
          <a:p>
            <a:pPr lvl="1"/>
            <a:r>
              <a:rPr lang="ko-KR" altLang="en-US" sz="2000" dirty="0"/>
              <a:t>필요 시 → 깊은 복사</a:t>
            </a:r>
            <a:endParaRPr lang="ko-KR" altLang="en-US" sz="2800" dirty="0"/>
          </a:p>
          <a:p>
            <a:endParaRPr lang="en-US" altLang="ko-KR" sz="2400" dirty="0"/>
          </a:p>
          <a:p>
            <a:r>
              <a:rPr lang="ko-KR" altLang="en-US" sz="2400" dirty="0"/>
              <a:t>메모리 함수</a:t>
            </a:r>
          </a:p>
          <a:p>
            <a:pPr lvl="1"/>
            <a:r>
              <a:rPr lang="en-US" altLang="ko-KR" sz="1800" dirty="0"/>
              <a:t>memcpy → </a:t>
            </a:r>
            <a:r>
              <a:rPr lang="ko-KR" altLang="en-US" sz="1800" dirty="0"/>
              <a:t>겹치면 ❌ </a:t>
            </a:r>
          </a:p>
          <a:p>
            <a:pPr lvl="1"/>
            <a:r>
              <a:rPr lang="en-US" altLang="ko-KR" sz="1800" dirty="0"/>
              <a:t>memmove → </a:t>
            </a:r>
            <a:r>
              <a:rPr lang="ko-KR" altLang="en-US" sz="1800" dirty="0"/>
              <a:t>겹침 </a:t>
            </a:r>
            <a:r>
              <a:rPr lang="en-US" altLang="ko-KR" sz="1800" dirty="0"/>
              <a:t>OK</a:t>
            </a:r>
            <a:br>
              <a:rPr lang="en-US" altLang="ko-KR" sz="1800" dirty="0"/>
            </a:br>
            <a:r>
              <a:rPr lang="en-US" altLang="ko-KR" sz="1800" dirty="0"/>
              <a:t>→ </a:t>
            </a:r>
            <a:r>
              <a:rPr lang="ko-KR" altLang="en-US" sz="1800" dirty="0"/>
              <a:t>바이트 단위 동작</a:t>
            </a:r>
          </a:p>
          <a:p>
            <a:pPr lvl="1"/>
            <a:endParaRPr lang="en-US" altLang="ko-KR" sz="1800" dirty="0"/>
          </a:p>
          <a:p>
            <a:r>
              <a:rPr lang="ko-KR" altLang="en-US" sz="2400" dirty="0"/>
              <a:t>다차원 배열</a:t>
            </a:r>
          </a:p>
          <a:p>
            <a:pPr lvl="1"/>
            <a:r>
              <a:rPr lang="ko-KR" altLang="en-US" sz="1800" dirty="0"/>
              <a:t>연속 메모리 → 배열과 동일 </a:t>
            </a:r>
          </a:p>
          <a:p>
            <a:pPr lvl="1"/>
            <a:r>
              <a:rPr lang="ko-KR" altLang="en-US" sz="1800" dirty="0"/>
              <a:t>비 연속 메모리 → 포인터 계층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3062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및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 접속 </a:t>
            </a:r>
          </a:p>
          <a:p>
            <a:r>
              <a:rPr lang="ko-KR" altLang="en-US" dirty="0"/>
              <a:t>탄환 발사 </a:t>
            </a:r>
          </a:p>
          <a:p>
            <a:r>
              <a:rPr lang="ko-KR" altLang="en-US" dirty="0"/>
              <a:t>아이템 배낭 </a:t>
            </a:r>
          </a:p>
          <a:p>
            <a:r>
              <a:rPr lang="ko-KR" altLang="en-US" dirty="0"/>
              <a:t>문자열 분리 </a:t>
            </a:r>
            <a:r>
              <a:rPr lang="en-US" altLang="ko-KR" dirty="0"/>
              <a:t>(Split String) 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275181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2400" b="1" i="0" u="none" strike="noStrike" dirty="0">
            <a:solidFill>
              <a:srgbClr val="C18401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8734</TotalTime>
  <Words>2514</Words>
  <Application>Microsoft Office PowerPoint</Application>
  <PresentationFormat>화면 슬라이드 쇼(4:3)</PresentationFormat>
  <Paragraphs>274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HY견고딕</vt:lpstr>
      <vt:lpstr>가을체</vt:lpstr>
      <vt:lpstr>Arial</vt:lpstr>
      <vt:lpstr>굴림</vt:lpstr>
      <vt:lpstr>D2Coding</vt:lpstr>
      <vt:lpstr>나눔바른고딕</vt:lpstr>
      <vt:lpstr>Consolas</vt:lpstr>
      <vt:lpstr>Wingdings</vt:lpstr>
      <vt:lpstr>기본 디자인</vt:lpstr>
      <vt:lpstr>15. 동적 메모리 할당 (Dynamic Memory Allocation)</vt:lpstr>
      <vt:lpstr>15.1 정적 할당과 동적 할당</vt:lpstr>
      <vt:lpstr>15.1 정적 할당과 동적 할당</vt:lpstr>
      <vt:lpstr>15.2 메모리 관련 함수들</vt:lpstr>
      <vt:lpstr>15.2.1 memset</vt:lpstr>
      <vt:lpstr>15.2.2 memcpy</vt:lpstr>
      <vt:lpstr>15.2.3 memmove</vt:lpstr>
      <vt:lpstr>15.3.1 malloc 기본 사용</vt:lpstr>
      <vt:lpstr>15.3.2 malloc을 이용한 구조체의 동적 생성</vt:lpstr>
      <vt:lpstr>15.3.3 배열 형태의 동적 메모리 할당</vt:lpstr>
      <vt:lpstr>15.3.4 구조체 배열 동적 할당 예제</vt:lpstr>
      <vt:lpstr>15.4.1 calloc: 0으로 초기화되는 할당</vt:lpstr>
      <vt:lpstr>15.4.2 realloc: 크기 변경과 안전한 사용 패턴</vt:lpstr>
      <vt:lpstr>15.5 포인터와 동적 메모리 관리</vt:lpstr>
      <vt:lpstr>15.6 얕은 복사 vs 깊은 복사</vt:lpstr>
      <vt:lpstr>15.7.1 연속 메모리를 이용한 다차원 배열 구성</vt:lpstr>
      <vt:lpstr>15.7.2 비 연속 메모리를 이용한 다차원 배열 구성</vt:lpstr>
      <vt:lpstr>15.7.2 비 연속 메모리를 이용한 다차원 배열 구성</vt:lpstr>
      <vt:lpstr>15.8 동적 메모리 관리 원칙</vt:lpstr>
      <vt:lpstr>학습 정리</vt:lpstr>
      <vt:lpstr>실습 및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koreaitpc</cp:lastModifiedBy>
  <cp:revision>294</cp:revision>
  <dcterms:created xsi:type="dcterms:W3CDTF">2003-11-30T16:03:20Z</dcterms:created>
  <dcterms:modified xsi:type="dcterms:W3CDTF">2026-05-18T06:43:44Z</dcterms:modified>
</cp:coreProperties>
</file>