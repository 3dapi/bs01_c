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23"/>
  </p:notesMasterIdLst>
  <p:sldIdLst>
    <p:sldId id="328" r:id="rId2"/>
    <p:sldId id="347" r:id="rId3"/>
    <p:sldId id="329" r:id="rId4"/>
    <p:sldId id="330" r:id="rId5"/>
    <p:sldId id="331" r:id="rId6"/>
    <p:sldId id="332" r:id="rId7"/>
    <p:sldId id="333" r:id="rId8"/>
    <p:sldId id="334" r:id="rId9"/>
    <p:sldId id="335" r:id="rId10"/>
    <p:sldId id="336" r:id="rId11"/>
    <p:sldId id="337" r:id="rId12"/>
    <p:sldId id="338" r:id="rId13"/>
    <p:sldId id="339" r:id="rId14"/>
    <p:sldId id="340" r:id="rId15"/>
    <p:sldId id="341" r:id="rId16"/>
    <p:sldId id="342" r:id="rId17"/>
    <p:sldId id="343" r:id="rId18"/>
    <p:sldId id="348" r:id="rId19"/>
    <p:sldId id="344" r:id="rId20"/>
    <p:sldId id="345" r:id="rId21"/>
    <p:sldId id="346" r:id="rId22"/>
  </p:sldIdLst>
  <p:sldSz cx="9144000" cy="6858000" type="screen4x3"/>
  <p:notesSz cx="6858000" cy="9144000"/>
  <p:embeddedFontLst>
    <p:embeddedFont>
      <p:font typeface="D2Coding" panose="020B0609020101020101" pitchFamily="49" charset="-127"/>
      <p:regular r:id="rId24"/>
      <p:bold r:id="rId25"/>
    </p:embeddedFont>
    <p:embeddedFont>
      <p:font typeface="Consolas" panose="020B0609020204030204" pitchFamily="49" charset="0"/>
      <p:regular r:id="rId26"/>
      <p:bold r:id="rId27"/>
      <p:italic r:id="rId28"/>
      <p:boldItalic r:id="rId29"/>
    </p:embeddedFont>
    <p:embeddedFont>
      <p:font typeface="HY견고딕" panose="02030600000101010101" pitchFamily="18" charset="-127"/>
      <p:regular r:id="rId30"/>
    </p:embeddedFont>
    <p:embeddedFont>
      <p:font typeface="가을체" panose="02030600000101010101" pitchFamily="18" charset="-127"/>
      <p:regular r:id="rId31"/>
    </p:embeddedFont>
    <p:embeddedFont>
      <p:font typeface="나눔바른고딕" panose="020B0603020101020101" pitchFamily="50" charset="-127"/>
      <p:regular r:id="rId32"/>
      <p:bold r:id="rId33"/>
    </p:embeddedFont>
  </p:embeddedFontLst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63">
          <p15:clr>
            <a:srgbClr val="A4A3A4"/>
          </p15:clr>
        </p15:guide>
        <p15:guide id="2" orient="horz" pos="890">
          <p15:clr>
            <a:srgbClr val="A4A3A4"/>
          </p15:clr>
        </p15:guide>
        <p15:guide id="3" orient="horz" pos="1026">
          <p15:clr>
            <a:srgbClr val="A4A3A4"/>
          </p15:clr>
        </p15:guide>
        <p15:guide id="4" pos="930">
          <p15:clr>
            <a:srgbClr val="A4A3A4"/>
          </p15:clr>
        </p15:guide>
        <p15:guide id="5" pos="476">
          <p15:clr>
            <a:srgbClr val="A4A3A4"/>
          </p15:clr>
        </p15:guide>
        <p15:guide id="6" pos="2880">
          <p15:clr>
            <a:srgbClr val="A4A3A4"/>
          </p15:clr>
        </p15:guide>
        <p15:guide id="7" pos="4105">
          <p15:clr>
            <a:srgbClr val="A4A3A4"/>
          </p15:clr>
        </p15:guide>
        <p15:guide id="8" pos="1519">
          <p15:clr>
            <a:srgbClr val="A4A3A4"/>
          </p15:clr>
        </p15:guide>
        <p15:guide id="9" pos="703">
          <p15:clr>
            <a:srgbClr val="A4A3A4"/>
          </p15:clr>
        </p15:guide>
        <p15:guide id="10" pos="1927">
          <p15:clr>
            <a:srgbClr val="A4A3A4"/>
          </p15:clr>
        </p15:guide>
        <p15:guide id="11" pos="52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CC00FF"/>
    <a:srgbClr val="CC00CC"/>
    <a:srgbClr val="0099FF"/>
    <a:srgbClr val="FF9900"/>
    <a:srgbClr val="FF0000"/>
    <a:srgbClr val="FF00FF"/>
    <a:srgbClr val="CCFFFF"/>
    <a:srgbClr val="FFFFCC"/>
    <a:srgbClr val="CC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7853C-536D-4A76-A0AE-DD22124D55A5}" styleName="테마 스타일 1 - 강조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232" autoAdjust="0"/>
    <p:restoredTop sz="94582" autoAdjust="0"/>
  </p:normalViewPr>
  <p:slideViewPr>
    <p:cSldViewPr>
      <p:cViewPr>
        <p:scale>
          <a:sx n="125" d="100"/>
          <a:sy n="125" d="100"/>
        </p:scale>
        <p:origin x="1848" y="138"/>
      </p:cViewPr>
      <p:guideLst>
        <p:guide orient="horz" pos="663"/>
        <p:guide orient="horz" pos="890"/>
        <p:guide orient="horz" pos="1026"/>
        <p:guide pos="930"/>
        <p:guide pos="476"/>
        <p:guide pos="2880"/>
        <p:guide pos="4105"/>
        <p:guide pos="1519"/>
        <p:guide pos="703"/>
        <p:guide pos="1927"/>
        <p:guide pos="52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3.fntdata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33" Type="http://schemas.openxmlformats.org/officeDocument/2006/relationships/font" Target="fonts/font10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32" Type="http://schemas.openxmlformats.org/officeDocument/2006/relationships/font" Target="fonts/font9.fntdata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font" Target="fonts/font5.fntdata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4.fntdata"/><Relationship Id="rId30" Type="http://schemas.openxmlformats.org/officeDocument/2006/relationships/font" Target="fonts/font7.fntdata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DFEAAA5C-C825-F211-4555-838EAD1EF7D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id="{B9AE1081-B5AC-071C-6CEC-9BAFC2815F81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E5A689FD-F862-5A62-D896-25380442080E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25605" name="Rectangle 5">
            <a:extLst>
              <a:ext uri="{FF2B5EF4-FFF2-40B4-BE49-F238E27FC236}">
                <a16:creationId xmlns:a16="http://schemas.microsoft.com/office/drawing/2014/main" id="{AB15EF12-78DA-289E-9010-DC12C506F352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25606" name="Rectangle 6">
            <a:extLst>
              <a:ext uri="{FF2B5EF4-FFF2-40B4-BE49-F238E27FC236}">
                <a16:creationId xmlns:a16="http://schemas.microsoft.com/office/drawing/2014/main" id="{31BE94B4-C843-3460-16B0-CB247AC3FF8A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7" name="Rectangle 7">
            <a:extLst>
              <a:ext uri="{FF2B5EF4-FFF2-40B4-BE49-F238E27FC236}">
                <a16:creationId xmlns:a16="http://schemas.microsoft.com/office/drawing/2014/main" id="{7AA30F0E-F947-FF5A-C02F-9F167861744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fld id="{0436CD0A-C45C-48B2-840A-644A5311C024}" type="slidenum">
              <a:rPr lang="en-US" altLang="ko-KR"/>
              <a:pPr>
                <a:defRPr/>
              </a:pPr>
              <a:t>‹#›</a:t>
            </a:fld>
            <a:endParaRPr lang="en-US" altLang="ko-KR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400" b="1" baseline="0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F4463E7D-6CF5-A69D-FEE1-A0E846BF2525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181369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496746" cy="476250"/>
          </a:xfrm>
        </p:spPr>
        <p:txBody>
          <a:bodyPr/>
          <a:lstStyle>
            <a:lvl1pPr>
              <a:defRPr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07504" y="692150"/>
            <a:ext cx="8928992" cy="5832475"/>
          </a:xfrm>
        </p:spPr>
        <p:txBody>
          <a:bodyPr/>
          <a:lstStyle>
            <a:lvl1pPr>
              <a:buSzPct val="80000"/>
              <a:defRPr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buSzPct val="60000"/>
              <a:defRPr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9F26C576-5565-6264-22AA-2BB03D87E816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57710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59606878-4889-ED74-2806-393283543ED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152688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8FB12915-6590-1611-DC73-A3C4D4D7D3C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68508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FFDB16E4-710B-C0D0-5DC5-AC5574B119A9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8297076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35F4E02-3E57-4043-6B25-977E6BC2371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7139689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A9333F62-0F41-D606-9D32-6CC1E71602D8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347916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 sz="28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 sz="24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 sz="20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 sz="20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74336CA5-053A-5CDF-4BA7-58AAC8BF72B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552841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68630D78-9295-14E8-BEEC-30BC0BD0D94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636097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363C36C6-82E3-D375-4E9D-327B2205839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3941898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750050" y="44450"/>
            <a:ext cx="2070100" cy="6480175"/>
          </a:xfrm>
        </p:spPr>
        <p:txBody>
          <a:bodyPr vert="eaVert"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539750" y="44450"/>
            <a:ext cx="6057900" cy="6480175"/>
          </a:xfrm>
        </p:spPr>
        <p:txBody>
          <a:bodyPr vert="eaVert"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78439CE0-BF57-123F-383B-42C6D20A212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6455119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제목, 텍스트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280400" cy="476250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90FD249B-01D5-6E54-F5A8-24B84E12DEE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14884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768ACAB8-646C-F841-1FB4-1640A0D2F48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9750" y="44450"/>
            <a:ext cx="82804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CBBB7895-F21F-0782-4861-C09980CF2C9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692150"/>
            <a:ext cx="8280400" cy="5832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6D7D912A-A8CC-BFF5-0C98-6573F9DD1B4C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821238" y="6597650"/>
            <a:ext cx="3927475" cy="2603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00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1029" name="Rectangle 8">
            <a:extLst>
              <a:ext uri="{FF2B5EF4-FFF2-40B4-BE49-F238E27FC236}">
                <a16:creationId xmlns:a16="http://schemas.microsoft.com/office/drawing/2014/main" id="{E8D14161-CBEC-EDDC-D3DB-3F18CA262A5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11950" y="44450"/>
            <a:ext cx="2397125" cy="404813"/>
          </a:xfrm>
          <a:prstGeom prst="rect">
            <a:avLst/>
          </a:prstGeom>
          <a:noFill/>
          <a:ln>
            <a:noFill/>
          </a:ln>
          <a:effectLst/>
        </p:spPr>
        <p:txBody>
          <a:bodyPr/>
          <a:lstStyle>
            <a:lvl1pPr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r" eaLnBrk="1" hangingPunct="1">
              <a:defRPr/>
            </a:pPr>
            <a:r>
              <a:rPr lang="en-US" altLang="ko-KR" sz="900" b="1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Heesung Oh</a:t>
            </a:r>
            <a:endParaRPr lang="en-US" altLang="ko-KR" sz="900" dirty="0">
              <a:solidFill>
                <a:schemeClr val="bg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r" eaLnBrk="1" hangingPunct="1">
              <a:defRPr/>
            </a:pPr>
            <a:r>
              <a:rPr lang="en-US" altLang="ko-KR" sz="800" dirty="0">
                <a:solidFill>
                  <a:schemeClr val="bg2"/>
                </a:solidFill>
              </a:rPr>
              <a:t>Copyright All rights reserved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kumimoji="1" sz="2800" b="1" kern="12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Font typeface="Wingdings" panose="05000000000000000000" pitchFamily="2" charset="2"/>
        <a:buChar char="l"/>
        <a:defRPr kumimoji="1" sz="28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Clr>
          <a:srgbClr val="CC00CC"/>
        </a:buClr>
        <a:buSzPct val="80000"/>
        <a:buFont typeface="Wingdings" panose="05000000000000000000" pitchFamily="2" charset="2"/>
        <a:buChar char="u"/>
        <a:defRPr kumimoji="1" sz="24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9900"/>
        </a:buClr>
        <a:buSzPct val="80000"/>
        <a:buFont typeface="Wingdings" panose="05000000000000000000" pitchFamily="2" charset="2"/>
        <a:buChar char="l"/>
        <a:defRPr kumimoji="1" sz="2000" b="1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SzPct val="140000"/>
        <a:buFont typeface="Wingdings" panose="05000000000000000000" pitchFamily="2" charset="2"/>
        <a:buChar char="§"/>
        <a:defRPr kumimoji="1" b="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CC0000"/>
        </a:buClr>
        <a:buSzPct val="90000"/>
        <a:buFont typeface="Wingdings" panose="05000000000000000000" pitchFamily="2" charset="2"/>
        <a:buChar char="v"/>
        <a:defRPr kumimoji="1" sz="1600" b="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3dapi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38BED-C94A-AD80-6433-3377FEE75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B0E0D7-1C34-C1FB-CCCC-F954324174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5576" y="1122363"/>
            <a:ext cx="7560840" cy="2387600"/>
          </a:xfrm>
        </p:spPr>
        <p:txBody>
          <a:bodyPr/>
          <a:lstStyle/>
          <a:p>
            <a:r>
              <a:rPr lang="en-US" altLang="ko-KR" dirty="0"/>
              <a:t>15. </a:t>
            </a:r>
            <a:r>
              <a:rPr lang="ko-KR" altLang="en-US" dirty="0"/>
              <a:t>동적 메모리 할당</a:t>
            </a:r>
            <a:br>
              <a:rPr lang="ko-KR" altLang="en-US" dirty="0"/>
            </a:br>
            <a:r>
              <a:rPr lang="en-US" altLang="ko-KR" sz="2800" dirty="0"/>
              <a:t>(Dynamic Memory Allocation)</a:t>
            </a:r>
            <a:endParaRPr lang="ko-KR" altLang="en-US" sz="28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B1FEA1F-7311-E697-BFC8-C48378530F4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Heesung Oh</a:t>
            </a:r>
          </a:p>
          <a:p>
            <a:r>
              <a:rPr lang="en-US" altLang="ko-KR" dirty="0">
                <a:hlinkClick r:id="rId2"/>
              </a:rPr>
              <a:t>https://github.com/3dapi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2621D30-1502-5C58-113B-56A2BA50204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1609575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60297A-3053-4D29-A862-102E7A7FA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15.1 </a:t>
            </a:r>
            <a:r>
              <a:rPr lang="ko-KR" altLang="en-US" dirty="0"/>
              <a:t>정적 할당과 동적 할당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213E391-E51C-472A-B183-66997968CF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3200" dirty="0"/>
              <a:t>메모리 구조</a:t>
            </a:r>
            <a:endParaRPr lang="en-US" altLang="ko-KR" sz="3200" dirty="0"/>
          </a:p>
          <a:p>
            <a:pPr lvl="1"/>
            <a:endParaRPr lang="en-US" altLang="ko-KR" sz="2800" dirty="0"/>
          </a:p>
          <a:p>
            <a:pPr lvl="1"/>
            <a:r>
              <a:rPr lang="ko-KR" altLang="en-US" sz="2800" dirty="0"/>
              <a:t>코드 영역</a:t>
            </a:r>
            <a:endParaRPr lang="en-US" altLang="ko-KR" sz="2800" dirty="0"/>
          </a:p>
          <a:p>
            <a:pPr lvl="1"/>
            <a:r>
              <a:rPr lang="ko-KR" altLang="en-US" sz="2800" dirty="0"/>
              <a:t>데이터 영역</a:t>
            </a:r>
            <a:r>
              <a:rPr lang="en-US" altLang="ko-KR" sz="2800" dirty="0"/>
              <a:t>(Data)</a:t>
            </a:r>
          </a:p>
          <a:p>
            <a:pPr lvl="2"/>
            <a:r>
              <a:rPr lang="ko-KR" altLang="en-US" sz="2400" dirty="0"/>
              <a:t>전역변수</a:t>
            </a:r>
            <a:endParaRPr lang="en-US" altLang="ko-KR" sz="2400" dirty="0"/>
          </a:p>
          <a:p>
            <a:pPr lvl="2"/>
            <a:r>
              <a:rPr lang="en-US" altLang="ko-KR" sz="2400" dirty="0"/>
              <a:t>static </a:t>
            </a:r>
            <a:r>
              <a:rPr lang="ko-KR" altLang="en-US" sz="2400" dirty="0"/>
              <a:t>변수</a:t>
            </a:r>
            <a:endParaRPr lang="en-US" altLang="ko-KR" sz="2400" dirty="0"/>
          </a:p>
          <a:p>
            <a:pPr lvl="2"/>
            <a:endParaRPr lang="en-US" altLang="ko-KR" sz="2400" dirty="0"/>
          </a:p>
          <a:p>
            <a:pPr lvl="1"/>
            <a:r>
              <a:rPr lang="ko-KR" altLang="en-US" sz="2800" dirty="0"/>
              <a:t>스택</a:t>
            </a:r>
            <a:r>
              <a:rPr lang="en-US" altLang="ko-KR" sz="2800" dirty="0"/>
              <a:t>(Stack)</a:t>
            </a:r>
          </a:p>
          <a:p>
            <a:pPr lvl="1"/>
            <a:r>
              <a:rPr lang="ko-KR" altLang="en-US" sz="2800" dirty="0"/>
              <a:t>힙</a:t>
            </a:r>
            <a:r>
              <a:rPr lang="en-US" altLang="ko-KR" sz="2800" dirty="0"/>
              <a:t>(Heap)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90DA4AF-2202-4128-805F-D015D034F0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2537790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60297A-3053-4D29-A862-102E7A7FA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15.1 </a:t>
            </a:r>
            <a:r>
              <a:rPr lang="ko-KR" altLang="en-US" dirty="0"/>
              <a:t>정적 할당과 동적 할당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213E391-E51C-472A-B183-66997968CF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자동 할당 </a:t>
            </a:r>
            <a:r>
              <a:rPr lang="en-US" altLang="ko-KR" sz="2400" dirty="0"/>
              <a:t>(Stack)</a:t>
            </a:r>
          </a:p>
          <a:p>
            <a:pPr lvl="1"/>
            <a:r>
              <a:rPr lang="ko-KR" altLang="en-US" sz="2000" dirty="0"/>
              <a:t>함수 호출 시 생성 </a:t>
            </a:r>
            <a:r>
              <a:rPr lang="en-US" altLang="ko-KR" sz="2000" dirty="0"/>
              <a:t>/ </a:t>
            </a:r>
            <a:r>
              <a:rPr lang="ko-KR" altLang="en-US" sz="2000" dirty="0"/>
              <a:t>종료 시 자동 제거</a:t>
            </a:r>
          </a:p>
          <a:p>
            <a:pPr lvl="1"/>
            <a:r>
              <a:rPr lang="ko-KR" altLang="en-US" sz="2000" dirty="0"/>
              <a:t>지역 변수 저장</a:t>
            </a:r>
          </a:p>
          <a:p>
            <a:pPr lvl="1"/>
            <a:r>
              <a:rPr lang="ko-KR" altLang="en-US" sz="2000" dirty="0"/>
              <a:t>크기 제한 존재 → 스택 </a:t>
            </a:r>
            <a:r>
              <a:rPr lang="ko-KR" altLang="en-US" sz="2000" dirty="0" err="1"/>
              <a:t>오버플로우</a:t>
            </a:r>
            <a:r>
              <a:rPr lang="ko-KR" altLang="en-US" sz="2000" dirty="0"/>
              <a:t> 가능</a:t>
            </a:r>
            <a:endParaRPr lang="en-US" altLang="ko-KR" sz="2000" dirty="0"/>
          </a:p>
          <a:p>
            <a:pPr lvl="3"/>
            <a:endParaRPr lang="ko-KR" altLang="en-US" sz="1400" dirty="0"/>
          </a:p>
          <a:p>
            <a:r>
              <a:rPr lang="ko-KR" altLang="en-US" sz="2400" dirty="0"/>
              <a:t>정적 할당 </a:t>
            </a:r>
            <a:r>
              <a:rPr lang="en-US" altLang="ko-KR" sz="2400" dirty="0"/>
              <a:t>(Data </a:t>
            </a:r>
            <a:r>
              <a:rPr lang="ko-KR" altLang="en-US" sz="2400" dirty="0"/>
              <a:t>영역</a:t>
            </a:r>
            <a:r>
              <a:rPr lang="en-US" altLang="ko-KR" sz="2400" dirty="0"/>
              <a:t>)</a:t>
            </a:r>
          </a:p>
          <a:p>
            <a:pPr lvl="1"/>
            <a:r>
              <a:rPr lang="ko-KR" altLang="en-US" sz="2000" dirty="0"/>
              <a:t>컴파일 시점에 크기 결정</a:t>
            </a:r>
          </a:p>
          <a:p>
            <a:pPr lvl="1"/>
            <a:r>
              <a:rPr lang="ko-KR" altLang="en-US" sz="2000" dirty="0"/>
              <a:t>프로그램 시작 시 할당 </a:t>
            </a:r>
            <a:r>
              <a:rPr lang="en-US" altLang="ko-KR" sz="2000" dirty="0"/>
              <a:t>/ </a:t>
            </a:r>
            <a:r>
              <a:rPr lang="ko-KR" altLang="en-US" sz="2000" dirty="0"/>
              <a:t>종료 시까지 유지</a:t>
            </a:r>
          </a:p>
          <a:p>
            <a:pPr lvl="1"/>
            <a:r>
              <a:rPr lang="ko-KR" altLang="en-US" sz="2000" dirty="0"/>
              <a:t>전역 변수</a:t>
            </a:r>
            <a:r>
              <a:rPr lang="en-US" altLang="ko-KR" sz="2000" dirty="0"/>
              <a:t>, static </a:t>
            </a:r>
            <a:r>
              <a:rPr lang="ko-KR" altLang="en-US" sz="2000" dirty="0"/>
              <a:t>변수</a:t>
            </a:r>
          </a:p>
          <a:p>
            <a:pPr lvl="1"/>
            <a:r>
              <a:rPr lang="ko-KR" altLang="en-US" sz="2000" dirty="0"/>
              <a:t>크기 고정 → 실행 중 변경 불가</a:t>
            </a:r>
          </a:p>
          <a:p>
            <a:pPr lvl="3"/>
            <a:endParaRPr lang="ko-KR" altLang="en-US" sz="1400" dirty="0"/>
          </a:p>
          <a:p>
            <a:r>
              <a:rPr lang="ko-KR" altLang="en-US" sz="2400" dirty="0"/>
              <a:t>동적 할당 </a:t>
            </a:r>
            <a:r>
              <a:rPr lang="en-US" altLang="ko-KR" sz="2400" dirty="0"/>
              <a:t>(Heap)</a:t>
            </a:r>
          </a:p>
          <a:p>
            <a:pPr lvl="1"/>
            <a:r>
              <a:rPr lang="ko-KR" altLang="en-US" sz="2000" dirty="0"/>
              <a:t>실행 중 필요할 때 메모리 요청 → 사용 후 자원 반환</a:t>
            </a:r>
            <a:endParaRPr lang="en-US" altLang="ko-KR" sz="2000" dirty="0"/>
          </a:p>
          <a:p>
            <a:pPr lvl="2"/>
            <a:r>
              <a:rPr lang="ko-KR" altLang="en-US" sz="1600" dirty="0"/>
              <a:t>자원 요청 → 자원 확인 → 자원 사용 → 자원 반환</a:t>
            </a:r>
            <a:endParaRPr lang="ko-KR" altLang="en-US" sz="1100" dirty="0"/>
          </a:p>
          <a:p>
            <a:pPr lvl="2"/>
            <a:r>
              <a:rPr lang="ko-KR" altLang="en-US" sz="1600" dirty="0"/>
              <a:t>직접 해제 필요 </a:t>
            </a:r>
            <a:r>
              <a:rPr lang="en-US" altLang="ko-KR" sz="1600" dirty="0"/>
              <a:t>(free)</a:t>
            </a:r>
          </a:p>
          <a:p>
            <a:pPr lvl="1"/>
            <a:r>
              <a:rPr lang="ko-KR" altLang="en-US" sz="2000" dirty="0"/>
              <a:t>포인터로 주소 반환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90DA4AF-2202-4128-805F-D015D034F0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531810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60297A-3053-4D29-A862-102E7A7FA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15.2 </a:t>
            </a:r>
            <a:r>
              <a:rPr lang="ko-KR" altLang="en-US" dirty="0"/>
              <a:t>메모리 관련 함수들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213E391-E51C-472A-B183-66997968CF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>
                <a:latin typeface="+mn-ea"/>
                <a:ea typeface="+mn-ea"/>
              </a:rPr>
              <a:t>동적할당</a:t>
            </a:r>
            <a:endParaRPr lang="en-US" altLang="ko-KR" sz="2400" dirty="0">
              <a:latin typeface="+mn-ea"/>
              <a:ea typeface="+mn-ea"/>
            </a:endParaRPr>
          </a:p>
          <a:p>
            <a:pPr lvl="1"/>
            <a:r>
              <a:rPr lang="ko-KR" altLang="en-US" sz="2000" dirty="0">
                <a:latin typeface="+mn-ea"/>
                <a:ea typeface="+mn-ea"/>
              </a:rPr>
              <a:t>헤더 파일</a:t>
            </a:r>
            <a:endParaRPr lang="en-US" altLang="ko-KR" sz="2000" dirty="0">
              <a:latin typeface="+mn-ea"/>
              <a:ea typeface="+mn-ea"/>
            </a:endParaRPr>
          </a:p>
          <a:p>
            <a:pPr marL="457200" lvl="1" indent="0">
              <a:buNone/>
            </a:pPr>
            <a:r>
              <a:rPr lang="en-US" altLang="ko-KR" sz="2800" i="0" u="none" strike="noStrike" dirty="0">
                <a:solidFill>
                  <a:srgbClr val="4078F2"/>
                </a:solidFill>
                <a:effectLst/>
                <a:latin typeface="+mn-ea"/>
                <a:ea typeface="+mn-ea"/>
              </a:rPr>
              <a:t>	#include </a:t>
            </a:r>
            <a:r>
              <a:rPr lang="en-US" altLang="ko-KR" sz="2800" i="0" u="none" strike="noStrike" dirty="0">
                <a:solidFill>
                  <a:srgbClr val="50A14F"/>
                </a:solidFill>
                <a:effectLst/>
                <a:latin typeface="+mn-ea"/>
                <a:ea typeface="+mn-ea"/>
              </a:rPr>
              <a:t>&lt;stdlib.h&gt;</a:t>
            </a:r>
            <a:endParaRPr lang="en-US" altLang="ko-KR" sz="2800" dirty="0">
              <a:latin typeface="+mn-ea"/>
              <a:ea typeface="+mn-ea"/>
            </a:endParaRPr>
          </a:p>
          <a:p>
            <a:pPr lvl="1"/>
            <a:r>
              <a:rPr lang="en-US" altLang="ko-KR" sz="2000" dirty="0">
                <a:latin typeface="+mn-ea"/>
                <a:ea typeface="+mn-ea"/>
              </a:rPr>
              <a:t>malloc</a:t>
            </a:r>
            <a:r>
              <a:rPr lang="en-US" altLang="ko-KR" sz="2000" i="0" u="none" strike="noStrike" dirty="0">
                <a:solidFill>
                  <a:srgbClr val="000000"/>
                </a:solidFill>
                <a:effectLst/>
                <a:latin typeface="+mn-ea"/>
                <a:ea typeface="+mn-ea"/>
              </a:rPr>
              <a:t>(size_t size)</a:t>
            </a:r>
            <a:endParaRPr lang="en-US" altLang="ko-KR" sz="2000" dirty="0">
              <a:latin typeface="+mn-ea"/>
              <a:ea typeface="+mn-ea"/>
            </a:endParaRPr>
          </a:p>
          <a:p>
            <a:pPr lvl="1"/>
            <a:r>
              <a:rPr lang="en-US" altLang="ko-KR" sz="2000" dirty="0">
                <a:latin typeface="+mn-ea"/>
                <a:ea typeface="+mn-ea"/>
              </a:rPr>
              <a:t>calloc</a:t>
            </a:r>
            <a:r>
              <a:rPr lang="en-US" altLang="ko-KR" sz="2000" i="0" u="none" strike="noStrike" dirty="0">
                <a:solidFill>
                  <a:srgbClr val="000000"/>
                </a:solidFill>
                <a:effectLst/>
                <a:latin typeface="+mn-ea"/>
                <a:ea typeface="+mn-ea"/>
              </a:rPr>
              <a:t>(size_t count, size_t size)</a:t>
            </a:r>
            <a:endParaRPr lang="en-US" altLang="ko-KR" sz="2000" dirty="0">
              <a:latin typeface="+mn-ea"/>
              <a:ea typeface="+mn-ea"/>
            </a:endParaRPr>
          </a:p>
          <a:p>
            <a:pPr lvl="1"/>
            <a:r>
              <a:rPr lang="en-US" altLang="ko-KR" sz="2000" dirty="0">
                <a:latin typeface="+mn-ea"/>
                <a:ea typeface="+mn-ea"/>
              </a:rPr>
              <a:t>realloc</a:t>
            </a:r>
            <a:r>
              <a:rPr lang="en-US" altLang="ko-KR" sz="2000" i="0" u="none" strike="noStrike" dirty="0">
                <a:solidFill>
                  <a:srgbClr val="000000"/>
                </a:solidFill>
                <a:effectLst/>
                <a:latin typeface="+mn-ea"/>
                <a:ea typeface="+mn-ea"/>
              </a:rPr>
              <a:t>(void* ptr, size_t new_size)</a:t>
            </a:r>
          </a:p>
          <a:p>
            <a:pPr lvl="1"/>
            <a:r>
              <a:rPr lang="ko-KR" altLang="en-US" sz="2000" dirty="0">
                <a:latin typeface="+mn-ea"/>
                <a:ea typeface="+mn-ea"/>
              </a:rPr>
              <a:t>해제 </a:t>
            </a:r>
            <a:r>
              <a:rPr lang="en-US" altLang="ko-KR" sz="2000" dirty="0">
                <a:latin typeface="+mn-ea"/>
                <a:ea typeface="+mn-ea"/>
              </a:rPr>
              <a:t>: </a:t>
            </a:r>
            <a:r>
              <a:rPr lang="en-US" altLang="ko-KR" sz="2000" i="0" u="none" strike="noStrike" dirty="0">
                <a:solidFill>
                  <a:srgbClr val="000000"/>
                </a:solidFill>
                <a:effectLst/>
                <a:latin typeface="+mn-ea"/>
                <a:ea typeface="+mn-ea"/>
              </a:rPr>
              <a:t>free(void* ptr)</a:t>
            </a:r>
            <a:endParaRPr lang="en-US" altLang="ko-KR" sz="2000" dirty="0">
              <a:latin typeface="+mn-ea"/>
              <a:ea typeface="+mn-ea"/>
            </a:endParaRPr>
          </a:p>
          <a:p>
            <a:pPr lvl="3"/>
            <a:endParaRPr lang="en-US" altLang="ko-KR" sz="1400" dirty="0">
              <a:latin typeface="+mn-ea"/>
              <a:ea typeface="+mn-ea"/>
            </a:endParaRPr>
          </a:p>
          <a:p>
            <a:r>
              <a:rPr lang="ko-KR" altLang="en-US" sz="2400" dirty="0">
                <a:latin typeface="+mn-ea"/>
                <a:ea typeface="+mn-ea"/>
              </a:rPr>
              <a:t>메모리 조작</a:t>
            </a:r>
            <a:endParaRPr lang="en-US" altLang="ko-KR" sz="2400" dirty="0">
              <a:latin typeface="+mn-ea"/>
              <a:ea typeface="+mn-ea"/>
            </a:endParaRPr>
          </a:p>
          <a:p>
            <a:pPr lvl="1"/>
            <a:r>
              <a:rPr lang="ko-KR" altLang="en-US" sz="2000" dirty="0">
                <a:latin typeface="+mn-ea"/>
                <a:ea typeface="+mn-ea"/>
              </a:rPr>
              <a:t>헤더 파일</a:t>
            </a:r>
            <a:endParaRPr lang="en-US" altLang="ko-KR" sz="2000" dirty="0">
              <a:latin typeface="+mn-ea"/>
              <a:ea typeface="+mn-ea"/>
            </a:endParaRPr>
          </a:p>
          <a:p>
            <a:pPr marL="457200" lvl="1" indent="0">
              <a:buNone/>
            </a:pPr>
            <a:r>
              <a:rPr lang="en-US" altLang="ko-KR" sz="2800" i="0" u="none" strike="noStrike" dirty="0">
                <a:solidFill>
                  <a:srgbClr val="4078F2"/>
                </a:solidFill>
                <a:effectLst/>
                <a:latin typeface="+mn-ea"/>
                <a:ea typeface="+mn-ea"/>
              </a:rPr>
              <a:t>	#include </a:t>
            </a:r>
            <a:r>
              <a:rPr lang="en-US" altLang="ko-KR" sz="2800" i="0" u="none" strike="noStrike" dirty="0">
                <a:solidFill>
                  <a:srgbClr val="CC00FF"/>
                </a:solidFill>
                <a:effectLst/>
                <a:latin typeface="+mn-ea"/>
                <a:ea typeface="+mn-ea"/>
              </a:rPr>
              <a:t>&lt;string.h&gt;</a:t>
            </a:r>
            <a:endParaRPr lang="en-US" altLang="ko-KR" sz="2800" dirty="0">
              <a:solidFill>
                <a:srgbClr val="CC00FF"/>
              </a:solidFill>
              <a:latin typeface="+mn-ea"/>
              <a:ea typeface="+mn-ea"/>
            </a:endParaRPr>
          </a:p>
          <a:p>
            <a:pPr lvl="1"/>
            <a:r>
              <a:rPr lang="en-US" altLang="ko-KR" sz="2000" dirty="0">
                <a:latin typeface="+mn-ea"/>
                <a:ea typeface="+mn-ea"/>
              </a:rPr>
              <a:t>memset</a:t>
            </a:r>
          </a:p>
          <a:p>
            <a:pPr lvl="1"/>
            <a:r>
              <a:rPr lang="en-US" altLang="ko-KR" sz="2000" dirty="0">
                <a:latin typeface="+mn-ea"/>
                <a:ea typeface="+mn-ea"/>
              </a:rPr>
              <a:t>memcpy</a:t>
            </a:r>
          </a:p>
          <a:p>
            <a:pPr lvl="1"/>
            <a:r>
              <a:rPr lang="en-US" altLang="ko-KR" sz="2000" dirty="0">
                <a:latin typeface="+mn-ea"/>
                <a:ea typeface="+mn-ea"/>
              </a:rPr>
              <a:t>memmove</a:t>
            </a:r>
            <a:endParaRPr lang="ko-KR" altLang="en-US" sz="2400" dirty="0">
              <a:latin typeface="+mn-ea"/>
              <a:ea typeface="+mn-ea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90DA4AF-2202-4128-805F-D015D034F0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8555036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60297A-3053-4D29-A862-102E7A7FA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15.2.1 memset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213E391-E51C-472A-B183-66997968CF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4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240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memset</a:t>
            </a:r>
            <a:br>
              <a:rPr lang="en-US" altLang="ko-KR" sz="240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4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ptr, </a:t>
            </a:r>
            <a:r>
              <a:rPr lang="en-US" altLang="ko-KR" sz="24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value, </a:t>
            </a:r>
            <a:r>
              <a:rPr lang="en-US" altLang="ko-KR" sz="24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altLang="ko-KR" sz="24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num)</a:t>
            </a:r>
          </a:p>
          <a:p>
            <a:endParaRPr lang="en-US" altLang="ko-KR" sz="2400" i="0" u="none" strike="noStrike" dirty="0">
              <a:solidFill>
                <a:srgbClr val="383A42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24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자료형 구분 없이 메모리를 바이트 단위로 채움</a:t>
            </a:r>
            <a:br>
              <a:rPr lang="en-US" altLang="ko-KR" sz="24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dirty="0"/>
              <a:t>value</a:t>
            </a:r>
            <a:r>
              <a:rPr lang="ko-KR" altLang="en-US" sz="2400" dirty="0"/>
              <a:t>의 하위 </a:t>
            </a:r>
            <a:r>
              <a:rPr lang="en-US" altLang="ko-KR" sz="2400" dirty="0"/>
              <a:t>1</a:t>
            </a:r>
            <a:r>
              <a:rPr lang="ko-KR" altLang="en-US" sz="2400" dirty="0"/>
              <a:t>바이트를 반복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90DA4AF-2202-4128-805F-D015D034F0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B9168E-3AE2-459E-9D87-8D789313EEB0}"/>
              </a:ext>
            </a:extLst>
          </p:cNvPr>
          <p:cNvSpPr txBox="1"/>
          <p:nvPr/>
        </p:nvSpPr>
        <p:spPr>
          <a:xfrm>
            <a:off x="755576" y="3580370"/>
            <a:ext cx="7200800" cy="646331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arr[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memset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(arr,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(arr)); 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배열의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모든 바이트가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0</a:t>
            </a:r>
            <a:endParaRPr lang="ko-KR" altLang="en-US" sz="1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DF1CDC-2417-470D-993E-87765AD48580}"/>
              </a:ext>
            </a:extLst>
          </p:cNvPr>
          <p:cNvSpPr txBox="1"/>
          <p:nvPr/>
        </p:nvSpPr>
        <p:spPr>
          <a:xfrm>
            <a:off x="755576" y="4427820"/>
            <a:ext cx="7200800" cy="369332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memset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(arr,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(arr)); 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→ 0x01010101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로 채워 짐</a:t>
            </a:r>
            <a:endParaRPr lang="ko-KR" altLang="en-US" sz="1800" dirty="0"/>
          </a:p>
        </p:txBody>
      </p:sp>
    </p:spTree>
    <p:extLst>
      <p:ext uri="{BB962C8B-B14F-4D97-AF65-F5344CB8AC3E}">
        <p14:creationId xmlns:p14="http://schemas.microsoft.com/office/powerpoint/2010/main" val="8910357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60297A-3053-4D29-A862-102E7A7FA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15.2.2 memcpy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213E391-E51C-472A-B183-66997968CF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4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240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memcpy</a:t>
            </a:r>
            <a:br>
              <a:rPr lang="en-US" altLang="ko-KR" sz="240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4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240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dest</a:t>
            </a:r>
            <a:r>
              <a:rPr lang="en-US" altLang="ko-KR" sz="24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4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24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4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src, </a:t>
            </a:r>
            <a:r>
              <a:rPr lang="en-US" altLang="ko-KR" sz="24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altLang="ko-KR" sz="24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num)</a:t>
            </a:r>
          </a:p>
          <a:p>
            <a:pPr lvl="3"/>
            <a:endParaRPr lang="en-US" altLang="ko-KR" sz="1400" i="0" u="none" strike="noStrike" dirty="0">
              <a:solidFill>
                <a:srgbClr val="383A42"/>
              </a:solidFill>
              <a:effectLst/>
              <a:latin typeface="Consolas" panose="020B0609020204030204" pitchFamily="49" charset="0"/>
            </a:endParaRPr>
          </a:p>
          <a:p>
            <a:pPr lvl="1"/>
            <a:r>
              <a:rPr lang="ko-KR" altLang="en-US" sz="20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자료형 구분 없이 지정한 바이트 수만큼 그대로 복사</a:t>
            </a:r>
            <a:endParaRPr lang="en-US" altLang="ko-KR" sz="2000" i="0" u="none" strike="noStrike" dirty="0">
              <a:solidFill>
                <a:srgbClr val="383A42"/>
              </a:solidFill>
              <a:effectLst/>
              <a:latin typeface="Consolas" panose="020B0609020204030204" pitchFamily="49" charset="0"/>
            </a:endParaRPr>
          </a:p>
          <a:p>
            <a:pPr lvl="1"/>
            <a:endParaRPr lang="en-US" altLang="ko-KR" sz="2000" dirty="0">
              <a:solidFill>
                <a:srgbClr val="383A42"/>
              </a:solidFill>
              <a:latin typeface="Consolas" panose="020B0609020204030204" pitchFamily="49" charset="0"/>
            </a:endParaRPr>
          </a:p>
          <a:p>
            <a:pPr lvl="1"/>
            <a:endParaRPr lang="en-US" altLang="ko-KR" sz="2000" i="0" u="none" strike="noStrike" dirty="0">
              <a:solidFill>
                <a:srgbClr val="383A42"/>
              </a:solidFill>
              <a:effectLst/>
              <a:latin typeface="Consolas" panose="020B0609020204030204" pitchFamily="49" charset="0"/>
            </a:endParaRPr>
          </a:p>
          <a:p>
            <a:pPr lvl="1"/>
            <a:endParaRPr lang="en-US" altLang="ko-KR" sz="2000" dirty="0">
              <a:solidFill>
                <a:srgbClr val="383A42"/>
              </a:solidFill>
              <a:latin typeface="Consolas" panose="020B0609020204030204" pitchFamily="49" charset="0"/>
            </a:endParaRPr>
          </a:p>
          <a:p>
            <a:pPr lvl="1"/>
            <a:endParaRPr lang="en-US" altLang="ko-KR" sz="2000" i="0" u="none" strike="noStrike" dirty="0">
              <a:solidFill>
                <a:srgbClr val="383A42"/>
              </a:solidFill>
              <a:effectLst/>
              <a:latin typeface="Consolas" panose="020B0609020204030204" pitchFamily="49" charset="0"/>
            </a:endParaRPr>
          </a:p>
          <a:p>
            <a:endParaRPr lang="en-US" altLang="ko-KR" sz="2400" i="0" u="none" strike="noStrike" dirty="0">
              <a:solidFill>
                <a:srgbClr val="383A42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24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주의</a:t>
            </a:r>
          </a:p>
          <a:p>
            <a:pPr lvl="1"/>
            <a:r>
              <a:rPr lang="ko-KR" altLang="en-US" sz="20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메모리 영역이 겹치면 정의되지 않음 </a:t>
            </a:r>
            <a:r>
              <a:rPr lang="en-US" altLang="ko-KR" sz="20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(UB) → </a:t>
            </a:r>
            <a:r>
              <a:rPr lang="en-US" altLang="ko-KR" i="0" u="none" strike="noStrike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memmove</a:t>
            </a:r>
            <a:r>
              <a:rPr lang="en-US" altLang="ko-KR" sz="20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20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사용</a:t>
            </a:r>
            <a:endParaRPr lang="en-US" altLang="ko-KR" sz="2000" i="0" u="none" strike="noStrike" dirty="0">
              <a:solidFill>
                <a:srgbClr val="383A42"/>
              </a:solidFill>
              <a:effectLst/>
              <a:latin typeface="Consolas" panose="020B0609020204030204" pitchFamily="49" charset="0"/>
            </a:endParaRPr>
          </a:p>
          <a:p>
            <a:pPr lvl="1"/>
            <a:r>
              <a:rPr lang="ko-KR" altLang="en-US" sz="20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플랫폼에 따라 결과 달라질 수 있음</a:t>
            </a:r>
          </a:p>
          <a:p>
            <a:endParaRPr lang="en-US" altLang="ko-KR" sz="1800" b="0" dirty="0">
              <a:solidFill>
                <a:srgbClr val="383A42"/>
              </a:solidFill>
              <a:latin typeface="Consolas" panose="020B0609020204030204" pitchFamily="49" charset="0"/>
            </a:endParaRPr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90DA4AF-2202-4128-805F-D015D034F0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59ED507-E34E-403D-9DAA-2DB146D4B7CB}"/>
              </a:ext>
            </a:extLst>
          </p:cNvPr>
          <p:cNvSpPr txBox="1"/>
          <p:nvPr/>
        </p:nvSpPr>
        <p:spPr>
          <a:xfrm>
            <a:off x="971600" y="2228671"/>
            <a:ext cx="7272808" cy="1200329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 = 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b;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memcpy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(&amp;b, &amp;a, 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));</a:t>
            </a:r>
            <a:endParaRPr lang="ko-KR" altLang="en-US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C50E10-3DA5-4B77-8D12-2FC6CFDD0F30}"/>
              </a:ext>
            </a:extLst>
          </p:cNvPr>
          <p:cNvSpPr txBox="1"/>
          <p:nvPr/>
        </p:nvSpPr>
        <p:spPr>
          <a:xfrm>
            <a:off x="971600" y="5517232"/>
            <a:ext cx="7272808" cy="830997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buffer[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altLang="ko-KR" sz="2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24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abcdefghi</a:t>
            </a:r>
            <a:r>
              <a:rPr lang="en-US" altLang="ko-KR" sz="2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memcpy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(buffer + 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buffer, 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  </a:t>
            </a:r>
            <a:r>
              <a:rPr lang="en-US" altLang="ko-KR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위험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6351299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60297A-3053-4D29-A862-102E7A7FA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15.2.3 memmove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213E391-E51C-472A-B183-66997968CF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4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240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memmove</a:t>
            </a:r>
            <a:br>
              <a:rPr lang="en-US" altLang="ko-KR" sz="240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4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240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dest</a:t>
            </a:r>
            <a:r>
              <a:rPr lang="en-US" altLang="ko-KR" sz="24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4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24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4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src, </a:t>
            </a:r>
            <a:r>
              <a:rPr lang="en-US" altLang="ko-KR" sz="24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altLang="ko-KR" sz="24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num)</a:t>
            </a:r>
          </a:p>
          <a:p>
            <a:pPr lvl="2"/>
            <a:endParaRPr lang="en-US" altLang="ko-KR" dirty="0">
              <a:solidFill>
                <a:srgbClr val="383A42"/>
              </a:solidFill>
              <a:latin typeface="Consolas" panose="020B0609020204030204" pitchFamily="49" charset="0"/>
            </a:endParaRPr>
          </a:p>
          <a:p>
            <a:r>
              <a:rPr lang="en-US" altLang="ko-KR" dirty="0"/>
              <a:t>memmove</a:t>
            </a:r>
          </a:p>
          <a:p>
            <a:pPr lvl="1"/>
            <a:r>
              <a:rPr lang="ko-KR" altLang="en-US" dirty="0"/>
              <a:t>메모리를 바이트 단위로 복사</a:t>
            </a:r>
          </a:p>
          <a:p>
            <a:pPr lvl="1"/>
            <a:r>
              <a:rPr lang="ko-KR" altLang="en-US" dirty="0"/>
              <a:t>복사 영역이 겹쳐도 안전하게 동작</a:t>
            </a:r>
            <a:endParaRPr lang="en-US" altLang="ko-KR" dirty="0"/>
          </a:p>
          <a:p>
            <a:pPr lvl="2"/>
            <a:endParaRPr lang="en-US" altLang="ko-KR" dirty="0"/>
          </a:p>
          <a:p>
            <a:r>
              <a:rPr lang="en-US" altLang="ko-KR" dirty="0"/>
              <a:t>memcpy </a:t>
            </a:r>
            <a:r>
              <a:rPr lang="ko-KR" altLang="en-US" dirty="0"/>
              <a:t>와 비교</a:t>
            </a:r>
            <a:endParaRPr lang="en-US" altLang="ko-KR" dirty="0"/>
          </a:p>
          <a:p>
            <a:pPr lvl="1"/>
            <a:r>
              <a:rPr lang="ko-KR" altLang="en-US" dirty="0"/>
              <a:t>상대적으로 느림</a:t>
            </a:r>
          </a:p>
          <a:p>
            <a:pPr lvl="1"/>
            <a:r>
              <a:rPr lang="ko-KR" altLang="en-US" dirty="0"/>
              <a:t>겹쳐도 안전</a:t>
            </a:r>
            <a:endParaRPr lang="ko-KR" altLang="en-US" sz="28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90DA4AF-2202-4128-805F-D015D034F0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818C3E3-26CC-4D47-A285-2B0A6160B16B}"/>
              </a:ext>
            </a:extLst>
          </p:cNvPr>
          <p:cNvSpPr txBox="1"/>
          <p:nvPr/>
        </p:nvSpPr>
        <p:spPr>
          <a:xfrm>
            <a:off x="611560" y="5324296"/>
            <a:ext cx="7416824" cy="1200329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안전한 복사</a:t>
            </a:r>
            <a:b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buffer[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2400" b="0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abcdefghi</a:t>
            </a:r>
            <a:r>
              <a:rPr lang="en-US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memmove(buffer +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buffer,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  </a:t>
            </a:r>
            <a:r>
              <a:rPr lang="en-US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안전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322682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60297A-3053-4D29-A862-102E7A7FA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15.3.1 malloc </a:t>
            </a:r>
            <a:r>
              <a:rPr lang="ko-KR" altLang="en-US" dirty="0"/>
              <a:t>기본 사용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213E391-E51C-472A-B183-66997968CF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A626A4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void</a:t>
            </a:r>
            <a:r>
              <a:rPr lang="en-US" altLang="ko-KR" dirty="0">
                <a:solidFill>
                  <a:srgbClr val="383A42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* </a:t>
            </a:r>
            <a:r>
              <a:rPr lang="en-US" altLang="ko-KR" dirty="0">
                <a:solidFill>
                  <a:srgbClr val="4078F2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malloc</a:t>
            </a:r>
            <a:r>
              <a:rPr lang="en-US" altLang="ko-KR" dirty="0">
                <a:solidFill>
                  <a:srgbClr val="383A42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>
                <a:solidFill>
                  <a:srgbClr val="A626A4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size_t</a:t>
            </a:r>
            <a:r>
              <a:rPr lang="en-US" altLang="ko-KR" dirty="0">
                <a:solidFill>
                  <a:srgbClr val="383A42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_Size)</a:t>
            </a:r>
            <a:endParaRPr lang="ko-KR" altLang="en-US" dirty="0">
              <a:latin typeface="Consolas" panose="020B0609020204030204" pitchFamily="49" charset="0"/>
              <a:ea typeface="D2Coding" panose="020B0609020101020101" pitchFamily="49" charset="-127"/>
            </a:endParaRPr>
          </a:p>
          <a:p>
            <a:pPr lvl="1"/>
            <a:r>
              <a:rPr lang="ko-KR" altLang="en-US" sz="1800" dirty="0"/>
              <a:t>요청한 크기만큼 힙 메모리 할당</a:t>
            </a:r>
          </a:p>
          <a:p>
            <a:pPr lvl="1"/>
            <a:r>
              <a:rPr lang="ko-KR" altLang="en-US" sz="1800" dirty="0"/>
              <a:t>성공</a:t>
            </a:r>
            <a:r>
              <a:rPr lang="en-US" altLang="ko-KR" sz="1800" dirty="0"/>
              <a:t>: </a:t>
            </a:r>
            <a:r>
              <a:rPr lang="ko-KR" altLang="en-US" sz="1800" dirty="0"/>
              <a:t>주소 반환 </a:t>
            </a:r>
            <a:r>
              <a:rPr lang="en-US" altLang="ko-KR" sz="1800" dirty="0"/>
              <a:t>(void*), </a:t>
            </a:r>
            <a:r>
              <a:rPr lang="ko-KR" altLang="en-US" sz="1800" dirty="0"/>
              <a:t>실패</a:t>
            </a:r>
            <a:r>
              <a:rPr lang="en-US" altLang="ko-KR" sz="1800" dirty="0"/>
              <a:t>: </a:t>
            </a:r>
            <a:r>
              <a:rPr lang="en-US" altLang="ko-KR" sz="1800" dirty="0">
                <a:solidFill>
                  <a:srgbClr val="CC00FF"/>
                </a:solidFill>
              </a:rPr>
              <a:t>NULL</a:t>
            </a:r>
            <a:r>
              <a:rPr lang="en-US" altLang="ko-KR" sz="1800" dirty="0"/>
              <a:t> </a:t>
            </a:r>
            <a:r>
              <a:rPr lang="ko-KR" altLang="en-US" sz="1800" dirty="0"/>
              <a:t>반환</a:t>
            </a:r>
            <a:endParaRPr lang="en-US" altLang="ko-KR" sz="1800" dirty="0"/>
          </a:p>
          <a:p>
            <a:pPr lvl="1"/>
            <a:r>
              <a:rPr lang="en-US" altLang="ko-KR" sz="1800" dirty="0"/>
              <a:t>malloc </a:t>
            </a:r>
            <a:r>
              <a:rPr lang="ko-KR" altLang="en-US" sz="1800" dirty="0"/>
              <a:t>메모리는 초기화되지 않음 → 필요 시 </a:t>
            </a:r>
            <a:r>
              <a:rPr lang="en-US" altLang="ko-KR" sz="1800" dirty="0">
                <a:solidFill>
                  <a:srgbClr val="CC00FF"/>
                </a:solidFill>
              </a:rPr>
              <a:t>memset</a:t>
            </a:r>
            <a:r>
              <a:rPr lang="en-US" altLang="ko-KR" sz="1800" dirty="0"/>
              <a:t> </a:t>
            </a:r>
            <a:r>
              <a:rPr lang="ko-KR" altLang="en-US" sz="1800" dirty="0"/>
              <a:t>등으로 초기화</a:t>
            </a:r>
            <a:endParaRPr lang="en-US" altLang="ko-KR" sz="1800" dirty="0"/>
          </a:p>
          <a:p>
            <a:pPr lvl="1"/>
            <a:r>
              <a:rPr lang="en-US" altLang="ko-KR" sz="1800" dirty="0"/>
              <a:t>C vs C++</a:t>
            </a:r>
          </a:p>
          <a:p>
            <a:pPr lvl="2"/>
            <a:r>
              <a:rPr lang="en-US" altLang="ko-KR" sz="1600" dirty="0"/>
              <a:t>C:  void* </a:t>
            </a:r>
            <a:r>
              <a:rPr lang="ko-KR" altLang="en-US" sz="1600" dirty="0"/>
              <a:t>자동 변환 → 캐스팅 생략 가능</a:t>
            </a:r>
          </a:p>
          <a:p>
            <a:pPr lvl="2"/>
            <a:r>
              <a:rPr lang="en-US" altLang="ko-KR" sz="1600" dirty="0"/>
              <a:t>C++: </a:t>
            </a:r>
            <a:r>
              <a:rPr lang="ko-KR" altLang="en-US" sz="1600" dirty="0"/>
              <a:t>자동 변환 안됨 명시적 캐스팅 필요</a:t>
            </a:r>
            <a:endParaRPr lang="en-US" altLang="ko-KR" sz="1600" dirty="0"/>
          </a:p>
          <a:p>
            <a:pPr lvl="2"/>
            <a:endParaRPr lang="ko-KR" altLang="en-US" sz="1600" dirty="0"/>
          </a:p>
          <a:p>
            <a:pPr lvl="1"/>
            <a:endParaRPr lang="en-US" altLang="ko-KR" sz="1800" dirty="0"/>
          </a:p>
          <a:p>
            <a:pPr lvl="2"/>
            <a:endParaRPr lang="en-US" altLang="ko-KR" sz="1200" dirty="0"/>
          </a:p>
          <a:p>
            <a:endParaRPr lang="en-US" altLang="ko-KR" sz="2000" dirty="0"/>
          </a:p>
          <a:p>
            <a:r>
              <a:rPr lang="en-US" altLang="ko-KR" dirty="0">
                <a:solidFill>
                  <a:srgbClr val="A626A4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void</a:t>
            </a:r>
            <a:r>
              <a:rPr lang="en-US" altLang="ko-KR" dirty="0">
                <a:solidFill>
                  <a:srgbClr val="383A42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rgbClr val="4078F2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free</a:t>
            </a:r>
            <a:r>
              <a:rPr lang="en-US" altLang="ko-KR" dirty="0">
                <a:solidFill>
                  <a:srgbClr val="383A42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>
                <a:solidFill>
                  <a:srgbClr val="A626A4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void</a:t>
            </a:r>
            <a:r>
              <a:rPr lang="en-US" altLang="ko-KR" dirty="0">
                <a:solidFill>
                  <a:srgbClr val="383A42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* _Block)</a:t>
            </a:r>
            <a:endParaRPr lang="ko-KR" altLang="en-US" dirty="0"/>
          </a:p>
          <a:p>
            <a:pPr lvl="1"/>
            <a:r>
              <a:rPr lang="en-US" altLang="ko-KR" sz="1800" dirty="0"/>
              <a:t>malloc / calloc / realloc</a:t>
            </a:r>
            <a:r>
              <a:rPr lang="ko-KR" altLang="en-US" sz="1800" dirty="0"/>
              <a:t>으로 생성한 메모리만 해제 </a:t>
            </a:r>
            <a:endParaRPr lang="en-US" altLang="ko-KR" sz="1800" dirty="0"/>
          </a:p>
          <a:p>
            <a:pPr lvl="1"/>
            <a:r>
              <a:rPr lang="ko-KR" altLang="en-US" sz="1800" dirty="0"/>
              <a:t>사용 후 반드시 </a:t>
            </a:r>
            <a:r>
              <a:rPr lang="en-US" altLang="ko-KR" sz="1800" dirty="0">
                <a:solidFill>
                  <a:srgbClr val="CC00FF"/>
                </a:solidFill>
              </a:rPr>
              <a:t>free</a:t>
            </a:r>
            <a:r>
              <a:rPr lang="en-US" altLang="ko-KR" sz="1800" dirty="0"/>
              <a:t> </a:t>
            </a:r>
            <a:r>
              <a:rPr lang="ko-KR" altLang="en-US" sz="1800" dirty="0"/>
              <a:t>로 해제 ← 해제하지 않으면 </a:t>
            </a:r>
            <a:r>
              <a:rPr lang="ko-KR" altLang="en-US" sz="1800" dirty="0">
                <a:solidFill>
                  <a:srgbClr val="CC00CC"/>
                </a:solidFill>
              </a:rPr>
              <a:t>메모리 누수</a:t>
            </a:r>
            <a:endParaRPr lang="ko-KR" altLang="en-US" sz="18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90DA4AF-2202-4128-805F-D015D034F0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D567FB-17D7-C5FD-8D0D-05F1AF691D80}"/>
              </a:ext>
            </a:extLst>
          </p:cNvPr>
          <p:cNvSpPr txBox="1"/>
          <p:nvPr/>
        </p:nvSpPr>
        <p:spPr>
          <a:xfrm>
            <a:off x="2699792" y="3284984"/>
            <a:ext cx="5400601" cy="707886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i="1" u="none" strike="noStrike" dirty="0">
                <a:solidFill>
                  <a:srgbClr val="A0A1A7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C++ </a:t>
            </a:r>
            <a:r>
              <a:rPr lang="ko-KR" altLang="en-US" sz="2000" i="1" u="none" strike="noStrike" dirty="0">
                <a:solidFill>
                  <a:srgbClr val="A0A1A7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호환을 위한 명시적 캐스팅</a:t>
            </a:r>
            <a:br>
              <a:rPr lang="ko-KR" altLang="en-US" sz="200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 ptr = (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*)</a:t>
            </a: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malloc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buf_size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  <a:endParaRPr lang="ko-KR" altLang="en-US" sz="20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3E12A4-936B-1955-1914-22AA05F3A4CC}"/>
              </a:ext>
            </a:extLst>
          </p:cNvPr>
          <p:cNvSpPr txBox="1"/>
          <p:nvPr/>
        </p:nvSpPr>
        <p:spPr>
          <a:xfrm>
            <a:off x="2705518" y="5661248"/>
            <a:ext cx="5400600" cy="707886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2000" b="1" dirty="0">
                <a:solidFill>
                  <a:srgbClr val="6F008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free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20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ptr_arr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</a:p>
          <a:p>
            <a:pPr>
              <a:buNone/>
            </a:pPr>
            <a:r>
              <a:rPr lang="en-US" altLang="ko-KR" sz="20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ptr_arr</a:t>
            </a:r>
            <a:r>
              <a:rPr lang="ko-KR" altLang="en-US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 </a:t>
            </a:r>
            <a:r>
              <a:rPr lang="en-US" altLang="ko-KR" sz="2000" b="1" dirty="0">
                <a:solidFill>
                  <a:srgbClr val="6F008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r>
              <a:rPr lang="en-US" altLang="ko-KR" sz="2000" i="1" dirty="0">
                <a:solidFill>
                  <a:srgbClr val="A0A1A7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// </a:t>
            </a:r>
            <a:r>
              <a:rPr lang="ko-KR" altLang="en-US" sz="2000" i="1" dirty="0" err="1">
                <a:solidFill>
                  <a:srgbClr val="A0A1A7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댕글링</a:t>
            </a:r>
            <a:r>
              <a:rPr lang="ko-KR" altLang="en-US" sz="2000" i="1" dirty="0">
                <a:solidFill>
                  <a:srgbClr val="A0A1A7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포인터 방지</a:t>
            </a:r>
            <a:endParaRPr lang="ko-KR" altLang="en-US" sz="200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62534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60297A-3053-4D29-A862-102E7A7FA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15.3.2 malloc</a:t>
            </a:r>
            <a:r>
              <a:rPr lang="ko-KR" altLang="en-US" dirty="0"/>
              <a:t>을 이용한 구조체의 동적 생성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213E391-E51C-472A-B183-66997968CF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구조체의 동적 생성</a:t>
            </a:r>
          </a:p>
          <a:p>
            <a:pPr lvl="1"/>
            <a:r>
              <a:rPr lang="ko-KR" altLang="en-US" dirty="0"/>
              <a:t>실행 중 </a:t>
            </a:r>
            <a:r>
              <a:rPr lang="en-US" altLang="ko-KR" dirty="0"/>
              <a:t>malloc</a:t>
            </a:r>
            <a:r>
              <a:rPr lang="ko-KR" altLang="en-US" dirty="0"/>
              <a:t>으로 메모리 확보 </a:t>
            </a:r>
          </a:p>
          <a:p>
            <a:pPr lvl="1"/>
            <a:r>
              <a:rPr lang="ko-KR" altLang="en-US" dirty="0"/>
              <a:t>확보한 메모리에 구조체 데이터 구성</a:t>
            </a:r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90DA4AF-2202-4128-805F-D015D034F0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B8B0D0-085D-978F-B973-336701FE1490}"/>
              </a:ext>
            </a:extLst>
          </p:cNvPr>
          <p:cNvSpPr txBox="1"/>
          <p:nvPr/>
        </p:nvSpPr>
        <p:spPr>
          <a:xfrm>
            <a:off x="395535" y="2420888"/>
            <a:ext cx="3946243" cy="1815882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i="1" dirty="0">
                <a:solidFill>
                  <a:srgbClr val="A0A1A7"/>
                </a:solidFill>
                <a:latin typeface="Consolas" panose="020B0609020204030204" pitchFamily="49" charset="0"/>
              </a:rPr>
              <a:t>// 1. </a:t>
            </a:r>
            <a:r>
              <a:rPr lang="ko-KR" altLang="en-US" sz="1400" i="1" dirty="0">
                <a:solidFill>
                  <a:srgbClr val="A0A1A7"/>
                </a:solidFill>
                <a:latin typeface="Consolas" panose="020B0609020204030204" pitchFamily="49" charset="0"/>
              </a:rPr>
              <a:t>사용자 정의 구조체</a:t>
            </a:r>
            <a:r>
              <a:rPr lang="en-US" altLang="ko-KR" sz="1400" i="1" dirty="0">
                <a:solidFill>
                  <a:srgbClr val="A0A1A7"/>
                </a:solidFill>
                <a:latin typeface="Consolas" panose="020B0609020204030204" pitchFamily="49" charset="0"/>
              </a:rPr>
              <a:t>.</a:t>
            </a:r>
            <a:endParaRPr lang="en-US" altLang="ko-KR" sz="1400" b="0" i="0" u="none" strike="noStrike" dirty="0">
              <a:solidFill>
                <a:srgbClr val="A626A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typedef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Player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name[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32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type;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1: Knight, 2: Sorcerer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attack;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hp;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 Player;</a:t>
            </a:r>
            <a:endParaRPr lang="ko-KR" altLang="en-US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A1AE62-1DEA-20FD-D4E8-9515A49FB645}"/>
              </a:ext>
            </a:extLst>
          </p:cNvPr>
          <p:cNvSpPr txBox="1"/>
          <p:nvPr/>
        </p:nvSpPr>
        <p:spPr>
          <a:xfrm>
            <a:off x="4629807" y="2420888"/>
            <a:ext cx="4041382" cy="1815882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i="1" dirty="0">
                <a:solidFill>
                  <a:srgbClr val="A0A1A7"/>
                </a:solidFill>
                <a:latin typeface="Consolas" panose="020B0609020204030204" pitchFamily="49" charset="0"/>
              </a:rPr>
              <a:t>// 3. memset</a:t>
            </a:r>
            <a:r>
              <a:rPr lang="ko-KR" altLang="en-US" sz="1400" i="1" dirty="0">
                <a:solidFill>
                  <a:srgbClr val="A0A1A7"/>
                </a:solidFill>
                <a:latin typeface="Consolas" panose="020B0609020204030204" pitchFamily="49" charset="0"/>
              </a:rPr>
              <a:t>으로 구조체를 </a:t>
            </a:r>
            <a:r>
              <a:rPr lang="en-US" altLang="ko-KR" sz="1400" i="1" dirty="0">
                <a:solidFill>
                  <a:srgbClr val="A0A1A7"/>
                </a:solidFill>
                <a:latin typeface="Consolas" panose="020B0609020204030204" pitchFamily="49" charset="0"/>
              </a:rPr>
              <a:t>0</a:t>
            </a:r>
            <a:r>
              <a:rPr lang="ko-KR" altLang="en-US" sz="1400" i="1" dirty="0">
                <a:solidFill>
                  <a:srgbClr val="A0A1A7"/>
                </a:solidFill>
                <a:latin typeface="Consolas" panose="020B0609020204030204" pitchFamily="49" charset="0"/>
              </a:rPr>
              <a:t>으로 초기화</a:t>
            </a:r>
            <a:r>
              <a:rPr lang="en-US" altLang="ko-KR" sz="1400" i="1" dirty="0">
                <a:solidFill>
                  <a:srgbClr val="A0A1A7"/>
                </a:solidFill>
                <a:latin typeface="Consolas" panose="020B0609020204030204" pitchFamily="49" charset="0"/>
              </a:rPr>
              <a:t>.</a:t>
            </a:r>
            <a:endParaRPr lang="en-US" altLang="ko-KR" sz="1400" dirty="0">
              <a:solidFill>
                <a:srgbClr val="A626A4"/>
              </a:solidFill>
              <a:latin typeface="Consolas" panose="020B0609020204030204" pitchFamily="49" charset="0"/>
            </a:endParaRPr>
          </a:p>
          <a:p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memset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(player,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(Player));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endParaRPr lang="en-US" altLang="ko-KR" sz="1400" b="0" i="0" u="none" strike="noStrike" dirty="0">
              <a:solidFill>
                <a:srgbClr val="383A42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400" i="1" dirty="0">
                <a:solidFill>
                  <a:srgbClr val="A0A1A7"/>
                </a:solidFill>
                <a:latin typeface="Consolas" panose="020B0609020204030204" pitchFamily="49" charset="0"/>
              </a:rPr>
              <a:t>// 4. </a:t>
            </a:r>
            <a:r>
              <a:rPr lang="ko-KR" altLang="en-US" sz="1400" i="1" dirty="0">
                <a:solidFill>
                  <a:srgbClr val="A0A1A7"/>
                </a:solidFill>
                <a:latin typeface="Consolas" panose="020B0609020204030204" pitchFamily="49" charset="0"/>
              </a:rPr>
              <a:t>구조체 멤버 값 설정</a:t>
            </a:r>
            <a:r>
              <a:rPr lang="en-US" altLang="ko-KR" sz="1400" i="1" dirty="0">
                <a:solidFill>
                  <a:srgbClr val="A0A1A7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en-US" altLang="ko-KR" sz="1400" b="0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strcpy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(player-&gt;name, 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"Knight"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player-&gt;type =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player-&gt;attack =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player-&gt;hp =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150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endParaRPr lang="ko-KR" altLang="en-US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75621D2-4EF5-AD9F-9209-B4CA53B63501}"/>
              </a:ext>
            </a:extLst>
          </p:cNvPr>
          <p:cNvSpPr txBox="1"/>
          <p:nvPr/>
        </p:nvSpPr>
        <p:spPr>
          <a:xfrm>
            <a:off x="395534" y="4546178"/>
            <a:ext cx="3946243" cy="1600438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i="1" dirty="0">
                <a:solidFill>
                  <a:srgbClr val="A0A1A7"/>
                </a:solidFill>
                <a:latin typeface="Consolas" panose="020B0609020204030204" pitchFamily="49" charset="0"/>
              </a:rPr>
              <a:t>// 2. </a:t>
            </a:r>
            <a:r>
              <a:rPr lang="ko-KR" altLang="en-US" sz="1400" i="1" dirty="0">
                <a:solidFill>
                  <a:srgbClr val="A0A1A7"/>
                </a:solidFill>
                <a:latin typeface="Consolas" panose="020B0609020204030204" pitchFamily="49" charset="0"/>
              </a:rPr>
              <a:t>구조체를 위한 동적 할당</a:t>
            </a:r>
            <a:r>
              <a:rPr lang="en-US" altLang="ko-KR" sz="1400" i="1" dirty="0">
                <a:solidFill>
                  <a:srgbClr val="A0A1A7"/>
                </a:solidFill>
                <a:latin typeface="Consolas" panose="020B0609020204030204" pitchFamily="49" charset="0"/>
              </a:rPr>
              <a:t>.</a:t>
            </a:r>
            <a:endParaRPr lang="en-US" altLang="ko-KR" sz="1400" dirty="0">
              <a:solidFill>
                <a:srgbClr val="A626A4"/>
              </a:solidFill>
              <a:latin typeface="Consolas" panose="020B0609020204030204" pitchFamily="49" charset="0"/>
            </a:endParaRPr>
          </a:p>
          <a:p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Player* player = (Player*)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malloc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(Player));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(!player)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메모리 할당 실패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altLang="ko-KR" sz="1400" i="1" dirty="0">
                <a:solidFill>
                  <a:srgbClr val="A0A1A7"/>
                </a:solidFill>
                <a:latin typeface="Consolas" panose="020B0609020204030204" pitchFamily="49" charset="0"/>
              </a:rPr>
              <a:t>// ...</a:t>
            </a:r>
            <a:endParaRPr lang="ko-KR" altLang="en-US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9DD5C4-7127-069D-3CF1-5FBF186E1C46}"/>
              </a:ext>
            </a:extLst>
          </p:cNvPr>
          <p:cNvSpPr txBox="1"/>
          <p:nvPr/>
        </p:nvSpPr>
        <p:spPr>
          <a:xfrm>
            <a:off x="4597504" y="4546178"/>
            <a:ext cx="4041382" cy="1169551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5. 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동적할당 메모리 해제</a:t>
            </a:r>
            <a:b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free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(player);</a:t>
            </a:r>
          </a:p>
          <a:p>
            <a:endParaRPr lang="en-US" altLang="ko-KR" sz="1400" i="1" dirty="0">
              <a:solidFill>
                <a:srgbClr val="A0A1A7"/>
              </a:solidFill>
              <a:latin typeface="Consolas" panose="020B0609020204030204" pitchFamily="49" charset="0"/>
            </a:endParaRPr>
          </a:p>
          <a:p>
            <a:r>
              <a:rPr lang="en-US" altLang="ko-KR" sz="1400" i="1" dirty="0">
                <a:solidFill>
                  <a:srgbClr val="A0A1A7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1400" i="1" dirty="0" err="1">
                <a:solidFill>
                  <a:srgbClr val="A0A1A7"/>
                </a:solidFill>
                <a:latin typeface="Consolas" panose="020B0609020204030204" pitchFamily="49" charset="0"/>
              </a:rPr>
              <a:t>댕글링</a:t>
            </a:r>
            <a:r>
              <a:rPr lang="ko-KR" altLang="en-US" sz="1400" i="1" dirty="0">
                <a:solidFill>
                  <a:srgbClr val="A0A1A7"/>
                </a:solidFill>
                <a:latin typeface="Consolas" panose="020B0609020204030204" pitchFamily="49" charset="0"/>
              </a:rPr>
              <a:t> 포인터 방지</a:t>
            </a:r>
            <a:br>
              <a:rPr lang="ko-KR" altLang="en-US" sz="1400" dirty="0">
                <a:solidFill>
                  <a:srgbClr val="383A42"/>
                </a:solidFill>
                <a:latin typeface="Consolas" panose="020B0609020204030204" pitchFamily="49" charset="0"/>
              </a:rPr>
            </a:br>
            <a:r>
              <a:rPr lang="en-US" altLang="ko-KR" sz="1400" dirty="0">
                <a:solidFill>
                  <a:srgbClr val="383A42"/>
                </a:solidFill>
                <a:latin typeface="Consolas" panose="020B0609020204030204" pitchFamily="49" charset="0"/>
              </a:rPr>
              <a:t>player = </a:t>
            </a:r>
            <a:r>
              <a:rPr lang="en-US" altLang="ko-KR" sz="1400" dirty="0">
                <a:solidFill>
                  <a:srgbClr val="0184BB"/>
                </a:solidFill>
                <a:latin typeface="Consolas" panose="020B0609020204030204" pitchFamily="49" charset="0"/>
              </a:rPr>
              <a:t>NULL</a:t>
            </a:r>
            <a:r>
              <a:rPr lang="en-US" altLang="ko-KR" sz="1400" dirty="0">
                <a:solidFill>
                  <a:srgbClr val="383A42"/>
                </a:solidFill>
                <a:latin typeface="Consolas" panose="020B0609020204030204" pitchFamily="49" charset="0"/>
              </a:rPr>
              <a:t>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0276617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60297A-3053-4D29-A862-102E7A7FA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15.3.3 </a:t>
            </a:r>
            <a:r>
              <a:rPr lang="ko-KR" altLang="en-US" dirty="0"/>
              <a:t>배열 형태의 동적 메모리 할당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213E391-E51C-472A-B183-66997968CF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malloc → </a:t>
            </a:r>
            <a:r>
              <a:rPr lang="ko-KR" altLang="en-US" sz="2400" dirty="0"/>
              <a:t>연속된 메모리 확보 </a:t>
            </a:r>
          </a:p>
          <a:p>
            <a:pPr lvl="1"/>
            <a:r>
              <a:rPr lang="ko-KR" altLang="en-US" sz="2000" dirty="0"/>
              <a:t>포인터로 배열처럼 사용 </a:t>
            </a:r>
          </a:p>
          <a:p>
            <a:pPr lvl="1"/>
            <a:r>
              <a:rPr lang="ko-KR" altLang="en-US" sz="2000" dirty="0"/>
              <a:t>실행 중 크기 결정</a:t>
            </a:r>
            <a:endParaRPr lang="en-US" altLang="ko-KR" sz="2000" dirty="0"/>
          </a:p>
          <a:p>
            <a:pPr lvl="4"/>
            <a:endParaRPr lang="en-US" altLang="ko-KR" sz="1400" dirty="0"/>
          </a:p>
          <a:p>
            <a:r>
              <a:rPr lang="en-US" altLang="ko-KR" sz="2400" dirty="0"/>
              <a:t>Ex)</a:t>
            </a:r>
            <a:r>
              <a:rPr lang="ko-KR" altLang="en-US" sz="2400" dirty="0"/>
              <a:t> 문자열 복사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90DA4AF-2202-4128-805F-D015D034F0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560DA2-B64E-17F0-497E-300A3B5DE1DE}"/>
              </a:ext>
            </a:extLst>
          </p:cNvPr>
          <p:cNvSpPr txBox="1"/>
          <p:nvPr/>
        </p:nvSpPr>
        <p:spPr>
          <a:xfrm>
            <a:off x="1259632" y="2842478"/>
            <a:ext cx="6408712" cy="3754874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4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strlen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(input);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신규 저장공간 크기 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문자열 길이 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+ 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널 종료 문자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('\0')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buf_len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연속된 메모리를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동적으로 할당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reversed = (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14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malloc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buf_len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endParaRPr lang="en-US" altLang="ko-KR" sz="1400" b="1" i="0" u="none" strike="noStrike" dirty="0">
              <a:solidFill>
                <a:srgbClr val="383A42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문자열 버퍼 전체를 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으로 초기화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memset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(reversed,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buf_len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입력 문자열을 뒤에서부터 읽어 역순으로 저장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 =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 &lt;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++i)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reversed[i] = input[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- i];</a:t>
            </a:r>
          </a:p>
          <a:p>
            <a:endParaRPr lang="en-US" altLang="ko-KR" sz="1400" b="1" dirty="0">
              <a:solidFill>
                <a:srgbClr val="383A42"/>
              </a:solidFill>
              <a:latin typeface="Consolas" panose="020B0609020204030204" pitchFamily="49" charset="0"/>
            </a:endParaRPr>
          </a:p>
          <a:p>
            <a:r>
              <a:rPr lang="en-US" altLang="ko-KR" sz="14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14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동적 할당 해제</a:t>
            </a:r>
            <a:br>
              <a:rPr lang="ko-KR" altLang="en-US" sz="1400" b="1" dirty="0">
                <a:solidFill>
                  <a:srgbClr val="383A42"/>
                </a:solidFill>
                <a:latin typeface="Consolas" panose="020B0609020204030204" pitchFamily="49" charset="0"/>
              </a:rPr>
            </a:br>
            <a:r>
              <a:rPr lang="en-US" altLang="ko-KR" sz="1400" b="1" dirty="0">
                <a:solidFill>
                  <a:srgbClr val="C18401"/>
                </a:solidFill>
                <a:latin typeface="Consolas" panose="020B0609020204030204" pitchFamily="49" charset="0"/>
              </a:rPr>
              <a:t>free</a:t>
            </a:r>
            <a:r>
              <a:rPr lang="en-US" altLang="ko-KR" sz="1400" b="1" dirty="0">
                <a:solidFill>
                  <a:srgbClr val="383A42"/>
                </a:solidFill>
                <a:latin typeface="Consolas" panose="020B0609020204030204" pitchFamily="49" charset="0"/>
              </a:rPr>
              <a:t>(reversed);</a:t>
            </a:r>
            <a:endParaRPr lang="ko-KR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4922653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60297A-3053-4D29-A862-102E7A7FA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15.3.4 </a:t>
            </a:r>
            <a:r>
              <a:rPr lang="ko-KR" altLang="en-US" dirty="0"/>
              <a:t>구조체 배열 동적 할당 예제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213E391-E51C-472A-B183-66997968CF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malloc → </a:t>
            </a:r>
            <a:r>
              <a:rPr lang="ko-KR" altLang="en-US" sz="2400" dirty="0"/>
              <a:t>연속된 메모리 확보 </a:t>
            </a:r>
          </a:p>
          <a:p>
            <a:r>
              <a:rPr lang="ko-KR" altLang="en-US" sz="2400" dirty="0"/>
              <a:t>구조체 배열처럼 사용 </a:t>
            </a:r>
            <a:r>
              <a:rPr lang="en-US" altLang="ko-KR" sz="2400" dirty="0"/>
              <a:t>(items[i]) </a:t>
            </a:r>
          </a:p>
          <a:p>
            <a:r>
              <a:rPr lang="ko-KR" altLang="en-US" sz="2400" dirty="0"/>
              <a:t>배열과 달리 실행 중 요소 개수</a:t>
            </a:r>
            <a:r>
              <a:rPr lang="en-US" altLang="ko-KR" sz="2400" dirty="0"/>
              <a:t>(count) </a:t>
            </a:r>
            <a:r>
              <a:rPr lang="ko-KR" altLang="en-US" sz="2400" dirty="0"/>
              <a:t>설정</a:t>
            </a:r>
          </a:p>
          <a:p>
            <a:endParaRPr lang="ko-KR" altLang="en-US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90DA4AF-2202-4128-805F-D015D034F0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0C60FF-7F7D-3FA7-D386-EAAEAC746D07}"/>
              </a:ext>
            </a:extLst>
          </p:cNvPr>
          <p:cNvSpPr txBox="1"/>
          <p:nvPr/>
        </p:nvSpPr>
        <p:spPr>
          <a:xfrm>
            <a:off x="4892620" y="2131348"/>
            <a:ext cx="3921448" cy="3539430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기본 능력치 설정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 =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 &lt; count; ++i)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items[i].attack =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items[i].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defence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첫 번째 아이템 설정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strcpy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(items[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].name, 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"Sword"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items[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].type =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items[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].attack =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150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endParaRPr lang="en-US" altLang="ko-KR" sz="1400" b="1" i="0" u="none" strike="noStrike" dirty="0">
              <a:solidFill>
                <a:srgbClr val="383A42"/>
              </a:solidFill>
              <a:effectLst/>
              <a:latin typeface="Consolas" panose="020B0609020204030204" pitchFamily="49" charset="0"/>
            </a:endParaRPr>
          </a:p>
          <a:p>
            <a:endParaRPr lang="en-US" altLang="ko-KR" sz="1400" b="1" i="0" u="none" strike="noStrike" dirty="0">
              <a:solidFill>
                <a:srgbClr val="C1840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4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free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(items);   </a:t>
            </a:r>
            <a:r>
              <a:rPr lang="en-US" altLang="ko-KR" sz="14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 // </a:t>
            </a:r>
            <a:r>
              <a:rPr lang="ko-KR" altLang="en-US" sz="14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동적 할당 해제</a:t>
            </a:r>
            <a:br>
              <a:rPr lang="ko-KR" altLang="en-US" sz="1400" b="1" dirty="0">
                <a:solidFill>
                  <a:srgbClr val="383A42"/>
                </a:solidFill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items = </a:t>
            </a:r>
            <a:r>
              <a:rPr lang="en-US" altLang="ko-KR" sz="1400" b="1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해제 후 안전 처리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endParaRPr lang="ko-KR" altLang="en-US" sz="14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03B9FC-7F6E-D020-5883-47CD1BF9E3FE}"/>
              </a:ext>
            </a:extLst>
          </p:cNvPr>
          <p:cNvSpPr txBox="1"/>
          <p:nvPr/>
        </p:nvSpPr>
        <p:spPr>
          <a:xfrm>
            <a:off x="398656" y="2131348"/>
            <a:ext cx="4281488" cy="3970318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typedef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Item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name[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type;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attack;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defence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 Item;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endParaRPr lang="en-US" altLang="ko-KR" sz="1400" b="1" i="0" u="none" strike="noStrike" dirty="0">
              <a:solidFill>
                <a:srgbClr val="A626A4"/>
              </a:solidFill>
              <a:effectLst/>
              <a:latin typeface="Consolas" panose="020B0609020204030204" pitchFamily="49" charset="0"/>
            </a:endParaRPr>
          </a:p>
          <a:p>
            <a:pPr rtl="0">
              <a:buNone/>
            </a:pP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count =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1400" b="1" dirty="0">
              <a:effectLst/>
            </a:endParaRPr>
          </a:p>
          <a:p>
            <a:pPr>
              <a:buNone/>
            </a:pP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item_size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(Item);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buf_size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item_size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* count;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endParaRPr lang="en-US" altLang="ko-KR" sz="1400" b="1" i="0" u="none" strike="noStrike" dirty="0">
              <a:solidFill>
                <a:srgbClr val="383A42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Item 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구조체 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count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개에 해당하는 연속 메모리 확보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Item* items = (Item*)</a:t>
            </a:r>
            <a:r>
              <a:rPr lang="en-US" altLang="ko-KR" sz="14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malloc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buf_size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14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전체 구조체 배열을 </a:t>
            </a:r>
            <a:r>
              <a:rPr lang="en-US" altLang="ko-KR" sz="14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0</a:t>
            </a:r>
            <a:r>
              <a:rPr lang="ko-KR" altLang="en-US" sz="14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으로 초기화</a:t>
            </a:r>
            <a:br>
              <a:rPr lang="ko-KR" altLang="en-US" sz="1400" b="1" dirty="0">
                <a:solidFill>
                  <a:srgbClr val="383A42"/>
                </a:solidFill>
                <a:latin typeface="Consolas" panose="020B0609020204030204" pitchFamily="49" charset="0"/>
              </a:rPr>
            </a:br>
            <a:r>
              <a:rPr lang="en-US" altLang="ko-KR" sz="1400" b="1" dirty="0">
                <a:solidFill>
                  <a:srgbClr val="C18401"/>
                </a:solidFill>
                <a:latin typeface="Consolas" panose="020B0609020204030204" pitchFamily="49" charset="0"/>
              </a:rPr>
              <a:t>memset</a:t>
            </a:r>
            <a:r>
              <a:rPr lang="en-US" altLang="ko-KR" sz="1400" b="1" dirty="0">
                <a:solidFill>
                  <a:srgbClr val="383A42"/>
                </a:solidFill>
                <a:latin typeface="Consolas" panose="020B0609020204030204" pitchFamily="49" charset="0"/>
              </a:rPr>
              <a:t>(items, </a:t>
            </a:r>
            <a:r>
              <a:rPr lang="en-US" altLang="ko-KR" sz="1400" b="1" dirty="0">
                <a:solidFill>
                  <a:srgbClr val="986801"/>
                </a:solidFill>
                <a:latin typeface="Consolas" panose="020B0609020204030204" pitchFamily="49" charset="0"/>
              </a:rPr>
              <a:t>0</a:t>
            </a:r>
            <a:r>
              <a:rPr lang="en-US" altLang="ko-KR" sz="1400" b="1" dirty="0">
                <a:solidFill>
                  <a:srgbClr val="383A42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1400" b="1" dirty="0">
                <a:solidFill>
                  <a:srgbClr val="A626A4"/>
                </a:solidFill>
                <a:latin typeface="Consolas" panose="020B0609020204030204" pitchFamily="49" charset="0"/>
              </a:rPr>
              <a:t>sizeof</a:t>
            </a:r>
            <a:r>
              <a:rPr lang="en-US" altLang="ko-KR" sz="1400" b="1" dirty="0">
                <a:solidFill>
                  <a:srgbClr val="383A42"/>
                </a:solidFill>
                <a:latin typeface="Consolas" panose="020B0609020204030204" pitchFamily="49" charset="0"/>
              </a:rPr>
              <a:t>(Item) * count);</a:t>
            </a:r>
            <a:endParaRPr lang="ko-KR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33970221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60297A-3053-4D29-A862-102E7A7FA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15.4.1 </a:t>
            </a:r>
            <a:r>
              <a:rPr lang="en-US" altLang="ko-KR" dirty="0" err="1"/>
              <a:t>calloc</a:t>
            </a:r>
            <a:r>
              <a:rPr lang="en-US" altLang="ko-KR" dirty="0"/>
              <a:t>: 0</a:t>
            </a:r>
            <a:r>
              <a:rPr lang="ko-KR" altLang="en-US" dirty="0"/>
              <a:t>으로 초기화되는 할당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213E391-E51C-472A-B183-66997968CF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A626A4"/>
                </a:solidFill>
                <a:latin typeface="Consolas" panose="020B0609020204030204" pitchFamily="49" charset="0"/>
              </a:rPr>
              <a:t>void</a:t>
            </a:r>
            <a:r>
              <a:rPr lang="en-US" altLang="ko-KR" dirty="0">
                <a:solidFill>
                  <a:srgbClr val="383A42"/>
                </a:solidFill>
                <a:latin typeface="Consolas" panose="020B0609020204030204" pitchFamily="49" charset="0"/>
              </a:rPr>
              <a:t>* </a:t>
            </a:r>
            <a:r>
              <a:rPr lang="en-US" altLang="ko-KR" dirty="0">
                <a:solidFill>
                  <a:srgbClr val="4078F2"/>
                </a:solidFill>
                <a:latin typeface="Consolas" panose="020B0609020204030204" pitchFamily="49" charset="0"/>
              </a:rPr>
              <a:t>calloc</a:t>
            </a:r>
            <a:r>
              <a:rPr lang="en-US" altLang="ko-KR" dirty="0">
                <a:solidFill>
                  <a:srgbClr val="383A42"/>
                </a:solidFill>
                <a:latin typeface="Consolas" panose="020B0609020204030204" pitchFamily="49" charset="0"/>
              </a:rPr>
              <a:t>(</a:t>
            </a:r>
            <a:r>
              <a:rPr lang="en-US" altLang="ko-KR" dirty="0">
                <a:solidFill>
                  <a:srgbClr val="A626A4"/>
                </a:solidFill>
                <a:latin typeface="Consolas" panose="020B0609020204030204" pitchFamily="49" charset="0"/>
              </a:rPr>
              <a:t>size_t</a:t>
            </a:r>
            <a:r>
              <a:rPr lang="en-US" altLang="ko-KR" dirty="0">
                <a:solidFill>
                  <a:srgbClr val="383A42"/>
                </a:solidFill>
                <a:latin typeface="Consolas" panose="020B0609020204030204" pitchFamily="49" charset="0"/>
              </a:rPr>
              <a:t> _Count, </a:t>
            </a:r>
            <a:r>
              <a:rPr lang="en-US" altLang="ko-KR" dirty="0">
                <a:solidFill>
                  <a:srgbClr val="A626A4"/>
                </a:solidFill>
                <a:latin typeface="Consolas" panose="020B0609020204030204" pitchFamily="49" charset="0"/>
              </a:rPr>
              <a:t>size_t</a:t>
            </a:r>
            <a:r>
              <a:rPr lang="en-US" altLang="ko-KR" dirty="0">
                <a:solidFill>
                  <a:srgbClr val="383A42"/>
                </a:solidFill>
                <a:latin typeface="Consolas" panose="020B0609020204030204" pitchFamily="49" charset="0"/>
              </a:rPr>
              <a:t> _Size)</a:t>
            </a:r>
          </a:p>
          <a:p>
            <a:pPr lvl="4"/>
            <a:endParaRPr lang="ko-KR" altLang="en-US" dirty="0"/>
          </a:p>
          <a:p>
            <a:pPr lvl="1"/>
            <a:r>
              <a:rPr lang="en-US" altLang="ko-KR" dirty="0">
                <a:solidFill>
                  <a:srgbClr val="383A42"/>
                </a:solidFill>
                <a:latin typeface="+mn-ea"/>
              </a:rPr>
              <a:t>_Count</a:t>
            </a:r>
            <a:r>
              <a:rPr lang="en-US" altLang="ko-KR" dirty="0">
                <a:latin typeface="+mn-ea"/>
              </a:rPr>
              <a:t> * _</a:t>
            </a:r>
            <a:r>
              <a:rPr lang="en-US" altLang="ko-KR" dirty="0">
                <a:solidFill>
                  <a:srgbClr val="383A42"/>
                </a:solidFill>
                <a:latin typeface="+mn-ea"/>
              </a:rPr>
              <a:t>Size</a:t>
            </a:r>
            <a:r>
              <a:rPr lang="ko-KR" altLang="en-US" dirty="0">
                <a:latin typeface="+mn-ea"/>
              </a:rPr>
              <a:t> 바이트 할당</a:t>
            </a:r>
            <a:endParaRPr lang="en-US" altLang="ko-KR" dirty="0">
              <a:latin typeface="+mn-ea"/>
            </a:endParaRPr>
          </a:p>
          <a:p>
            <a:pPr lvl="1"/>
            <a:r>
              <a:rPr lang="ko-KR" altLang="en-US" dirty="0">
                <a:latin typeface="+mn-ea"/>
              </a:rPr>
              <a:t>모든 메모리 </a:t>
            </a:r>
            <a:r>
              <a:rPr lang="en-US" altLang="ko-KR" dirty="0">
                <a:latin typeface="+mn-ea"/>
              </a:rPr>
              <a:t>0</a:t>
            </a:r>
            <a:r>
              <a:rPr lang="ko-KR" altLang="en-US" dirty="0">
                <a:latin typeface="+mn-ea"/>
              </a:rPr>
              <a:t>으로 초기화</a:t>
            </a:r>
            <a:endParaRPr lang="en-US" altLang="ko-KR" dirty="0">
              <a:latin typeface="+mn-ea"/>
            </a:endParaRPr>
          </a:p>
          <a:p>
            <a:pPr lvl="1"/>
            <a:r>
              <a:rPr lang="en-US" altLang="ko-KR" dirty="0"/>
              <a:t>malloc + memset </a:t>
            </a:r>
            <a:r>
              <a:rPr lang="ko-KR" altLang="en-US" dirty="0"/>
              <a:t>과 동일한 효과</a:t>
            </a:r>
            <a:endParaRPr lang="en-US" altLang="ko-KR" dirty="0"/>
          </a:p>
          <a:p>
            <a:pPr lvl="1"/>
            <a:endParaRPr lang="en-US" altLang="ko-KR" dirty="0">
              <a:latin typeface="+mn-ea"/>
              <a:ea typeface="+mn-ea"/>
            </a:endParaRPr>
          </a:p>
          <a:p>
            <a:pPr lvl="1"/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90DA4AF-2202-4128-805F-D015D034F0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0A9F69-D755-96C0-DDCB-3E7C8996110C}"/>
              </a:ext>
            </a:extLst>
          </p:cNvPr>
          <p:cNvSpPr txBox="1"/>
          <p:nvPr/>
        </p:nvSpPr>
        <p:spPr>
          <a:xfrm>
            <a:off x="353790" y="3068960"/>
            <a:ext cx="5040560" cy="2308324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typedef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Enemy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name[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40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type;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attack;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 </a:t>
            </a:r>
            <a:r>
              <a:rPr lang="en-US" altLang="ko-KR" sz="12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Enemy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endParaRPr lang="en-US" altLang="ko-KR" sz="1200" b="1" dirty="0">
              <a:solidFill>
                <a:srgbClr val="383A42"/>
              </a:solidFill>
              <a:latin typeface="Consolas" panose="020B0609020204030204" pitchFamily="49" charset="0"/>
            </a:endParaRPr>
          </a:p>
          <a:p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count = 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구조체</a:t>
            </a:r>
            <a:r>
              <a:rPr lang="en-US" altLang="ko-KR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 count</a:t>
            </a:r>
            <a:r>
              <a:rPr lang="ko-KR" altLang="en-US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개에 해당하는 연속 메모리 확보 </a:t>
            </a:r>
            <a:r>
              <a:rPr lang="en-US" altLang="ko-KR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+ 0</a:t>
            </a:r>
            <a:r>
              <a:rPr lang="ko-KR" altLang="en-US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으로 초기화</a:t>
            </a: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Enemy* enemies = (Enemy*)</a:t>
            </a:r>
            <a:r>
              <a:rPr lang="en-US" altLang="ko-KR" sz="12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calloc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(count,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(Enemy));</a:t>
            </a:r>
            <a:endParaRPr lang="ko-KR" altLang="en-US" sz="12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E4E11C-04DC-F502-1D04-AF967E596F83}"/>
              </a:ext>
            </a:extLst>
          </p:cNvPr>
          <p:cNvSpPr txBox="1"/>
          <p:nvPr/>
        </p:nvSpPr>
        <p:spPr>
          <a:xfrm>
            <a:off x="5394350" y="3068960"/>
            <a:ext cx="3498130" cy="2677656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기본 공격력 설정</a:t>
            </a: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 = 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 &lt; count; ++i)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enemies[i].attack = 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50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첫 번째 몬스터 설정</a:t>
            </a: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strcpy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(enemies[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].name, </a:t>
            </a:r>
            <a:r>
              <a:rPr lang="en-US" altLang="ko-KR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"Goblin"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enemies[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].type = 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enemies[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].attack = 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80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endParaRPr lang="en-US" altLang="ko-KR" sz="1200" b="1" i="0" u="none" strike="noStrike" dirty="0">
              <a:solidFill>
                <a:srgbClr val="383A42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free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(enemies); </a:t>
            </a:r>
            <a:r>
              <a:rPr lang="en-US" altLang="ko-KR" sz="12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12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동적 할당 해제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enemies = </a:t>
            </a:r>
            <a:r>
              <a:rPr lang="en-US" altLang="ko-KR" sz="1200" b="1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</a:t>
            </a:r>
            <a:r>
              <a:rPr lang="en-US" altLang="ko-KR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해제 후 안전 처리</a:t>
            </a:r>
            <a:endParaRPr lang="ko-KR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7841632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60297A-3053-4D29-A862-102E7A7FA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15.4.2 </a:t>
            </a:r>
            <a:r>
              <a:rPr lang="en-US" altLang="ko-KR" dirty="0" err="1"/>
              <a:t>realloc</a:t>
            </a:r>
            <a:r>
              <a:rPr lang="en-US" altLang="ko-KR" dirty="0"/>
              <a:t>: </a:t>
            </a:r>
            <a:r>
              <a:rPr lang="ko-KR" altLang="en-US" dirty="0"/>
              <a:t>크기 변경과 안전한 사용 패턴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213E391-E51C-472A-B183-66997968CF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A626A4"/>
                </a:solidFill>
                <a:latin typeface="Consolas" panose="020B0609020204030204" pitchFamily="49" charset="0"/>
              </a:rPr>
              <a:t>void</a:t>
            </a:r>
            <a:r>
              <a:rPr lang="en-US" altLang="ko-KR" dirty="0">
                <a:solidFill>
                  <a:srgbClr val="000000"/>
                </a:solidFill>
                <a:latin typeface="Consolas" panose="020B0609020204030204" pitchFamily="49" charset="0"/>
                <a:ea typeface="Bitstream Vera Sans Mono" panose="020B0609030804020204" pitchFamily="49" charset="-127"/>
              </a:rPr>
              <a:t>* </a:t>
            </a:r>
            <a:r>
              <a:rPr lang="en-US" altLang="ko-KR" dirty="0">
                <a:solidFill>
                  <a:srgbClr val="4078F2"/>
                </a:solidFill>
                <a:latin typeface="Consolas" panose="020B0609020204030204" pitchFamily="49" charset="0"/>
              </a:rPr>
              <a:t>realloc</a:t>
            </a:r>
            <a:r>
              <a:rPr lang="en-US" altLang="ko-KR" dirty="0">
                <a:solidFill>
                  <a:srgbClr val="000000"/>
                </a:solidFill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dirty="0">
                <a:solidFill>
                  <a:srgbClr val="A626A4"/>
                </a:solidFill>
                <a:latin typeface="Consolas" panose="020B0609020204030204" pitchFamily="49" charset="0"/>
              </a:rPr>
              <a:t>void</a:t>
            </a:r>
            <a:r>
              <a:rPr lang="en-US" altLang="ko-KR" dirty="0">
                <a:solidFill>
                  <a:srgbClr val="000000"/>
                </a:solidFill>
                <a:latin typeface="Consolas" panose="020B0609020204030204" pitchFamily="49" charset="0"/>
                <a:ea typeface="Bitstream Vera Sans Mono" panose="020B0609030804020204" pitchFamily="49" charset="-127"/>
              </a:rPr>
              <a:t>*</a:t>
            </a:r>
            <a:r>
              <a:rPr lang="en-US" altLang="ko-KR" dirty="0">
                <a:solidFill>
                  <a:srgbClr val="383A42"/>
                </a:solidFill>
                <a:latin typeface="Consolas" panose="020B0609020204030204" pitchFamily="49" charset="0"/>
              </a:rPr>
              <a:t> _Block</a:t>
            </a:r>
            <a:r>
              <a:rPr lang="en-US" altLang="ko-KR" dirty="0">
                <a:solidFill>
                  <a:srgbClr val="000000"/>
                </a:solidFill>
                <a:latin typeface="Consolas" panose="020B0609020204030204" pitchFamily="49" charset="0"/>
                <a:ea typeface="Bitstream Vera Sans Mono" panose="020B0609030804020204" pitchFamily="49" charset="-127"/>
              </a:rPr>
              <a:t>, </a:t>
            </a:r>
            <a:r>
              <a:rPr lang="en-US" altLang="ko-KR" dirty="0">
                <a:solidFill>
                  <a:srgbClr val="A626A4"/>
                </a:solidFill>
                <a:latin typeface="Consolas" panose="020B0609020204030204" pitchFamily="49" charset="0"/>
              </a:rPr>
              <a:t>size_t</a:t>
            </a:r>
            <a:r>
              <a:rPr lang="en-US" altLang="ko-KR" dirty="0">
                <a:solidFill>
                  <a:srgbClr val="383A42"/>
                </a:solidFill>
                <a:latin typeface="Consolas" panose="020B0609020204030204" pitchFamily="49" charset="0"/>
              </a:rPr>
              <a:t> _Size)</a:t>
            </a:r>
          </a:p>
          <a:p>
            <a:pPr lvl="2"/>
            <a:endParaRPr lang="en-US" altLang="ko-KR" dirty="0"/>
          </a:p>
          <a:p>
            <a:pPr lvl="1"/>
            <a:r>
              <a:rPr lang="ko-KR" altLang="en-US" dirty="0"/>
              <a:t>기존 메모리 크기 변경  → 확장 </a:t>
            </a:r>
            <a:r>
              <a:rPr lang="en-US" altLang="ko-KR" dirty="0"/>
              <a:t>/ </a:t>
            </a:r>
            <a:r>
              <a:rPr lang="ko-KR" altLang="en-US" dirty="0"/>
              <a:t>축소 가능 </a:t>
            </a:r>
          </a:p>
          <a:p>
            <a:pPr lvl="1"/>
            <a:r>
              <a:rPr lang="ko-KR" altLang="en-US" dirty="0"/>
              <a:t>새로운 메모리 할당될 수 있음 </a:t>
            </a:r>
            <a:endParaRPr lang="en-US" altLang="ko-KR" dirty="0"/>
          </a:p>
          <a:p>
            <a:pPr lvl="2"/>
            <a:r>
              <a:rPr lang="ko-KR" altLang="en-US" dirty="0"/>
              <a:t>기존 데이터 자동 복사 </a:t>
            </a:r>
          </a:p>
          <a:p>
            <a:pPr lvl="2"/>
            <a:r>
              <a:rPr lang="ko-KR" altLang="en-US" dirty="0"/>
              <a:t>실패 시 → </a:t>
            </a:r>
            <a:r>
              <a:rPr lang="en-US" altLang="ko-KR" dirty="0"/>
              <a:t>NULL </a:t>
            </a:r>
            <a:r>
              <a:rPr lang="ko-KR" altLang="en-US" dirty="0"/>
              <a:t>반환 ← 기존 메모리는 그대로 유지 </a:t>
            </a:r>
            <a:endParaRPr lang="en-US" altLang="ko-KR" dirty="0"/>
          </a:p>
          <a:p>
            <a:pPr lvl="3"/>
            <a:endParaRPr lang="en-US" altLang="ko-KR" dirty="0"/>
          </a:p>
          <a:p>
            <a:r>
              <a:rPr lang="ko-KR" altLang="en-US" dirty="0"/>
              <a:t>안전 패턴</a:t>
            </a:r>
            <a:endParaRPr lang="en-US" altLang="ko-KR" dirty="0"/>
          </a:p>
          <a:p>
            <a:pPr lvl="1"/>
            <a:r>
              <a:rPr lang="ko-KR" altLang="en-US" dirty="0"/>
              <a:t>성공 했을 때만 교체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90DA4AF-2202-4128-805F-D015D034F0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2A8064-8C05-FF51-BDF4-BC9E31E27735}"/>
              </a:ext>
            </a:extLst>
          </p:cNvPr>
          <p:cNvSpPr txBox="1"/>
          <p:nvPr/>
        </p:nvSpPr>
        <p:spPr>
          <a:xfrm>
            <a:off x="971600" y="4552469"/>
            <a:ext cx="7416824" cy="1631216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크기 늘리기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tmp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(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*)</a:t>
            </a: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realloc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(arr,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*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new_n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tmp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ptr =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tmp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성공했을 때만 교체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18026245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60297A-3053-4D29-A862-102E7A7FA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15.5 </a:t>
            </a:r>
            <a:r>
              <a:rPr lang="ko-KR" altLang="en-US" dirty="0"/>
              <a:t>포인터와 동적 메모리 관리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213E391-E51C-472A-B183-66997968CF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/>
              <a:t>기본 원칙</a:t>
            </a:r>
            <a:endParaRPr lang="en-US" altLang="ko-KR" sz="2400"/>
          </a:p>
          <a:p>
            <a:pPr lvl="1"/>
            <a:r>
              <a:rPr lang="ko-KR" altLang="en-US" sz="2000"/>
              <a:t>할당</a:t>
            </a:r>
            <a:r>
              <a:rPr lang="en-US" altLang="ko-KR" sz="2000"/>
              <a:t>/ </a:t>
            </a:r>
            <a:r>
              <a:rPr lang="ko-KR" altLang="en-US" sz="2000"/>
              <a:t>해제 한쌍</a:t>
            </a:r>
          </a:p>
          <a:p>
            <a:pPr lvl="1"/>
            <a:r>
              <a:rPr lang="en-US" altLang="ko-KR" sz="2000"/>
              <a:t>malloc → free </a:t>
            </a:r>
            <a:r>
              <a:rPr lang="ko-KR" altLang="en-US" sz="2000"/>
              <a:t>반드시 호출</a:t>
            </a:r>
            <a:endParaRPr lang="en-US" altLang="ko-KR" sz="2000"/>
          </a:p>
          <a:p>
            <a:pPr lvl="2"/>
            <a:endParaRPr lang="ko-KR" altLang="en-US" sz="1800"/>
          </a:p>
          <a:p>
            <a:r>
              <a:rPr lang="ko-KR" altLang="en-US" sz="2400"/>
              <a:t>댕글링 포인터 방지</a:t>
            </a:r>
            <a:endParaRPr lang="en-US" altLang="ko-KR" sz="2400"/>
          </a:p>
          <a:p>
            <a:pPr lvl="1"/>
            <a:r>
              <a:rPr lang="ko-KR" altLang="en-US" sz="2000"/>
              <a:t>해제된 메모리를 가리키는 포인터</a:t>
            </a:r>
            <a:br>
              <a:rPr lang="en-US" altLang="ko-KR" sz="2000"/>
            </a:br>
            <a:r>
              <a:rPr lang="ko-KR" altLang="en-US" sz="2000"/>
              <a:t>→ 접근 시 오류 발생 가능 </a:t>
            </a:r>
          </a:p>
          <a:p>
            <a:pPr lvl="1"/>
            <a:r>
              <a:rPr lang="en-US" altLang="ko-KR" sz="2000"/>
              <a:t>free </a:t>
            </a:r>
            <a:r>
              <a:rPr lang="ko-KR" altLang="en-US" sz="2000"/>
              <a:t>이후 → 포인터를 </a:t>
            </a:r>
            <a:r>
              <a:rPr lang="en-US" altLang="ko-KR" sz="2000"/>
              <a:t>NULL</a:t>
            </a:r>
            <a:r>
              <a:rPr lang="ko-KR" altLang="en-US" sz="2000"/>
              <a:t>로 설정</a:t>
            </a:r>
            <a:endParaRPr lang="en-US" altLang="ko-KR" sz="2000"/>
          </a:p>
          <a:p>
            <a:pPr lvl="2"/>
            <a:endParaRPr lang="en-US" altLang="ko-KR" sz="1800"/>
          </a:p>
          <a:p>
            <a:r>
              <a:rPr lang="ko-KR" altLang="en-US" sz="2400"/>
              <a:t>소유권 </a:t>
            </a:r>
            <a:r>
              <a:rPr lang="en-US" altLang="ko-KR" sz="2400"/>
              <a:t>(Ownership)</a:t>
            </a:r>
          </a:p>
          <a:p>
            <a:pPr lvl="1"/>
            <a:r>
              <a:rPr lang="ko-KR" altLang="en-US" sz="2000"/>
              <a:t>메모리는 한 번만 해제 </a:t>
            </a:r>
          </a:p>
          <a:p>
            <a:pPr lvl="1"/>
            <a:r>
              <a:rPr lang="ko-KR" altLang="en-US" sz="2000"/>
              <a:t>누가 해제할지 명확히 정의 </a:t>
            </a:r>
          </a:p>
          <a:p>
            <a:pPr lvl="1"/>
            <a:r>
              <a:rPr lang="ko-KR" altLang="en-US" sz="2000"/>
              <a:t>반환 받은 쪽이 해제 책임</a:t>
            </a:r>
            <a:endParaRPr lang="en-US" altLang="ko-KR" sz="2000"/>
          </a:p>
          <a:p>
            <a:pPr lvl="1"/>
            <a:r>
              <a:rPr lang="ko-KR" altLang="en-US" sz="2000"/>
              <a:t>생성자 역할 함수 사용</a:t>
            </a:r>
            <a:endParaRPr lang="en-US" altLang="ko-KR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90DA4AF-2202-4128-805F-D015D034F0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E05949-AF8F-83FD-5786-5B38F8700938}"/>
              </a:ext>
            </a:extLst>
          </p:cNvPr>
          <p:cNvSpPr txBox="1"/>
          <p:nvPr/>
        </p:nvSpPr>
        <p:spPr>
          <a:xfrm>
            <a:off x="3779912" y="4077072"/>
            <a:ext cx="5184576" cy="1815882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16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CreateIntArray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n)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arr = (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*)</a:t>
            </a: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malloc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* n);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(!arr)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arr; 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소유권을 호출자에게 넘김</a:t>
            </a:r>
            <a:b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42730419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60297A-3053-4D29-A862-102E7A7FA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15.6 </a:t>
            </a:r>
            <a:r>
              <a:rPr lang="ko-KR" altLang="en-US" dirty="0"/>
              <a:t>얕은 복사 </a:t>
            </a:r>
            <a:r>
              <a:rPr lang="en-US" altLang="ko-KR" dirty="0"/>
              <a:t>vs</a:t>
            </a:r>
            <a:r>
              <a:rPr lang="ko-KR" altLang="en-US" dirty="0"/>
              <a:t> 깊은 복사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213E391-E51C-472A-B183-66997968CF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얕은 복사 </a:t>
            </a:r>
            <a:r>
              <a:rPr lang="en-US" altLang="ko-KR" dirty="0"/>
              <a:t>(Shallow Copy)</a:t>
            </a:r>
          </a:p>
          <a:p>
            <a:pPr lvl="1"/>
            <a:r>
              <a:rPr lang="ko-KR" altLang="en-US" dirty="0"/>
              <a:t>구조체 대입 → 값 그대로 복사 </a:t>
            </a:r>
          </a:p>
          <a:p>
            <a:pPr lvl="1"/>
            <a:r>
              <a:rPr lang="ko-KR" altLang="en-US" dirty="0"/>
              <a:t>포인터 멤버 → 주소만 복사  ← 동일한 메모리 공유</a:t>
            </a:r>
            <a:r>
              <a:rPr lang="en-US" altLang="ko-KR" dirty="0"/>
              <a:t>		</a:t>
            </a:r>
            <a:endParaRPr lang="ko-KR" altLang="en-US" dirty="0"/>
          </a:p>
          <a:p>
            <a:pPr lvl="1"/>
            <a:r>
              <a:rPr lang="ko-KR" altLang="en-US" dirty="0"/>
              <a:t>문제</a:t>
            </a:r>
          </a:p>
          <a:p>
            <a:pPr lvl="2"/>
            <a:r>
              <a:rPr lang="ko-KR" altLang="en-US" dirty="0"/>
              <a:t>한쪽 </a:t>
            </a:r>
            <a:r>
              <a:rPr lang="en-US" altLang="ko-KR" dirty="0"/>
              <a:t>free → </a:t>
            </a:r>
            <a:r>
              <a:rPr lang="ko-KR" altLang="en-US" dirty="0"/>
              <a:t>다른 쪽 </a:t>
            </a:r>
            <a:r>
              <a:rPr lang="ko-KR" altLang="en-US" dirty="0" err="1"/>
              <a:t>댕글링</a:t>
            </a:r>
            <a:r>
              <a:rPr lang="ko-KR" altLang="en-US" dirty="0"/>
              <a:t> 포인터 </a:t>
            </a:r>
          </a:p>
          <a:p>
            <a:pPr lvl="2"/>
            <a:r>
              <a:rPr lang="ko-KR" altLang="en-US" dirty="0"/>
              <a:t>이중 해제</a:t>
            </a:r>
            <a:r>
              <a:rPr lang="en-US" altLang="ko-KR" dirty="0"/>
              <a:t>(Double Free) </a:t>
            </a:r>
            <a:r>
              <a:rPr lang="ko-KR" altLang="en-US" dirty="0"/>
              <a:t>위험 </a:t>
            </a:r>
          </a:p>
          <a:p>
            <a:pPr lvl="3"/>
            <a:endParaRPr lang="ko-KR" altLang="en-US" dirty="0"/>
          </a:p>
          <a:p>
            <a:r>
              <a:rPr lang="ko-KR" altLang="en-US" dirty="0"/>
              <a:t>깊은 복사 </a:t>
            </a:r>
            <a:r>
              <a:rPr lang="en-US" altLang="ko-KR" dirty="0"/>
              <a:t>(Deep Copy)</a:t>
            </a:r>
          </a:p>
          <a:p>
            <a:pPr lvl="1"/>
            <a:r>
              <a:rPr lang="ko-KR" altLang="en-US" dirty="0"/>
              <a:t>메모리 새로 할당 </a:t>
            </a:r>
          </a:p>
          <a:p>
            <a:pPr lvl="1"/>
            <a:r>
              <a:rPr lang="ko-KR" altLang="en-US" dirty="0"/>
              <a:t>실제 데이터까지 복사 </a:t>
            </a:r>
          </a:p>
          <a:p>
            <a:pPr lvl="1"/>
            <a:r>
              <a:rPr lang="ko-KR" altLang="en-US" dirty="0"/>
              <a:t>서로 독립적인 메모리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90DA4AF-2202-4128-805F-D015D034F0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92AEC3F-CAA9-3FA9-8255-692911457AF9}"/>
              </a:ext>
            </a:extLst>
          </p:cNvPr>
          <p:cNvSpPr txBox="1"/>
          <p:nvPr/>
        </p:nvSpPr>
        <p:spPr>
          <a:xfrm>
            <a:off x="4322639" y="3501008"/>
            <a:ext cx="4713857" cy="2862322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Player </a:t>
            </a:r>
            <a:r>
              <a:rPr lang="en-US" altLang="ko-KR" sz="12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CopyPlayer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Player* ref) 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Player p2 = {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    </a:t>
            </a:r>
            <a:r>
              <a:rPr lang="en-US" altLang="ko-KR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모든 구조체 값을 </a:t>
            </a:r>
            <a:r>
              <a:rPr lang="en-US" altLang="ko-KR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en-US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으로 초기화</a:t>
            </a:r>
            <a:r>
              <a:rPr lang="en-US" altLang="ko-KR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(!ref || !ref-&gt;name)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p2;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p2.level = ref-&gt;level;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p2.name = (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*)</a:t>
            </a:r>
            <a:r>
              <a:rPr lang="en-US" altLang="ko-KR" sz="12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malloc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strlen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(ref-&gt;name) + 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(!p2.name) 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p2.level = 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p2;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}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새로 할당한 메모리에 실제 데이터를 복사</a:t>
            </a:r>
            <a:r>
              <a:rPr lang="en-US" altLang="ko-KR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깊은 복사</a:t>
            </a:r>
            <a:r>
              <a:rPr lang="en-US" altLang="ko-KR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strcpy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(p2.name, ref-&gt;name);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p2;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24250446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60297A-3053-4D29-A862-102E7A7FA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15.7.1 </a:t>
            </a:r>
            <a:r>
              <a:rPr lang="ko-KR" altLang="en-US" dirty="0"/>
              <a:t>연속 메모리를 이용한 다차원 배열 구성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213E391-E51C-472A-B183-66997968CF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n</a:t>
            </a:r>
            <a:r>
              <a:rPr lang="ko-KR" altLang="en-US" dirty="0"/>
              <a:t>차원 배열 → </a:t>
            </a:r>
            <a:r>
              <a:rPr lang="en-US" altLang="ko-KR" dirty="0"/>
              <a:t>1</a:t>
            </a:r>
            <a:r>
              <a:rPr lang="ko-KR" altLang="en-US" dirty="0"/>
              <a:t>차원 연속 메모리 구조 </a:t>
            </a:r>
          </a:p>
          <a:p>
            <a:pPr lvl="1"/>
            <a:r>
              <a:rPr lang="ko-KR" altLang="en-US" dirty="0"/>
              <a:t>정적 배열과 메모리 배치가 완전히 동일</a:t>
            </a:r>
          </a:p>
          <a:p>
            <a:endParaRPr lang="en-US" altLang="ko-KR" dirty="0"/>
          </a:p>
          <a:p>
            <a:r>
              <a:rPr lang="ko-KR" altLang="en-US" dirty="0"/>
              <a:t>접근 방식 차이</a:t>
            </a:r>
          </a:p>
          <a:p>
            <a:pPr lvl="1"/>
            <a:r>
              <a:rPr lang="ko-KR" altLang="en-US" dirty="0"/>
              <a:t>정적 배열  → 동적 메모리 </a:t>
            </a:r>
            <a:endParaRPr lang="en-US" altLang="ko-KR" dirty="0"/>
          </a:p>
          <a:p>
            <a:pPr lvl="2"/>
            <a:r>
              <a:rPr lang="en-US" altLang="ko-KR" dirty="0"/>
              <a:t>arr[r][c] </a:t>
            </a:r>
            <a:r>
              <a:rPr lang="ko-KR" altLang="en-US" dirty="0"/>
              <a:t>→ </a:t>
            </a:r>
            <a:r>
              <a:rPr lang="en-US" altLang="ko-KR" dirty="0"/>
              <a:t>arr2d[r * cols + c]</a:t>
            </a:r>
          </a:p>
          <a:p>
            <a:pPr lvl="1"/>
            <a:r>
              <a:rPr lang="ko-KR" altLang="en-US" dirty="0"/>
              <a:t>인덱스 직접 계산 필요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90DA4AF-2202-4128-805F-D015D034F0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C7EE569-779C-87A0-85F1-20178046CAFB}"/>
              </a:ext>
            </a:extLst>
          </p:cNvPr>
          <p:cNvSpPr txBox="1"/>
          <p:nvPr/>
        </p:nvSpPr>
        <p:spPr>
          <a:xfrm>
            <a:off x="251520" y="3970080"/>
            <a:ext cx="8640960" cy="2554545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rows =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cols =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dirty="0">
                <a:solidFill>
                  <a:srgbClr val="A626A4"/>
                </a:solidFill>
                <a:latin typeface="Consolas" panose="020B0609020204030204" pitchFamily="49" charset="0"/>
              </a:rPr>
              <a:t>int</a:t>
            </a:r>
            <a:r>
              <a:rPr lang="en-US" altLang="ko-KR" sz="1600" b="1" dirty="0">
                <a:solidFill>
                  <a:srgbClr val="383A42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b="1" dirty="0" err="1">
                <a:solidFill>
                  <a:srgbClr val="383A42"/>
                </a:solidFill>
                <a:latin typeface="Consolas" panose="020B0609020204030204" pitchFamily="49" charset="0"/>
              </a:rPr>
              <a:t>arrayCount</a:t>
            </a:r>
            <a:r>
              <a:rPr lang="en-US" altLang="ko-KR" sz="1600" b="1" dirty="0">
                <a:solidFill>
                  <a:srgbClr val="383A42"/>
                </a:solidFill>
                <a:latin typeface="Consolas" panose="020B0609020204030204" pitchFamily="49" charset="0"/>
              </a:rPr>
              <a:t> = </a:t>
            </a:r>
            <a:r>
              <a:rPr lang="en-US" altLang="ko-KR" sz="1600" b="1" dirty="0">
                <a:solidFill>
                  <a:srgbClr val="986801"/>
                </a:solidFill>
                <a:latin typeface="Consolas" panose="020B0609020204030204" pitchFamily="49" charset="0"/>
              </a:rPr>
              <a:t>4</a:t>
            </a:r>
            <a:r>
              <a:rPr lang="en-US" altLang="ko-KR" sz="1600" b="1" dirty="0">
                <a:solidFill>
                  <a:srgbClr val="383A42"/>
                </a:solidFill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arr2d = (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*)</a:t>
            </a: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malloc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* </a:t>
            </a:r>
            <a:r>
              <a:rPr lang="en-US" altLang="ko-KR" sz="1600" b="1" dirty="0" err="1">
                <a:solidFill>
                  <a:srgbClr val="383A42"/>
                </a:solidFill>
                <a:latin typeface="Consolas" panose="020B0609020204030204" pitchFamily="49" charset="0"/>
              </a:rPr>
              <a:t>arrayCount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 =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r &lt; rows; ++r)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 =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c &lt; cols; ++c)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arr2d[r * cols + c] = r *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+ c;</a:t>
            </a:r>
            <a:endParaRPr lang="ko-KR" altLang="en-US" sz="16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031747-41BB-C697-C208-D12551D8BAFC}"/>
              </a:ext>
            </a:extLst>
          </p:cNvPr>
          <p:cNvSpPr txBox="1"/>
          <p:nvPr/>
        </p:nvSpPr>
        <p:spPr>
          <a:xfrm>
            <a:off x="4860032" y="5694347"/>
            <a:ext cx="4032448" cy="830997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 = i / cols; 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행 인덱스 계산</a:t>
            </a:r>
            <a:b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 = i % cols; 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열 인덱스 계산</a:t>
            </a:r>
            <a:b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arr2d[r * cols + c]</a:t>
            </a:r>
            <a:endParaRPr lang="ko-KR" alt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12876186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60297A-3053-4D29-A862-102E7A7FA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15.7.2 </a:t>
            </a:r>
            <a:r>
              <a:rPr lang="ko-KR" altLang="en-US" dirty="0"/>
              <a:t>비 연속 메모리를 이용한 다차원 배열 구성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213E391-E51C-472A-B183-66997968CF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분산 메모리를 다차원 배열처럼 사용</a:t>
            </a:r>
            <a:endParaRPr lang="en-US" altLang="ko-KR" sz="2400" dirty="0"/>
          </a:p>
          <a:p>
            <a:pPr lvl="1"/>
            <a:r>
              <a:rPr lang="en-US" altLang="ko-KR" sz="2000" dirty="0" err="1">
                <a:solidFill>
                  <a:srgbClr val="0000FF"/>
                </a:solidFill>
              </a:rPr>
              <a:t>ppp</a:t>
            </a:r>
            <a:r>
              <a:rPr lang="en-US" altLang="ko-KR" sz="2000" dirty="0">
                <a:solidFill>
                  <a:srgbClr val="0000FF"/>
                </a:solidFill>
              </a:rPr>
              <a:t>[i][j][k]</a:t>
            </a:r>
          </a:p>
          <a:p>
            <a:endParaRPr lang="en-US" altLang="ko-KR" sz="2400" dirty="0"/>
          </a:p>
          <a:p>
            <a:pPr lvl="1"/>
            <a:r>
              <a:rPr lang="ko-KR" altLang="en-US" sz="2000" dirty="0"/>
              <a:t>각 차원을 개별적으로 </a:t>
            </a:r>
            <a:r>
              <a:rPr lang="en-US" altLang="ko-KR" sz="2000" dirty="0"/>
              <a:t>malloc </a:t>
            </a:r>
          </a:p>
          <a:p>
            <a:pPr lvl="1"/>
            <a:r>
              <a:rPr lang="ko-KR" altLang="en-US" sz="2000" dirty="0"/>
              <a:t>전체 메모리는 하나로 이어져 있지 않음 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r>
              <a:rPr lang="ko-KR" altLang="en-US" sz="2400" dirty="0"/>
              <a:t>주의</a:t>
            </a:r>
          </a:p>
          <a:p>
            <a:pPr lvl="1"/>
            <a:r>
              <a:rPr lang="en-US" altLang="ko-KR" sz="2000" dirty="0"/>
              <a:t>memcpy</a:t>
            </a:r>
            <a:r>
              <a:rPr lang="ko-KR" altLang="en-US" sz="2000" dirty="0"/>
              <a:t>로 한 번에 복사 ❌</a:t>
            </a:r>
            <a:endParaRPr lang="en-US" altLang="ko-KR" sz="2000" dirty="0"/>
          </a:p>
          <a:p>
            <a:pPr lvl="2"/>
            <a:r>
              <a:rPr lang="ko-KR" altLang="en-US" sz="1600" dirty="0"/>
              <a:t>연속 메모리 아님</a:t>
            </a:r>
            <a:endParaRPr lang="en-US" altLang="ko-KR" sz="1600" dirty="0"/>
          </a:p>
          <a:p>
            <a:pPr lvl="2"/>
            <a:r>
              <a:rPr lang="ko-KR" altLang="en-US" sz="1600" dirty="0"/>
              <a:t>요소를 순차적으로 접근해서 복사</a:t>
            </a:r>
            <a:endParaRPr lang="en-US" altLang="ko-KR" sz="1600" dirty="0"/>
          </a:p>
          <a:p>
            <a:pPr lvl="1"/>
            <a:r>
              <a:rPr lang="ko-KR" altLang="en-US" sz="2000" dirty="0"/>
              <a:t>메모리 해제</a:t>
            </a:r>
            <a:endParaRPr lang="en-US" altLang="ko-KR" sz="2000" dirty="0"/>
          </a:p>
          <a:p>
            <a:pPr lvl="2"/>
            <a:r>
              <a:rPr lang="ko-KR" altLang="en-US" sz="1600" dirty="0"/>
              <a:t>연속 메모리 아님</a:t>
            </a:r>
            <a:endParaRPr lang="en-US" altLang="ko-KR" sz="1600" dirty="0"/>
          </a:p>
          <a:p>
            <a:pPr lvl="2"/>
            <a:r>
              <a:rPr lang="ko-KR" altLang="en-US" sz="1600" dirty="0"/>
              <a:t>반드시 역순으로 </a:t>
            </a:r>
            <a:r>
              <a:rPr lang="en-US" altLang="ko-KR" sz="1600" dirty="0"/>
              <a:t>free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90DA4AF-2202-4128-805F-D015D034F0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134351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9737FF-1FB5-85D6-D4F0-35BCA71D8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2B8B8D-1FA3-FB36-5420-D7C74A1E4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15.7.2 </a:t>
            </a:r>
            <a:r>
              <a:rPr lang="ko-KR" altLang="en-US" dirty="0"/>
              <a:t>비 연속 메모리를 이용한 다차원 배열 구성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C177D1-FDE5-3FA2-9E38-94EF45750D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Ex)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439EF4E-80A8-DF24-570E-DBCB55CFAEB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3FA211-42F9-2D3C-7EAF-EC202C483F3C}"/>
              </a:ext>
            </a:extLst>
          </p:cNvPr>
          <p:cNvSpPr txBox="1"/>
          <p:nvPr/>
        </p:nvSpPr>
        <p:spPr>
          <a:xfrm>
            <a:off x="367949" y="1268760"/>
            <a:ext cx="5284171" cy="4662815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iWidth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= </a:t>
            </a:r>
            <a:r>
              <a:rPr lang="en-US" altLang="ko-KR" sz="11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iHeight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1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iDepth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= </a:t>
            </a:r>
            <a:r>
              <a:rPr lang="en-US" altLang="ko-KR" sz="11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***</a:t>
            </a:r>
            <a:r>
              <a:rPr lang="en-US" altLang="ko-KR" sz="11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ppp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100" b="1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ppp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(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***)</a:t>
            </a:r>
            <a:r>
              <a:rPr lang="en-US" altLang="ko-KR" sz="11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malloc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**) * </a:t>
            </a:r>
            <a:r>
              <a:rPr lang="en-US" altLang="ko-KR" sz="11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iWidth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 = </a:t>
            </a:r>
            <a:r>
              <a:rPr lang="en-US" altLang="ko-KR" sz="11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 &lt; </a:t>
            </a:r>
            <a:r>
              <a:rPr lang="en-US" altLang="ko-KR" sz="11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iWidth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++i)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altLang="ko-KR" sz="11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ppp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[i] = (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**)</a:t>
            </a:r>
            <a:r>
              <a:rPr lang="en-US" altLang="ko-KR" sz="11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malloc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*) * </a:t>
            </a:r>
            <a:r>
              <a:rPr lang="en-US" altLang="ko-KR" sz="11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iHeight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j = </a:t>
            </a:r>
            <a:r>
              <a:rPr lang="en-US" altLang="ko-KR" sz="11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j &lt; </a:t>
            </a:r>
            <a:r>
              <a:rPr lang="en-US" altLang="ko-KR" sz="11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iHeight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++j)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{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  </a:t>
            </a:r>
            <a:r>
              <a:rPr lang="en-US" altLang="ko-KR" sz="11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ppp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[i][j] = (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*)</a:t>
            </a:r>
            <a:r>
              <a:rPr lang="en-US" altLang="ko-KR" sz="11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malloc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* </a:t>
            </a:r>
            <a:r>
              <a:rPr lang="en-US" altLang="ko-KR" sz="11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iDepth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   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k = </a:t>
            </a:r>
            <a:r>
              <a:rPr lang="en-US" altLang="ko-KR" sz="11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k &lt; </a:t>
            </a:r>
            <a:r>
              <a:rPr lang="en-US" altLang="ko-KR" sz="11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iDepth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++k)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  </a:t>
            </a:r>
            <a:r>
              <a:rPr lang="en-US" altLang="ko-KR" sz="11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ppp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[i][j][k] = k + j * </a:t>
            </a:r>
            <a:r>
              <a:rPr lang="en-US" altLang="ko-KR" sz="11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iDepth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+ i * </a:t>
            </a:r>
            <a:r>
              <a:rPr lang="en-US" altLang="ko-KR" sz="11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iDepth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altLang="ko-KR" sz="11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iHeight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}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 = </a:t>
            </a:r>
            <a:r>
              <a:rPr lang="en-US" altLang="ko-KR" sz="11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 &lt; </a:t>
            </a:r>
            <a:r>
              <a:rPr lang="en-US" altLang="ko-KR" sz="11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iWidth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++i)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{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  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j = </a:t>
            </a:r>
            <a:r>
              <a:rPr lang="en-US" altLang="ko-KR" sz="11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j &lt; </a:t>
            </a:r>
            <a:r>
              <a:rPr lang="en-US" altLang="ko-KR" sz="11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iHeight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++j)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  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k = </a:t>
            </a:r>
            <a:r>
              <a:rPr lang="en-US" altLang="ko-KR" sz="11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k &lt; </a:t>
            </a:r>
            <a:r>
              <a:rPr lang="en-US" altLang="ko-KR" sz="11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iDepth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++k)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  </a:t>
            </a:r>
            <a:r>
              <a:rPr lang="en-US" altLang="ko-KR" sz="11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"array[%d][%d][%d] = %d\n"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i, j, k, </a:t>
            </a:r>
            <a:r>
              <a:rPr lang="en-US" altLang="ko-KR" sz="11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ppp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[i][j][k]);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}</a:t>
            </a:r>
            <a:endParaRPr lang="ko-KR" altLang="en-US" sz="11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8B60120-85E9-0132-C37A-F94041DABF60}"/>
              </a:ext>
            </a:extLst>
          </p:cNvPr>
          <p:cNvSpPr txBox="1"/>
          <p:nvPr/>
        </p:nvSpPr>
        <p:spPr>
          <a:xfrm>
            <a:off x="5796137" y="1257360"/>
            <a:ext cx="3240360" cy="1954381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 = </a:t>
            </a:r>
            <a:r>
              <a:rPr lang="en-US" altLang="ko-KR" sz="11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 &lt; </a:t>
            </a:r>
            <a:r>
              <a:rPr lang="en-US" altLang="ko-KR" sz="11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iWidth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++i)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j = </a:t>
            </a:r>
            <a:r>
              <a:rPr lang="en-US" altLang="ko-KR" sz="11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j &lt; </a:t>
            </a:r>
            <a:r>
              <a:rPr lang="en-US" altLang="ko-KR" sz="11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iHeight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++j)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free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ppp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[i][j]);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1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free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ppp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[i]);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free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ppp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ppp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100" b="1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endParaRPr lang="ko-KR" altLang="en-US" sz="1100" b="1" dirty="0"/>
          </a:p>
        </p:txBody>
      </p:sp>
    </p:spTree>
    <p:extLst>
      <p:ext uri="{BB962C8B-B14F-4D97-AF65-F5344CB8AC3E}">
        <p14:creationId xmlns:p14="http://schemas.microsoft.com/office/powerpoint/2010/main" val="31006603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60297A-3053-4D29-A862-102E7A7FA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15.8 </a:t>
            </a:r>
            <a:r>
              <a:rPr lang="ko-KR" altLang="en-US" dirty="0"/>
              <a:t>동적 메모리 관리 원칙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213E391-E51C-472A-B183-66997968CF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기본 규칙</a:t>
            </a:r>
          </a:p>
          <a:p>
            <a:pPr lvl="1"/>
            <a:r>
              <a:rPr lang="ko-KR" altLang="en-US" sz="2000" dirty="0"/>
              <a:t>할당 ↔ 해제 한 쌍 </a:t>
            </a:r>
            <a:r>
              <a:rPr lang="en-US" altLang="ko-KR" sz="2000" dirty="0"/>
              <a:t>malloc / calloc / realloc → free </a:t>
            </a:r>
          </a:p>
          <a:p>
            <a:pPr lvl="2"/>
            <a:endParaRPr lang="en-US" altLang="ko-KR" sz="1800" dirty="0"/>
          </a:p>
          <a:p>
            <a:r>
              <a:rPr lang="ko-KR" altLang="en-US" sz="2400" dirty="0"/>
              <a:t>소유권</a:t>
            </a:r>
          </a:p>
          <a:p>
            <a:pPr lvl="1"/>
            <a:r>
              <a:rPr lang="ko-KR" altLang="en-US" sz="2000" dirty="0"/>
              <a:t>누가 </a:t>
            </a:r>
            <a:r>
              <a:rPr lang="en-US" altLang="ko-KR" sz="2000" dirty="0"/>
              <a:t>free</a:t>
            </a:r>
            <a:r>
              <a:rPr lang="ko-KR" altLang="en-US" sz="2000" dirty="0"/>
              <a:t>할지 명확히 </a:t>
            </a:r>
            <a:r>
              <a:rPr lang="en-US" altLang="ko-KR" sz="2000" dirty="0"/>
              <a:t>→  </a:t>
            </a:r>
            <a:r>
              <a:rPr lang="ko-KR" altLang="en-US" sz="2000" dirty="0"/>
              <a:t>반환 받은 쪽이 해제 </a:t>
            </a:r>
            <a:endParaRPr lang="en-US" altLang="ko-KR" sz="2000" dirty="0"/>
          </a:p>
          <a:p>
            <a:pPr lvl="2"/>
            <a:endParaRPr lang="ko-KR" altLang="en-US" sz="1800" dirty="0"/>
          </a:p>
          <a:p>
            <a:r>
              <a:rPr lang="ko-KR" altLang="en-US" sz="2400" dirty="0"/>
              <a:t>안전한 사용</a:t>
            </a:r>
          </a:p>
          <a:p>
            <a:pPr lvl="1"/>
            <a:r>
              <a:rPr lang="ko-KR" altLang="en-US" sz="2000" dirty="0"/>
              <a:t>포인터 잃어버리지 않기</a:t>
            </a:r>
            <a:r>
              <a:rPr lang="en-US" altLang="ko-KR" sz="2000" dirty="0"/>
              <a:t>: realloc → </a:t>
            </a:r>
            <a:r>
              <a:rPr lang="ko-KR" altLang="en-US" sz="2000" dirty="0"/>
              <a:t>임시 포인터 사용 </a:t>
            </a:r>
          </a:p>
          <a:p>
            <a:pPr lvl="1"/>
            <a:r>
              <a:rPr lang="ko-KR" altLang="en-US" sz="2000" dirty="0"/>
              <a:t>이중 해제 금지</a:t>
            </a:r>
            <a:r>
              <a:rPr lang="en-US" altLang="ko-KR" sz="2000" dirty="0"/>
              <a:t>: 	</a:t>
            </a:r>
            <a:r>
              <a:rPr lang="ko-KR" altLang="en-US" sz="2000" dirty="0"/>
              <a:t>같은 주소 두 번 </a:t>
            </a:r>
            <a:r>
              <a:rPr lang="en-US" altLang="ko-KR" sz="2000" dirty="0"/>
              <a:t>free ❌ </a:t>
            </a:r>
          </a:p>
          <a:p>
            <a:pPr lvl="1"/>
            <a:r>
              <a:rPr lang="ko-KR" altLang="en-US" sz="2000" dirty="0" err="1"/>
              <a:t>댕글링</a:t>
            </a:r>
            <a:r>
              <a:rPr lang="ko-KR" altLang="en-US" sz="2000" dirty="0"/>
              <a:t> 포인터 방지</a:t>
            </a:r>
            <a:r>
              <a:rPr lang="en-US" altLang="ko-KR" sz="2000" dirty="0"/>
              <a:t>: free </a:t>
            </a:r>
            <a:r>
              <a:rPr lang="ko-KR" altLang="en-US" sz="2000" dirty="0"/>
              <a:t>이후 → </a:t>
            </a:r>
            <a:r>
              <a:rPr lang="en-US" altLang="ko-KR" sz="2000" dirty="0"/>
              <a:t>NULL </a:t>
            </a:r>
            <a:r>
              <a:rPr lang="ko-KR" altLang="en-US" sz="2000" dirty="0"/>
              <a:t>설정</a:t>
            </a:r>
            <a:endParaRPr lang="en-US" altLang="ko-KR" sz="2000" dirty="0"/>
          </a:p>
          <a:p>
            <a:pPr lvl="2"/>
            <a:endParaRPr lang="ko-KR" altLang="en-US" sz="1800" dirty="0"/>
          </a:p>
          <a:p>
            <a:r>
              <a:rPr lang="ko-KR" altLang="en-US" sz="2400" dirty="0"/>
              <a:t>복사 주의</a:t>
            </a:r>
          </a:p>
          <a:p>
            <a:pPr lvl="1"/>
            <a:r>
              <a:rPr lang="ko-KR" altLang="en-US" sz="2000" dirty="0"/>
              <a:t>포인터 멤버 → 얕은 복사</a:t>
            </a:r>
            <a:endParaRPr lang="en-US" altLang="ko-KR" sz="2000" dirty="0"/>
          </a:p>
          <a:p>
            <a:pPr lvl="1"/>
            <a:r>
              <a:rPr lang="ko-KR" altLang="en-US" sz="2000" dirty="0"/>
              <a:t>필요 시 깊은 복사</a:t>
            </a:r>
            <a:endParaRPr lang="ko-KR" altLang="en-US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90DA4AF-2202-4128-805F-D015D034F0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78325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60297A-3053-4D29-A862-102E7A7FA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학습 정리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213E391-E51C-472A-B183-66997968CF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동적 메모리</a:t>
            </a:r>
          </a:p>
          <a:p>
            <a:pPr lvl="1"/>
            <a:r>
              <a:rPr lang="ko-KR" altLang="en-US" sz="1800" dirty="0"/>
              <a:t>실행 중 메모리 크기 결정 </a:t>
            </a:r>
          </a:p>
          <a:p>
            <a:pPr lvl="1"/>
            <a:r>
              <a:rPr lang="en-US" altLang="ko-KR" sz="1800" dirty="0"/>
              <a:t>malloc / calloc / realloc</a:t>
            </a:r>
            <a:br>
              <a:rPr lang="en-US" altLang="ko-KR" sz="1800" dirty="0"/>
            </a:br>
            <a:r>
              <a:rPr lang="en-US" altLang="ko-KR" sz="1800" dirty="0"/>
              <a:t>→ </a:t>
            </a:r>
            <a:r>
              <a:rPr lang="ko-KR" altLang="en-US" sz="1800" dirty="0"/>
              <a:t>반드시 </a:t>
            </a:r>
            <a:r>
              <a:rPr lang="en-US" altLang="ko-KR" sz="1800" dirty="0"/>
              <a:t>free</a:t>
            </a:r>
          </a:p>
          <a:p>
            <a:pPr lvl="1"/>
            <a:endParaRPr lang="ko-KR" altLang="en-US" dirty="0"/>
          </a:p>
          <a:p>
            <a:r>
              <a:rPr lang="ko-KR" altLang="en-US" sz="2400" dirty="0"/>
              <a:t>안전 규칙</a:t>
            </a:r>
          </a:p>
          <a:p>
            <a:pPr lvl="1"/>
            <a:r>
              <a:rPr lang="en-US" altLang="ko-KR" sz="1800" dirty="0"/>
              <a:t>free </a:t>
            </a:r>
            <a:r>
              <a:rPr lang="ko-KR" altLang="en-US" sz="1800" dirty="0"/>
              <a:t>이후 → </a:t>
            </a:r>
            <a:r>
              <a:rPr lang="en-US" altLang="ko-KR" sz="1800" dirty="0"/>
              <a:t>NULL </a:t>
            </a:r>
            <a:r>
              <a:rPr lang="ko-KR" altLang="en-US" sz="1800" dirty="0"/>
              <a:t>설정</a:t>
            </a:r>
            <a:br>
              <a:rPr lang="en-US" altLang="ko-KR" sz="1800" dirty="0"/>
            </a:br>
            <a:r>
              <a:rPr lang="ko-KR" altLang="en-US" sz="1800" dirty="0"/>
              <a:t>← </a:t>
            </a:r>
            <a:r>
              <a:rPr lang="ko-KR" altLang="en-US" sz="1800" dirty="0" err="1"/>
              <a:t>댕글링</a:t>
            </a:r>
            <a:r>
              <a:rPr lang="ko-KR" altLang="en-US" sz="1800" dirty="0"/>
              <a:t> 포인터 방지 </a:t>
            </a:r>
          </a:p>
          <a:p>
            <a:pPr lvl="1"/>
            <a:r>
              <a:rPr lang="ko-KR" altLang="en-US" sz="1800" dirty="0"/>
              <a:t>이중 해제 ❌</a:t>
            </a:r>
            <a:endParaRPr lang="en-US" altLang="ko-KR" sz="1800" dirty="0"/>
          </a:p>
          <a:p>
            <a:pPr lvl="2"/>
            <a:endParaRPr lang="ko-KR" altLang="en-US" sz="1800" dirty="0"/>
          </a:p>
          <a:p>
            <a:r>
              <a:rPr lang="ko-KR" altLang="en-US" sz="2400" dirty="0"/>
              <a:t>소유권</a:t>
            </a:r>
          </a:p>
          <a:p>
            <a:pPr lvl="1"/>
            <a:r>
              <a:rPr lang="ko-KR" altLang="en-US" sz="1800" dirty="0"/>
              <a:t>메모리는 한 번만 해제</a:t>
            </a:r>
            <a:br>
              <a:rPr lang="en-US" altLang="ko-KR" sz="1800" dirty="0"/>
            </a:br>
            <a:r>
              <a:rPr lang="ko-KR" altLang="en-US" sz="1800" dirty="0"/>
              <a:t>→ 반환 받은 쪽이 책임 </a:t>
            </a:r>
            <a:endParaRPr lang="ko-KR" altLang="en-US" sz="11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90DA4AF-2202-4128-805F-D015D034F0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A71225EB-5E2B-5127-12CA-3CA6A1D755E1}"/>
              </a:ext>
            </a:extLst>
          </p:cNvPr>
          <p:cNvSpPr txBox="1">
            <a:spLocks/>
          </p:cNvSpPr>
          <p:nvPr/>
        </p:nvSpPr>
        <p:spPr bwMode="auto">
          <a:xfrm>
            <a:off x="4355976" y="728662"/>
            <a:ext cx="4248472" cy="5832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 kern="1200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defRPr>
            </a:lvl1pPr>
            <a:lvl2pPr marL="742950" indent="-285750" algn="l" rtl="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 kern="1200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defRPr>
            </a:lvl2pPr>
            <a:lvl3pPr marL="1143000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 kern="1200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defRPr>
            </a:lvl3pPr>
            <a:lvl4pPr marL="1600200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 kern="1200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defRPr>
            </a:lvl4pPr>
            <a:lvl5pPr marL="2057400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 kern="1200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2400" dirty="0"/>
              <a:t>복사</a:t>
            </a:r>
            <a:endParaRPr lang="ko-KR" altLang="en-US" dirty="0"/>
          </a:p>
          <a:p>
            <a:pPr lvl="1"/>
            <a:r>
              <a:rPr lang="ko-KR" altLang="en-US" sz="2000" dirty="0"/>
              <a:t>포인터 멤버 → 얕은 복사</a:t>
            </a:r>
            <a:br>
              <a:rPr lang="en-US" altLang="ko-KR" sz="2000" dirty="0"/>
            </a:br>
            <a:r>
              <a:rPr lang="ko-KR" altLang="en-US" sz="2000" dirty="0"/>
              <a:t>→  주소만 복사 </a:t>
            </a:r>
          </a:p>
          <a:p>
            <a:pPr lvl="1"/>
            <a:r>
              <a:rPr lang="ko-KR" altLang="en-US" sz="2000" dirty="0"/>
              <a:t>필요 시 → 깊은 복사</a:t>
            </a:r>
            <a:endParaRPr lang="ko-KR" altLang="en-US" sz="2800" dirty="0"/>
          </a:p>
          <a:p>
            <a:endParaRPr lang="en-US" altLang="ko-KR" sz="2400" dirty="0"/>
          </a:p>
          <a:p>
            <a:r>
              <a:rPr lang="ko-KR" altLang="en-US" sz="2400" dirty="0"/>
              <a:t>메모리 함수</a:t>
            </a:r>
          </a:p>
          <a:p>
            <a:pPr lvl="1"/>
            <a:r>
              <a:rPr lang="en-US" altLang="ko-KR" sz="1800" dirty="0"/>
              <a:t>memcpy → </a:t>
            </a:r>
            <a:r>
              <a:rPr lang="ko-KR" altLang="en-US" sz="1800" dirty="0"/>
              <a:t>겹치면 ❌ </a:t>
            </a:r>
          </a:p>
          <a:p>
            <a:pPr lvl="1"/>
            <a:r>
              <a:rPr lang="en-US" altLang="ko-KR" sz="1800" dirty="0"/>
              <a:t>memmove → </a:t>
            </a:r>
            <a:r>
              <a:rPr lang="ko-KR" altLang="en-US" sz="1800" dirty="0"/>
              <a:t>겹침 </a:t>
            </a:r>
            <a:r>
              <a:rPr lang="en-US" altLang="ko-KR" sz="1800" dirty="0"/>
              <a:t>OK</a:t>
            </a:r>
            <a:br>
              <a:rPr lang="en-US" altLang="ko-KR" sz="1800" dirty="0"/>
            </a:br>
            <a:r>
              <a:rPr lang="en-US" altLang="ko-KR" sz="1800" dirty="0"/>
              <a:t>→ </a:t>
            </a:r>
            <a:r>
              <a:rPr lang="ko-KR" altLang="en-US" sz="1800" dirty="0"/>
              <a:t>바이트 단위 동작</a:t>
            </a:r>
          </a:p>
          <a:p>
            <a:pPr lvl="1"/>
            <a:endParaRPr lang="en-US" altLang="ko-KR" sz="1800" dirty="0"/>
          </a:p>
          <a:p>
            <a:r>
              <a:rPr lang="ko-KR" altLang="en-US" sz="2400" dirty="0"/>
              <a:t>다차원 배열</a:t>
            </a:r>
          </a:p>
          <a:p>
            <a:pPr lvl="1"/>
            <a:r>
              <a:rPr lang="ko-KR" altLang="en-US" sz="1800" dirty="0"/>
              <a:t>연속 메모리 → 배열과 동일 </a:t>
            </a:r>
          </a:p>
          <a:p>
            <a:pPr lvl="1"/>
            <a:r>
              <a:rPr lang="ko-KR" altLang="en-US" sz="1800" dirty="0"/>
              <a:t>비 연속 메모리 → 포인터 계층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530621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60297A-3053-4D29-A862-102E7A7FA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실습 및 과제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213E391-E51C-472A-B183-66997968CF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플레이어 접속 </a:t>
            </a:r>
          </a:p>
          <a:p>
            <a:r>
              <a:rPr lang="ko-KR" altLang="en-US" dirty="0"/>
              <a:t>탄환 발사 </a:t>
            </a:r>
          </a:p>
          <a:p>
            <a:r>
              <a:rPr lang="ko-KR" altLang="en-US" dirty="0"/>
              <a:t>아이템 배낭 </a:t>
            </a:r>
          </a:p>
          <a:p>
            <a:r>
              <a:rPr lang="ko-KR" altLang="en-US" dirty="0"/>
              <a:t>문자열 분리 </a:t>
            </a:r>
            <a:r>
              <a:rPr lang="en-US" altLang="ko-KR" dirty="0"/>
              <a:t>(</a:t>
            </a:r>
            <a:r>
              <a:rPr lang="en-US" altLang="ko-KR" dirty="0" err="1"/>
              <a:t>SplitString</a:t>
            </a:r>
            <a:r>
              <a:rPr lang="en-US" altLang="ko-KR" dirty="0"/>
              <a:t>) </a:t>
            </a:r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90DA4AF-2202-4128-805F-D015D034F0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22751816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 디자인">
  <a:themeElements>
    <a:clrScheme name="기본 디자인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바른고딕">
      <a:majorFont>
        <a:latin typeface="나눔바른고딕"/>
        <a:ea typeface="나눔바른고딕"/>
        <a:cs typeface=""/>
      </a:majorFont>
      <a:minorFont>
        <a:latin typeface="나눔바른고딕"/>
        <a:ea typeface="나눔바른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lnDef>
    <a:txDef>
      <a:spPr>
        <a:noFill/>
        <a:ln w="25400">
          <a:solidFill>
            <a:schemeClr val="bg1">
              <a:lumMod val="75000"/>
            </a:schemeClr>
          </a:solidFill>
          <a:prstDash val="sysDot"/>
        </a:ln>
      </a:spPr>
      <a:bodyPr wrap="square">
        <a:spAutoFit/>
      </a:bodyPr>
      <a:lstStyle>
        <a:defPPr algn="l">
          <a:defRPr sz="2400" b="1" i="0" u="none" strike="noStrike" dirty="0">
            <a:solidFill>
              <a:srgbClr val="C18401"/>
            </a:solidFill>
            <a:effectLst/>
            <a:latin typeface="Consolas" panose="020B0609020204030204" pitchFamily="49" charset="0"/>
          </a:defRPr>
        </a:defPPr>
      </a:lstStyle>
    </a:tx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8407</TotalTime>
  <Words>2513</Words>
  <Application>Microsoft Office PowerPoint</Application>
  <PresentationFormat>화면 슬라이드 쇼(4:3)</PresentationFormat>
  <Paragraphs>272</Paragraphs>
  <Slides>21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30" baseType="lpstr">
      <vt:lpstr>Consolas</vt:lpstr>
      <vt:lpstr>굴림</vt:lpstr>
      <vt:lpstr>HY견고딕</vt:lpstr>
      <vt:lpstr>나눔바른고딕</vt:lpstr>
      <vt:lpstr>Arial</vt:lpstr>
      <vt:lpstr>D2Coding</vt:lpstr>
      <vt:lpstr>Wingdings</vt:lpstr>
      <vt:lpstr>가을체</vt:lpstr>
      <vt:lpstr>기본 디자인</vt:lpstr>
      <vt:lpstr>15. 동적 메모리 할당 (Dynamic Memory Allocation)</vt:lpstr>
      <vt:lpstr>15.1 정적 할당과 동적 할당</vt:lpstr>
      <vt:lpstr>15.1 정적 할당과 동적 할당</vt:lpstr>
      <vt:lpstr>15.2 메모리 관련 함수들</vt:lpstr>
      <vt:lpstr>15.2.1 memset</vt:lpstr>
      <vt:lpstr>15.2.2 memcpy</vt:lpstr>
      <vt:lpstr>15.2.3 memmove</vt:lpstr>
      <vt:lpstr>15.3.1 malloc 기본 사용</vt:lpstr>
      <vt:lpstr>15.3.2 malloc을 이용한 구조체의 동적 생성</vt:lpstr>
      <vt:lpstr>15.3.3 배열 형태의 동적 메모리 할당</vt:lpstr>
      <vt:lpstr>15.3.4 구조체 배열 동적 할당 예제</vt:lpstr>
      <vt:lpstr>15.4.1 calloc: 0으로 초기화되는 할당</vt:lpstr>
      <vt:lpstr>15.4.2 realloc: 크기 변경과 안전한 사용 패턴</vt:lpstr>
      <vt:lpstr>15.5 포인터와 동적 메모리 관리</vt:lpstr>
      <vt:lpstr>15.6 얕은 복사 vs 깊은 복사</vt:lpstr>
      <vt:lpstr>15.7.1 연속 메모리를 이용한 다차원 배열 구성</vt:lpstr>
      <vt:lpstr>15.7.2 비 연속 메모리를 이용한 다차원 배열 구성</vt:lpstr>
      <vt:lpstr>15.7.2 비 연속 메모리를 이용한 다차원 배열 구성</vt:lpstr>
      <vt:lpstr>15.8 동적 메모리 관리 원칙</vt:lpstr>
      <vt:lpstr>학습 정리</vt:lpstr>
      <vt:lpstr>실습 및 과제</vt:lpstr>
    </vt:vector>
  </TitlesOfParts>
  <Company>GaLic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</dc:title>
  <dc:creator>Heesung Oh</dc:creator>
  <cp:lastModifiedBy>Heesung Oh</cp:lastModifiedBy>
  <cp:revision>293</cp:revision>
  <dcterms:created xsi:type="dcterms:W3CDTF">2003-11-30T16:03:20Z</dcterms:created>
  <dcterms:modified xsi:type="dcterms:W3CDTF">2026-04-17T05:42:52Z</dcterms:modified>
</cp:coreProperties>
</file>