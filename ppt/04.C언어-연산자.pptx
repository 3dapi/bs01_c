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72" r:id="rId2"/>
    <p:sldId id="273" r:id="rId3"/>
    <p:sldId id="274" r:id="rId4"/>
    <p:sldId id="275" r:id="rId5"/>
    <p:sldId id="276" r:id="rId6"/>
    <p:sldId id="277" r:id="rId7"/>
    <p:sldId id="281" r:id="rId8"/>
    <p:sldId id="280" r:id="rId9"/>
    <p:sldId id="278" r:id="rId10"/>
    <p:sldId id="279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4" r:id="rId23"/>
    <p:sldId id="293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3" r:id="rId42"/>
    <p:sldId id="312" r:id="rId43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CC0000"/>
    <a:srgbClr val="0000FF"/>
    <a:srgbClr val="CC00FF"/>
    <a:srgbClr val="FF00FF"/>
    <a:srgbClr val="FF9900"/>
    <a:srgbClr val="FF0000"/>
    <a:srgbClr val="00990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954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2FC0D-1C2C-37AA-7CB1-C3D3229737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04. </a:t>
            </a:r>
            <a:r>
              <a:rPr lang="ko-KR" altLang="en-US" dirty="0"/>
              <a:t>연산자 </a:t>
            </a:r>
            <a:r>
              <a:rPr lang="en-US" altLang="ko-KR" dirty="0"/>
              <a:t>(Operator)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14EB79-AD88-258F-4E8F-24B268B482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99B9F4-4800-F14C-8C36-B879D7464F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865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F9540-6669-5CDA-78BF-4F9AF396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4.0 </a:t>
            </a:r>
            <a:r>
              <a:rPr lang="ko-KR" altLang="en-US" b="0" dirty="0"/>
              <a:t>연산자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CA56B1-FED6-471B-3FDB-9DA89B9D3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연산자</a:t>
            </a:r>
            <a:endParaRPr lang="en-US" altLang="ko-KR" dirty="0"/>
          </a:p>
          <a:p>
            <a:pPr lvl="1"/>
            <a:r>
              <a:rPr lang="ko-KR" altLang="en-US" dirty="0"/>
              <a:t>값 계산</a:t>
            </a:r>
            <a:r>
              <a:rPr lang="en-US" altLang="ko-KR" dirty="0"/>
              <a:t>, </a:t>
            </a:r>
            <a:r>
              <a:rPr lang="ko-KR" altLang="en-US" dirty="0"/>
              <a:t>비교</a:t>
            </a:r>
            <a:r>
              <a:rPr lang="en-US" altLang="ko-KR" dirty="0"/>
              <a:t>, </a:t>
            </a:r>
            <a:r>
              <a:rPr lang="ko-KR" altLang="en-US" dirty="0"/>
              <a:t>논리 판단</a:t>
            </a:r>
            <a:r>
              <a:rPr lang="en-US" altLang="ko-KR" dirty="0"/>
              <a:t>, </a:t>
            </a:r>
            <a:r>
              <a:rPr lang="ko-KR" altLang="en-US" dirty="0"/>
              <a:t>대입 등 연산 표현하는 문법적 기호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하나 이상의 피연산자</a:t>
            </a:r>
            <a:r>
              <a:rPr lang="en-US" altLang="ko-KR" dirty="0"/>
              <a:t>(operand)</a:t>
            </a:r>
            <a:r>
              <a:rPr lang="ko-KR" altLang="en-US" dirty="0"/>
              <a:t>와 함께 사용하여 연산 수행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연산 결과로 새로운 값 생성 또는 변수 값 변경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520F2D-687B-70A1-78EF-638E75AC15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05676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ADCFA-DA82-B5F5-A2DE-01D72D37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4.1 </a:t>
            </a:r>
            <a:r>
              <a:rPr lang="ko-KR" altLang="en-US" b="0" dirty="0"/>
              <a:t>대입 연산자와 변수 복사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3A5028-D512-D8F5-EC17-F685894C9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대입 연산자 </a:t>
            </a:r>
            <a:r>
              <a:rPr lang="en-US" altLang="ko-KR" dirty="0"/>
              <a:t>(assignment operator: =)</a:t>
            </a:r>
          </a:p>
          <a:p>
            <a:pPr lvl="1"/>
            <a:r>
              <a:rPr lang="ko-KR" altLang="en-US" dirty="0"/>
              <a:t>오른쪽 표현식의 결과를 왼쪽 변수에 저장</a:t>
            </a:r>
          </a:p>
          <a:p>
            <a:pPr lvl="1"/>
            <a:r>
              <a:rPr lang="ko-KR" altLang="en-US" dirty="0"/>
              <a:t>값 전달 방향 오른쪽 → 왼쪽</a:t>
            </a:r>
          </a:p>
          <a:p>
            <a:pPr lvl="1"/>
            <a:r>
              <a:rPr lang="ko-KR" altLang="en-US" dirty="0"/>
              <a:t>저장 형식 왼쪽 변수의 자료형이 결정</a:t>
            </a:r>
            <a:endParaRPr lang="en-US" altLang="ko-KR" dirty="0"/>
          </a:p>
          <a:p>
            <a:pPr lvl="1"/>
            <a:r>
              <a:rPr lang="ko-KR" altLang="en-US" dirty="0"/>
              <a:t>복합 대입 연산자</a:t>
            </a:r>
            <a:r>
              <a:rPr lang="en-US" altLang="ko-KR" dirty="0"/>
              <a:t>(+=, -=, *=, /=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의 기반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특징</a:t>
            </a:r>
          </a:p>
          <a:p>
            <a:pPr lvl="1"/>
            <a:r>
              <a:rPr lang="ko-KR" altLang="en-US" dirty="0"/>
              <a:t>자료형이 다르면 암묵적 형 변환 발생</a:t>
            </a:r>
          </a:p>
          <a:p>
            <a:pPr lvl="1"/>
            <a:r>
              <a:rPr lang="ko-KR" altLang="en-US" dirty="0"/>
              <a:t>대입식은 표현식</a:t>
            </a:r>
            <a:r>
              <a:rPr lang="en-US" altLang="ko-KR" dirty="0"/>
              <a:t>(expression)</a:t>
            </a:r>
          </a:p>
          <a:p>
            <a:pPr lvl="1"/>
            <a:r>
              <a:rPr lang="ko-KR" altLang="en-US" dirty="0"/>
              <a:t>연쇄 대입 가능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9C56709-BD1D-3CB4-762D-B7B6CD1DC6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56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23BC1-B143-E29D-9163-B2B11A6FE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D1A744-AB95-6BFF-C181-E3CB89E0E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4.1 </a:t>
            </a:r>
            <a:r>
              <a:rPr lang="ko-KR" altLang="en-US" b="0" dirty="0"/>
              <a:t>대입 연산자와 변수 복사 예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172EFF-0143-1630-FC29-6882210DA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dirty="0"/>
              <a:t> </a:t>
            </a:r>
            <a:r>
              <a:rPr lang="ko-KR" altLang="en-US" b="0" dirty="0"/>
              <a:t>변수에 값 할당 </a:t>
            </a:r>
            <a:r>
              <a:rPr lang="en-US" altLang="ko-KR" b="0" dirty="0"/>
              <a:t>(</a:t>
            </a:r>
            <a:r>
              <a:rPr lang="ko-KR" altLang="en-US" b="0" dirty="0"/>
              <a:t>저장</a:t>
            </a:r>
            <a:r>
              <a:rPr lang="en-US" altLang="ko-KR" b="0" dirty="0"/>
              <a:t>)</a:t>
            </a:r>
          </a:p>
          <a:p>
            <a:endParaRPr lang="en-US" altLang="ko-KR" b="0" dirty="0"/>
          </a:p>
          <a:p>
            <a:endParaRPr lang="en-US" altLang="ko-KR" b="0" dirty="0"/>
          </a:p>
          <a:p>
            <a:r>
              <a:rPr lang="ko-KR" altLang="en-US" b="0" dirty="0"/>
              <a:t>타입 변경으로 데이터 유실이 발생할 수 있으면 경고</a:t>
            </a:r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r>
              <a:rPr lang="ko-KR" altLang="en-US" b="0" dirty="0"/>
              <a:t>표현식</a:t>
            </a:r>
            <a:endParaRPr lang="en-US" altLang="ko-KR" b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E208FA-0248-CD69-DD7E-1016194503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9D23D6-3AA8-2C00-4DD2-31AA137F2DAF}"/>
              </a:ext>
            </a:extLst>
          </p:cNvPr>
          <p:cNvSpPr txBox="1"/>
          <p:nvPr/>
        </p:nvSpPr>
        <p:spPr>
          <a:xfrm>
            <a:off x="683568" y="1340768"/>
            <a:ext cx="7704856" cy="83099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 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변수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ko-KR" altLang="en-US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에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10 </a:t>
            </a:r>
            <a:r>
              <a:rPr lang="ko-KR" altLang="en-US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저장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A39E52-BD9A-6D35-276A-697488F9CDB5}"/>
              </a:ext>
            </a:extLst>
          </p:cNvPr>
          <p:cNvSpPr txBox="1"/>
          <p:nvPr/>
        </p:nvSpPr>
        <p:spPr>
          <a:xfrm>
            <a:off x="683568" y="2844363"/>
            <a:ext cx="6048672" cy="120032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3.7f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f;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B7D858-4C15-969B-7158-4480FFB0DFAD}"/>
              </a:ext>
            </a:extLst>
          </p:cNvPr>
          <p:cNvSpPr txBox="1"/>
          <p:nvPr/>
        </p:nvSpPr>
        <p:spPr>
          <a:xfrm>
            <a:off x="683568" y="4869160"/>
            <a:ext cx="6048672" cy="83099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a, b;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 = (b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5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</a:t>
            </a:r>
            <a:r>
              <a:rPr lang="ko-KR" altLang="en-US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0583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BFBD3-9FF0-F219-4422-C4DB3A54F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CAA0D-2286-10E7-DAFF-08E3BDF0F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4.2 </a:t>
            </a:r>
            <a:r>
              <a:rPr lang="ko-KR" altLang="en-US" b="0" dirty="0"/>
              <a:t>쉼표 연산자 </a:t>
            </a:r>
            <a:r>
              <a:rPr lang="en-US" altLang="ko-KR" b="0" dirty="0"/>
              <a:t>(comma operator: ,)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51F947-2EC2-A2A4-A8EA-81F4DA5D1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쉼표 연산자</a:t>
            </a:r>
            <a:r>
              <a:rPr lang="en-US" altLang="ko-KR" dirty="0"/>
              <a:t>(Comma operator)</a:t>
            </a:r>
          </a:p>
          <a:p>
            <a:pPr lvl="1"/>
            <a:r>
              <a:rPr lang="ko-KR" altLang="en-US" dirty="0"/>
              <a:t>여러 표현식을 순서대로 평가</a:t>
            </a:r>
            <a:r>
              <a:rPr lang="en-US" altLang="ko-KR" dirty="0"/>
              <a:t>(evaluate)</a:t>
            </a:r>
            <a:r>
              <a:rPr lang="ko-KR" altLang="en-US" dirty="0"/>
              <a:t>하는 연산자</a:t>
            </a:r>
          </a:p>
          <a:p>
            <a:pPr lvl="1"/>
            <a:r>
              <a:rPr lang="ko-KR" altLang="en-US" dirty="0"/>
              <a:t>왼쪽 → 오른쪽 순서로 실행</a:t>
            </a:r>
          </a:p>
          <a:p>
            <a:pPr lvl="1"/>
            <a:r>
              <a:rPr lang="ko-KR" altLang="en-US" dirty="0"/>
              <a:t>마지막 표현식의 결과 반환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17D683-77FF-E152-EC8A-607F6FC5B2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E818D8-6A26-41D1-FD91-975C64608509}"/>
              </a:ext>
            </a:extLst>
          </p:cNvPr>
          <p:cNvSpPr txBox="1"/>
          <p:nvPr/>
        </p:nvSpPr>
        <p:spPr>
          <a:xfrm>
            <a:off x="575655" y="3192888"/>
            <a:ext cx="7992690" cy="83099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 = (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1, 2</a:t>
            </a:r>
            <a:r>
              <a:rPr lang="ko-KR" altLang="en-US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평가</a:t>
            </a:r>
            <a:r>
              <a:rPr lang="en-US" altLang="ko-KR" i="1" dirty="0">
                <a:solidFill>
                  <a:srgbClr val="A0A1A7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en-US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을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ko-KR" altLang="en-US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에 대입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9556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78149-B280-866E-8B56-C13C883F1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EE2CD2-E793-814F-AE5D-01D7D4C22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4.2 </a:t>
            </a:r>
            <a:r>
              <a:rPr lang="ko-KR" altLang="en-US" b="0" dirty="0"/>
              <a:t>쉼표 연산자</a:t>
            </a:r>
            <a:r>
              <a:rPr lang="en-US" altLang="ko-KR" b="0" dirty="0"/>
              <a:t> </a:t>
            </a:r>
            <a:r>
              <a:rPr lang="ko-KR" altLang="en-US" b="0" dirty="0"/>
              <a:t>예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67D01-8FEB-5739-FEA7-FC91AC8D4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for loop</a:t>
            </a:r>
            <a:r>
              <a:rPr lang="ko-KR" altLang="en-US" dirty="0"/>
              <a:t>에서 쉼표 연산자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070092-EBFE-A5D2-7075-D2503E32A1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6060BE-E987-329C-CD97-53AD3D16E128}"/>
              </a:ext>
            </a:extLst>
          </p:cNvPr>
          <p:cNvSpPr txBox="1"/>
          <p:nvPr/>
        </p:nvSpPr>
        <p:spPr>
          <a:xfrm>
            <a:off x="395536" y="836712"/>
            <a:ext cx="8064896" cy="1138773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y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x = (y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y +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y = 10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실행 →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y + 5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실행 → 결과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에 저장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4949EA-7C96-272B-3DDA-8ED6B699F437}"/>
              </a:ext>
            </a:extLst>
          </p:cNvPr>
          <p:cNvSpPr txBox="1"/>
          <p:nvPr/>
        </p:nvSpPr>
        <p:spPr>
          <a:xfrm>
            <a:off x="395535" y="3600340"/>
            <a:ext cx="8064896" cy="120032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nn-NO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 = </a:t>
            </a:r>
            <a:r>
              <a:rPr lang="nn-NO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j = </a:t>
            </a:r>
            <a:r>
              <a:rPr lang="nn-NO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nn-NO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j; i++, j--) {</a:t>
            </a:r>
            <a:br>
              <a:rPr lang="nn-NO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nn-NO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n-NO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...</a:t>
            </a:r>
            <a:br>
              <a:rPr lang="nn-NO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nn-NO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3238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00F99-BD90-C69C-6701-92720682C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EFEC73-F3E6-CFAA-CEF4-6DDB3DA7E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4.3 </a:t>
            </a:r>
            <a:r>
              <a:rPr lang="ko-KR" altLang="en-US" b="0" dirty="0"/>
              <a:t>산술 연산자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5C228F-A0AC-71EF-A9A8-83C4DD408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산술 연산자 </a:t>
            </a:r>
            <a:r>
              <a:rPr lang="en-US" altLang="ko-KR" b="0" dirty="0"/>
              <a:t>(arithmetic operator: +, -, *, /, %)</a:t>
            </a:r>
            <a:endParaRPr lang="en-US" altLang="ko-KR" dirty="0"/>
          </a:p>
          <a:p>
            <a:pPr lvl="1"/>
            <a:r>
              <a:rPr lang="ko-KR" altLang="en-US" dirty="0"/>
              <a:t>숫자 데이터를 계산하기 위한 기본 연산자</a:t>
            </a:r>
          </a:p>
          <a:p>
            <a:pPr lvl="1"/>
            <a:r>
              <a:rPr lang="ko-KR" altLang="en-US" dirty="0"/>
              <a:t>정수형 또는 실수형 데이터에 사용</a:t>
            </a:r>
          </a:p>
          <a:p>
            <a:pPr lvl="1"/>
            <a:r>
              <a:rPr lang="ko-KR" altLang="en-US" dirty="0"/>
              <a:t>덧셈</a:t>
            </a:r>
            <a:r>
              <a:rPr lang="en-US" altLang="ko-KR" dirty="0"/>
              <a:t>, </a:t>
            </a:r>
            <a:r>
              <a:rPr lang="ko-KR" altLang="en-US" dirty="0"/>
              <a:t>뺄셈</a:t>
            </a:r>
            <a:r>
              <a:rPr lang="en-US" altLang="ko-KR" dirty="0"/>
              <a:t>, </a:t>
            </a:r>
            <a:r>
              <a:rPr lang="ko-KR" altLang="en-US" dirty="0"/>
              <a:t>곱셈</a:t>
            </a:r>
            <a:r>
              <a:rPr lang="en-US" altLang="ko-KR" dirty="0"/>
              <a:t>, </a:t>
            </a:r>
            <a:r>
              <a:rPr lang="ko-KR" altLang="en-US" dirty="0"/>
              <a:t>나눗셈</a:t>
            </a:r>
            <a:r>
              <a:rPr lang="en-US" altLang="ko-KR" dirty="0"/>
              <a:t>, </a:t>
            </a:r>
            <a:r>
              <a:rPr lang="ko-KR" altLang="en-US" dirty="0"/>
              <a:t>나머지 연산 수행</a:t>
            </a:r>
            <a:endParaRPr lang="en-US" altLang="ko-KR" dirty="0"/>
          </a:p>
          <a:p>
            <a:pPr lvl="1"/>
            <a:r>
              <a:rPr lang="en-US" altLang="ko-KR" dirty="0"/>
              <a:t>%</a:t>
            </a:r>
            <a:r>
              <a:rPr lang="ko-KR" altLang="en-US" dirty="0"/>
              <a:t>는 정수형에만 사용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특징</a:t>
            </a:r>
          </a:p>
          <a:p>
            <a:pPr lvl="1"/>
            <a:r>
              <a:rPr lang="ko-KR" altLang="en-US" dirty="0"/>
              <a:t>자료형에 따라 계산 방식 달라짐</a:t>
            </a:r>
          </a:p>
          <a:p>
            <a:pPr lvl="1"/>
            <a:r>
              <a:rPr lang="ko-KR" altLang="en-US" dirty="0"/>
              <a:t>정수 연산과 실수 연산 결과 차이</a:t>
            </a:r>
          </a:p>
          <a:p>
            <a:pPr lvl="1"/>
            <a:r>
              <a:rPr lang="ko-KR" altLang="en-US" dirty="0"/>
              <a:t>우선순위</a:t>
            </a:r>
            <a:r>
              <a:rPr lang="en-US" altLang="ko-KR" dirty="0"/>
              <a:t>: *, / → +, -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89AE905-5D5B-66E7-92A5-F84AC8A2D7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5835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76BA7-E282-5DCE-3F50-1B287D243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BCE820-7ACB-696B-BB3C-498B1576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4.3 </a:t>
            </a:r>
            <a:r>
              <a:rPr lang="ko-KR" altLang="en-US" b="0" dirty="0"/>
              <a:t>산술 연산자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B78346-99CA-B7C1-F28B-C3B1AB733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/>
              <a:t>산술 연산자 요약</a:t>
            </a:r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r>
              <a:rPr lang="ko-KR" altLang="en-US" dirty="0"/>
              <a:t>활용 예</a:t>
            </a:r>
          </a:p>
          <a:p>
            <a:pPr lvl="1"/>
            <a:r>
              <a:rPr lang="ko-KR" altLang="en-US" dirty="0"/>
              <a:t>짝수</a:t>
            </a:r>
            <a:r>
              <a:rPr lang="en-US" altLang="ko-KR" dirty="0"/>
              <a:t>/</a:t>
            </a:r>
            <a:r>
              <a:rPr lang="ko-KR" altLang="en-US" dirty="0"/>
              <a:t>홀수 판별</a:t>
            </a:r>
            <a:r>
              <a:rPr lang="en-US" altLang="ko-KR" dirty="0"/>
              <a:t>: n % 2 == 0</a:t>
            </a:r>
          </a:p>
          <a:p>
            <a:pPr lvl="1"/>
            <a:r>
              <a:rPr lang="ko-KR" altLang="en-US" dirty="0"/>
              <a:t>배수 판별</a:t>
            </a:r>
            <a:r>
              <a:rPr lang="en-US" altLang="ko-KR" dirty="0"/>
              <a:t>: n % k == 0</a:t>
            </a:r>
          </a:p>
          <a:p>
            <a:pPr lvl="1"/>
            <a:r>
              <a:rPr lang="ko-KR" altLang="en-US" dirty="0"/>
              <a:t>순환 인덱스</a:t>
            </a:r>
            <a:r>
              <a:rPr lang="en-US" altLang="ko-KR" dirty="0"/>
              <a:t>(wrap-around): (</a:t>
            </a:r>
            <a:r>
              <a:rPr lang="en-US" altLang="ko-KR" dirty="0" err="1"/>
              <a:t>i</a:t>
            </a:r>
            <a:r>
              <a:rPr lang="en-US" altLang="ko-KR" dirty="0"/>
              <a:t> + 1) % size</a:t>
            </a:r>
            <a:br>
              <a:rPr lang="en-US" altLang="ko-KR" dirty="0"/>
            </a:br>
            <a:r>
              <a:rPr lang="en-US" altLang="ko-KR" dirty="0"/>
              <a:t>⇐ // 0~size </a:t>
            </a:r>
            <a:r>
              <a:rPr lang="ko-KR" altLang="en-US" dirty="0"/>
              <a:t>사이를 순환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96F5FE-62B3-C14B-F1C6-50AFEC22CE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18439E1-155F-C705-7736-1F482CD55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098908"/>
              </p:ext>
            </p:extLst>
          </p:nvPr>
        </p:nvGraphicFramePr>
        <p:xfrm>
          <a:off x="562172" y="1412776"/>
          <a:ext cx="8019655" cy="2059150"/>
        </p:xfrm>
        <a:graphic>
          <a:graphicData uri="http://schemas.openxmlformats.org/drawingml/2006/table">
            <a:tbl>
              <a:tblPr/>
              <a:tblGrid>
                <a:gridCol w="789916">
                  <a:extLst>
                    <a:ext uri="{9D8B030D-6E8A-4147-A177-3AD203B41FA5}">
                      <a16:colId xmlns:a16="http://schemas.microsoft.com/office/drawing/2014/main" val="3490324058"/>
                    </a:ext>
                  </a:extLst>
                </a:gridCol>
                <a:gridCol w="2838342">
                  <a:extLst>
                    <a:ext uri="{9D8B030D-6E8A-4147-A177-3AD203B41FA5}">
                      <a16:colId xmlns:a16="http://schemas.microsoft.com/office/drawing/2014/main" val="3201110887"/>
                    </a:ext>
                  </a:extLst>
                </a:gridCol>
                <a:gridCol w="1847600">
                  <a:extLst>
                    <a:ext uri="{9D8B030D-6E8A-4147-A177-3AD203B41FA5}">
                      <a16:colId xmlns:a16="http://schemas.microsoft.com/office/drawing/2014/main" val="401658978"/>
                    </a:ext>
                  </a:extLst>
                </a:gridCol>
                <a:gridCol w="1472724">
                  <a:extLst>
                    <a:ext uri="{9D8B030D-6E8A-4147-A177-3AD203B41FA5}">
                      <a16:colId xmlns:a16="http://schemas.microsoft.com/office/drawing/2014/main" val="3616152358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2210648710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연산자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이름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예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x:100, y:7)</a:t>
                      </a:r>
                      <a:endParaRPr lang="en-US" sz="2800" b="1" dirty="0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결과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889299"/>
                  </a:ext>
                </a:extLst>
              </a:tr>
              <a:tr h="3082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ko-KR" altLang="en-US" sz="28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덧셈 연산자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더하기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+ y</a:t>
                      </a:r>
                      <a:endParaRPr lang="en-US" sz="2800" b="1" dirty="0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36808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endParaRPr lang="ko-KR" altLang="en-US" sz="28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뺄셈 연산자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빼기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- y</a:t>
                      </a:r>
                      <a:endParaRPr lang="en-US" sz="2800" b="1" dirty="0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0796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*</a:t>
                      </a:r>
                      <a:endParaRPr lang="ko-KR" altLang="en-US" sz="28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곱셈 연산자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곱하기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* y</a:t>
                      </a:r>
                      <a:endParaRPr lang="en-US" sz="2800" b="1" dirty="0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700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864206"/>
                  </a:ext>
                </a:extLst>
              </a:tr>
              <a:tr h="3362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endParaRPr lang="ko-KR" altLang="en-US" sz="28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나눗셈 연산자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나누기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/ y</a:t>
                      </a:r>
                      <a:endParaRPr lang="en-US" sz="2800" b="1" dirty="0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803913"/>
                  </a:ext>
                </a:extLst>
              </a:tr>
              <a:tr h="2762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  <a:endParaRPr lang="ko-KR" altLang="en-US" sz="28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모듈로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(modulo), 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나머지 연산자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정수 나눗셈 나머지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% y</a:t>
                      </a:r>
                      <a:endParaRPr lang="en-US" sz="2800" b="1" dirty="0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7991" marR="47991" marT="47991" marB="47991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165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148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10D22-32EC-D528-C778-1AD331A29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9DA401-E217-577D-1DBF-BB3645AAC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산술 연산자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B181B1-55C3-74A8-2B2E-D3A07F676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산술 연산자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실수형은 불가능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우선 순위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07F36A-3633-AFA5-1C60-19D4894A17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049FD1-030D-3042-515C-C14496C12B5A}"/>
              </a:ext>
            </a:extLst>
          </p:cNvPr>
          <p:cNvSpPr txBox="1"/>
          <p:nvPr/>
        </p:nvSpPr>
        <p:spPr>
          <a:xfrm>
            <a:off x="538243" y="1268760"/>
            <a:ext cx="7778174" cy="163121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13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7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30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/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3 (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정수 나눗셈 → 소수점 버림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%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 (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모듈로 연산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A1764D-5F41-308E-FA99-D62DFFE75451}"/>
              </a:ext>
            </a:extLst>
          </p:cNvPr>
          <p:cNvSpPr txBox="1"/>
          <p:nvPr/>
        </p:nvSpPr>
        <p:spPr>
          <a:xfrm>
            <a:off x="538242" y="3964994"/>
            <a:ext cx="7778173" cy="40011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5.0f</a:t>
            </a:r>
            <a:r>
              <a:rPr lang="en-US" altLang="ko-KR" sz="2000" b="0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sz="2000" b="0" i="0" u="none" strike="noStrike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2.0f</a:t>
            </a:r>
            <a:r>
              <a:rPr lang="en-US" altLang="ko-KR" sz="2000" b="0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2000" b="0" i="1" u="none" strike="noStrike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오류</a:t>
            </a:r>
            <a:endParaRPr lang="ko-KR" alt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364C9A-8CA2-B7FE-B242-4EEAFFD449DE}"/>
              </a:ext>
            </a:extLst>
          </p:cNvPr>
          <p:cNvSpPr txBox="1"/>
          <p:nvPr/>
        </p:nvSpPr>
        <p:spPr>
          <a:xfrm>
            <a:off x="538241" y="5477162"/>
            <a:ext cx="7778173" cy="40011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3 * 4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먼저 계산 →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2 + 12 = 14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90317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C233F-9140-FB8C-3527-BC9D6E101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E31CAE-5EF4-09D6-8196-8970A2A4B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관계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415377-3A4F-48EA-42FB-D79C38550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relational operator: ==, !=, &gt;, &gt;=, &lt;, &lt;=</a:t>
            </a:r>
          </a:p>
          <a:p>
            <a:pPr lvl="1"/>
            <a:r>
              <a:rPr lang="ko-KR" altLang="en-US" dirty="0"/>
              <a:t>두 값을 비교 참</a:t>
            </a:r>
            <a:r>
              <a:rPr lang="en-US" altLang="ko-KR" dirty="0"/>
              <a:t>(true) </a:t>
            </a:r>
            <a:r>
              <a:rPr lang="ko-KR" altLang="en-US" dirty="0"/>
              <a:t>또는 거짓</a:t>
            </a:r>
            <a:r>
              <a:rPr lang="en-US" altLang="ko-KR" dirty="0"/>
              <a:t>(false)</a:t>
            </a:r>
            <a:r>
              <a:rPr lang="ko-KR" altLang="en-US" dirty="0"/>
              <a:t> 반환</a:t>
            </a:r>
            <a:endParaRPr lang="en-US" altLang="ko-KR" dirty="0"/>
          </a:p>
          <a:p>
            <a:pPr lvl="1"/>
            <a:r>
              <a:rPr lang="ko-KR" altLang="en-US" dirty="0"/>
              <a:t>연산의 결과는 정수형</a:t>
            </a:r>
            <a:r>
              <a:rPr lang="en-US" altLang="ko-KR" dirty="0"/>
              <a:t>(int)</a:t>
            </a:r>
          </a:p>
          <a:p>
            <a:pPr lvl="2"/>
            <a:r>
              <a:rPr lang="ko-KR" altLang="en-US" dirty="0"/>
              <a:t>참</a:t>
            </a:r>
            <a:r>
              <a:rPr lang="en-US" altLang="ko-KR" dirty="0"/>
              <a:t>(true): 1</a:t>
            </a:r>
          </a:p>
          <a:p>
            <a:pPr lvl="2"/>
            <a:r>
              <a:rPr lang="ko-KR" altLang="en-US" dirty="0"/>
              <a:t>거짓</a:t>
            </a:r>
            <a:r>
              <a:rPr lang="en-US" altLang="ko-KR" dirty="0"/>
              <a:t>(false): 0</a:t>
            </a:r>
          </a:p>
          <a:p>
            <a:pPr lvl="2"/>
            <a:endParaRPr lang="en-US" altLang="ko-KR" dirty="0"/>
          </a:p>
          <a:p>
            <a:r>
              <a:rPr lang="ko-KR" altLang="en-US" dirty="0"/>
              <a:t>특징</a:t>
            </a:r>
          </a:p>
          <a:p>
            <a:pPr lvl="1"/>
            <a:r>
              <a:rPr lang="ko-KR" altLang="en-US" dirty="0"/>
              <a:t>조건 판단에 사용</a:t>
            </a:r>
          </a:p>
          <a:p>
            <a:pPr lvl="1"/>
            <a:r>
              <a:rPr lang="ko-KR" altLang="en-US" dirty="0"/>
              <a:t>논리 연산자</a:t>
            </a:r>
            <a:r>
              <a:rPr lang="en-US" altLang="ko-KR" dirty="0"/>
              <a:t>(&amp;&amp;, ||, !)</a:t>
            </a:r>
            <a:r>
              <a:rPr lang="ko-KR" altLang="en-US" dirty="0"/>
              <a:t>와 함께 복합 조건식 구성</a:t>
            </a:r>
          </a:p>
          <a:p>
            <a:pPr lvl="1"/>
            <a:r>
              <a:rPr lang="ko-KR" altLang="en-US" dirty="0"/>
              <a:t>우선순위</a:t>
            </a:r>
            <a:r>
              <a:rPr lang="en-US" altLang="ko-KR" dirty="0"/>
              <a:t>: </a:t>
            </a:r>
            <a:r>
              <a:rPr lang="ko-KR" altLang="en-US" dirty="0"/>
              <a:t>산술 연산자 </a:t>
            </a:r>
            <a:r>
              <a:rPr lang="en-US" altLang="ko-KR" dirty="0"/>
              <a:t>&gt; </a:t>
            </a:r>
            <a:r>
              <a:rPr lang="ko-KR" altLang="en-US" dirty="0"/>
              <a:t>관계 연산자 </a:t>
            </a:r>
            <a:r>
              <a:rPr lang="en-US" altLang="ko-KR" dirty="0"/>
              <a:t>&gt; </a:t>
            </a:r>
            <a:r>
              <a:rPr lang="ko-KR" altLang="en-US" dirty="0"/>
              <a:t>논리 연산자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8AE4A8-F06E-FD5D-043C-6526AD2785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5109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FCB3B-71AA-6C22-0FC1-7ED479F7F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CE980-832D-D0AB-C538-23A0116E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관계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C1055F-10D4-CA62-6D0F-C2F0A2D7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의미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056911-EAEC-E041-1738-AFB4C11775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1A75F99-00B1-8CA4-A59E-C42E56D47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533835"/>
              </p:ext>
            </p:extLst>
          </p:nvPr>
        </p:nvGraphicFramePr>
        <p:xfrm>
          <a:off x="348650" y="1484784"/>
          <a:ext cx="8446699" cy="3528392"/>
        </p:xfrm>
        <a:graphic>
          <a:graphicData uri="http://schemas.openxmlformats.org/drawingml/2006/table">
            <a:tbl>
              <a:tblPr/>
              <a:tblGrid>
                <a:gridCol w="1096589">
                  <a:extLst>
                    <a:ext uri="{9D8B030D-6E8A-4147-A177-3AD203B41FA5}">
                      <a16:colId xmlns:a16="http://schemas.microsoft.com/office/drawing/2014/main" val="249308711"/>
                    </a:ext>
                  </a:extLst>
                </a:gridCol>
                <a:gridCol w="1541152">
                  <a:extLst>
                    <a:ext uri="{9D8B030D-6E8A-4147-A177-3AD203B41FA5}">
                      <a16:colId xmlns:a16="http://schemas.microsoft.com/office/drawing/2014/main" val="2667893085"/>
                    </a:ext>
                  </a:extLst>
                </a:gridCol>
                <a:gridCol w="2830385">
                  <a:extLst>
                    <a:ext uri="{9D8B030D-6E8A-4147-A177-3AD203B41FA5}">
                      <a16:colId xmlns:a16="http://schemas.microsoft.com/office/drawing/2014/main" val="2707032915"/>
                    </a:ext>
                  </a:extLst>
                </a:gridCol>
                <a:gridCol w="1689340">
                  <a:extLst>
                    <a:ext uri="{9D8B030D-6E8A-4147-A177-3AD203B41FA5}">
                      <a16:colId xmlns:a16="http://schemas.microsoft.com/office/drawing/2014/main" val="1623584090"/>
                    </a:ext>
                  </a:extLst>
                </a:gridCol>
                <a:gridCol w="1289233">
                  <a:extLst>
                    <a:ext uri="{9D8B030D-6E8A-4147-A177-3AD203B41FA5}">
                      <a16:colId xmlns:a16="http://schemas.microsoft.com/office/drawing/2014/main" val="3403900509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연산자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설명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예 </a:t>
                      </a:r>
                      <a:r>
                        <a:rPr lang="en-US" altLang="ko-KR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x:100, y:7)</a:t>
                      </a:r>
                      <a:endParaRPr lang="en-US" sz="2800" b="1">
                        <a:effectLst/>
                      </a:endParaRPr>
                    </a:p>
                  </a:txBody>
                  <a:tcPr marL="55996" marR="55996" marT="55996" marB="55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결과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55996" marR="55996" marT="55996" marB="55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486319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7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==</a:t>
                      </a:r>
                      <a:endParaRPr lang="ko-KR" altLang="en-US" sz="28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같음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두 값이 같으면 참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== y</a:t>
                      </a:r>
                      <a:endParaRPr lang="en-US" sz="2800" b="1">
                        <a:effectLst/>
                      </a:endParaRPr>
                    </a:p>
                  </a:txBody>
                  <a:tcPr marL="55996" marR="55996" marT="55996" marB="55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0 (false)</a:t>
                      </a:r>
                      <a:endParaRPr lang="en-US" sz="28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55996" marR="55996" marT="55996" marB="55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915388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7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!=</a:t>
                      </a:r>
                      <a:endParaRPr lang="ko-KR" altLang="en-US" sz="28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같지 않음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두 값이 다르면 참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!= y</a:t>
                      </a:r>
                      <a:endParaRPr lang="en-US" sz="2800" b="1">
                        <a:effectLst/>
                      </a:endParaRPr>
                    </a:p>
                  </a:txBody>
                  <a:tcPr marL="55996" marR="55996" marT="55996" marB="55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1 (true)</a:t>
                      </a:r>
                      <a:endParaRPr lang="en-US" sz="28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55996" marR="55996" marT="55996" marB="55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146803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7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&gt;</a:t>
                      </a:r>
                      <a:endParaRPr lang="ko-KR" altLang="en-US" sz="28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크다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왼쪽 값이 더 크면 참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&gt; y</a:t>
                      </a:r>
                      <a:endParaRPr lang="en-US" sz="2800" b="1">
                        <a:effectLst/>
                      </a:endParaRPr>
                    </a:p>
                  </a:txBody>
                  <a:tcPr marL="55996" marR="55996" marT="55996" marB="55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1 (true)</a:t>
                      </a:r>
                      <a:endParaRPr lang="en-US" sz="28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55996" marR="55996" marT="55996" marB="55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451329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7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&gt;=</a:t>
                      </a:r>
                      <a:endParaRPr lang="ko-KR" altLang="en-US" sz="28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크거나 같다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왼쪽 값이 크거나 같으면 참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&gt;= y</a:t>
                      </a:r>
                      <a:endParaRPr lang="en-US" sz="2800" b="1">
                        <a:effectLst/>
                      </a:endParaRPr>
                    </a:p>
                  </a:txBody>
                  <a:tcPr marL="55996" marR="55996" marT="55996" marB="55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0 (false)</a:t>
                      </a:r>
                      <a:endParaRPr lang="en-US" sz="28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55996" marR="55996" marT="55996" marB="55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215608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7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&lt;</a:t>
                      </a:r>
                      <a:endParaRPr lang="ko-KR" altLang="en-US" sz="28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작다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왼쪽 값이 더 작으면 참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&lt; y</a:t>
                      </a:r>
                      <a:endParaRPr lang="en-US" sz="2800" b="1" dirty="0">
                        <a:effectLst/>
                      </a:endParaRPr>
                    </a:p>
                  </a:txBody>
                  <a:tcPr marL="55996" marR="55996" marT="55996" marB="55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0 (false)</a:t>
                      </a:r>
                      <a:endParaRPr lang="en-US" sz="28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55996" marR="55996" marT="55996" marB="55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2491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7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&lt;=</a:t>
                      </a:r>
                      <a:endParaRPr lang="ko-KR" altLang="en-US" sz="28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작거나 같다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왼쪽 값이 작거나 같으면 참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98792" marR="98792" marT="98792" marB="987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&lt;= y</a:t>
                      </a:r>
                      <a:endParaRPr lang="en-US" sz="2800" b="1" dirty="0">
                        <a:effectLst/>
                      </a:endParaRPr>
                    </a:p>
                  </a:txBody>
                  <a:tcPr marL="55996" marR="55996" marT="55996" marB="55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0 (false)</a:t>
                      </a:r>
                      <a:endParaRPr lang="en-US" sz="28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55996" marR="55996" marT="55996" marB="559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124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493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C2CDA-D099-CBB0-EA36-4EEFFA5EC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6517C-D75D-6FA3-EF2B-B0CF58141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관계 연산자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773009-E849-A498-6A2F-61F4EFB18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5E34AD-3D37-86BC-151B-B34D813F9C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16201-C3BE-366C-CE32-576115609E0F}"/>
              </a:ext>
            </a:extLst>
          </p:cNvPr>
          <p:cNvSpPr txBox="1"/>
          <p:nvPr/>
        </p:nvSpPr>
        <p:spPr>
          <a:xfrm>
            <a:off x="323528" y="692150"/>
            <a:ext cx="6912768" cy="175432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b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r1 = (a == b);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 (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거짓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r2 = (a != b);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 (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참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r3 = (a &lt; b);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 (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참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r4 = (a &gt;=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 (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참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20C327-8F3D-E74E-5EC5-55B7610AF459}"/>
              </a:ext>
            </a:extLst>
          </p:cNvPr>
          <p:cNvSpPr txBox="1"/>
          <p:nvPr/>
        </p:nvSpPr>
        <p:spPr>
          <a:xfrm>
            <a:off x="323528" y="2590820"/>
            <a:ext cx="6912768" cy="397031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1)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조건문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(if)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(score &gt;=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"A </a:t>
            </a:r>
            <a:r>
              <a:rPr lang="ko-KR" altLang="en-US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등급</a:t>
            </a:r>
            <a:r>
              <a:rPr lang="en-US" altLang="ko-KR" sz="18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2) </a:t>
            </a:r>
            <a:r>
              <a:rPr lang="ko-KR" altLang="en-US" sz="1800" b="0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반복문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(while)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(n !=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n--;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3)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범위 검사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&lt;= x &amp;&amp; x &lt;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x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가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0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이상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100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미만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521633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9DBCD-58A8-E841-6C53-E31274888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CC6CF-4129-01CB-F4BA-3BE07AE4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</a:t>
            </a:r>
            <a:r>
              <a:rPr lang="ko-KR" altLang="en-US" dirty="0"/>
              <a:t>논리 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4E6E1B-D069-8204-044E-6AE91D063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logical operator: &amp;&amp;, ||, !</a:t>
            </a:r>
          </a:p>
          <a:p>
            <a:pPr lvl="1"/>
            <a:r>
              <a:rPr lang="ko-KR" altLang="en-US" sz="1800" dirty="0"/>
              <a:t>여러 조건식을 결합하거나 참</a:t>
            </a:r>
            <a:r>
              <a:rPr lang="en-US" altLang="ko-KR" sz="1800" dirty="0"/>
              <a:t>/</a:t>
            </a:r>
            <a:r>
              <a:rPr lang="ko-KR" altLang="en-US" sz="1800" dirty="0"/>
              <a:t>거짓 반전</a:t>
            </a:r>
          </a:p>
          <a:p>
            <a:pPr lvl="1"/>
            <a:r>
              <a:rPr lang="ko-KR" altLang="en-US" sz="1800" dirty="0"/>
              <a:t>조건문</a:t>
            </a:r>
            <a:r>
              <a:rPr lang="en-US" altLang="ko-KR" sz="1800" dirty="0"/>
              <a:t>(if), </a:t>
            </a:r>
            <a:r>
              <a:rPr lang="ko-KR" altLang="en-US" sz="1800" dirty="0" err="1"/>
              <a:t>반복문</a:t>
            </a:r>
            <a:r>
              <a:rPr lang="en-US" altLang="ko-KR" sz="1800" dirty="0"/>
              <a:t>(while, for) </a:t>
            </a:r>
            <a:r>
              <a:rPr lang="ko-KR" altLang="en-US" sz="1800" dirty="0"/>
              <a:t>에서 사용</a:t>
            </a:r>
            <a:endParaRPr lang="en-US" altLang="ko-KR" sz="1800" dirty="0"/>
          </a:p>
          <a:p>
            <a:pPr lvl="1"/>
            <a:r>
              <a:rPr lang="ko-KR" altLang="en-US" sz="1800" dirty="0"/>
              <a:t>우선 순위</a:t>
            </a:r>
            <a:endParaRPr lang="en-US" altLang="ko-KR" sz="1800" dirty="0"/>
          </a:p>
          <a:p>
            <a:pPr lvl="2"/>
            <a:r>
              <a:rPr lang="en-US" altLang="ko-KR" sz="1600" dirty="0">
                <a:solidFill>
                  <a:srgbClr val="CC00CC"/>
                </a:solidFill>
              </a:rPr>
              <a:t>! </a:t>
            </a:r>
            <a:r>
              <a:rPr lang="en-US" altLang="ko-KR" sz="1600" dirty="0"/>
              <a:t>&gt;</a:t>
            </a:r>
            <a:r>
              <a:rPr lang="en-US" altLang="ko-KR" sz="1600" dirty="0">
                <a:solidFill>
                  <a:srgbClr val="CC00CC"/>
                </a:solidFill>
              </a:rPr>
              <a:t> &amp;&amp; </a:t>
            </a:r>
            <a:r>
              <a:rPr lang="en-US" altLang="ko-KR" sz="1600" dirty="0"/>
              <a:t>&gt;</a:t>
            </a:r>
            <a:r>
              <a:rPr lang="en-US" altLang="ko-KR" sz="1600" dirty="0">
                <a:solidFill>
                  <a:srgbClr val="CC00CC"/>
                </a:solidFill>
              </a:rPr>
              <a:t> ||</a:t>
            </a:r>
          </a:p>
          <a:p>
            <a:pPr lvl="1"/>
            <a:r>
              <a:rPr lang="ko-KR" altLang="en-US" sz="1800" dirty="0"/>
              <a:t>단락 평가 </a:t>
            </a:r>
            <a:r>
              <a:rPr lang="en-US" altLang="ko-KR" sz="1800" dirty="0"/>
              <a:t>(Short-Circuit)</a:t>
            </a:r>
          </a:p>
          <a:p>
            <a:pPr lvl="2"/>
            <a:r>
              <a:rPr lang="en-US" altLang="ko-KR" sz="1600" dirty="0"/>
              <a:t>&amp;&amp;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왼쪽이 거짓이면 오른쪽 계산하지 않음</a:t>
            </a:r>
          </a:p>
          <a:p>
            <a:pPr lvl="2"/>
            <a:r>
              <a:rPr lang="en-US" altLang="ko-KR" sz="1600" dirty="0"/>
              <a:t>||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왼쪽이 참이면 오른쪽 계산하지 않음</a:t>
            </a:r>
          </a:p>
          <a:p>
            <a:pPr lvl="1"/>
            <a:endParaRPr lang="en-US" altLang="ko-KR" sz="1800" dirty="0"/>
          </a:p>
          <a:p>
            <a:r>
              <a:rPr lang="ko-KR" altLang="en-US" sz="2000" dirty="0"/>
              <a:t>종류</a:t>
            </a:r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1D0E5C-427E-D7CC-FC15-5650B3FF8F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64E755C-88A8-8F94-5C8C-DE07DE5D8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639346"/>
              </p:ext>
            </p:extLst>
          </p:nvPr>
        </p:nvGraphicFramePr>
        <p:xfrm>
          <a:off x="506007" y="4056132"/>
          <a:ext cx="8365106" cy="2461620"/>
        </p:xfrm>
        <a:graphic>
          <a:graphicData uri="http://schemas.openxmlformats.org/drawingml/2006/table">
            <a:tbl>
              <a:tblPr/>
              <a:tblGrid>
                <a:gridCol w="976971">
                  <a:extLst>
                    <a:ext uri="{9D8B030D-6E8A-4147-A177-3AD203B41FA5}">
                      <a16:colId xmlns:a16="http://schemas.microsoft.com/office/drawing/2014/main" val="2139755363"/>
                    </a:ext>
                  </a:extLst>
                </a:gridCol>
                <a:gridCol w="1465457">
                  <a:extLst>
                    <a:ext uri="{9D8B030D-6E8A-4147-A177-3AD203B41FA5}">
                      <a16:colId xmlns:a16="http://schemas.microsoft.com/office/drawing/2014/main" val="518166614"/>
                    </a:ext>
                  </a:extLst>
                </a:gridCol>
                <a:gridCol w="2913855">
                  <a:extLst>
                    <a:ext uri="{9D8B030D-6E8A-4147-A177-3AD203B41FA5}">
                      <a16:colId xmlns:a16="http://schemas.microsoft.com/office/drawing/2014/main" val="2779080113"/>
                    </a:ext>
                  </a:extLst>
                </a:gridCol>
                <a:gridCol w="1844517">
                  <a:extLst>
                    <a:ext uri="{9D8B030D-6E8A-4147-A177-3AD203B41FA5}">
                      <a16:colId xmlns:a16="http://schemas.microsoft.com/office/drawing/2014/main" val="3744089187"/>
                    </a:ext>
                  </a:extLst>
                </a:gridCol>
                <a:gridCol w="1164306">
                  <a:extLst>
                    <a:ext uri="{9D8B030D-6E8A-4147-A177-3AD203B41FA5}">
                      <a16:colId xmlns:a16="http://schemas.microsoft.com/office/drawing/2014/main" val="1965254657"/>
                    </a:ext>
                  </a:extLst>
                </a:gridCol>
              </a:tblGrid>
              <a:tr h="61540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연산자</a:t>
                      </a:r>
                      <a:endParaRPr lang="ko-KR" alt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08552" marR="108552" marT="108552" marB="1085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이름</a:t>
                      </a:r>
                      <a:endParaRPr lang="ko-KR" alt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08552" marR="108552" marT="108552" marB="1085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alt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08552" marR="108552" marT="108552" marB="1085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 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x:1, y:0)</a:t>
                      </a:r>
                      <a:endParaRPr 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1528" marR="61528" marT="61528" marB="6152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결과</a:t>
                      </a:r>
                      <a:endParaRPr lang="ko-KR" alt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61528" marR="61528" marT="61528" marB="6152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923765"/>
                  </a:ext>
                </a:extLst>
              </a:tr>
              <a:tr h="61540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CC00CC"/>
                          </a:solidFill>
                          <a:effectLst/>
                          <a:latin typeface="+mn-ea"/>
                          <a:ea typeface="+mn-ea"/>
                        </a:rPr>
                        <a:t>&amp;&amp;</a:t>
                      </a:r>
                      <a:endParaRPr lang="ko-KR" altLang="en-US" sz="2800" b="1" dirty="0">
                        <a:solidFill>
                          <a:srgbClr val="CC00CC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552" marR="108552" marT="108552" marB="1085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논리 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AND</a:t>
                      </a:r>
                      <a:endParaRPr 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08552" marR="108552" marT="108552" marB="1085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두 조건이 모두 참이면 참</a:t>
                      </a:r>
                      <a:endParaRPr lang="ko-KR" alt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08552" marR="108552" marT="108552" marB="1085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 &amp;&amp; y</a:t>
                      </a:r>
                      <a:endParaRPr 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1528" marR="61528" marT="61528" marB="6152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CC"/>
                          </a:solidFill>
                          <a:effectLst/>
                          <a:latin typeface="+mn-ea"/>
                          <a:ea typeface="+mn-ea"/>
                        </a:rPr>
                        <a:t>0 (false)</a:t>
                      </a:r>
                      <a:endParaRPr lang="en-US" sz="2800" b="1" dirty="0">
                        <a:solidFill>
                          <a:srgbClr val="CC00CC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1528" marR="61528" marT="61528" marB="6152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155202"/>
                  </a:ext>
                </a:extLst>
              </a:tr>
              <a:tr h="61540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CC00CC"/>
                          </a:solidFill>
                          <a:effectLst/>
                          <a:latin typeface="+mn-ea"/>
                          <a:ea typeface="+mn-ea"/>
                        </a:rPr>
                        <a:t>||</a:t>
                      </a:r>
                      <a:endParaRPr lang="ko-KR" altLang="en-US" sz="2800" b="1" dirty="0">
                        <a:solidFill>
                          <a:srgbClr val="CC00CC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552" marR="108552" marT="108552" marB="1085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논리 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</a:t>
                      </a:r>
                      <a:endParaRPr 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08552" marR="108552" marT="108552" marB="1085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둘 중에 하나만 참이면 참</a:t>
                      </a:r>
                      <a:endParaRPr lang="ko-KR" alt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08552" marR="108552" marT="108552" marB="1085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 || y</a:t>
                      </a:r>
                      <a:endParaRPr 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1528" marR="61528" marT="61528" marB="6152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CC"/>
                          </a:solidFill>
                          <a:effectLst/>
                          <a:latin typeface="+mn-ea"/>
                          <a:ea typeface="+mn-ea"/>
                        </a:rPr>
                        <a:t>1 (true)</a:t>
                      </a:r>
                      <a:endParaRPr lang="en-US" sz="2800" b="1" dirty="0">
                        <a:solidFill>
                          <a:srgbClr val="CC00CC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1528" marR="61528" marT="61528" marB="6152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01625"/>
                  </a:ext>
                </a:extLst>
              </a:tr>
              <a:tr h="61540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CC00CC"/>
                          </a:solidFill>
                          <a:effectLst/>
                          <a:latin typeface="+mn-ea"/>
                          <a:ea typeface="+mn-ea"/>
                        </a:rPr>
                        <a:t>!</a:t>
                      </a:r>
                      <a:endParaRPr lang="ko-KR" altLang="en-US" sz="2800" b="1" dirty="0">
                        <a:solidFill>
                          <a:srgbClr val="CC00CC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552" marR="108552" marT="108552" marB="1085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논리 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NOT</a:t>
                      </a:r>
                      <a:endParaRPr 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08552" marR="108552" marT="108552" marB="1085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조건의 참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거짓을 반전</a:t>
                      </a:r>
                      <a:endParaRPr lang="ko-KR" altLang="en-US" sz="2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08552" marR="108552" marT="108552" marB="1085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!x</a:t>
                      </a:r>
                      <a:endParaRPr lang="en-US" sz="2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1528" marR="61528" marT="61528" marB="6152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CC"/>
                          </a:solidFill>
                          <a:effectLst/>
                          <a:latin typeface="+mn-ea"/>
                          <a:ea typeface="+mn-ea"/>
                        </a:rPr>
                        <a:t>0 (false)</a:t>
                      </a:r>
                      <a:endParaRPr lang="en-US" sz="2800" b="1" dirty="0">
                        <a:solidFill>
                          <a:srgbClr val="CC00CC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1528" marR="61528" marT="61528" marB="6152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350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7664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F48C0-E85F-83A7-E655-EA906013E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8F7DC-C618-499E-9F2B-B96B495EE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</a:t>
            </a:r>
            <a:r>
              <a:rPr lang="ko-KR" altLang="en-US" dirty="0"/>
              <a:t>논리 연산자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8A7A15-B3AB-3A51-D38D-6E152F4BF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사용 예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pPr lvl="2"/>
            <a:endParaRPr lang="en-US" altLang="ko-KR" sz="1600" dirty="0"/>
          </a:p>
          <a:p>
            <a:r>
              <a:rPr lang="ko-KR" altLang="en-US" sz="2400" dirty="0"/>
              <a:t>단락 평가 </a:t>
            </a:r>
            <a:r>
              <a:rPr lang="en-US" altLang="ko-KR" sz="2400" dirty="0"/>
              <a:t>AND(&amp;&amp;)</a:t>
            </a:r>
          </a:p>
          <a:p>
            <a:pPr lvl="1"/>
            <a:r>
              <a:rPr lang="en-US" altLang="ko-KR" sz="2000" dirty="0">
                <a:latin typeface="+mn-ea"/>
              </a:rPr>
              <a:t> a != 0 </a:t>
            </a:r>
            <a:r>
              <a:rPr lang="ko-KR" altLang="en-US" sz="2000" dirty="0">
                <a:latin typeface="+mn-ea"/>
              </a:rPr>
              <a:t>이 </a:t>
            </a:r>
            <a:r>
              <a:rPr lang="en-US" altLang="ko-KR" sz="2000" dirty="0">
                <a:solidFill>
                  <a:srgbClr val="CC00CC"/>
                </a:solidFill>
                <a:latin typeface="+mn-ea"/>
              </a:rPr>
              <a:t>false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이면 </a:t>
            </a:r>
            <a:r>
              <a:rPr lang="en-US" altLang="ko-KR" sz="2000" dirty="0">
                <a:latin typeface="+mn-ea"/>
              </a:rPr>
              <a:t>(b / a) &gt; 5 </a:t>
            </a:r>
            <a:r>
              <a:rPr lang="ko-KR" altLang="en-US" sz="2000" dirty="0">
                <a:latin typeface="+mn-ea"/>
              </a:rPr>
              <a:t>를 평가하지 않음</a:t>
            </a:r>
            <a:endParaRPr lang="en-US" altLang="ko-KR" sz="2000" dirty="0">
              <a:latin typeface="+mn-ea"/>
            </a:endParaRPr>
          </a:p>
          <a:p>
            <a:pPr lvl="1"/>
            <a:endParaRPr lang="en-US" altLang="ko-KR" sz="2000" dirty="0">
              <a:latin typeface="+mn-ea"/>
            </a:endParaRPr>
          </a:p>
          <a:p>
            <a:pPr lvl="1"/>
            <a:endParaRPr lang="en-US" altLang="ko-KR" sz="2000" dirty="0">
              <a:latin typeface="+mn-ea"/>
            </a:endParaRPr>
          </a:p>
          <a:p>
            <a:r>
              <a:rPr lang="ko-KR" altLang="en-US" sz="2400" dirty="0"/>
              <a:t>단락 평가 </a:t>
            </a:r>
            <a:r>
              <a:rPr lang="en-US" altLang="ko-KR" sz="2400" dirty="0"/>
              <a:t>OR(||)</a:t>
            </a:r>
          </a:p>
          <a:p>
            <a:pPr lvl="1"/>
            <a:r>
              <a:rPr lang="en-US" altLang="ko-KR" sz="2000" dirty="0">
                <a:latin typeface="+mn-ea"/>
              </a:rPr>
              <a:t> x == 0 </a:t>
            </a:r>
            <a:r>
              <a:rPr lang="ko-KR" altLang="en-US" sz="2000" dirty="0">
                <a:latin typeface="+mn-ea"/>
              </a:rPr>
              <a:t>이 </a:t>
            </a:r>
            <a:r>
              <a:rPr lang="en-US" altLang="ko-KR" sz="2000" dirty="0">
                <a:solidFill>
                  <a:srgbClr val="CC00CC"/>
                </a:solidFill>
                <a:latin typeface="+mn-ea"/>
              </a:rPr>
              <a:t>true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이면 </a:t>
            </a:r>
            <a:r>
              <a:rPr lang="en-US" altLang="ko-KR" sz="2000" dirty="0">
                <a:latin typeface="+mn-ea"/>
              </a:rPr>
              <a:t>(b / a) &gt; 5 </a:t>
            </a:r>
            <a:r>
              <a:rPr lang="ko-KR" altLang="en-US" sz="2000" dirty="0">
                <a:latin typeface="+mn-ea"/>
              </a:rPr>
              <a:t>를 평가하지 않음</a:t>
            </a:r>
            <a:endParaRPr lang="en-US" altLang="ko-KR" sz="2000" dirty="0">
              <a:latin typeface="+mn-ea"/>
            </a:endParaRPr>
          </a:p>
          <a:p>
            <a:endParaRPr lang="en-US" altLang="ko-KR" sz="2400" dirty="0">
              <a:latin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EFDBB8-F1ED-700E-D275-38A590E827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74387-AC2F-2EBE-D8DC-296D43750981}"/>
              </a:ext>
            </a:extLst>
          </p:cNvPr>
          <p:cNvSpPr txBox="1"/>
          <p:nvPr/>
        </p:nvSpPr>
        <p:spPr>
          <a:xfrm>
            <a:off x="680778" y="1196752"/>
            <a:ext cx="7851662" cy="120032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b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r1 = (a &lt;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&amp;&amp; b &gt;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 (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참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r2 = (a &gt;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|| b &gt;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 (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참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r3 = !(a ==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   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 (a == 10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이 참 →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NOT →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거짓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45FD26-737F-ED7D-EA2C-D7A664EA747F}"/>
              </a:ext>
            </a:extLst>
          </p:cNvPr>
          <p:cNvSpPr txBox="1"/>
          <p:nvPr/>
        </p:nvSpPr>
        <p:spPr>
          <a:xfrm>
            <a:off x="680778" y="3717032"/>
            <a:ext cx="5328592" cy="36933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(a !=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&amp;&amp; (b / a) &gt;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AE08E8-3CD2-8F45-4CD3-BDB38A068E1A}"/>
              </a:ext>
            </a:extLst>
          </p:cNvPr>
          <p:cNvSpPr txBox="1"/>
          <p:nvPr/>
        </p:nvSpPr>
        <p:spPr>
          <a:xfrm>
            <a:off x="676681" y="5221649"/>
            <a:ext cx="5328592" cy="36933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(x ==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/ x &gt;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633884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1CB4F-8C9B-276E-73F7-D24E6EBEB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71F91-C456-EC48-3F69-E340DC38F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</a:t>
            </a:r>
            <a:r>
              <a:rPr lang="ko-KR" altLang="en-US" dirty="0"/>
              <a:t>논리 연산자 </a:t>
            </a:r>
            <a:r>
              <a:rPr lang="en-US" altLang="ko-KR" dirty="0"/>
              <a:t>- </a:t>
            </a:r>
            <a:r>
              <a:rPr lang="ko-KR" altLang="en-US" dirty="0"/>
              <a:t>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8101E1-4ED2-C087-EDE3-3FBCCB4D3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우선 순위</a:t>
            </a:r>
            <a:endParaRPr lang="en-US" altLang="ko-KR" sz="2000" dirty="0"/>
          </a:p>
          <a:p>
            <a:pPr lvl="1"/>
            <a:r>
              <a:rPr lang="ko-KR" altLang="en-US" sz="1800" dirty="0">
                <a:solidFill>
                  <a:srgbClr val="CC00FF"/>
                </a:solidFill>
                <a:latin typeface="Consolas" panose="020B0609020204030204" pitchFamily="49" charset="0"/>
              </a:rPr>
              <a:t>해석 순서</a:t>
            </a:r>
            <a:r>
              <a:rPr lang="en-US" altLang="ko-KR" sz="1800" dirty="0">
                <a:solidFill>
                  <a:srgbClr val="CC00FF"/>
                </a:solidFill>
                <a:latin typeface="Consolas" panose="020B0609020204030204" pitchFamily="49" charset="0"/>
              </a:rPr>
              <a:t>: !a </a:t>
            </a:r>
            <a:r>
              <a:rPr lang="en-US" altLang="ko-KR" sz="1800" dirty="0">
                <a:latin typeface="Consolas" panose="020B0609020204030204" pitchFamily="49" charset="0"/>
              </a:rPr>
              <a:t>→</a:t>
            </a:r>
            <a:r>
              <a:rPr lang="en-US" altLang="ko-KR" sz="1800" dirty="0">
                <a:solidFill>
                  <a:srgbClr val="CC00FF"/>
                </a:solidFill>
                <a:latin typeface="Consolas" panose="020B0609020204030204" pitchFamily="49" charset="0"/>
              </a:rPr>
              <a:t> b &amp;&amp; c </a:t>
            </a:r>
            <a:r>
              <a:rPr lang="en-US" altLang="ko-KR" sz="1800" dirty="0">
                <a:latin typeface="Consolas" panose="020B0609020204030204" pitchFamily="49" charset="0"/>
              </a:rPr>
              <a:t>→</a:t>
            </a:r>
            <a:r>
              <a:rPr lang="en-US" altLang="ko-KR" sz="1800" dirty="0">
                <a:solidFill>
                  <a:srgbClr val="CC00FF"/>
                </a:solidFill>
                <a:latin typeface="Consolas" panose="020B0609020204030204" pitchFamily="49" charset="0"/>
              </a:rPr>
              <a:t> !a || (b &amp;&amp; c)</a:t>
            </a:r>
          </a:p>
          <a:p>
            <a:pPr lvl="1"/>
            <a:endParaRPr lang="en-US" altLang="ko-KR" sz="1800" dirty="0">
              <a:latin typeface="Consolas" panose="020B0609020204030204" pitchFamily="49" charset="0"/>
            </a:endParaRPr>
          </a:p>
          <a:p>
            <a:pPr lvl="1"/>
            <a:endParaRPr lang="en-US" altLang="ko-KR" sz="1800" dirty="0">
              <a:latin typeface="Consolas" panose="020B0609020204030204" pitchFamily="49" charset="0"/>
            </a:endParaRPr>
          </a:p>
          <a:p>
            <a:r>
              <a:rPr lang="ko-KR" altLang="en-US" sz="2000" dirty="0">
                <a:latin typeface="Consolas" panose="020B0609020204030204" pitchFamily="49" charset="0"/>
              </a:rPr>
              <a:t>조건 결합</a:t>
            </a:r>
            <a:endParaRPr lang="en-US" altLang="ko-KR" sz="2000" dirty="0">
              <a:latin typeface="Consolas" panose="020B0609020204030204" pitchFamily="49" charset="0"/>
            </a:endParaRPr>
          </a:p>
          <a:p>
            <a:endParaRPr lang="en-US" altLang="ko-KR" sz="2000" dirty="0">
              <a:latin typeface="Consolas" panose="020B0609020204030204" pitchFamily="49" charset="0"/>
            </a:endParaRPr>
          </a:p>
          <a:p>
            <a:endParaRPr lang="en-US" altLang="ko-KR" sz="2000" dirty="0">
              <a:latin typeface="Consolas" panose="020B0609020204030204" pitchFamily="49" charset="0"/>
            </a:endParaRPr>
          </a:p>
          <a:p>
            <a:endParaRPr lang="en-US" altLang="ko-KR" sz="2000" dirty="0">
              <a:latin typeface="Consolas" panose="020B0609020204030204" pitchFamily="49" charset="0"/>
            </a:endParaRPr>
          </a:p>
          <a:p>
            <a:pPr lvl="2"/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ko-KR" altLang="en-US" sz="2000" dirty="0">
                <a:latin typeface="Consolas" panose="020B0609020204030204" pitchFamily="49" charset="0"/>
              </a:rPr>
              <a:t>조건 반전</a:t>
            </a:r>
            <a:endParaRPr lang="en-US" altLang="ko-KR" sz="2000" dirty="0">
              <a:latin typeface="Consolas" panose="020B0609020204030204" pitchFamily="49" charset="0"/>
            </a:endParaRPr>
          </a:p>
          <a:p>
            <a:endParaRPr lang="en-US" altLang="ko-KR" sz="2000" dirty="0">
              <a:latin typeface="Consolas" panose="020B0609020204030204" pitchFamily="49" charset="0"/>
            </a:endParaRPr>
          </a:p>
          <a:p>
            <a:pPr lvl="1"/>
            <a:endParaRPr lang="en-US" altLang="ko-KR" sz="1600" dirty="0">
              <a:latin typeface="Consolas" panose="020B0609020204030204" pitchFamily="49" charset="0"/>
            </a:endParaRPr>
          </a:p>
          <a:p>
            <a:endParaRPr lang="en-US" altLang="ko-KR" sz="2000" dirty="0">
              <a:latin typeface="Consolas" panose="020B0609020204030204" pitchFamily="49" charset="0"/>
            </a:endParaRPr>
          </a:p>
          <a:p>
            <a:pPr lvl="2"/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ko-KR" altLang="en-US" sz="2000" dirty="0">
                <a:latin typeface="Consolas" panose="020B0609020204030204" pitchFamily="49" charset="0"/>
              </a:rPr>
              <a:t>복합조건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4ACA4F-5157-1CF8-049F-F1BC71807E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828418-362D-C04C-1B18-E89663453BA1}"/>
              </a:ext>
            </a:extLst>
          </p:cNvPr>
          <p:cNvSpPr txBox="1"/>
          <p:nvPr/>
        </p:nvSpPr>
        <p:spPr>
          <a:xfrm>
            <a:off x="971600" y="1471936"/>
            <a:ext cx="5544616" cy="40011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pt-BR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 = !a || b &amp;&amp; c;</a:t>
            </a:r>
            <a:endParaRPr lang="ko-KR" alt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31C111-23F5-A76E-2757-5BCA7C4C044E}"/>
              </a:ext>
            </a:extLst>
          </p:cNvPr>
          <p:cNvSpPr txBox="1"/>
          <p:nvPr/>
        </p:nvSpPr>
        <p:spPr>
          <a:xfrm>
            <a:off x="971600" y="2431805"/>
            <a:ext cx="5544616" cy="1015663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(score &gt;=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&amp;&amp; score &lt;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"B </a:t>
            </a:r>
            <a:r>
              <a:rPr lang="ko-KR" altLang="en-US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등급</a:t>
            </a:r>
            <a:r>
              <a:rPr lang="en-US" altLang="ko-KR" sz="20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E4F795-72CF-DDDC-2341-D3B14780BE8F}"/>
              </a:ext>
            </a:extLst>
          </p:cNvPr>
          <p:cNvSpPr txBox="1"/>
          <p:nvPr/>
        </p:nvSpPr>
        <p:spPr>
          <a:xfrm>
            <a:off x="977198" y="4182353"/>
            <a:ext cx="5616624" cy="1015663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20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isFinished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처리 수행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AFF30A-A9DD-E12C-8DB5-50AC4585887F}"/>
              </a:ext>
            </a:extLst>
          </p:cNvPr>
          <p:cNvSpPr txBox="1"/>
          <p:nvPr/>
        </p:nvSpPr>
        <p:spPr>
          <a:xfrm>
            <a:off x="959285" y="5781801"/>
            <a:ext cx="5544616" cy="70788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((x &gt;=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&amp;&amp; x &lt;=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|| x ==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유효 범위 또는 특별 값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-1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20505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777BB-EE1D-4DA9-7747-01990D63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4.6.1 </a:t>
            </a:r>
            <a:r>
              <a:rPr lang="ko-KR" altLang="en-US" b="0" dirty="0"/>
              <a:t>비트 연산자 개요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FD7535-699F-6C21-48A1-8C1D7E7AD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bitwise operator (&amp;, |, ^, ~, &lt;&lt;, &gt;&gt;)</a:t>
            </a:r>
          </a:p>
          <a:p>
            <a:pPr lvl="1"/>
            <a:r>
              <a:rPr lang="ko-KR" altLang="en-US" dirty="0"/>
              <a:t>데이터는 </a:t>
            </a:r>
            <a:r>
              <a:rPr lang="en-US" altLang="ko-KR" dirty="0"/>
              <a:t>byte (1byte = 8 bit) </a:t>
            </a:r>
            <a:r>
              <a:rPr lang="ko-KR" altLang="en-US" dirty="0"/>
              <a:t>단위로 저장</a:t>
            </a:r>
            <a:endParaRPr lang="en-US" altLang="ko-KR" dirty="0"/>
          </a:p>
          <a:p>
            <a:pPr lvl="1"/>
            <a:r>
              <a:rPr lang="en-US" altLang="ko-KR" dirty="0"/>
              <a:t>bit </a:t>
            </a:r>
            <a:r>
              <a:rPr lang="ko-KR" altLang="en-US" dirty="0"/>
              <a:t>값을 직접 조작하는 연산자</a:t>
            </a:r>
          </a:p>
          <a:p>
            <a:pPr lvl="1"/>
            <a:r>
              <a:rPr lang="ko-KR" altLang="en-US" dirty="0"/>
              <a:t>플래그 처리</a:t>
            </a:r>
            <a:r>
              <a:rPr lang="en-US" altLang="ko-KR" dirty="0"/>
              <a:t>, </a:t>
            </a:r>
            <a:r>
              <a:rPr lang="ko-KR" altLang="en-US" dirty="0"/>
              <a:t>하드웨어 제어</a:t>
            </a:r>
            <a:r>
              <a:rPr lang="en-US" altLang="ko-KR" dirty="0"/>
              <a:t>, </a:t>
            </a:r>
            <a:r>
              <a:rPr lang="ko-KR" altLang="en-US" dirty="0"/>
              <a:t>네트워크 등 </a:t>
            </a:r>
            <a:r>
              <a:rPr lang="ko-KR" altLang="en-US" dirty="0" err="1"/>
              <a:t>저수준</a:t>
            </a:r>
            <a:r>
              <a:rPr lang="ko-KR" altLang="en-US" dirty="0"/>
              <a:t> 프로그래밍에서 사용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종류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BEBA65-8F2E-BD3E-78F8-C3ABBC4E07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A027874-745A-3655-75E8-B04EA630C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90076"/>
              </p:ext>
            </p:extLst>
          </p:nvPr>
        </p:nvGraphicFramePr>
        <p:xfrm>
          <a:off x="527333" y="3932042"/>
          <a:ext cx="7920880" cy="2592583"/>
        </p:xfrm>
        <a:graphic>
          <a:graphicData uri="http://schemas.openxmlformats.org/drawingml/2006/table">
            <a:tbl>
              <a:tblPr/>
              <a:tblGrid>
                <a:gridCol w="711207">
                  <a:extLst>
                    <a:ext uri="{9D8B030D-6E8A-4147-A177-3AD203B41FA5}">
                      <a16:colId xmlns:a16="http://schemas.microsoft.com/office/drawing/2014/main" val="247132051"/>
                    </a:ext>
                  </a:extLst>
                </a:gridCol>
                <a:gridCol w="2109324">
                  <a:extLst>
                    <a:ext uri="{9D8B030D-6E8A-4147-A177-3AD203B41FA5}">
                      <a16:colId xmlns:a16="http://schemas.microsoft.com/office/drawing/2014/main" val="2808817706"/>
                    </a:ext>
                  </a:extLst>
                </a:gridCol>
                <a:gridCol w="2422870">
                  <a:extLst>
                    <a:ext uri="{9D8B030D-6E8A-4147-A177-3AD203B41FA5}">
                      <a16:colId xmlns:a16="http://schemas.microsoft.com/office/drawing/2014/main" val="2214944049"/>
                    </a:ext>
                  </a:extLst>
                </a:gridCol>
                <a:gridCol w="1394520">
                  <a:extLst>
                    <a:ext uri="{9D8B030D-6E8A-4147-A177-3AD203B41FA5}">
                      <a16:colId xmlns:a16="http://schemas.microsoft.com/office/drawing/2014/main" val="3415966419"/>
                    </a:ext>
                  </a:extLst>
                </a:gridCol>
                <a:gridCol w="1282959">
                  <a:extLst>
                    <a:ext uri="{9D8B030D-6E8A-4147-A177-3AD203B41FA5}">
                      <a16:colId xmlns:a16="http://schemas.microsoft.com/office/drawing/2014/main" val="2176560539"/>
                    </a:ext>
                  </a:extLst>
                </a:gridCol>
              </a:tblGrid>
              <a:tr h="3703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연산자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이름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예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x:4, y:7)</a:t>
                      </a:r>
                      <a:endParaRPr lang="en-US" sz="2800" b="1" dirty="0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결과</a:t>
                      </a:r>
                      <a:endParaRPr lang="ko-KR" altLang="en-US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441802"/>
                  </a:ext>
                </a:extLst>
              </a:tr>
              <a:tr h="3703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endParaRPr lang="ko-KR" altLang="en-US" sz="28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비트 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AND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연산자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두 비트가 모두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이면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&amp; y</a:t>
                      </a:r>
                      <a:endParaRPr lang="en-US" sz="2800" b="1" dirty="0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373968"/>
                  </a:ext>
                </a:extLst>
              </a:tr>
              <a:tr h="3703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|</a:t>
                      </a:r>
                      <a:endParaRPr lang="ko-KR" altLang="en-US" sz="28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비트 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연산자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두 비트 중 하나라도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이면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| y</a:t>
                      </a:r>
                      <a:endParaRPr lang="en-US" sz="2800" b="1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159040"/>
                  </a:ext>
                </a:extLst>
              </a:tr>
              <a:tr h="3703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^</a:t>
                      </a:r>
                      <a:endParaRPr lang="ko-KR" altLang="en-US" sz="28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비트 </a:t>
                      </a: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XOR 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연산자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두 비트가 서로 다르면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^ y</a:t>
                      </a:r>
                      <a:endParaRPr lang="en-US" sz="2800" b="1" dirty="0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319374"/>
                  </a:ext>
                </a:extLst>
              </a:tr>
              <a:tr h="3703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~</a:t>
                      </a:r>
                      <a:endParaRPr lang="ko-KR" altLang="en-US" sz="28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비트 </a:t>
                      </a: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 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연산자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모든 비트를 반전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~x</a:t>
                      </a:r>
                      <a:endParaRPr lang="en-US" sz="2800" b="1" dirty="0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-5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567712"/>
                  </a:ext>
                </a:extLst>
              </a:tr>
              <a:tr h="3703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&lt;&lt;</a:t>
                      </a:r>
                      <a:endParaRPr lang="ko-KR" altLang="en-US" sz="28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왼쪽 시프트 연산자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비트를 왼쪽으로 이동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&lt;&lt; y</a:t>
                      </a:r>
                      <a:endParaRPr lang="en-US" sz="2800" b="1" dirty="0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512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480429"/>
                  </a:ext>
                </a:extLst>
              </a:tr>
              <a:tr h="3703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&gt;&gt;</a:t>
                      </a:r>
                      <a:endParaRPr lang="ko-KR" altLang="en-US" sz="28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오른쪽 시프트 연산자</a:t>
                      </a:r>
                      <a:endParaRPr lang="ko-KR" altLang="en-US" sz="2800" b="1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비트를 오른쪽으로 이동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 &gt;&gt; y</a:t>
                      </a:r>
                      <a:endParaRPr lang="en-US" sz="2800" b="1" dirty="0"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1144" marR="41144" marT="41144" marB="41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529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329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9136-8BBA-FBE4-7379-FE3EFBC19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EE878-B2F7-135E-CC3F-1BDA3978E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4.6.2 </a:t>
            </a:r>
            <a:r>
              <a:rPr lang="ko-KR" altLang="en-US" b="0" dirty="0"/>
              <a:t>비트 논리 연산자 </a:t>
            </a:r>
            <a:r>
              <a:rPr lang="en-US" altLang="ko-KR" b="0" dirty="0"/>
              <a:t>(&amp; | ^ ~)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715DE5-B55F-F8E3-0C1F-61FA1829C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0,1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대한 비트 논리 계산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D70211-C48A-131B-7C5F-3AEDDFA74E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D50B0D3-1991-F5AA-DCAB-1D424C8C6C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105705"/>
              </p:ext>
            </p:extLst>
          </p:nvPr>
        </p:nvGraphicFramePr>
        <p:xfrm>
          <a:off x="611560" y="1412776"/>
          <a:ext cx="7632000" cy="2952326"/>
        </p:xfrm>
        <a:graphic>
          <a:graphicData uri="http://schemas.openxmlformats.org/drawingml/2006/table">
            <a:tbl>
              <a:tblPr/>
              <a:tblGrid>
                <a:gridCol w="864000">
                  <a:extLst>
                    <a:ext uri="{9D8B030D-6E8A-4147-A177-3AD203B41FA5}">
                      <a16:colId xmlns:a16="http://schemas.microsoft.com/office/drawing/2014/main" val="1821575359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739638652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1762368191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4087268468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254386893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352820055"/>
                    </a:ext>
                  </a:extLst>
                </a:gridCol>
              </a:tblGrid>
              <a:tr h="5758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endParaRPr lang="en-US" sz="3600" b="1" dirty="0">
                        <a:solidFill>
                          <a:srgbClr val="CC000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  <a:endParaRPr lang="en-US" sz="3600" b="1" dirty="0">
                        <a:solidFill>
                          <a:srgbClr val="CC000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x &amp; y</a:t>
                      </a:r>
                      <a:endParaRPr lang="en-US" sz="3600" b="1" dirty="0">
                        <a:solidFill>
                          <a:srgbClr val="CC000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x | y</a:t>
                      </a:r>
                      <a:endParaRPr lang="en-US" sz="3600" b="1" dirty="0">
                        <a:solidFill>
                          <a:srgbClr val="CC000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x ^ y</a:t>
                      </a:r>
                      <a:endParaRPr lang="en-US" sz="3600" b="1" dirty="0">
                        <a:solidFill>
                          <a:srgbClr val="CC000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~x</a:t>
                      </a:r>
                      <a:endParaRPr lang="en-US" sz="3600" b="1" dirty="0">
                        <a:solidFill>
                          <a:srgbClr val="CC000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78811"/>
                  </a:ext>
                </a:extLst>
              </a:tr>
              <a:tr h="594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ko-KR" altLang="en-US" sz="3600" b="1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175949"/>
                  </a:ext>
                </a:extLst>
              </a:tr>
              <a:tr h="594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546217"/>
                  </a:ext>
                </a:extLst>
              </a:tr>
              <a:tr h="594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111260"/>
                  </a:ext>
                </a:extLst>
              </a:tr>
              <a:tr h="594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400" b="1" i="0" u="none" strike="noStrike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ko-KR" altLang="en-US" sz="3600" b="1" dirty="0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54396" marR="54396" marT="54396" marB="54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88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563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0DA92-D32D-7C23-35B8-3D144177B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A9F5EF-1B4E-A5B4-DCAE-9D3D871A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4.6.3 </a:t>
            </a:r>
            <a:r>
              <a:rPr lang="ko-KR" altLang="en-US" b="0" dirty="0"/>
              <a:t>비트 연산자 사용 예제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24C6B3-6510-0737-17E1-64A73CBCC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F954BA-63F4-47DE-74B0-6DD3642EB0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B6D3FA-5407-85C6-6E34-90B89F738809}"/>
              </a:ext>
            </a:extLst>
          </p:cNvPr>
          <p:cNvSpPr txBox="1"/>
          <p:nvPr/>
        </p:nvSpPr>
        <p:spPr>
          <a:xfrm>
            <a:off x="179512" y="764704"/>
            <a:ext cx="87129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altLang="ko-KR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</a:t>
            </a:r>
            <a:r>
              <a:rPr lang="en-US" altLang="ko-KR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0000 0110</a:t>
            </a:r>
            <a:b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 = </a:t>
            </a:r>
            <a:r>
              <a:rPr lang="en-US" altLang="ko-KR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0000 1010</a:t>
            </a:r>
            <a:b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r1 = a &amp; b;   </a:t>
            </a:r>
            <a:r>
              <a:rPr lang="en-US" altLang="ko-KR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0000 0010  (2)</a:t>
            </a:r>
            <a:b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r2 = a | b;   </a:t>
            </a:r>
            <a:r>
              <a:rPr lang="en-US" altLang="ko-KR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0000 1110  (14)</a:t>
            </a:r>
            <a:b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r3 = a ^ b;   </a:t>
            </a:r>
            <a:r>
              <a:rPr lang="en-US" altLang="ko-KR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0000 1100  (12)</a:t>
            </a:r>
            <a:b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b="0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r4 = ~a;</a:t>
            </a:r>
          </a:p>
          <a:p>
            <a:r>
              <a:rPr lang="en-US" altLang="ko-KR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0xFFFFFFF9 1111 1001  (</a:t>
            </a:r>
            <a:r>
              <a:rPr lang="ko-KR" altLang="en-US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비트 반전</a:t>
            </a:r>
            <a:r>
              <a:rPr lang="en-US" altLang="ko-KR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en-US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b="0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r5 = a &lt;&lt; </a:t>
            </a:r>
            <a:r>
              <a:rPr lang="en-US" altLang="ko-KR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</a:t>
            </a:r>
            <a:r>
              <a:rPr lang="en-US" altLang="ko-KR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0000 1100  (12)</a:t>
            </a:r>
            <a:b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r6 = b &gt;&gt; </a:t>
            </a:r>
            <a:r>
              <a:rPr lang="en-US" altLang="ko-KR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</a:t>
            </a:r>
            <a:r>
              <a:rPr lang="en-US" altLang="ko-KR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0000 0101  (5)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4821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731555-0681-09B1-CD08-28DBCE4DA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4.6.3 </a:t>
            </a:r>
            <a:r>
              <a:rPr lang="ko-KR" altLang="en-US" b="0" dirty="0"/>
              <a:t>비트 연산자 사용 예제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7B8EEA-0580-BEBA-7398-58865076B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특정 비트 켜기</a:t>
            </a:r>
            <a:r>
              <a:rPr lang="en-US" altLang="ko-KR" sz="2400" dirty="0"/>
              <a:t>(OR)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특정 비트 끄기</a:t>
            </a:r>
            <a:r>
              <a:rPr lang="en-US" altLang="ko-KR" sz="2400" dirty="0"/>
              <a:t>(AND + NOT)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특정 비트 </a:t>
            </a:r>
            <a:r>
              <a:rPr lang="ko-KR" altLang="en-US" sz="2400" dirty="0" err="1"/>
              <a:t>토글</a:t>
            </a:r>
            <a:r>
              <a:rPr lang="en-US" altLang="ko-KR" sz="2400" dirty="0"/>
              <a:t>(XOR)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특정 비트 검사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5EA253-98CF-D34A-1B0F-68426F406B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C77300-DEDE-CF96-8D70-2047F7B0D984}"/>
              </a:ext>
            </a:extLst>
          </p:cNvPr>
          <p:cNvSpPr txBox="1"/>
          <p:nvPr/>
        </p:nvSpPr>
        <p:spPr>
          <a:xfrm>
            <a:off x="539750" y="1196752"/>
            <a:ext cx="7704855" cy="46166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flags = flags | 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0x04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3</a:t>
            </a:r>
            <a:r>
              <a:rPr lang="ko-KR" altLang="en-US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번째 비트 </a:t>
            </a:r>
            <a:r>
              <a:rPr lang="en-US" altLang="ko-KR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ON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F1EB32-34DF-2FBE-CD97-C7AA58D361B5}"/>
              </a:ext>
            </a:extLst>
          </p:cNvPr>
          <p:cNvSpPr txBox="1"/>
          <p:nvPr/>
        </p:nvSpPr>
        <p:spPr>
          <a:xfrm>
            <a:off x="539750" y="2542219"/>
            <a:ext cx="7704855" cy="46166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flags = flags &amp; ~</a:t>
            </a:r>
            <a:r>
              <a:rPr lang="en-US" altLang="ko-KR" sz="2400" b="1" i="0" u="none" strike="noStrike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0x04</a:t>
            </a:r>
            <a:r>
              <a:rPr lang="en-US" altLang="ko-KR" sz="2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</a:t>
            </a:r>
            <a:r>
              <a:rPr lang="en-US" altLang="ko-KR" sz="2400" b="1" i="1" u="none" strike="noStrike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3</a:t>
            </a:r>
            <a:r>
              <a:rPr lang="ko-KR" altLang="en-US" sz="2400" b="1" i="1" u="none" strike="noStrike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번째 비트 </a:t>
            </a:r>
            <a:r>
              <a:rPr lang="en-US" altLang="ko-KR" sz="2400" b="1" i="1" u="none" strike="noStrike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OFF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DDB15B-88B5-9634-3E77-5C99BE441097}"/>
              </a:ext>
            </a:extLst>
          </p:cNvPr>
          <p:cNvSpPr txBox="1"/>
          <p:nvPr/>
        </p:nvSpPr>
        <p:spPr>
          <a:xfrm>
            <a:off x="539750" y="3833691"/>
            <a:ext cx="7676791" cy="46166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flags = flags ^ 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0x04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3</a:t>
            </a:r>
            <a:r>
              <a:rPr lang="ko-KR" altLang="en-US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번째 비트 반전</a:t>
            </a:r>
            <a:endParaRPr lang="ko-KR" alt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D7AE86-F6D2-11D6-706B-4434A308B709}"/>
              </a:ext>
            </a:extLst>
          </p:cNvPr>
          <p:cNvSpPr txBox="1"/>
          <p:nvPr/>
        </p:nvSpPr>
        <p:spPr>
          <a:xfrm>
            <a:off x="539750" y="5270066"/>
            <a:ext cx="7776666" cy="120032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(flags &amp; 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0x04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3</a:t>
            </a:r>
            <a:r>
              <a:rPr lang="ko-KR" altLang="en-US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번째 비트가 켜져 있음</a:t>
            </a:r>
            <a:br>
              <a:rPr lang="ko-KR" altLang="en-US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63534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CBB65-27E8-21EF-30D6-18634230A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4.6.4 </a:t>
            </a:r>
            <a:r>
              <a:rPr lang="ko-KR" altLang="en-US" b="0" dirty="0"/>
              <a:t>시프트 연산자</a:t>
            </a:r>
            <a:r>
              <a:rPr lang="en-US" altLang="ko-KR" b="0" dirty="0"/>
              <a:t>(shift operator)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3B2EFB-923A-2C66-16E8-EB544DC27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왼쪽 시프트</a:t>
            </a:r>
            <a:r>
              <a:rPr lang="en-US" altLang="ko-KR" dirty="0"/>
              <a:t>(&lt;&lt;:Left shift)</a:t>
            </a:r>
          </a:p>
          <a:p>
            <a:pPr lvl="1"/>
            <a:r>
              <a:rPr lang="ko-KR" altLang="en-US" dirty="0"/>
              <a:t>비트를 왼쪽으로 이동</a:t>
            </a:r>
          </a:p>
          <a:p>
            <a:pPr lvl="1"/>
            <a:r>
              <a:rPr lang="ko-KR" altLang="en-US" dirty="0"/>
              <a:t>오른쪽에는 </a:t>
            </a:r>
            <a:r>
              <a:rPr lang="en-US" altLang="ko-KR" dirty="0"/>
              <a:t>0</a:t>
            </a:r>
            <a:r>
              <a:rPr lang="ko-KR" altLang="en-US" dirty="0"/>
              <a:t>이 </a:t>
            </a:r>
            <a:r>
              <a:rPr lang="ko-KR" altLang="en-US" dirty="0" err="1"/>
              <a:t>채워짐</a:t>
            </a:r>
            <a:endParaRPr lang="ko-KR" altLang="en-US" dirty="0"/>
          </a:p>
          <a:p>
            <a:pPr lvl="1"/>
            <a:r>
              <a:rPr lang="ko-KR" altLang="en-US" dirty="0"/>
              <a:t>결과적으로 </a:t>
            </a:r>
            <a:r>
              <a:rPr lang="en-US" altLang="ko-KR" dirty="0"/>
              <a:t>2</a:t>
            </a:r>
            <a:r>
              <a:rPr lang="ko-KR" altLang="en-US" dirty="0"/>
              <a:t>의 거듭제곱 곱셈 효과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오른쪽 시프트</a:t>
            </a:r>
            <a:r>
              <a:rPr lang="en-US" altLang="ko-KR" dirty="0"/>
              <a:t>(&gt;&gt;:Right shift)</a:t>
            </a:r>
          </a:p>
          <a:p>
            <a:pPr lvl="1"/>
            <a:r>
              <a:rPr lang="en-US" altLang="ko-KR" dirty="0"/>
              <a:t>unsigned/ signed </a:t>
            </a:r>
            <a:r>
              <a:rPr lang="ko-KR" altLang="en-US" dirty="0"/>
              <a:t>에 따라 다름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Unsigned Type Right Shift</a:t>
            </a:r>
          </a:p>
          <a:p>
            <a:pPr lvl="1"/>
            <a:r>
              <a:rPr lang="ko-KR" altLang="en-US" dirty="0"/>
              <a:t>비트를 오른쪽으로 이동</a:t>
            </a:r>
            <a:endParaRPr lang="en-US" altLang="ko-KR" dirty="0"/>
          </a:p>
          <a:p>
            <a:pPr lvl="1"/>
            <a:r>
              <a:rPr lang="en-US" altLang="ko-KR" dirty="0"/>
              <a:t>0</a:t>
            </a:r>
            <a:r>
              <a:rPr lang="ko-KR" altLang="en-US" dirty="0"/>
              <a:t>으로 채움 </a:t>
            </a:r>
            <a:r>
              <a:rPr lang="en-US" altLang="ko-KR" dirty="0"/>
              <a:t>(</a:t>
            </a:r>
            <a:r>
              <a:rPr lang="ko-KR" altLang="en-US" dirty="0"/>
              <a:t>논리 시프트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결과적으로 </a:t>
            </a:r>
            <a:r>
              <a:rPr lang="en-US" altLang="ko-KR" dirty="0"/>
              <a:t>2</a:t>
            </a:r>
            <a:r>
              <a:rPr lang="ko-KR" altLang="en-US" dirty="0"/>
              <a:t>의 거듭제곱 나눗셈 효과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A7E382-4FE2-EA9B-0548-D9C1340024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2E9E09-30A7-236D-D1DB-69775497FE0E}"/>
              </a:ext>
            </a:extLst>
          </p:cNvPr>
          <p:cNvSpPr txBox="1"/>
          <p:nvPr/>
        </p:nvSpPr>
        <p:spPr>
          <a:xfrm>
            <a:off x="5652120" y="1556792"/>
            <a:ext cx="3024336" cy="83099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x &lt;&lt;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x * 2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x &lt;&lt;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x * 4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05B272-1D0D-5018-496B-CBC961478015}"/>
              </a:ext>
            </a:extLst>
          </p:cNvPr>
          <p:cNvSpPr txBox="1"/>
          <p:nvPr/>
        </p:nvSpPr>
        <p:spPr>
          <a:xfrm>
            <a:off x="5652369" y="4725144"/>
            <a:ext cx="3096344" cy="83099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pt-BR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 &gt;&gt; </a:t>
            </a:r>
            <a:r>
              <a:rPr lang="pt-BR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x / 2</a:t>
            </a:r>
            <a:br>
              <a:rPr lang="pt-BR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pt-BR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 &gt;&gt; </a:t>
            </a:r>
            <a:r>
              <a:rPr lang="pt-BR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x / 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3630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0D907-45ED-D50F-FC46-2965FE1D8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21EE2-28B3-5D57-C434-1B63D3BF1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4.6.4 </a:t>
            </a:r>
            <a:r>
              <a:rPr lang="ko-KR" altLang="en-US" b="0" dirty="0"/>
              <a:t>시프트 연산자</a:t>
            </a:r>
            <a:r>
              <a:rPr lang="en-US" altLang="ko-KR" b="0" dirty="0"/>
              <a:t>(shift operator)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57C6D4-5275-DCFD-E492-1365ABF5F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Signed Type Right Shift</a:t>
            </a:r>
          </a:p>
          <a:p>
            <a:pPr lvl="1"/>
            <a:r>
              <a:rPr lang="ko-KR" altLang="en-US" dirty="0"/>
              <a:t>부호 비트 값을 오른쪽으로 이동한 만큼 채움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양수</a:t>
            </a:r>
            <a:endParaRPr lang="en-US" altLang="ko-KR" dirty="0"/>
          </a:p>
          <a:p>
            <a:pPr lvl="2"/>
            <a:r>
              <a:rPr lang="ko-KR" altLang="en-US" dirty="0"/>
              <a:t>부호 비트가 </a:t>
            </a:r>
            <a:r>
              <a:rPr lang="en-US" altLang="ko-KR" dirty="0"/>
              <a:t>0</a:t>
            </a:r>
            <a:r>
              <a:rPr lang="ko-KR" altLang="en-US" dirty="0"/>
              <a:t>이기</a:t>
            </a:r>
            <a:r>
              <a:rPr lang="en-US" altLang="ko-KR" dirty="0"/>
              <a:t> </a:t>
            </a:r>
            <a:r>
              <a:rPr lang="ko-KR" altLang="en-US" dirty="0"/>
              <a:t>때문에 </a:t>
            </a:r>
            <a:r>
              <a:rPr lang="en-US" altLang="ko-KR" dirty="0"/>
              <a:t>2</a:t>
            </a:r>
            <a:r>
              <a:rPr lang="ko-KR" altLang="en-US" dirty="0"/>
              <a:t>의 거듭제곱 나눗셈 효과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음수</a:t>
            </a:r>
            <a:endParaRPr lang="en-US" altLang="ko-KR" dirty="0"/>
          </a:p>
          <a:p>
            <a:pPr lvl="2"/>
            <a:r>
              <a:rPr lang="en-US" altLang="ko-KR" dirty="0"/>
              <a:t>2</a:t>
            </a:r>
            <a:r>
              <a:rPr lang="ko-KR" altLang="en-US" dirty="0"/>
              <a:t>의 거듭제곱 나눗셈 효과이나 값의 시작 시 부호 비트가 </a:t>
            </a:r>
            <a:r>
              <a:rPr lang="en-US" altLang="ko-KR" dirty="0"/>
              <a:t>1</a:t>
            </a:r>
            <a:r>
              <a:rPr lang="ko-KR" altLang="en-US" dirty="0"/>
              <a:t>이기 때문에 </a:t>
            </a:r>
            <a:r>
              <a:rPr lang="en-US" altLang="ko-KR" dirty="0"/>
              <a:t>1</a:t>
            </a:r>
            <a:r>
              <a:rPr lang="ko-KR" altLang="en-US" dirty="0"/>
              <a:t>로 채우게 되어 음수 값을 유지</a:t>
            </a:r>
            <a:endParaRPr lang="en-US" altLang="ko-KR" dirty="0"/>
          </a:p>
          <a:p>
            <a:pPr lvl="2"/>
            <a:r>
              <a:rPr lang="ko-KR" altLang="en-US" dirty="0"/>
              <a:t>모두 </a:t>
            </a:r>
            <a:r>
              <a:rPr lang="en-US" altLang="ko-KR" dirty="0"/>
              <a:t>1</a:t>
            </a:r>
            <a:r>
              <a:rPr lang="ko-KR" altLang="en-US" dirty="0"/>
              <a:t>로 비트가 채워지면 </a:t>
            </a:r>
            <a:r>
              <a:rPr lang="en-US" altLang="ko-KR" dirty="0"/>
              <a:t>-1 </a:t>
            </a:r>
            <a:r>
              <a:rPr lang="ko-KR" altLang="en-US" dirty="0"/>
              <a:t>값이 계속 유지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8ED9DC-3B61-BEA2-4E61-E250458B3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3119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EBC56-0352-F7D4-DE1E-4EAA07BFE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52392-0812-8DE1-2833-08F08B27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4.6.5 </a:t>
            </a:r>
            <a:r>
              <a:rPr lang="ko-KR" altLang="en-US" b="0" dirty="0"/>
              <a:t>비트 연산자 사용 시 주의사항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E79EAE-422D-419E-5FCD-BA56640E0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signed </a:t>
            </a:r>
            <a:r>
              <a:rPr lang="ko-KR" altLang="en-US" dirty="0"/>
              <a:t>형  오른쪽 시프트는 구현 정의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음수 값에 대한 </a:t>
            </a:r>
            <a:r>
              <a:rPr lang="en-US" altLang="ko-KR" dirty="0"/>
              <a:t>NOT(~) </a:t>
            </a:r>
            <a:r>
              <a:rPr lang="ko-KR" altLang="en-US" dirty="0"/>
              <a:t>연산</a:t>
            </a:r>
            <a:endParaRPr lang="en-US" altLang="ko-KR" dirty="0"/>
          </a:p>
          <a:p>
            <a:pPr lvl="1"/>
            <a:r>
              <a:rPr lang="en-US" altLang="ko-KR" dirty="0"/>
              <a:t>"~(-1)</a:t>
            </a:r>
            <a:r>
              <a:rPr lang="ko-KR" altLang="en-US" dirty="0"/>
              <a:t>은 </a:t>
            </a:r>
            <a:r>
              <a:rPr lang="en-US" altLang="ko-KR" dirty="0"/>
              <a:t>1</a:t>
            </a:r>
            <a:r>
              <a:rPr lang="ko-KR" altLang="en-US" dirty="0"/>
              <a:t>인가</a:t>
            </a:r>
            <a:r>
              <a:rPr lang="en-US" altLang="ko-KR" dirty="0"/>
              <a:t>?"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5FD2D2-73D3-272F-4B53-4BF2B6B842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F690A-E48E-77AF-7F4A-29AF64B1C76C}"/>
              </a:ext>
            </a:extLst>
          </p:cNvPr>
          <p:cNvSpPr txBox="1"/>
          <p:nvPr/>
        </p:nvSpPr>
        <p:spPr>
          <a:xfrm>
            <a:off x="395536" y="1526728"/>
            <a:ext cx="7416824" cy="193899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signed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-8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1111 1000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 = r &gt;&gt;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-4: 1111 1100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 = r &gt;&gt;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-2: 1111 1110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 = r &gt;&gt;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-1: 1111 1111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 = r &gt;&gt;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-1: 1111 1111 // -1 </a:t>
            </a:r>
            <a:r>
              <a:rPr lang="ko-KR" altLang="en-US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값 유지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4D59B-2002-5B6E-4359-5983F0514EBB}"/>
              </a:ext>
            </a:extLst>
          </p:cNvPr>
          <p:cNvSpPr txBox="1"/>
          <p:nvPr/>
        </p:nvSpPr>
        <p:spPr>
          <a:xfrm>
            <a:off x="395536" y="4869160"/>
            <a:ext cx="7416824" cy="120032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fr-FR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fr-FR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fr-FR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fr-FR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fr-FR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fr-FR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y = ~x;</a:t>
            </a:r>
            <a:br>
              <a:rPr lang="fr-FR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fr-FR" altLang="ko-KR" sz="2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fr-FR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"%d\n"</a:t>
            </a:r>
            <a:r>
              <a:rPr lang="fr-FR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y);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6860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8A335-62C6-84A2-823B-02E1D90EE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4.6.5 </a:t>
            </a:r>
            <a:r>
              <a:rPr lang="ko-KR" altLang="en-US" b="0" dirty="0"/>
              <a:t>비트 연산자 사용 시 주의사항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7B8CE8-D001-BE70-2128-71A2AEAE0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시프트 </a:t>
            </a:r>
            <a:r>
              <a:rPr lang="en-US" altLang="ko-KR" dirty="0"/>
              <a:t>+ </a:t>
            </a:r>
            <a:r>
              <a:rPr lang="ko-KR" altLang="en-US" dirty="0"/>
              <a:t>마스크에서 발생하는 문제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플래그 검사 오류 예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75BA72-7995-1213-F923-FED590ABA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D9351E-F359-69F7-0DB7-BD2E33295D4C}"/>
              </a:ext>
            </a:extLst>
          </p:cNvPr>
          <p:cNvSpPr txBox="1"/>
          <p:nvPr/>
        </p:nvSpPr>
        <p:spPr>
          <a:xfrm>
            <a:off x="395536" y="1412776"/>
            <a:ext cx="8353177" cy="70788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-5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      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가정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1111 1011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 = (x &gt;&gt;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&amp;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0x01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10F4F7-C7D5-5B6D-C04F-E6A1597C8584}"/>
              </a:ext>
            </a:extLst>
          </p:cNvPr>
          <p:cNvSpPr txBox="1"/>
          <p:nvPr/>
        </p:nvSpPr>
        <p:spPr>
          <a:xfrm>
            <a:off x="395536" y="4475728"/>
            <a:ext cx="8353177" cy="132343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flags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-4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1111 1100 (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음수는 상위 비트가 모두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1)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(flags &amp;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0x08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개발자가 의도하지 않게 여기로 들어올 수 있음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8564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025AE-4C9D-4E17-DCEA-6F1D0F277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4.7.1 </a:t>
            </a:r>
            <a:r>
              <a:rPr lang="ko-KR" altLang="en-US" b="0" dirty="0"/>
              <a:t>복합 대입 연산자의 장점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880C58-1DA8-B3D5-557D-34B5186CF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복합 대입 연산자</a:t>
            </a:r>
            <a:endParaRPr lang="en-US" altLang="ko-KR" dirty="0"/>
          </a:p>
          <a:p>
            <a:pPr lvl="1"/>
            <a:r>
              <a:rPr lang="ko-KR" altLang="en-US" dirty="0"/>
              <a:t>연산</a:t>
            </a:r>
            <a:r>
              <a:rPr lang="en-US" altLang="ko-KR" dirty="0"/>
              <a:t>(</a:t>
            </a:r>
            <a:r>
              <a:rPr lang="ko-KR" altLang="en-US" dirty="0"/>
              <a:t>산술 또는 비트 연산</a:t>
            </a:r>
            <a:r>
              <a:rPr lang="en-US" altLang="ko-KR" dirty="0"/>
              <a:t>)</a:t>
            </a:r>
            <a:r>
              <a:rPr lang="ko-KR" altLang="en-US" dirty="0"/>
              <a:t>과 대입을 하나로 결합</a:t>
            </a:r>
            <a:endParaRPr lang="en-US" altLang="ko-KR" dirty="0"/>
          </a:p>
          <a:p>
            <a:pPr lvl="1"/>
            <a:r>
              <a:rPr lang="ko-KR" altLang="en-US" dirty="0"/>
              <a:t>가독성 향상</a:t>
            </a:r>
            <a:r>
              <a:rPr lang="en-US" altLang="ko-KR" dirty="0"/>
              <a:t>, </a:t>
            </a:r>
            <a:r>
              <a:rPr lang="ko-KR" altLang="en-US" dirty="0"/>
              <a:t>표현식 평가 감소</a:t>
            </a:r>
            <a:r>
              <a:rPr lang="en-US" altLang="ko-KR" dirty="0"/>
              <a:t>, </a:t>
            </a:r>
            <a:r>
              <a:rPr lang="ko-KR" altLang="en-US" dirty="0"/>
              <a:t>효율성</a:t>
            </a:r>
            <a:r>
              <a:rPr lang="en-US" altLang="ko-KR" dirty="0"/>
              <a:t>, </a:t>
            </a:r>
            <a:r>
              <a:rPr lang="ko-KR" altLang="en-US" dirty="0"/>
              <a:t>코드 작성의 안정성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740000-BC06-567A-B004-D13915F6CA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6E0191F-016F-5FDD-D90F-66F9479CB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286728"/>
              </p:ext>
            </p:extLst>
          </p:nvPr>
        </p:nvGraphicFramePr>
        <p:xfrm>
          <a:off x="395537" y="2564904"/>
          <a:ext cx="8353175" cy="3149448"/>
        </p:xfrm>
        <a:graphic>
          <a:graphicData uri="http://schemas.openxmlformats.org/drawingml/2006/table">
            <a:tbl>
              <a:tblPr/>
              <a:tblGrid>
                <a:gridCol w="1008111">
                  <a:extLst>
                    <a:ext uri="{9D8B030D-6E8A-4147-A177-3AD203B41FA5}">
                      <a16:colId xmlns:a16="http://schemas.microsoft.com/office/drawing/2014/main" val="4182144599"/>
                    </a:ext>
                  </a:extLst>
                </a:gridCol>
                <a:gridCol w="3672532">
                  <a:extLst>
                    <a:ext uri="{9D8B030D-6E8A-4147-A177-3AD203B41FA5}">
                      <a16:colId xmlns:a16="http://schemas.microsoft.com/office/drawing/2014/main" val="965040647"/>
                    </a:ext>
                  </a:extLst>
                </a:gridCol>
                <a:gridCol w="3672532">
                  <a:extLst>
                    <a:ext uri="{9D8B030D-6E8A-4147-A177-3AD203B41FA5}">
                      <a16:colId xmlns:a16="http://schemas.microsoft.com/office/drawing/2014/main" val="3132229602"/>
                    </a:ext>
                  </a:extLst>
                </a:gridCol>
              </a:tblGrid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특성</a:t>
                      </a:r>
                      <a:endParaRPr lang="ko-KR" altLang="en-US" sz="1400" b="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일반 대입</a:t>
                      </a:r>
                      <a:endParaRPr lang="ko-KR" altLang="en-US" sz="1400" b="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복합 대입</a:t>
                      </a:r>
                      <a:endParaRPr lang="ko-KR" altLang="en-US" sz="1400" b="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22275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표현식</a:t>
                      </a:r>
                      <a:endParaRPr lang="ko-KR" altLang="en-US" sz="1400" b="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 = a + 5;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altLang="ko-KR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- 1;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 += 5;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-= 1;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815057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가독성</a:t>
                      </a:r>
                      <a:endParaRPr lang="ko-KR" altLang="en-US" sz="1400" b="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playerState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-&gt;Health =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playerState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-&gt;Health - Damage;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playerState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-&gt;Health -= Damage;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478937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표현식 평가</a:t>
                      </a:r>
                      <a:endParaRPr lang="ko-KR" altLang="en-US" sz="1400" b="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A[index()] = A[index()] + 1;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A[index()] += 1;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22544"/>
                  </a:ext>
                </a:extLst>
              </a:tr>
              <a:tr h="35999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어셈블리</a:t>
                      </a:r>
                      <a:endParaRPr lang="ko-KR" altLang="en-US" sz="1400" b="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 = a + 5;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 += 5;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998331"/>
                  </a:ext>
                </a:extLst>
              </a:tr>
              <a:tr h="3599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mov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eax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[a]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add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eax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5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mov [a],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eax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add [a], 5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223836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안정성</a:t>
                      </a:r>
                      <a:endParaRPr lang="ko-KR" altLang="en-US" sz="1400" b="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value = </a:t>
                      </a:r>
                      <a:r>
                        <a:rPr lang="en-US" sz="14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vaule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+ delta;   // 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오타</a:t>
                      </a:r>
                      <a:endParaRPr lang="ko-KR" altLang="en-US" sz="14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value += delta;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76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982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D510F-1955-A40F-EFDA-DD98A149E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C3815-3FC1-D9B4-8CEC-1F0D5D34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4.7.2 </a:t>
            </a:r>
            <a:r>
              <a:rPr lang="ko-KR" altLang="en-US" b="0" dirty="0"/>
              <a:t>복합 대입 연산자 종류</a:t>
            </a:r>
            <a:endParaRPr lang="ko-KR" altLang="en-US" dirty="0"/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B02B70C0-74E6-E8A8-3C7A-EACA447365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3322816"/>
              </p:ext>
            </p:extLst>
          </p:nvPr>
        </p:nvGraphicFramePr>
        <p:xfrm>
          <a:off x="539750" y="836713"/>
          <a:ext cx="7704659" cy="4414520"/>
        </p:xfrm>
        <a:graphic>
          <a:graphicData uri="http://schemas.openxmlformats.org/drawingml/2006/table">
            <a:tbl>
              <a:tblPr/>
              <a:tblGrid>
                <a:gridCol w="1074717">
                  <a:extLst>
                    <a:ext uri="{9D8B030D-6E8A-4147-A177-3AD203B41FA5}">
                      <a16:colId xmlns:a16="http://schemas.microsoft.com/office/drawing/2014/main" val="138459755"/>
                    </a:ext>
                  </a:extLst>
                </a:gridCol>
                <a:gridCol w="862801">
                  <a:extLst>
                    <a:ext uri="{9D8B030D-6E8A-4147-A177-3AD203B41FA5}">
                      <a16:colId xmlns:a16="http://schemas.microsoft.com/office/drawing/2014/main" val="403738055"/>
                    </a:ext>
                  </a:extLst>
                </a:gridCol>
                <a:gridCol w="3103055">
                  <a:extLst>
                    <a:ext uri="{9D8B030D-6E8A-4147-A177-3AD203B41FA5}">
                      <a16:colId xmlns:a16="http://schemas.microsoft.com/office/drawing/2014/main" val="3501374993"/>
                    </a:ext>
                  </a:extLst>
                </a:gridCol>
                <a:gridCol w="1332043">
                  <a:extLst>
                    <a:ext uri="{9D8B030D-6E8A-4147-A177-3AD203B41FA5}">
                      <a16:colId xmlns:a16="http://schemas.microsoft.com/office/drawing/2014/main" val="13545376"/>
                    </a:ext>
                  </a:extLst>
                </a:gridCol>
                <a:gridCol w="1332043">
                  <a:extLst>
                    <a:ext uri="{9D8B030D-6E8A-4147-A177-3AD203B41FA5}">
                      <a16:colId xmlns:a16="http://schemas.microsoft.com/office/drawing/2014/main" val="4157319614"/>
                    </a:ext>
                  </a:extLst>
                </a:gridCol>
              </a:tblGrid>
              <a:tr h="3927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구분</a:t>
                      </a:r>
                      <a:endParaRPr lang="ko-KR" altLang="en-US" sz="3200" b="1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연산자</a:t>
                      </a:r>
                      <a:endParaRPr lang="ko-KR" altLang="en-US" sz="32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altLang="en-US" sz="32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예 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x:8, y:5)</a:t>
                      </a:r>
                      <a:endParaRPr lang="en-US" sz="32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결과</a:t>
                      </a:r>
                      <a:endParaRPr lang="ko-KR" altLang="en-US" sz="32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555742"/>
                  </a:ext>
                </a:extLst>
              </a:tr>
              <a:tr h="392771"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산술</a:t>
                      </a:r>
                      <a:endParaRPr lang="ko-KR" altLang="en-US" sz="32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+=</a:t>
                      </a:r>
                      <a:endParaRPr lang="ko-KR" altLang="en-US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더한 뒤 저장</a:t>
                      </a:r>
                      <a:endParaRPr lang="ko-KR" altLang="en-US" sz="32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x += y</a:t>
                      </a:r>
                      <a:endParaRPr lang="en-US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x: 13</a:t>
                      </a:r>
                      <a:endParaRPr lang="en-US" sz="32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137580"/>
                  </a:ext>
                </a:extLst>
              </a:tr>
              <a:tr h="3927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-=</a:t>
                      </a:r>
                      <a:endParaRPr lang="ko-KR" altLang="en-US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뺀 뒤 저장</a:t>
                      </a:r>
                      <a:endParaRPr lang="ko-KR" altLang="en-US" sz="32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x -= y</a:t>
                      </a:r>
                      <a:endParaRPr lang="en-US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x: 3</a:t>
                      </a:r>
                      <a:endParaRPr lang="en-US" sz="32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326906"/>
                  </a:ext>
                </a:extLst>
              </a:tr>
              <a:tr h="3927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*</a:t>
                      </a:r>
                      <a:r>
                        <a:rPr lang="en-US" altLang="ko-KR" sz="1800" b="1" i="0" u="none" strike="noStrike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=</a:t>
                      </a:r>
                      <a:endParaRPr lang="ko-KR" altLang="en-US" sz="3200" b="1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곱한 뒤 저장</a:t>
                      </a:r>
                      <a:endParaRPr lang="ko-KR" altLang="en-US" sz="32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x *= y</a:t>
                      </a:r>
                      <a:endParaRPr lang="en-US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x: 40</a:t>
                      </a:r>
                      <a:endParaRPr lang="en-US" sz="32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37722"/>
                  </a:ext>
                </a:extLst>
              </a:tr>
              <a:tr h="3927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/=</a:t>
                      </a:r>
                      <a:endParaRPr lang="ko-KR" altLang="en-US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나눈 뒤 저장</a:t>
                      </a:r>
                      <a:endParaRPr lang="ko-KR" altLang="en-US" sz="3200" b="1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x /= y</a:t>
                      </a:r>
                      <a:endParaRPr lang="en-US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x: 1</a:t>
                      </a:r>
                      <a:endParaRPr lang="en-US" sz="32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866142"/>
                  </a:ext>
                </a:extLst>
              </a:tr>
              <a:tr h="3927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%=</a:t>
                      </a:r>
                      <a:endParaRPr lang="ko-KR" altLang="en-US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나머지 저장</a:t>
                      </a:r>
                      <a:endParaRPr lang="ko-KR" altLang="en-US" sz="32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x %= y</a:t>
                      </a:r>
                      <a:endParaRPr lang="en-US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x: 3</a:t>
                      </a:r>
                      <a:endParaRPr lang="en-US" sz="32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168376"/>
                  </a:ext>
                </a:extLst>
              </a:tr>
              <a:tr h="392771"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비트</a:t>
                      </a:r>
                      <a:endParaRPr lang="ko-KR" altLang="en-US" sz="32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1" i="0" u="none" strike="noStrike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&amp;=</a:t>
                      </a:r>
                      <a:endParaRPr lang="ko-KR" altLang="en-US" sz="3200" b="1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비트 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AND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후 저장</a:t>
                      </a:r>
                      <a:endParaRPr lang="ko-KR" altLang="en-US" sz="32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x &amp;= y</a:t>
                      </a:r>
                      <a:endParaRPr lang="en-US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x: 0</a:t>
                      </a:r>
                      <a:endParaRPr lang="en-US" sz="32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830450"/>
                  </a:ext>
                </a:extLst>
              </a:tr>
              <a:tr h="3927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|=</a:t>
                      </a:r>
                      <a:endParaRPr lang="ko-KR" altLang="en-US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비트 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후 저장</a:t>
                      </a:r>
                      <a:endParaRPr lang="ko-KR" altLang="en-US" sz="32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x |= y</a:t>
                      </a:r>
                      <a:endParaRPr lang="en-US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x: 13</a:t>
                      </a:r>
                      <a:endParaRPr lang="en-US" sz="32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286631"/>
                  </a:ext>
                </a:extLst>
              </a:tr>
              <a:tr h="3927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^=</a:t>
                      </a:r>
                      <a:endParaRPr lang="ko-KR" altLang="en-US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비트 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XOR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후 저장</a:t>
                      </a:r>
                      <a:endParaRPr lang="ko-KR" altLang="en-US" sz="32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x ^= y</a:t>
                      </a:r>
                      <a:endParaRPr lang="en-US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x: 13</a:t>
                      </a:r>
                      <a:endParaRPr lang="en-US" sz="3200" b="1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249430"/>
                  </a:ext>
                </a:extLst>
              </a:tr>
              <a:tr h="3927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&lt;&lt;=</a:t>
                      </a:r>
                      <a:endParaRPr lang="ko-KR" altLang="en-US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왼쪽으로 비트 이동 후 저장</a:t>
                      </a:r>
                      <a:endParaRPr lang="ko-KR" altLang="en-US" sz="3200" b="1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x &lt;&lt;= y</a:t>
                      </a:r>
                      <a:endParaRPr lang="en-US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x: 256</a:t>
                      </a:r>
                      <a:endParaRPr lang="en-US" sz="3200" b="1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269447"/>
                  </a:ext>
                </a:extLst>
              </a:tr>
              <a:tr h="3927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&gt;&gt;=</a:t>
                      </a:r>
                      <a:endParaRPr lang="ko-KR" altLang="en-US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오른쪽으로 비트 이동 후 저장</a:t>
                      </a:r>
                      <a:endParaRPr lang="ko-KR" altLang="en-US" sz="3200" b="1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FF"/>
                          </a:solidFill>
                          <a:effectLst/>
                          <a:latin typeface="Arial" panose="020B0604020202020204" pitchFamily="34" charset="0"/>
                        </a:rPr>
                        <a:t>x &gt;&gt;=y</a:t>
                      </a:r>
                      <a:endParaRPr lang="en-US" sz="3200" b="1" dirty="0">
                        <a:solidFill>
                          <a:srgbClr val="CC00FF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x: 0</a:t>
                      </a:r>
                      <a:endParaRPr lang="en-US" sz="3200" b="1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443543"/>
                  </a:ext>
                </a:extLst>
              </a:tr>
            </a:tbl>
          </a:graphicData>
        </a:graphic>
      </p:graphicFrame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177FF7-87A1-A659-9722-8EC2815C79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383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07C606-433C-964F-4481-4D3662E7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4.8 </a:t>
            </a:r>
            <a:r>
              <a:rPr lang="ko-KR" altLang="en-US" b="0" dirty="0"/>
              <a:t>증감 연산자 </a:t>
            </a:r>
            <a:r>
              <a:rPr lang="en-US" altLang="ko-KR" b="0" dirty="0"/>
              <a:t>– </a:t>
            </a:r>
            <a:r>
              <a:rPr lang="ko-KR" altLang="en-US" b="0" dirty="0"/>
              <a:t>전위</a:t>
            </a:r>
            <a:r>
              <a:rPr lang="en-US" altLang="ko-KR" b="0" dirty="0"/>
              <a:t>, </a:t>
            </a:r>
            <a:r>
              <a:rPr lang="ko-KR" altLang="en-US" b="0" dirty="0"/>
              <a:t>후위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516D46-2B6E-7120-DC95-E1FC431A9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Increment / Decrement operator: ++/--</a:t>
            </a:r>
          </a:p>
          <a:p>
            <a:pPr lvl="1"/>
            <a:r>
              <a:rPr lang="ko-KR" altLang="en-US" sz="2000" dirty="0" err="1"/>
              <a:t>단항</a:t>
            </a:r>
            <a:r>
              <a:rPr lang="ko-KR" altLang="en-US" sz="2000" dirty="0"/>
              <a:t> 연산자</a:t>
            </a:r>
            <a:r>
              <a:rPr lang="en-US" altLang="ko-KR" sz="2000" dirty="0"/>
              <a:t>. </a:t>
            </a:r>
            <a:r>
              <a:rPr lang="ko-KR" altLang="en-US" sz="2000" dirty="0"/>
              <a:t>변수의 값 </a:t>
            </a:r>
            <a:r>
              <a:rPr lang="en-US" altLang="ko-KR" sz="2000" dirty="0"/>
              <a:t>1 </a:t>
            </a:r>
            <a:r>
              <a:rPr lang="ko-KR" altLang="en-US" sz="2000" dirty="0"/>
              <a:t>증가</a:t>
            </a:r>
            <a:r>
              <a:rPr lang="en-US" altLang="ko-KR" sz="2000" dirty="0"/>
              <a:t>(++), 1 </a:t>
            </a:r>
            <a:r>
              <a:rPr lang="ko-KR" altLang="en-US" sz="2000" dirty="0"/>
              <a:t>감소</a:t>
            </a:r>
            <a:r>
              <a:rPr lang="en-US" altLang="ko-KR" sz="2000" dirty="0"/>
              <a:t>(--)</a:t>
            </a:r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전위 증감</a:t>
            </a:r>
            <a:endParaRPr lang="en-US" altLang="ko-KR" sz="2400" dirty="0"/>
          </a:p>
          <a:p>
            <a:pPr lvl="1"/>
            <a:r>
              <a:rPr lang="ko-KR" altLang="en-US" sz="2000" dirty="0"/>
              <a:t>변수를 먼저 증가</a:t>
            </a:r>
            <a:r>
              <a:rPr lang="en-US" altLang="ko-KR" sz="2000" dirty="0"/>
              <a:t>(</a:t>
            </a:r>
            <a:r>
              <a:rPr lang="ko-KR" altLang="en-US" sz="2000" dirty="0"/>
              <a:t>또는 감소</a:t>
            </a:r>
            <a:r>
              <a:rPr lang="en-US" altLang="ko-KR" sz="2000" dirty="0"/>
              <a:t>), </a:t>
            </a:r>
            <a:r>
              <a:rPr lang="ko-KR" altLang="en-US" sz="2000" dirty="0"/>
              <a:t>변경된 값이 표현식의 결과</a:t>
            </a:r>
            <a:endParaRPr lang="en-US" altLang="ko-KR" sz="20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후위 증감</a:t>
            </a:r>
            <a:endParaRPr lang="en-US" altLang="ko-KR" sz="2400" dirty="0"/>
          </a:p>
          <a:p>
            <a:pPr lvl="1"/>
            <a:r>
              <a:rPr lang="ko-KR" altLang="en-US" sz="2000" dirty="0"/>
              <a:t>값을 먼저 사용</a:t>
            </a:r>
            <a:r>
              <a:rPr lang="en-US" altLang="ko-KR" sz="2000" dirty="0"/>
              <a:t>, </a:t>
            </a:r>
            <a:r>
              <a:rPr lang="ko-KR" altLang="en-US" sz="2000" dirty="0"/>
              <a:t>표현식 평가 과정 후 변수 값이 증가</a:t>
            </a:r>
            <a:r>
              <a:rPr lang="en-US" altLang="ko-KR" sz="2000" dirty="0"/>
              <a:t>(</a:t>
            </a:r>
            <a:r>
              <a:rPr lang="ko-KR" altLang="en-US" sz="2000" dirty="0"/>
              <a:t>또는 감소</a:t>
            </a:r>
            <a:r>
              <a:rPr lang="en-US" altLang="ko-KR" sz="2000" dirty="0"/>
              <a:t>)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EA8925-F415-260F-D217-29BD9452A0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170F8-973D-9190-757A-D36C303A2EA4}"/>
              </a:ext>
            </a:extLst>
          </p:cNvPr>
          <p:cNvSpPr txBox="1"/>
          <p:nvPr/>
        </p:nvSpPr>
        <p:spPr>
          <a:xfrm>
            <a:off x="971600" y="2865130"/>
            <a:ext cx="7776864" cy="70788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 = ++a;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a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는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이 되고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, b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는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6</a:t>
            </a:r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A9F20F-E771-6A8C-EF93-2A6A3DE8E0A6}"/>
              </a:ext>
            </a:extLst>
          </p:cNvPr>
          <p:cNvSpPr txBox="1"/>
          <p:nvPr/>
        </p:nvSpPr>
        <p:spPr>
          <a:xfrm>
            <a:off x="971600" y="4953362"/>
            <a:ext cx="7704856" cy="70788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 = a++;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b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는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5 →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표현식 종료 후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는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으로 변경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50405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BF56-DA34-ABA1-E275-74BD0F134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E4024-725F-6960-F42B-1D68B0878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4.8.3 </a:t>
            </a:r>
            <a:r>
              <a:rPr lang="ko-KR" altLang="en-US" b="0" dirty="0"/>
              <a:t>포인터와 증감 연산자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55F844-CEAB-3427-FEBA-DACA3E1D0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포인터가 가리키는 자료형의 크기만큼 주소 이동</a:t>
            </a:r>
            <a:endParaRPr lang="en-US" altLang="ko-KR" sz="1600" dirty="0"/>
          </a:p>
          <a:p>
            <a:pPr lvl="1"/>
            <a:r>
              <a:rPr lang="en-US" altLang="ko-KR" sz="1800" dirty="0"/>
              <a:t>int → 4</a:t>
            </a:r>
            <a:r>
              <a:rPr lang="ko-KR" altLang="en-US" sz="1800" dirty="0"/>
              <a:t>바이트 이동</a:t>
            </a:r>
          </a:p>
          <a:p>
            <a:pPr lvl="1"/>
            <a:r>
              <a:rPr lang="en-US" altLang="ko-KR" sz="1800" dirty="0"/>
              <a:t>char → 1</a:t>
            </a:r>
            <a:r>
              <a:rPr lang="ko-KR" altLang="en-US" sz="1800" dirty="0"/>
              <a:t>바이트 이동</a:t>
            </a:r>
          </a:p>
          <a:p>
            <a:pPr lvl="1"/>
            <a:r>
              <a:rPr lang="en-US" altLang="ko-KR" sz="1800" dirty="0"/>
              <a:t>8byte double →8</a:t>
            </a:r>
            <a:r>
              <a:rPr lang="ko-KR" altLang="en-US" sz="1800" dirty="0"/>
              <a:t>바이트 이동</a:t>
            </a:r>
          </a:p>
          <a:p>
            <a:pPr lvl="1"/>
            <a:r>
              <a:rPr lang="ko-KR" altLang="en-US" sz="1800" dirty="0"/>
              <a:t>사용자 정의 구조체   → 사용자 구조체 크기만큼 이동</a:t>
            </a:r>
          </a:p>
          <a:p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7EC7AC-50F3-27A7-38F7-159F1414C0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E9AD6-97D1-94BB-A68F-DA8E1F186905}"/>
              </a:ext>
            </a:extLst>
          </p:cNvPr>
          <p:cNvSpPr txBox="1"/>
          <p:nvPr/>
        </p:nvSpPr>
        <p:spPr>
          <a:xfrm>
            <a:off x="1043608" y="2708920"/>
            <a:ext cx="4392488" cy="375487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주소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주소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1001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1002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1003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┌────┬────┬────┬────┐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│    │    │    │    │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└────┴────┴────┴────┘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↑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p1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++p1 → p1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1001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byte 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이동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p2 (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주소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주소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2004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2008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2012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┌────────┬────────┬────────┬────────┐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│        │        │        │        │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└────────┴────────┴────────┴────────┘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↑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p2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++p2 → p2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2004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byte 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이동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257092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EF229-13CE-7281-EEFD-AB7D9125C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2FCB65-6215-E577-B879-B117A718A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4.8.4 </a:t>
            </a:r>
            <a:r>
              <a:rPr lang="ko-KR" altLang="en-US" b="0" dirty="0"/>
              <a:t>증감 연산자 사용 시 주의사항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8AA74F-1CD2-B086-DA5E-229FF294D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변수에만 사용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dirty="0"/>
          </a:p>
          <a:p>
            <a:r>
              <a:rPr lang="ko-KR" altLang="en-US" sz="2400" dirty="0"/>
              <a:t>하나의 표현식에서 변수 중복 수정 금지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포인터의 이동 크기는 자료형 크기에 따라 결정</a:t>
            </a:r>
            <a:endParaRPr lang="en-US" altLang="ko-KR" sz="2400" dirty="0"/>
          </a:p>
          <a:p>
            <a:r>
              <a:rPr lang="ko-KR" altLang="en-US" sz="2400" dirty="0"/>
              <a:t> </a:t>
            </a:r>
            <a:r>
              <a:rPr lang="en-US" altLang="ko-KR" sz="2400" dirty="0"/>
              <a:t>a++</a:t>
            </a:r>
            <a:r>
              <a:rPr lang="ko-KR" altLang="en-US" sz="2400" dirty="0"/>
              <a:t>과 </a:t>
            </a:r>
            <a:r>
              <a:rPr lang="en-US" altLang="ko-KR" sz="2400" dirty="0"/>
              <a:t>a += 1</a:t>
            </a:r>
            <a:r>
              <a:rPr lang="ko-KR" altLang="en-US" sz="2400" dirty="0"/>
              <a:t>은 목표는 같지만 동작 방식이 다르다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BABD88-049B-F269-1CDA-2F5C667300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7944F5-7E23-6C96-5BFF-02BA52AF7AD6}"/>
              </a:ext>
            </a:extLst>
          </p:cNvPr>
          <p:cNvSpPr txBox="1"/>
          <p:nvPr/>
        </p:nvSpPr>
        <p:spPr>
          <a:xfrm>
            <a:off x="539750" y="1301859"/>
            <a:ext cx="8352730" cy="646331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++;     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오류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 +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)++;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오류</a:t>
            </a:r>
            <a:endParaRPr lang="ko-KR" alt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ECA196-49E2-C619-24AA-9F4B8097A427}"/>
              </a:ext>
            </a:extLst>
          </p:cNvPr>
          <p:cNvSpPr txBox="1"/>
          <p:nvPr/>
        </p:nvSpPr>
        <p:spPr>
          <a:xfrm>
            <a:off x="539750" y="2780928"/>
            <a:ext cx="8352730" cy="147732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예시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정의되지 않은 동작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(Undefined Behavior)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순서점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없이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를 여러 번 수정하고 읽음 → 결과 예측 불가능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!</a:t>
            </a:r>
            <a:b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 = a++ + ++a + a++ + ++a + a++ + ++a;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컴파일러마다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컴파일러 버전에 따라 결과가 달라짐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CE8515-247A-7BE5-A0C2-B6A767A4C6C3}"/>
              </a:ext>
            </a:extLst>
          </p:cNvPr>
          <p:cNvSpPr txBox="1"/>
          <p:nvPr/>
        </p:nvSpPr>
        <p:spPr>
          <a:xfrm>
            <a:off x="539751" y="5517232"/>
            <a:ext cx="8352730" cy="646331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 fontAlgn="base"/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+= 1 : "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계산 후 저장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"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이라는 일반 연산</a:t>
            </a:r>
          </a:p>
          <a:p>
            <a:pPr rtl="0" fontAlgn="base"/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a++ : "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값 사용 후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증가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"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라는 단일 증감 전용 명령</a:t>
            </a:r>
          </a:p>
        </p:txBody>
      </p:sp>
    </p:spTree>
    <p:extLst>
      <p:ext uri="{BB962C8B-B14F-4D97-AF65-F5344CB8AC3E}">
        <p14:creationId xmlns:p14="http://schemas.microsoft.com/office/powerpoint/2010/main" val="2117153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45C7C-B6A5-A00A-F7AA-0AA09B11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47903F-2692-07BC-9C40-265D5F53E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4.8.4 </a:t>
            </a:r>
            <a:r>
              <a:rPr lang="ko-KR" altLang="en-US" b="0" dirty="0"/>
              <a:t>증감 연산자의 동작 비교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D77D4A-AE3E-41AD-CD7E-D7CE61823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1E09EB-74CE-BDF3-869B-D90E369464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F22BFB6-39C3-20FA-B190-9CB51B84E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846616"/>
              </p:ext>
            </p:extLst>
          </p:nvPr>
        </p:nvGraphicFramePr>
        <p:xfrm>
          <a:off x="535550" y="764704"/>
          <a:ext cx="8252243" cy="5256585"/>
        </p:xfrm>
        <a:graphic>
          <a:graphicData uri="http://schemas.openxmlformats.org/drawingml/2006/table">
            <a:tbl>
              <a:tblPr/>
              <a:tblGrid>
                <a:gridCol w="1205384">
                  <a:extLst>
                    <a:ext uri="{9D8B030D-6E8A-4147-A177-3AD203B41FA5}">
                      <a16:colId xmlns:a16="http://schemas.microsoft.com/office/drawing/2014/main" val="139915707"/>
                    </a:ext>
                  </a:extLst>
                </a:gridCol>
                <a:gridCol w="1189930">
                  <a:extLst>
                    <a:ext uri="{9D8B030D-6E8A-4147-A177-3AD203B41FA5}">
                      <a16:colId xmlns:a16="http://schemas.microsoft.com/office/drawing/2014/main" val="605516141"/>
                    </a:ext>
                  </a:extLst>
                </a:gridCol>
                <a:gridCol w="2518943">
                  <a:extLst>
                    <a:ext uri="{9D8B030D-6E8A-4147-A177-3AD203B41FA5}">
                      <a16:colId xmlns:a16="http://schemas.microsoft.com/office/drawing/2014/main" val="986713271"/>
                    </a:ext>
                  </a:extLst>
                </a:gridCol>
                <a:gridCol w="3337986">
                  <a:extLst>
                    <a:ext uri="{9D8B030D-6E8A-4147-A177-3AD203B41FA5}">
                      <a16:colId xmlns:a16="http://schemas.microsoft.com/office/drawing/2014/main" val="391308522"/>
                    </a:ext>
                  </a:extLst>
                </a:gridCol>
              </a:tblGrid>
              <a:tr h="5840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대상</a:t>
                      </a:r>
                      <a:endParaRPr lang="ko-KR" altLang="en-US" sz="2900" b="1" dirty="0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연산 예</a:t>
                      </a:r>
                      <a:endParaRPr lang="ko-KR" altLang="en-US" sz="2900" b="1" dirty="0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altLang="en-US" sz="2900" b="1" dirty="0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결과</a:t>
                      </a:r>
                      <a:endParaRPr lang="ko-KR" altLang="en-US" sz="2900" b="1" dirty="0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45947"/>
                  </a:ext>
                </a:extLst>
              </a:tr>
              <a:tr h="584065"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일반 변수</a:t>
                      </a:r>
                      <a:endParaRPr lang="ko-KR" altLang="en-US" sz="2900" b="1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a++</a:t>
                      </a:r>
                      <a:endParaRPr lang="en-US" sz="29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값 사용 후 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증가</a:t>
                      </a:r>
                      <a:endParaRPr lang="ko-KR" altLang="en-US" sz="2900" b="1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값이 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증가</a:t>
                      </a:r>
                      <a:endParaRPr lang="ko-KR" altLang="en-US" sz="2900" b="1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36463"/>
                  </a:ext>
                </a:extLst>
              </a:tr>
              <a:tr h="5840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++a</a:t>
                      </a:r>
                      <a:endParaRPr lang="en-US" sz="29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먼저 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증가 후 값 사용</a:t>
                      </a:r>
                      <a:endParaRPr lang="ko-KR" altLang="en-US" sz="2900" b="1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값이 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증가</a:t>
                      </a:r>
                      <a:endParaRPr lang="ko-KR" altLang="en-US" sz="2900" b="1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833075"/>
                  </a:ext>
                </a:extLst>
              </a:tr>
              <a:tr h="5840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a--</a:t>
                      </a:r>
                      <a:endParaRPr lang="en-US" sz="29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값 사용 후 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감소</a:t>
                      </a:r>
                      <a:endParaRPr lang="ko-KR" altLang="en-US" sz="2900" b="1" dirty="0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값이 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감소</a:t>
                      </a:r>
                      <a:endParaRPr lang="ko-KR" altLang="en-US" sz="2900" b="1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791861"/>
                  </a:ext>
                </a:extLst>
              </a:tr>
              <a:tr h="5840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--a</a:t>
                      </a:r>
                      <a:endParaRPr lang="en-US" sz="29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먼저 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감소 후 값 사용</a:t>
                      </a:r>
                      <a:endParaRPr lang="ko-KR" altLang="en-US" sz="2900" b="1" dirty="0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값이 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감소</a:t>
                      </a:r>
                      <a:endParaRPr lang="ko-KR" altLang="en-US" sz="2900" b="1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157685"/>
                  </a:ext>
                </a:extLst>
              </a:tr>
              <a:tr h="584065"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포인터</a:t>
                      </a:r>
                      <a:endParaRPr lang="ko-KR" altLang="en-US" sz="2900" b="1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p++</a:t>
                      </a:r>
                      <a:endParaRPr lang="en-US" sz="2900" b="1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다음 요소의 주소로 이동</a:t>
                      </a:r>
                      <a:endParaRPr lang="ko-KR" altLang="en-US" sz="2900" b="1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sizeof(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자료형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만큼 주소 증가</a:t>
                      </a:r>
                      <a:endParaRPr lang="ko-KR" altLang="en-US" sz="2900" b="1" dirty="0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986431"/>
                  </a:ext>
                </a:extLst>
              </a:tr>
              <a:tr h="5840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++p</a:t>
                      </a:r>
                      <a:endParaRPr lang="en-US" sz="29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먼저 다음 요소로 이동</a:t>
                      </a:r>
                      <a:endParaRPr lang="ko-KR" altLang="en-US" sz="2900" b="1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sizeof(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자료형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만큼 주소 증가</a:t>
                      </a:r>
                      <a:endParaRPr lang="ko-KR" altLang="en-US" sz="2900" b="1" dirty="0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631227"/>
                  </a:ext>
                </a:extLst>
              </a:tr>
              <a:tr h="5840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p--</a:t>
                      </a:r>
                      <a:endParaRPr lang="en-US" sz="29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이전 요소의 주소로 이동</a:t>
                      </a:r>
                      <a:endParaRPr lang="ko-KR" altLang="en-US" sz="2900" b="1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sizeof(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자료형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만큼 주소 감소</a:t>
                      </a:r>
                      <a:endParaRPr lang="ko-KR" altLang="en-US" sz="2900" b="1" dirty="0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15071"/>
                  </a:ext>
                </a:extLst>
              </a:tr>
              <a:tr h="5840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--p</a:t>
                      </a:r>
                      <a:endParaRPr lang="en-US" sz="29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먼저 이전 요소로 이동</a:t>
                      </a:r>
                      <a:endParaRPr lang="ko-KR" altLang="en-US" sz="2900" b="1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sizeof(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자료형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만큼 주소 감소</a:t>
                      </a:r>
                      <a:endParaRPr lang="ko-KR" altLang="en-US" sz="2900" b="1" dirty="0">
                        <a:effectLst/>
                      </a:endParaRPr>
                    </a:p>
                  </a:txBody>
                  <a:tcPr marL="58394" marR="58394" marT="58394" marB="5839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14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442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9D2C09-DB51-3FDA-BADD-B414E7FBF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4.9 </a:t>
            </a:r>
            <a:r>
              <a:rPr lang="ko-KR" altLang="en-US" b="0" dirty="0" err="1"/>
              <a:t>단항</a:t>
            </a:r>
            <a:r>
              <a:rPr lang="ko-KR" altLang="en-US" b="0" dirty="0"/>
              <a:t> 연산자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0E1BAD-8465-2264-776A-496F2111B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Unary Operator: +, -, !, ~, &amp;, *</a:t>
            </a:r>
          </a:p>
          <a:p>
            <a:pPr lvl="1"/>
            <a:r>
              <a:rPr lang="ko-KR" altLang="en-US" dirty="0"/>
              <a:t>피연산자가 하나</a:t>
            </a:r>
            <a:endParaRPr lang="en-US" altLang="ko-KR" dirty="0"/>
          </a:p>
          <a:p>
            <a:pPr lvl="1"/>
            <a:r>
              <a:rPr lang="ko-KR" altLang="en-US" dirty="0"/>
              <a:t>부호 변환</a:t>
            </a:r>
            <a:r>
              <a:rPr lang="en-US" altLang="ko-KR" dirty="0"/>
              <a:t>, </a:t>
            </a:r>
            <a:r>
              <a:rPr lang="ko-KR" altLang="en-US" dirty="0"/>
              <a:t>논리 판단</a:t>
            </a:r>
            <a:r>
              <a:rPr lang="en-US" altLang="ko-KR" dirty="0"/>
              <a:t>, </a:t>
            </a:r>
            <a:r>
              <a:rPr lang="ko-KR" altLang="en-US" dirty="0"/>
              <a:t>비트 반전</a:t>
            </a:r>
            <a:r>
              <a:rPr lang="en-US" altLang="ko-KR" dirty="0"/>
              <a:t>, </a:t>
            </a:r>
            <a:r>
              <a:rPr lang="ko-KR" altLang="en-US" dirty="0"/>
              <a:t>주소 접근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B7FD08-4203-4950-79E6-FD0ECBB8A5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74C29E1-A8A8-3864-CA59-640F32094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800073"/>
              </p:ext>
            </p:extLst>
          </p:nvPr>
        </p:nvGraphicFramePr>
        <p:xfrm>
          <a:off x="395536" y="2348880"/>
          <a:ext cx="7992887" cy="4032994"/>
        </p:xfrm>
        <a:graphic>
          <a:graphicData uri="http://schemas.openxmlformats.org/drawingml/2006/table">
            <a:tbl>
              <a:tblPr/>
              <a:tblGrid>
                <a:gridCol w="1011975">
                  <a:extLst>
                    <a:ext uri="{9D8B030D-6E8A-4147-A177-3AD203B41FA5}">
                      <a16:colId xmlns:a16="http://schemas.microsoft.com/office/drawing/2014/main" val="267589608"/>
                    </a:ext>
                  </a:extLst>
                </a:gridCol>
                <a:gridCol w="1595147">
                  <a:extLst>
                    <a:ext uri="{9D8B030D-6E8A-4147-A177-3AD203B41FA5}">
                      <a16:colId xmlns:a16="http://schemas.microsoft.com/office/drawing/2014/main" val="275915531"/>
                    </a:ext>
                  </a:extLst>
                </a:gridCol>
                <a:gridCol w="5385765">
                  <a:extLst>
                    <a:ext uri="{9D8B030D-6E8A-4147-A177-3AD203B41FA5}">
                      <a16:colId xmlns:a16="http://schemas.microsoft.com/office/drawing/2014/main" val="2316062582"/>
                    </a:ext>
                  </a:extLst>
                </a:gridCol>
              </a:tblGrid>
              <a:tr h="5761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연산자</a:t>
                      </a:r>
                      <a:endParaRPr lang="ko-KR" altLang="en-US" sz="3600" b="1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이름</a:t>
                      </a:r>
                      <a:endParaRPr lang="ko-KR" altLang="en-US" sz="36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altLang="en-US" sz="36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27957"/>
                  </a:ext>
                </a:extLst>
              </a:tr>
              <a:tr h="5761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0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  <a:endParaRPr lang="ko-KR" altLang="en-US" sz="3600" b="1" dirty="0">
                        <a:solidFill>
                          <a:srgbClr val="CC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양수 부호</a:t>
                      </a:r>
                      <a:endParaRPr lang="ko-KR" altLang="en-US" sz="36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값 변화 없음</a:t>
                      </a:r>
                      <a:r>
                        <a:rPr lang="en-US" altLang="ko-KR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 </a:t>
                      </a: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표현을 명확히 하기 위해 사용</a:t>
                      </a:r>
                      <a:endParaRPr lang="ko-KR" altLang="en-US" sz="36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251691"/>
                  </a:ext>
                </a:extLst>
              </a:tr>
              <a:tr h="5761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0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endParaRPr lang="ko-KR" altLang="en-US" sz="3600" b="1" dirty="0">
                        <a:solidFill>
                          <a:srgbClr val="CC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음수 부호</a:t>
                      </a:r>
                      <a:endParaRPr lang="ko-KR" altLang="en-US" sz="36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부호 반전</a:t>
                      </a:r>
                      <a:r>
                        <a:rPr lang="en-US" altLang="ko-KR" sz="20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2000" b="1" i="0" u="none" strike="noStrike" dirty="0" err="1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양↔음</a:t>
                      </a:r>
                      <a:r>
                        <a:rPr lang="en-US" altLang="ko-KR" sz="20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36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324341"/>
                  </a:ext>
                </a:extLst>
              </a:tr>
              <a:tr h="5761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0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!</a:t>
                      </a:r>
                      <a:endParaRPr lang="ko-KR" altLang="en-US" sz="3600" b="1" dirty="0">
                        <a:solidFill>
                          <a:srgbClr val="CC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논리 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</a:t>
                      </a:r>
                      <a:endParaRPr lang="en-US" sz="36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20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0 → 1, 0</a:t>
                      </a:r>
                      <a:r>
                        <a:rPr lang="ko-KR" altLang="en-US" sz="20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이 아닌 값 → </a:t>
                      </a:r>
                      <a:r>
                        <a:rPr lang="en-US" altLang="ko-KR" sz="20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ko-KR" altLang="en-US" sz="36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627066"/>
                  </a:ext>
                </a:extLst>
              </a:tr>
              <a:tr h="5761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0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~</a:t>
                      </a:r>
                      <a:endParaRPr lang="ko-KR" altLang="en-US" sz="3600" b="1" dirty="0">
                        <a:solidFill>
                          <a:srgbClr val="CC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비트 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NOT</a:t>
                      </a:r>
                      <a:endParaRPr lang="en-US" sz="36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비트 반전</a:t>
                      </a:r>
                      <a:endParaRPr lang="ko-KR" altLang="en-US" sz="36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931193"/>
                  </a:ext>
                </a:extLst>
              </a:tr>
              <a:tr h="5761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20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endParaRPr lang="ko-KR" altLang="en-US" sz="3600" b="1" dirty="0">
                        <a:solidFill>
                          <a:srgbClr val="CC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주소 연산자</a:t>
                      </a:r>
                      <a:endParaRPr lang="ko-KR" altLang="en-US" sz="36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변수의 메모리 주소</a:t>
                      </a:r>
                      <a:endParaRPr lang="ko-KR" altLang="en-US" sz="36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363541"/>
                  </a:ext>
                </a:extLst>
              </a:tr>
              <a:tr h="5761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CC0000"/>
                          </a:solidFill>
                          <a:effectLst/>
                          <a:latin typeface="Arial" panose="020B0604020202020204" pitchFamily="34" charset="0"/>
                        </a:rPr>
                        <a:t>*</a:t>
                      </a:r>
                      <a:endParaRPr lang="ko-KR" altLang="en-US" sz="3600" b="1" dirty="0">
                        <a:solidFill>
                          <a:srgbClr val="CC0000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간접 참조</a:t>
                      </a:r>
                      <a:endParaRPr lang="ko-KR" altLang="en-US" sz="3600" b="1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CC00CC"/>
                          </a:solidFill>
                          <a:effectLst/>
                          <a:latin typeface="Arial" panose="020B0604020202020204" pitchFamily="34" charset="0"/>
                        </a:rPr>
                        <a:t>포인터가 가리키는 주소에 저장된 값</a:t>
                      </a:r>
                      <a:endParaRPr lang="ko-KR" altLang="en-US" sz="3600" b="1" dirty="0">
                        <a:solidFill>
                          <a:srgbClr val="CC00CC"/>
                        </a:solidFill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159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7198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7CBB0-BF6E-45FA-A191-8130ADD2D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219FD-B194-B989-45DB-3D10B46FF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4.9 </a:t>
            </a:r>
            <a:r>
              <a:rPr lang="ko-KR" altLang="en-US" b="0" dirty="0" err="1"/>
              <a:t>단항</a:t>
            </a:r>
            <a:r>
              <a:rPr lang="ko-KR" altLang="en-US" b="0" dirty="0"/>
              <a:t> 연산자 </a:t>
            </a:r>
            <a:r>
              <a:rPr lang="en-US" altLang="ko-KR" b="0" dirty="0"/>
              <a:t>- </a:t>
            </a:r>
            <a:r>
              <a:rPr lang="ko-KR" altLang="en-US" b="0" dirty="0"/>
              <a:t>주의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15362C-F62D-5D4F-252B-389E8D983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틸드</a:t>
            </a:r>
            <a:r>
              <a:rPr lang="en-US" altLang="ko-KR" dirty="0"/>
              <a:t>(tilde) </a:t>
            </a:r>
            <a:r>
              <a:rPr lang="ko-KR" altLang="en-US" dirty="0"/>
              <a:t>연산자</a:t>
            </a:r>
            <a:endParaRPr lang="en-US" altLang="ko-KR" dirty="0"/>
          </a:p>
          <a:p>
            <a:pPr lvl="1"/>
            <a:r>
              <a:rPr lang="en-US" altLang="ko-KR" dirty="0"/>
              <a:t>unsigned </a:t>
            </a:r>
            <a:r>
              <a:rPr lang="ko-KR" altLang="en-US" dirty="0"/>
              <a:t>정수에서 사용하는 것이 안전</a:t>
            </a:r>
            <a:endParaRPr lang="en-US" altLang="ko-KR" dirty="0"/>
          </a:p>
          <a:p>
            <a:pPr lvl="1"/>
            <a:r>
              <a:rPr lang="en-US" altLang="ko-KR" dirty="0"/>
              <a:t>signed </a:t>
            </a:r>
            <a:r>
              <a:rPr lang="ko-KR" altLang="en-US" dirty="0"/>
              <a:t>정수는 부호 비트까지 함께 반전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sz="2800" dirty="0"/>
          </a:p>
          <a:p>
            <a:r>
              <a:rPr lang="ko-KR" altLang="en-US" dirty="0"/>
              <a:t>논리 </a:t>
            </a:r>
            <a:r>
              <a:rPr lang="en-US" altLang="ko-KR" dirty="0"/>
              <a:t>NOT </a:t>
            </a:r>
            <a:r>
              <a:rPr lang="ko-KR" altLang="en-US" dirty="0"/>
              <a:t>연산자</a:t>
            </a:r>
            <a:r>
              <a:rPr lang="en-US" altLang="ko-KR" dirty="0"/>
              <a:t>(!)</a:t>
            </a:r>
          </a:p>
          <a:p>
            <a:pPr lvl="1"/>
            <a:r>
              <a:rPr lang="ko-KR" altLang="en-US" dirty="0"/>
              <a:t>값이 </a:t>
            </a:r>
            <a:r>
              <a:rPr lang="en-US" altLang="ko-KR" dirty="0"/>
              <a:t>0</a:t>
            </a:r>
            <a:r>
              <a:rPr lang="ko-KR" altLang="en-US" dirty="0"/>
              <a:t>이면 참</a:t>
            </a:r>
            <a:r>
              <a:rPr lang="en-US" altLang="ko-KR" dirty="0"/>
              <a:t>(1), 0</a:t>
            </a:r>
            <a:r>
              <a:rPr lang="ko-KR" altLang="en-US" dirty="0"/>
              <a:t>이 아니면 거짓</a:t>
            </a:r>
            <a:r>
              <a:rPr lang="en-US" altLang="ko-KR" dirty="0"/>
              <a:t>(0)</a:t>
            </a:r>
          </a:p>
          <a:p>
            <a:endParaRPr lang="en-US" altLang="ko-KR" dirty="0"/>
          </a:p>
          <a:p>
            <a:r>
              <a:rPr lang="ko-KR" altLang="en-US" dirty="0" err="1"/>
              <a:t>단항</a:t>
            </a:r>
            <a:r>
              <a:rPr lang="ko-KR" altLang="en-US" dirty="0"/>
              <a:t> 연산자 우선 순위</a:t>
            </a:r>
            <a:endParaRPr lang="en-US" altLang="ko-KR" dirty="0"/>
          </a:p>
          <a:p>
            <a:pPr lvl="1"/>
            <a:r>
              <a:rPr lang="ko-KR" altLang="en-US" dirty="0"/>
              <a:t>우선순위가 높고</a:t>
            </a:r>
            <a:r>
              <a:rPr lang="en-US" altLang="ko-KR" dirty="0"/>
              <a:t>, </a:t>
            </a:r>
            <a:r>
              <a:rPr lang="ko-KR" altLang="en-US" dirty="0"/>
              <a:t>결합 방향은 오른쪽에서 왼쪽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851720-7BD3-11EE-C79E-FD540DBE0E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9136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3C1AC-7845-421F-5432-532A64F2F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4.10 </a:t>
            </a:r>
            <a:r>
              <a:rPr lang="ko-KR" altLang="en-US" b="0" dirty="0"/>
              <a:t>형 변환 연산자 </a:t>
            </a:r>
            <a:r>
              <a:rPr lang="en-US" altLang="ko-KR" b="0" dirty="0"/>
              <a:t>(casting operator)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E1C4A8-3A53-3AA6-28D8-0CABE3661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강제 변환</a:t>
            </a:r>
            <a:r>
              <a:rPr lang="en-US" altLang="ko-KR" dirty="0"/>
              <a:t>(explicit cast)</a:t>
            </a:r>
            <a:r>
              <a:rPr lang="ko-KR" altLang="en-US" dirty="0"/>
              <a:t> </a:t>
            </a:r>
            <a:r>
              <a:rPr lang="ko-KR" altLang="en-US" dirty="0" err="1"/>
              <a:t>단항</a:t>
            </a:r>
            <a:r>
              <a:rPr lang="ko-KR" altLang="en-US" dirty="0"/>
              <a:t> 연산자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E83D81-10CA-E8BB-EEE9-154C021397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1C055A-9852-F07E-803B-1F94A4873A05}"/>
              </a:ext>
            </a:extLst>
          </p:cNvPr>
          <p:cNvSpPr txBox="1"/>
          <p:nvPr/>
        </p:nvSpPr>
        <p:spPr>
          <a:xfrm>
            <a:off x="323528" y="1412776"/>
            <a:ext cx="871296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3.9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 = 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)x;   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실수 → 정수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소수점 이하 버림 →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a = 3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big  =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   = 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)big;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int → char,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상위 비트가 잘릴 수 있음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n1 =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n2 =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r1 = n1 / n2; 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정수 나눗셈 →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2 (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소수점 </a:t>
            </a:r>
            <a:r>
              <a:rPr lang="ko-KR" altLang="en-US" sz="1800" b="1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버려짐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), r1 = 2.0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8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r2 = 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)n1 / n2; 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n1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이 먼저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ko-KR" altLang="en-US" sz="18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로 변환 → 전체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연산이 실수 나눗셈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5927857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1E8188-38BD-ED98-CAFB-30270E8A8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4.11 </a:t>
            </a:r>
            <a:r>
              <a:rPr lang="ko-KR" altLang="en-US" b="0" dirty="0" err="1"/>
              <a:t>삼항</a:t>
            </a:r>
            <a:r>
              <a:rPr lang="ko-KR" altLang="en-US" b="0" dirty="0"/>
              <a:t> 조건 연산자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585045-2C33-C99D-F936-6202666AB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conditional operator, ?:</a:t>
            </a:r>
          </a:p>
          <a:p>
            <a:pPr lvl="1"/>
            <a:r>
              <a:rPr lang="ko-KR" altLang="en-US" dirty="0"/>
              <a:t>조건식의 결과에 따라 두 값 중 하나를 선택</a:t>
            </a:r>
            <a:endParaRPr lang="en-US" altLang="ko-KR" dirty="0"/>
          </a:p>
          <a:p>
            <a:pPr lvl="3"/>
            <a:endParaRPr lang="en-US" altLang="ko-KR" dirty="0"/>
          </a:p>
          <a:p>
            <a:r>
              <a:rPr lang="ko-KR" altLang="en-US" dirty="0"/>
              <a:t>표현식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E841D6-243C-8F0D-9B13-80FC851B42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C04821-4D1D-8408-EE75-6AEBDD40742F}"/>
              </a:ext>
            </a:extLst>
          </p:cNvPr>
          <p:cNvSpPr txBox="1"/>
          <p:nvPr/>
        </p:nvSpPr>
        <p:spPr>
          <a:xfrm>
            <a:off x="611560" y="2780928"/>
            <a:ext cx="6912768" cy="46166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조건식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? 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참일 때 값 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거짓일 때 값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0DAFFE-0EFF-9142-CAA9-CAA98FE1FBCC}"/>
              </a:ext>
            </a:extLst>
          </p:cNvPr>
          <p:cNvSpPr txBox="1"/>
          <p:nvPr/>
        </p:nvSpPr>
        <p:spPr>
          <a:xfrm>
            <a:off x="611560" y="4725144"/>
            <a:ext cx="6912768" cy="120032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 =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max = (a &gt; b) ? a : b; 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max</a:t>
            </a:r>
            <a:r>
              <a:rPr lang="ko-KR" altLang="en-US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는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79059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B3C29-2E10-4A6F-556D-67BDFECC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ED5EB-C2E7-9E53-932A-74270C345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4.12 sizeof </a:t>
            </a:r>
            <a:r>
              <a:rPr lang="ko-KR" altLang="en-US" b="0" dirty="0"/>
              <a:t>연산자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C26F57-0738-DE67-1170-2E2FFA614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자료형 또는 표현식이 차지하는 메모리 크기</a:t>
            </a:r>
            <a:r>
              <a:rPr lang="en-US" altLang="ko-KR" dirty="0"/>
              <a:t>(</a:t>
            </a:r>
            <a:r>
              <a:rPr lang="ko-KR" altLang="en-US" dirty="0"/>
              <a:t>바이트 단위</a:t>
            </a:r>
            <a:r>
              <a:rPr lang="en-US" altLang="ko-KR" dirty="0"/>
              <a:t>)" </a:t>
            </a:r>
            <a:r>
              <a:rPr lang="ko-KR" altLang="en-US" dirty="0"/>
              <a:t>를 구하는 </a:t>
            </a:r>
            <a:r>
              <a:rPr lang="ko-KR" altLang="en-US" dirty="0" err="1"/>
              <a:t>단항</a:t>
            </a:r>
            <a:r>
              <a:rPr lang="ko-KR" altLang="en-US" dirty="0"/>
              <a:t> 연산자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표현식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22D751-6103-D8AE-A1F9-83F8671143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BE5A2F-84E5-F193-3538-638B5421922C}"/>
              </a:ext>
            </a:extLst>
          </p:cNvPr>
          <p:cNvSpPr txBox="1"/>
          <p:nvPr/>
        </p:nvSpPr>
        <p:spPr>
          <a:xfrm>
            <a:off x="611560" y="2852936"/>
            <a:ext cx="6912768" cy="230832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자료형의 크기</a:t>
            </a:r>
            <a:br>
              <a:rPr lang="ko-KR" altLang="en-US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자료형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변수 또는 표현식의 크기</a:t>
            </a:r>
            <a:br>
              <a:rPr lang="ko-KR" altLang="en-US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ko-KR" altLang="en-US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변수</a:t>
            </a:r>
            <a:br>
              <a:rPr lang="ko-KR" altLang="en-US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표현식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2786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83938-1290-EBA6-B23D-E266F4D81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8D99E1-62AA-D9D2-7F9A-C5D81D6AD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4.12 sizeof </a:t>
            </a:r>
            <a:r>
              <a:rPr lang="ko-KR" altLang="en-US" b="0" dirty="0"/>
              <a:t>연산자 </a:t>
            </a:r>
            <a:r>
              <a:rPr lang="en-US" altLang="ko-KR" b="0" dirty="0"/>
              <a:t>- </a:t>
            </a:r>
            <a:r>
              <a:rPr lang="ko-KR" altLang="en-US" b="0" dirty="0"/>
              <a:t>예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D7A735-CCB0-B04F-5F21-98F48956B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EFEC1FF-CCF4-2F17-5913-9D7DE16C03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E93039-2C7F-6ED0-836B-B81E4F9BA515}"/>
              </a:ext>
            </a:extLst>
          </p:cNvPr>
          <p:cNvSpPr txBox="1"/>
          <p:nvPr/>
        </p:nvSpPr>
        <p:spPr>
          <a:xfrm>
            <a:off x="323528" y="836712"/>
            <a:ext cx="85689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"sizeof(char)      =&gt;  %</a:t>
            </a:r>
            <a:r>
              <a:rPr lang="en-US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        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"sizeof(short)     =&gt;  %</a:t>
            </a:r>
            <a:r>
              <a:rPr lang="en-US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      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"sizeof(int)       =&gt;  %</a:t>
            </a:r>
            <a:r>
              <a:rPr lang="en-US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        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"sizeof(long)      =&gt;  %</a:t>
            </a:r>
            <a:r>
              <a:rPr lang="en-US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        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"sizeof(long long) =&gt;  %</a:t>
            </a:r>
            <a:r>
              <a:rPr lang="en-US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  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"sizeof(float)     =&gt;  %</a:t>
            </a:r>
            <a:r>
              <a:rPr lang="en-US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      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"sizeof(double)    =&gt;  %</a:t>
            </a:r>
            <a:r>
              <a:rPr lang="en-US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      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"sizeof('A')       =&gt;  %</a:t>
            </a:r>
            <a:r>
              <a:rPr lang="en-US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    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"sizeof(\"Hello\") =&gt;  %</a:t>
            </a:r>
            <a:r>
              <a:rPr lang="en-US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"sizeof(1+2)       =&gt;  %</a:t>
            </a:r>
            <a:r>
              <a:rPr lang="en-US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  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"sizeof(3 + 2.5)   =&gt;  %</a:t>
            </a:r>
            <a:r>
              <a:rPr lang="en-US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3523885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B6AD2-AE99-C065-9229-E2D1B67D6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8814E6-66AC-3F96-6926-91E3FF881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4.12 sizeof </a:t>
            </a:r>
            <a:r>
              <a:rPr lang="ko-KR" altLang="en-US" b="0" dirty="0"/>
              <a:t>연산자 </a:t>
            </a:r>
            <a:r>
              <a:rPr lang="en-US" altLang="ko-KR" b="0" dirty="0"/>
              <a:t>- </a:t>
            </a:r>
            <a:r>
              <a:rPr lang="ko-KR" altLang="en-US" b="0" dirty="0"/>
              <a:t>예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F6F1C7-BD5F-5AB1-9101-CF817C8BA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B1A061-59B1-32D8-5A48-CFE53613DA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04598-2198-22F2-1614-7649E221DAB6}"/>
              </a:ext>
            </a:extLst>
          </p:cNvPr>
          <p:cNvSpPr txBox="1"/>
          <p:nvPr/>
        </p:nvSpPr>
        <p:spPr>
          <a:xfrm>
            <a:off x="226998" y="3394735"/>
            <a:ext cx="866548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 a      =&gt; %</a:t>
            </a:r>
            <a:r>
              <a:rPr lang="en-US" altLang="ko-KR" sz="1600" b="0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a);       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변수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의 크기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"sizeof(d)     =&gt; %</a:t>
            </a:r>
            <a:r>
              <a:rPr lang="en-US" altLang="ko-KR" sz="1600" b="0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(d));      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double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변수 크기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"sizeof(b + c) =&gt; %</a:t>
            </a:r>
            <a:r>
              <a:rPr lang="en-US" altLang="ko-KR" sz="1600" b="0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(b + c));  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short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연산은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로 승격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"sizeof(a + 1) =&gt; %</a:t>
            </a:r>
            <a:r>
              <a:rPr lang="en-US" altLang="ko-KR" sz="1600" b="0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 + 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  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표현식의 결과 자료형 크기</a:t>
            </a:r>
            <a:endParaRPr lang="ko-KR" altLang="en-US" sz="1600" b="0" dirty="0">
              <a:effectLst/>
            </a:endParaRPr>
          </a:p>
          <a:p>
            <a:pPr>
              <a:buNone/>
            </a:pP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"sizeof(a == b)=&gt; %</a:t>
            </a:r>
            <a:r>
              <a:rPr lang="en-US" altLang="ko-KR" sz="1600" b="0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(a == b)); 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관계 연산 결과는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int</a:t>
            </a:r>
            <a:b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</a:t>
            </a:r>
            <a:r>
              <a:rPr lang="en-US" altLang="ko-KR" sz="1600" b="0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)   =&gt; %</a:t>
            </a:r>
            <a:r>
              <a:rPr lang="en-US" altLang="ko-KR" sz="1600" b="0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    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배열 전체 크기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</a:t>
            </a:r>
            <a:r>
              <a:rPr lang="en-US" altLang="ko-KR" sz="1600" b="0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[0])=&gt; %</a:t>
            </a:r>
            <a:r>
              <a:rPr lang="en-US" altLang="ko-KR" sz="1600" b="0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])); 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배열 요소 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개의 크기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"sizeof(p)     =&gt; %</a:t>
            </a:r>
            <a:r>
              <a:rPr lang="en-US" altLang="ko-KR" sz="1600" b="0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(p));      </a:t>
            </a: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포인터의 크기</a:t>
            </a:r>
            <a:br>
              <a:rPr lang="ko-KR" altLang="en-US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"sizeof(*p)    =&gt; %</a:t>
            </a:r>
            <a:r>
              <a:rPr lang="en-US" altLang="ko-KR" sz="1600" b="0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(*p));     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p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가 가리키는 자료형의 크기</a:t>
            </a:r>
            <a:br>
              <a:rPr lang="ko-KR" altLang="en-US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"array elements =&gt; %</a:t>
            </a:r>
            <a:r>
              <a:rPr lang="en-US" altLang="ko-KR" sz="1600" b="0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altLang="ko-KR" sz="16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/ </a:t>
            </a:r>
            <a:r>
              <a:rPr lang="en-US" altLang="ko-KR" sz="16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]));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배열 길이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B4C5AC-3E60-5748-EAD6-138E1F2BCECB}"/>
              </a:ext>
            </a:extLst>
          </p:cNvPr>
          <p:cNvSpPr txBox="1"/>
          <p:nvPr/>
        </p:nvSpPr>
        <p:spPr>
          <a:xfrm>
            <a:off x="226998" y="1124744"/>
            <a:ext cx="866548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a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b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c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d =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20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]={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 = 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altLang="ko-KR" sz="20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배열 </a:t>
            </a:r>
            <a:r>
              <a:rPr lang="en-US" altLang="ko-KR" sz="2000" b="0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의 주소를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char*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포인터로 저장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79294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0E4401-0ACA-635C-5237-C9DBAB381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4.13 </a:t>
            </a:r>
            <a:r>
              <a:rPr lang="ko-KR" altLang="en-US" b="0" dirty="0"/>
              <a:t>함수 호출 연산자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F5BAFD-FA9E-0192-E99C-636A81C81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function call operator, ( )</a:t>
            </a:r>
          </a:p>
          <a:p>
            <a:pPr lvl="1"/>
            <a:r>
              <a:rPr lang="ko-KR" altLang="en-US" dirty="0"/>
              <a:t>함수 이름 뒤 괄호 </a:t>
            </a:r>
            <a:r>
              <a:rPr lang="en-US" altLang="ko-KR" dirty="0"/>
              <a:t>( )</a:t>
            </a:r>
            <a:r>
              <a:rPr lang="ko-KR" altLang="en-US" dirty="0"/>
              <a:t>를 붙여 함수를 실행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표현식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52F902-F144-A5B6-586C-91B54F56AA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77D18A-0CCF-6EF0-8535-98A248B8D719}"/>
              </a:ext>
            </a:extLst>
          </p:cNvPr>
          <p:cNvSpPr txBox="1"/>
          <p:nvPr/>
        </p:nvSpPr>
        <p:spPr>
          <a:xfrm>
            <a:off x="545144" y="2751311"/>
            <a:ext cx="5467016" cy="46166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함수이름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인자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인자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...)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C178A-E905-2328-A0B4-4272E59B8286}"/>
              </a:ext>
            </a:extLst>
          </p:cNvPr>
          <p:cNvSpPr txBox="1"/>
          <p:nvPr/>
        </p:nvSpPr>
        <p:spPr>
          <a:xfrm>
            <a:off x="539750" y="4221088"/>
            <a:ext cx="7416626" cy="163121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sum(int, int)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함수의 주소를 </a:t>
            </a:r>
            <a:r>
              <a:rPr lang="en-US" altLang="ko-KR" sz="2000" b="0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에 저장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altLang="ko-KR" sz="20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= sum;</a:t>
            </a: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sz="2000" b="0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는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sum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함수의 주소이므로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호출 방식은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과 동일</a:t>
            </a:r>
            <a:b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 </a:t>
            </a:r>
            <a:r>
              <a:rPr lang="en-US" altLang="ko-KR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sum(3, 4)</a:t>
            </a:r>
            <a:r>
              <a:rPr lang="ko-KR" altLang="en-US" sz="20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와 같음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656581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F5B8B-F234-6B6C-6BE9-D9215C8ED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4.14 </a:t>
            </a:r>
            <a:r>
              <a:rPr lang="ko-KR" altLang="en-US" b="0" dirty="0"/>
              <a:t>배열 인덱스 연산자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916956-F0EC-E2A1-8516-A48647C98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array subscript operator, [ ]</a:t>
            </a:r>
          </a:p>
          <a:p>
            <a:pPr lvl="1"/>
            <a:r>
              <a:rPr lang="ko-KR" altLang="en-US" dirty="0"/>
              <a:t>배열의 특정 요소</a:t>
            </a:r>
            <a:r>
              <a:rPr lang="en-US" altLang="ko-KR" dirty="0"/>
              <a:t>(element) </a:t>
            </a:r>
            <a:r>
              <a:rPr lang="ko-KR" altLang="en-US" dirty="0"/>
              <a:t>접근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07CE54-384B-D154-24A5-DC1E57C068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5C915E-CDAD-EF53-8304-A8C47C814D8C}"/>
              </a:ext>
            </a:extLst>
          </p:cNvPr>
          <p:cNvSpPr txBox="1"/>
          <p:nvPr/>
        </p:nvSpPr>
        <p:spPr>
          <a:xfrm>
            <a:off x="683568" y="2038237"/>
            <a:ext cx="7560840" cy="83099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v = </a:t>
            </a:r>
            <a:r>
              <a:rPr lang="en-US" altLang="ko-KR" sz="24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   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40, *(</a:t>
            </a:r>
            <a:r>
              <a:rPr lang="en-US" altLang="ko-KR" sz="2400" b="0" i="1" u="none" strike="noStrike" dirty="0" err="1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sz="24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+ 3)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09461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FD223-F938-A3DA-0DB0-7B9274D6F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9749C-F8F9-5113-9EE1-23575570A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4.15 </a:t>
            </a:r>
            <a:r>
              <a:rPr lang="ko-KR" altLang="en-US" b="0" dirty="0"/>
              <a:t>구조체 멤버 접근 연산자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9A9AD4-8496-FD2E-4077-E80AF4F93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member access operator, . , -&gt;</a:t>
            </a:r>
          </a:p>
          <a:p>
            <a:pPr lvl="1"/>
            <a:r>
              <a:rPr lang="ko-KR" altLang="en-US" sz="2000" dirty="0"/>
              <a:t>구조체 멤버 접근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점 연산자 </a:t>
            </a:r>
            <a:r>
              <a:rPr lang="en-US" altLang="ko-KR" sz="2400" dirty="0"/>
              <a:t>(dot operator, .)</a:t>
            </a:r>
          </a:p>
          <a:p>
            <a:pPr lvl="1"/>
            <a:r>
              <a:rPr lang="ko-KR" altLang="en-US" sz="2000" dirty="0"/>
              <a:t>구조체 변수를 통해 멤버에 접근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화살표 연산자 </a:t>
            </a:r>
            <a:r>
              <a:rPr lang="en-US" altLang="ko-KR" sz="2400" dirty="0"/>
              <a:t>(arrow operator, -&gt;)</a:t>
            </a:r>
          </a:p>
          <a:p>
            <a:pPr lvl="1"/>
            <a:r>
              <a:rPr lang="ko-KR" altLang="en-US" sz="2000" dirty="0"/>
              <a:t>구조체 포인터를 통해 멤버에 접근</a:t>
            </a:r>
            <a:endParaRPr lang="en-US" altLang="ko-KR" sz="2000" dirty="0"/>
          </a:p>
          <a:p>
            <a:pPr lvl="1"/>
            <a:r>
              <a:rPr lang="en-US" altLang="ko-KR" sz="2000" dirty="0" err="1"/>
              <a:t>ptr</a:t>
            </a:r>
            <a:r>
              <a:rPr lang="en-US" altLang="ko-KR" sz="2000" dirty="0"/>
              <a:t>-&gt;m</a:t>
            </a:r>
            <a:r>
              <a:rPr lang="ko-KR" altLang="en-US" sz="2000" dirty="0"/>
              <a:t>은 </a:t>
            </a:r>
            <a:r>
              <a:rPr lang="en-US" altLang="ko-KR" sz="2000" dirty="0"/>
              <a:t>(*</a:t>
            </a:r>
            <a:r>
              <a:rPr lang="en-US" altLang="ko-KR" sz="2000" dirty="0" err="1"/>
              <a:t>ptr</a:t>
            </a:r>
            <a:r>
              <a:rPr lang="en-US" altLang="ko-KR" sz="2000" dirty="0"/>
              <a:t>).m</a:t>
            </a:r>
            <a:r>
              <a:rPr lang="ko-KR" altLang="en-US" sz="2000" dirty="0"/>
              <a:t>과 동일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F817A0-E2FF-F097-0A0A-96B92AE4BE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9D809C-0C39-CA17-52F0-A98F1396E089}"/>
              </a:ext>
            </a:extLst>
          </p:cNvPr>
          <p:cNvSpPr txBox="1"/>
          <p:nvPr/>
        </p:nvSpPr>
        <p:spPr>
          <a:xfrm>
            <a:off x="899592" y="1549280"/>
            <a:ext cx="2227198" cy="40011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구조체변수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멤버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98D3BF-3BAD-96E8-96F6-1A705C279347}"/>
              </a:ext>
            </a:extLst>
          </p:cNvPr>
          <p:cNvSpPr txBox="1"/>
          <p:nvPr/>
        </p:nvSpPr>
        <p:spPr>
          <a:xfrm>
            <a:off x="899592" y="3100555"/>
            <a:ext cx="4146454" cy="92333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x, y; };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altLang="ko-KR" sz="18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p.x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10</a:t>
            </a:r>
            <a:endParaRPr lang="ko-KR" alt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11878E-892D-4B28-8A11-EB9F928D648B}"/>
              </a:ext>
            </a:extLst>
          </p:cNvPr>
          <p:cNvSpPr txBox="1"/>
          <p:nvPr/>
        </p:nvSpPr>
        <p:spPr>
          <a:xfrm>
            <a:off x="3138342" y="1549280"/>
            <a:ext cx="1907704" cy="40011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포인터</a:t>
            </a:r>
            <a:r>
              <a:rPr lang="en-US" altLang="ko-KR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ko-KR" altLang="en-US" sz="20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멤버</a:t>
            </a:r>
            <a:endParaRPr lang="ko-KR" alt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E2C8B3-C4DB-6AA8-99BA-A9CDEBEF9CE4}"/>
              </a:ext>
            </a:extLst>
          </p:cNvPr>
          <p:cNvSpPr txBox="1"/>
          <p:nvPr/>
        </p:nvSpPr>
        <p:spPr>
          <a:xfrm>
            <a:off x="899592" y="5373216"/>
            <a:ext cx="4146454" cy="92333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pp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altLang="ko-KR" sz="18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 = pp-&gt;y;   </a:t>
            </a:r>
            <a:r>
              <a:rPr lang="en-US" altLang="ko-KR" sz="1800" b="0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20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2488615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5756B-637C-128B-1F60-2D7608DB9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5D4784-298E-6700-B113-0E350E872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F57A09-771E-4362-7F62-63076652F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600" dirty="0"/>
              <a:t>연산자</a:t>
            </a:r>
            <a:endParaRPr lang="en-US" altLang="ko-KR" sz="1600" dirty="0"/>
          </a:p>
          <a:p>
            <a:pPr lvl="1"/>
            <a:r>
              <a:rPr lang="ko-KR" altLang="en-US" sz="1200" dirty="0"/>
              <a:t>값의 계산</a:t>
            </a:r>
            <a:r>
              <a:rPr lang="en-US" altLang="ko-KR" sz="1200" dirty="0"/>
              <a:t>, </a:t>
            </a:r>
            <a:r>
              <a:rPr lang="ko-KR" altLang="en-US" sz="1200" dirty="0"/>
              <a:t>비교</a:t>
            </a:r>
            <a:r>
              <a:rPr lang="en-US" altLang="ko-KR" sz="1200" dirty="0"/>
              <a:t>, </a:t>
            </a:r>
            <a:r>
              <a:rPr lang="ko-KR" altLang="en-US" sz="1200" dirty="0"/>
              <a:t>논리 판단</a:t>
            </a:r>
            <a:r>
              <a:rPr lang="en-US" altLang="ko-KR" sz="1200" dirty="0"/>
              <a:t>, </a:t>
            </a:r>
            <a:r>
              <a:rPr lang="ko-KR" altLang="en-US" sz="1200" dirty="0"/>
              <a:t>대입을 표현하는 문법적 기호</a:t>
            </a:r>
            <a:endParaRPr lang="en-US" altLang="ko-KR" sz="1200" dirty="0"/>
          </a:p>
          <a:p>
            <a:r>
              <a:rPr lang="ko-KR" altLang="en-US" sz="1600" dirty="0"/>
              <a:t>대입 연산자</a:t>
            </a:r>
            <a:r>
              <a:rPr lang="en-US" altLang="ko-KR" sz="1600" dirty="0"/>
              <a:t>(=)</a:t>
            </a:r>
          </a:p>
          <a:p>
            <a:pPr lvl="1"/>
            <a:r>
              <a:rPr lang="ko-KR" altLang="en-US" sz="1200" dirty="0"/>
              <a:t>오른쪽 표현식의 결과를 왼쪽 변수에 저장</a:t>
            </a:r>
            <a:endParaRPr lang="en-US" altLang="ko-KR" sz="1200" dirty="0"/>
          </a:p>
          <a:p>
            <a:pPr lvl="1"/>
            <a:r>
              <a:rPr lang="ko-KR" altLang="en-US" sz="1200" dirty="0"/>
              <a:t>값의 형태는 항상 왼쪽 변수의 자료형에 의해 결정</a:t>
            </a:r>
            <a:endParaRPr lang="en-US" altLang="ko-KR" sz="1200" dirty="0"/>
          </a:p>
          <a:p>
            <a:r>
              <a:rPr lang="ko-KR" altLang="en-US" sz="1600" dirty="0"/>
              <a:t>쉼표</a:t>
            </a:r>
            <a:r>
              <a:rPr lang="en-US" altLang="ko-KR" sz="1600" dirty="0"/>
              <a:t>(,)</a:t>
            </a:r>
            <a:r>
              <a:rPr lang="ko-KR" altLang="en-US" sz="1600" dirty="0"/>
              <a:t> 연산자</a:t>
            </a:r>
            <a:endParaRPr lang="en-US" altLang="ko-KR" sz="1600" dirty="0"/>
          </a:p>
          <a:p>
            <a:pPr lvl="1"/>
            <a:r>
              <a:rPr lang="ko-KR" altLang="en-US" sz="1200" dirty="0"/>
              <a:t>여러 표현식을 왼쪽에서 오른쪽 순서로 평가</a:t>
            </a:r>
            <a:r>
              <a:rPr lang="en-US" altLang="ko-KR" sz="1200" dirty="0"/>
              <a:t>, </a:t>
            </a:r>
            <a:r>
              <a:rPr lang="ko-KR" altLang="en-US" sz="1200" dirty="0"/>
              <a:t>마지막 표현식의 결과 반환</a:t>
            </a:r>
            <a:endParaRPr lang="en-US" altLang="ko-KR" sz="1200" dirty="0"/>
          </a:p>
          <a:p>
            <a:r>
              <a:rPr lang="ko-KR" altLang="en-US" sz="1600" dirty="0"/>
              <a:t>산술 연산자</a:t>
            </a:r>
            <a:endParaRPr lang="en-US" altLang="ko-KR" sz="1600" dirty="0"/>
          </a:p>
          <a:p>
            <a:pPr lvl="1"/>
            <a:r>
              <a:rPr lang="ko-KR" altLang="en-US" sz="1200" dirty="0"/>
              <a:t>정수와 실수 계산에 사용</a:t>
            </a:r>
            <a:endParaRPr lang="en-US" altLang="ko-KR" sz="1200" dirty="0"/>
          </a:p>
          <a:p>
            <a:pPr lvl="1"/>
            <a:r>
              <a:rPr lang="ko-KR" altLang="en-US" sz="1200" dirty="0"/>
              <a:t>정수 나눗셈은 소수점 이하가 버려지며</a:t>
            </a:r>
            <a:r>
              <a:rPr lang="en-US" altLang="ko-KR" sz="1200" dirty="0"/>
              <a:t>, </a:t>
            </a:r>
            <a:r>
              <a:rPr lang="ko-KR" altLang="en-US" sz="1200" dirty="0"/>
              <a:t>모듈로</a:t>
            </a:r>
            <a:r>
              <a:rPr lang="en-US" altLang="ko-KR" sz="1200" dirty="0"/>
              <a:t>(%)</a:t>
            </a:r>
            <a:r>
              <a:rPr lang="ko-KR" altLang="en-US" sz="1200" dirty="0"/>
              <a:t>는 정수에서만 사용된다</a:t>
            </a:r>
            <a:r>
              <a:rPr lang="en-US" altLang="ko-KR" sz="1200" dirty="0"/>
              <a:t>.</a:t>
            </a:r>
          </a:p>
          <a:p>
            <a:r>
              <a:rPr lang="ko-KR" altLang="en-US" sz="1600" dirty="0"/>
              <a:t>비트 연산자</a:t>
            </a:r>
            <a:endParaRPr lang="en-US" altLang="ko-KR" sz="1600" dirty="0"/>
          </a:p>
          <a:p>
            <a:pPr lvl="1"/>
            <a:r>
              <a:rPr lang="ko-KR" altLang="en-US" sz="1200" dirty="0"/>
              <a:t>비트 단위 연산 수행</a:t>
            </a:r>
            <a:r>
              <a:rPr lang="en-US" altLang="ko-KR" sz="1200" dirty="0"/>
              <a:t>. </a:t>
            </a:r>
            <a:r>
              <a:rPr lang="ko-KR" altLang="en-US" sz="1200" dirty="0"/>
              <a:t>플래그 처리와 마스크 연산에 사용</a:t>
            </a:r>
            <a:endParaRPr lang="en-US" altLang="ko-KR" sz="1600" dirty="0"/>
          </a:p>
          <a:p>
            <a:r>
              <a:rPr lang="ko-KR" altLang="en-US" sz="1600" dirty="0"/>
              <a:t>복합 대입 연산자</a:t>
            </a:r>
            <a:endParaRPr lang="en-US" altLang="ko-KR" sz="1600" dirty="0"/>
          </a:p>
          <a:p>
            <a:pPr lvl="1"/>
            <a:r>
              <a:rPr lang="ko-KR" altLang="en-US" sz="1200" dirty="0"/>
              <a:t>연산과 대입을 결합하여 표현</a:t>
            </a:r>
            <a:endParaRPr lang="en-US" altLang="ko-KR" sz="1200" dirty="0"/>
          </a:p>
          <a:p>
            <a:r>
              <a:rPr lang="ko-KR" altLang="en-US" sz="1600" dirty="0" err="1"/>
              <a:t>단항</a:t>
            </a:r>
            <a:r>
              <a:rPr lang="ko-KR" altLang="en-US" sz="1600" dirty="0"/>
              <a:t> 연산자</a:t>
            </a:r>
            <a:endParaRPr lang="en-US" altLang="ko-KR" sz="1600" dirty="0"/>
          </a:p>
          <a:p>
            <a:pPr lvl="1"/>
            <a:r>
              <a:rPr lang="ko-KR" altLang="en-US" sz="1200" dirty="0"/>
              <a:t>하나의 피연산자에 대해 부호 변경</a:t>
            </a:r>
            <a:r>
              <a:rPr lang="en-US" altLang="ko-KR" sz="1200" dirty="0"/>
              <a:t>, </a:t>
            </a:r>
            <a:r>
              <a:rPr lang="ko-KR" altLang="en-US" sz="1200" dirty="0"/>
              <a:t>논리 반전</a:t>
            </a:r>
            <a:r>
              <a:rPr lang="en-US" altLang="ko-KR" sz="1200" dirty="0"/>
              <a:t>, </a:t>
            </a:r>
            <a:r>
              <a:rPr lang="ko-KR" altLang="en-US" sz="1200" dirty="0"/>
              <a:t>주소 취득</a:t>
            </a:r>
            <a:r>
              <a:rPr lang="en-US" altLang="ko-KR" sz="1200" dirty="0"/>
              <a:t>, </a:t>
            </a:r>
            <a:r>
              <a:rPr lang="ko-KR" altLang="en-US" sz="1200" dirty="0"/>
              <a:t>간접 참조</a:t>
            </a:r>
            <a:r>
              <a:rPr lang="en-US" altLang="ko-KR" sz="1200" dirty="0"/>
              <a:t>, </a:t>
            </a:r>
            <a:r>
              <a:rPr lang="ko-KR" altLang="en-US" sz="1200" dirty="0"/>
              <a:t>증감 연산 등을 수행</a:t>
            </a:r>
            <a:endParaRPr lang="en-US" altLang="ko-KR" sz="1200" dirty="0"/>
          </a:p>
          <a:p>
            <a:r>
              <a:rPr lang="ko-KR" altLang="en-US" sz="1600" dirty="0"/>
              <a:t>함수 호출 연산자</a:t>
            </a:r>
            <a:endParaRPr lang="en-US" altLang="ko-KR" sz="1600" dirty="0"/>
          </a:p>
          <a:p>
            <a:pPr lvl="1"/>
            <a:r>
              <a:rPr lang="ko-KR" altLang="en-US" sz="1200" dirty="0"/>
              <a:t>함수를 실행하며 </a:t>
            </a:r>
            <a:r>
              <a:rPr lang="ko-KR" altLang="en-US" sz="1200" dirty="0" err="1"/>
              <a:t>반환값이</a:t>
            </a:r>
            <a:r>
              <a:rPr lang="ko-KR" altLang="en-US" sz="1200" dirty="0"/>
              <a:t> 표현식의 결과</a:t>
            </a:r>
            <a:endParaRPr lang="en-US" altLang="ko-KR" sz="1200" dirty="0"/>
          </a:p>
          <a:p>
            <a:r>
              <a:rPr lang="ko-KR" altLang="en-US" sz="1600" dirty="0"/>
              <a:t>인덱스 연산자</a:t>
            </a:r>
            <a:r>
              <a:rPr lang="en-US" altLang="ko-KR" sz="1600" dirty="0"/>
              <a:t>[]</a:t>
            </a:r>
          </a:p>
          <a:p>
            <a:pPr lvl="1"/>
            <a:r>
              <a:rPr lang="ko-KR" altLang="en-US" sz="1200" dirty="0"/>
              <a:t>임의 </a:t>
            </a:r>
            <a:r>
              <a:rPr lang="ko-KR" altLang="en-US" sz="1200" dirty="0" err="1"/>
              <a:t>접근연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산자</a:t>
            </a:r>
            <a:endParaRPr lang="en-US" altLang="ko-KR" sz="1200" dirty="0"/>
          </a:p>
          <a:p>
            <a:r>
              <a:rPr lang="ko-KR" altLang="en-US" sz="1600" dirty="0"/>
              <a:t>구조체 멤버 접근 연산자</a:t>
            </a:r>
            <a:r>
              <a:rPr lang="en-US" altLang="ko-KR" sz="1600" dirty="0"/>
              <a:t>(. </a:t>
            </a:r>
            <a:r>
              <a:rPr lang="en-US" altLang="ko-KR" sz="1600" dirty="0">
                <a:sym typeface="Wingdings" panose="05000000000000000000" pitchFamily="2" charset="2"/>
              </a:rPr>
              <a:t>)</a:t>
            </a:r>
          </a:p>
          <a:p>
            <a:pPr lvl="1"/>
            <a:r>
              <a:rPr lang="ko-KR" altLang="en-US" sz="1200" dirty="0">
                <a:sym typeface="Wingdings" panose="05000000000000000000" pitchFamily="2" charset="2"/>
              </a:rPr>
              <a:t>구조체의 멤버 접근 연산자</a:t>
            </a:r>
            <a:endParaRPr lang="en-US" altLang="ko-KR" sz="16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52C4F5-7780-4B6F-1BE3-025051AFB7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54715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C2D32-F543-F7DB-F54C-025F69829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AAE562-216A-FEB3-D9CE-BB66F4A3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학습 정리 </a:t>
            </a:r>
            <a:r>
              <a:rPr lang="en-US" altLang="ko-KR" dirty="0"/>
              <a:t>- </a:t>
            </a:r>
            <a:r>
              <a:rPr lang="ko-KR" altLang="en-US" dirty="0"/>
              <a:t>연산자 우선 순위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3F685E-E230-98B6-FD92-F9A312CD4A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066B39F-A14F-D8A6-5B24-68BBE2A8B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110D3EA-EFCA-FE05-3E31-5E96B7BF9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584344"/>
              </p:ext>
            </p:extLst>
          </p:nvPr>
        </p:nvGraphicFramePr>
        <p:xfrm>
          <a:off x="107505" y="619125"/>
          <a:ext cx="8641208" cy="5759904"/>
        </p:xfrm>
        <a:graphic>
          <a:graphicData uri="http://schemas.openxmlformats.org/drawingml/2006/table">
            <a:tbl>
              <a:tblPr/>
              <a:tblGrid>
                <a:gridCol w="720079">
                  <a:extLst>
                    <a:ext uri="{9D8B030D-6E8A-4147-A177-3AD203B41FA5}">
                      <a16:colId xmlns:a16="http://schemas.microsoft.com/office/drawing/2014/main" val="3219705106"/>
                    </a:ext>
                  </a:extLst>
                </a:gridCol>
                <a:gridCol w="1928792">
                  <a:extLst>
                    <a:ext uri="{9D8B030D-6E8A-4147-A177-3AD203B41FA5}">
                      <a16:colId xmlns:a16="http://schemas.microsoft.com/office/drawing/2014/main" val="4007071313"/>
                    </a:ext>
                  </a:extLst>
                </a:gridCol>
                <a:gridCol w="5200000">
                  <a:extLst>
                    <a:ext uri="{9D8B030D-6E8A-4147-A177-3AD203B41FA5}">
                      <a16:colId xmlns:a16="http://schemas.microsoft.com/office/drawing/2014/main" val="4253758001"/>
                    </a:ext>
                  </a:extLst>
                </a:gridCol>
                <a:gridCol w="792337">
                  <a:extLst>
                    <a:ext uri="{9D8B030D-6E8A-4147-A177-3AD203B41FA5}">
                      <a16:colId xmlns:a16="http://schemas.microsoft.com/office/drawing/2014/main" val="2526782302"/>
                    </a:ext>
                  </a:extLst>
                </a:gridCol>
              </a:tblGrid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우선순위</a:t>
                      </a:r>
                      <a:endParaRPr lang="ko-KR" altLang="en-US" sz="2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연산자 범주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연산자 기호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결합 방향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173308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최우선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Primary)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(), [], -&gt;, ., (type){list}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 → R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565827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단항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Unary)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++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en-US" altLang="ko-KR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--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후위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), ++, -- (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전위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), +, -, !, ~, (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type), *, &amp;, sizeof, _Alignof</a:t>
                      </a:r>
                      <a:endParaRPr lang="en-US" sz="2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 → L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095446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산술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Multiplicative)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*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/, %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 → R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177896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산술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Additive)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+, -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 → R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037560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비트 이동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Shift)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&lt;&lt;, &gt;&gt;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 → R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984792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관계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Relational)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&lt;, &lt;=, &gt;, &gt;=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 → R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097854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관계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Equality)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==, !=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 → R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795804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비트 논리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AND)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 → R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29342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비트 논리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XOR)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^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 → R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500101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비트 논리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OR)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|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 → R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449366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논리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AND)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&amp;&amp;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 → R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326797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논리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OR)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||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 → R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23650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조건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Ternary)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?: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 → L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642634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대입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Assignment)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=, +=, -=, *=, /=, %=, &lt;&lt;=, &gt;&gt;=, &amp;=, ^=, |=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 → L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832816"/>
                  </a:ext>
                </a:extLst>
              </a:tr>
              <a:tr h="35999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쉼표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Comma)</a:t>
                      </a:r>
                      <a:endParaRPr 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</a:t>
                      </a:r>
                      <a:endParaRPr lang="ko-KR" altLang="en-US" sz="2400" b="1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 → R</a:t>
                      </a:r>
                      <a:endParaRPr lang="en-US" sz="24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731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3532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FA4CF-09E7-1D93-0A12-D04C7C28E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4E529-A77C-0DDA-1EF7-E517E0C33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실습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13D005-06B7-043E-3B5C-BC03D7880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나를 바꾸는 </a:t>
            </a:r>
            <a:r>
              <a:rPr lang="en-US" altLang="ko-KR" dirty="0"/>
              <a:t>-C</a:t>
            </a:r>
            <a:r>
              <a:rPr lang="ko-KR" altLang="en-US" dirty="0"/>
              <a:t>  </a:t>
            </a:r>
            <a:r>
              <a:rPr lang="en-US" altLang="ko-KR" dirty="0"/>
              <a:t>4</a:t>
            </a:r>
            <a:r>
              <a:rPr lang="ko-KR" altLang="en-US" dirty="0"/>
              <a:t>장 실습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과제 </a:t>
            </a:r>
            <a:r>
              <a:rPr lang="en-US" altLang="ko-KR" dirty="0"/>
              <a:t>1: </a:t>
            </a:r>
            <a:r>
              <a:rPr lang="ko-KR" altLang="en-US" dirty="0"/>
              <a:t>산술 연산자 실습</a:t>
            </a:r>
            <a:endParaRPr lang="en-US" altLang="ko-KR" sz="1200" dirty="0"/>
          </a:p>
          <a:p>
            <a:pPr lvl="1"/>
            <a:r>
              <a:rPr lang="ko-KR" altLang="en-US" dirty="0"/>
              <a:t>과제 </a:t>
            </a:r>
            <a:r>
              <a:rPr lang="en-US" altLang="ko-KR" dirty="0"/>
              <a:t>2: </a:t>
            </a:r>
            <a:r>
              <a:rPr lang="ko-KR" altLang="en-US" dirty="0"/>
              <a:t>증감 연산자 실습</a:t>
            </a:r>
            <a:endParaRPr lang="en-US" altLang="ko-KR" sz="1200" dirty="0"/>
          </a:p>
          <a:p>
            <a:pPr lvl="1"/>
            <a:r>
              <a:rPr lang="ko-KR" altLang="en-US" dirty="0"/>
              <a:t>과제 </a:t>
            </a:r>
            <a:r>
              <a:rPr lang="en-US" altLang="ko-KR" dirty="0"/>
              <a:t>3: </a:t>
            </a:r>
            <a:r>
              <a:rPr lang="ko-KR" altLang="en-US" dirty="0"/>
              <a:t>복합 대입 연산자 실습</a:t>
            </a:r>
            <a:endParaRPr lang="en-US" altLang="ko-KR" sz="1200" dirty="0"/>
          </a:p>
          <a:p>
            <a:pPr lvl="1"/>
            <a:r>
              <a:rPr lang="ko-KR" altLang="en-US" dirty="0"/>
              <a:t>과제 </a:t>
            </a:r>
            <a:r>
              <a:rPr lang="en-US" altLang="ko-KR" dirty="0"/>
              <a:t>4: </a:t>
            </a:r>
            <a:r>
              <a:rPr lang="ko-KR" altLang="en-US" dirty="0" err="1"/>
              <a:t>단항</a:t>
            </a:r>
            <a:r>
              <a:rPr lang="ko-KR" altLang="en-US" dirty="0"/>
              <a:t> 연산자 실습</a:t>
            </a:r>
            <a:endParaRPr lang="en-US" altLang="ko-KR" sz="1200" dirty="0"/>
          </a:p>
          <a:p>
            <a:pPr lvl="1"/>
            <a:r>
              <a:rPr lang="ko-KR" altLang="en-US" dirty="0"/>
              <a:t>과제 </a:t>
            </a:r>
            <a:r>
              <a:rPr lang="en-US" altLang="ko-KR" dirty="0"/>
              <a:t>5: </a:t>
            </a:r>
            <a:r>
              <a:rPr lang="ko-KR" altLang="en-US" dirty="0"/>
              <a:t>형 변환</a:t>
            </a:r>
            <a:r>
              <a:rPr lang="en-US" altLang="ko-KR" dirty="0"/>
              <a:t>(cast) </a:t>
            </a:r>
            <a:r>
              <a:rPr lang="ko-KR" altLang="en-US" dirty="0"/>
              <a:t>실습</a:t>
            </a:r>
            <a:endParaRPr lang="en-US" altLang="ko-KR" sz="1200" dirty="0"/>
          </a:p>
          <a:p>
            <a:pPr lvl="1"/>
            <a:r>
              <a:rPr lang="ko-KR" altLang="en-US" dirty="0"/>
              <a:t>과제 </a:t>
            </a:r>
            <a:r>
              <a:rPr lang="en-US" altLang="ko-KR" dirty="0"/>
              <a:t>6: sizeof </a:t>
            </a:r>
            <a:r>
              <a:rPr lang="ko-KR" altLang="en-US" dirty="0"/>
              <a:t>실습</a:t>
            </a:r>
            <a:endParaRPr lang="en-US" altLang="ko-KR" sz="1200" dirty="0"/>
          </a:p>
          <a:p>
            <a:pPr lvl="1"/>
            <a:r>
              <a:rPr lang="ko-KR" altLang="en-US" dirty="0"/>
              <a:t>과제 </a:t>
            </a:r>
            <a:r>
              <a:rPr lang="en-US" altLang="ko-KR" dirty="0"/>
              <a:t>7: </a:t>
            </a:r>
            <a:r>
              <a:rPr lang="ko-KR" altLang="en-US" dirty="0" err="1"/>
              <a:t>삼항</a:t>
            </a:r>
            <a:r>
              <a:rPr lang="ko-KR" altLang="en-US" dirty="0"/>
              <a:t> 조건 연산자 실습</a:t>
            </a:r>
            <a:endParaRPr lang="en-US" altLang="ko-KR" sz="12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871344-D90B-2F66-A6DB-A0AA47B5BB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3333821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가을체"/>
        <a:ea typeface="가을체"/>
        <a:cs typeface=""/>
      </a:majorFont>
      <a:minorFont>
        <a:latin typeface="가을체"/>
        <a:ea typeface="가을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3729</TotalTime>
  <Words>4316</Words>
  <Application>Microsoft Office PowerPoint</Application>
  <PresentationFormat>화면 슬라이드 쇼(4:3)</PresentationFormat>
  <Paragraphs>752</Paragraphs>
  <Slides>42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9" baseType="lpstr">
      <vt:lpstr>HY견고딕</vt:lpstr>
      <vt:lpstr>가을체</vt:lpstr>
      <vt:lpstr>굴림</vt:lpstr>
      <vt:lpstr>Arial</vt:lpstr>
      <vt:lpstr>Consolas</vt:lpstr>
      <vt:lpstr>Wingdings</vt:lpstr>
      <vt:lpstr>기본 디자인</vt:lpstr>
      <vt:lpstr>04. 연산자 (Operator)</vt:lpstr>
      <vt:lpstr>4.0 연산자</vt:lpstr>
      <vt:lpstr>4.1 대입 연산자와 변수 복사</vt:lpstr>
      <vt:lpstr>4.1 대입 연산자와 변수 복사 예</vt:lpstr>
      <vt:lpstr>4.2 쉼표 연산자 (comma operator: ,)</vt:lpstr>
      <vt:lpstr>4.2 쉼표 연산자 예</vt:lpstr>
      <vt:lpstr>4.3 산술 연산자</vt:lpstr>
      <vt:lpstr>4.3 산술 연산자</vt:lpstr>
      <vt:lpstr>4.3 산술 연산자 - 예</vt:lpstr>
      <vt:lpstr>4.4 관계 연산자</vt:lpstr>
      <vt:lpstr>4.4 관계 연산자</vt:lpstr>
      <vt:lpstr>4.4 관계 연산자 - 예</vt:lpstr>
      <vt:lpstr>4.5 논리 연산자</vt:lpstr>
      <vt:lpstr>4.5 논리 연산자 - 예</vt:lpstr>
      <vt:lpstr>4.5 논리 연산자 - 예</vt:lpstr>
      <vt:lpstr>4.6.1 비트 연산자 개요</vt:lpstr>
      <vt:lpstr>4.6.2 비트 논리 연산자 (&amp; | ^ ~)</vt:lpstr>
      <vt:lpstr>4.6.3 비트 연산자 사용 예제</vt:lpstr>
      <vt:lpstr>4.6.3 비트 연산자 사용 예제</vt:lpstr>
      <vt:lpstr>4.6.4 시프트 연산자(shift operator)</vt:lpstr>
      <vt:lpstr>4.6.4 시프트 연산자(shift operator)</vt:lpstr>
      <vt:lpstr>4.6.5 비트 연산자 사용 시 주의사항</vt:lpstr>
      <vt:lpstr>4.6.5 비트 연산자 사용 시 주의사항</vt:lpstr>
      <vt:lpstr>4.7.1 복합 대입 연산자의 장점</vt:lpstr>
      <vt:lpstr>4.7.2 복합 대입 연산자 종류</vt:lpstr>
      <vt:lpstr>4.8 증감 연산자 – 전위, 후위</vt:lpstr>
      <vt:lpstr>4.8.3 포인터와 증감 연산자</vt:lpstr>
      <vt:lpstr>4.8.4 증감 연산자 사용 시 주의사항</vt:lpstr>
      <vt:lpstr>4.8.4 증감 연산자의 동작 비교</vt:lpstr>
      <vt:lpstr>4.9 단항 연산자</vt:lpstr>
      <vt:lpstr>4.9 단항 연산자 - 주의</vt:lpstr>
      <vt:lpstr>4.10 형 변환 연산자 (casting operator)</vt:lpstr>
      <vt:lpstr>4.11 삼항 조건 연산자</vt:lpstr>
      <vt:lpstr>4.12 sizeof 연산자</vt:lpstr>
      <vt:lpstr>4.12 sizeof 연산자 - 예</vt:lpstr>
      <vt:lpstr>4.12 sizeof 연산자 - 예</vt:lpstr>
      <vt:lpstr>4.13 함수 호출 연산자</vt:lpstr>
      <vt:lpstr>4.14 배열 인덱스 연산자</vt:lpstr>
      <vt:lpstr>4.15 구조체 멤버 접근 연산자</vt:lpstr>
      <vt:lpstr>4. 학습 정리</vt:lpstr>
      <vt:lpstr>4. 학습 정리 - 연산자 우선 순위</vt:lpstr>
      <vt:lpstr>4. 실습 과제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199</cp:revision>
  <dcterms:created xsi:type="dcterms:W3CDTF">2003-11-30T16:03:20Z</dcterms:created>
  <dcterms:modified xsi:type="dcterms:W3CDTF">2026-03-25T12:24:29Z</dcterms:modified>
</cp:coreProperties>
</file>