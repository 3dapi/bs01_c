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2" r:id="rId2"/>
    <p:sldId id="273" r:id="rId3"/>
    <p:sldId id="274" r:id="rId4"/>
    <p:sldId id="275" r:id="rId5"/>
    <p:sldId id="277" r:id="rId6"/>
    <p:sldId id="276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90" r:id="rId19"/>
    <p:sldId id="289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C00FF"/>
    <a:srgbClr val="0000FF"/>
    <a:srgbClr val="CC00CC"/>
    <a:srgbClr val="CC0000"/>
    <a:srgbClr val="FF00FF"/>
    <a:srgbClr val="FF9900"/>
    <a:srgbClr val="FF0000"/>
    <a:srgbClr val="0099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818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2FC0D-1C2C-37AA-7CB1-C3D322973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05. </a:t>
            </a:r>
            <a:r>
              <a:rPr lang="ko-KR" altLang="en-US" dirty="0"/>
              <a:t>함수 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14EB79-AD88-258F-4E8F-24B268B48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99B9F4-4800-F14C-8C36-B879D7464F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865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F9540-6669-5CDA-78BF-4F9AF396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05. </a:t>
            </a:r>
            <a:r>
              <a:rPr lang="ko-KR" altLang="en-US" b="0" dirty="0"/>
              <a:t>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A56B1-FED6-471B-3FDB-9DA89B9D3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b="0" dirty="0"/>
              <a:t>프로그램 실행의 기본 단위</a:t>
            </a:r>
            <a:endParaRPr lang="en-US" altLang="ko-KR" sz="2400" b="0" dirty="0"/>
          </a:p>
          <a:p>
            <a:r>
              <a:rPr lang="ko-KR" altLang="en-US" sz="2400" b="0" dirty="0">
                <a:sym typeface="Wingdings" panose="05000000000000000000" pitchFamily="2" charset="2"/>
              </a:rPr>
              <a:t>입력 </a:t>
            </a:r>
            <a:r>
              <a:rPr lang="en-US" altLang="ko-KR" sz="2400" b="0" dirty="0">
                <a:sym typeface="Wingdings" panose="05000000000000000000" pitchFamily="2" charset="2"/>
              </a:rPr>
              <a:t> </a:t>
            </a:r>
            <a:r>
              <a:rPr lang="ko-KR" altLang="en-US" sz="2400" b="0" dirty="0">
                <a:sym typeface="Wingdings" panose="05000000000000000000" pitchFamily="2" charset="2"/>
              </a:rPr>
              <a:t>실행 </a:t>
            </a:r>
            <a:r>
              <a:rPr lang="en-US" altLang="ko-KR" sz="2400" b="0" dirty="0">
                <a:sym typeface="Wingdings" panose="05000000000000000000" pitchFamily="2" charset="2"/>
              </a:rPr>
              <a:t> </a:t>
            </a:r>
            <a:r>
              <a:rPr lang="ko-KR" altLang="en-US" sz="2400" b="0" dirty="0">
                <a:sym typeface="Wingdings" panose="05000000000000000000" pitchFamily="2" charset="2"/>
              </a:rPr>
              <a:t>결과</a:t>
            </a:r>
            <a:endParaRPr lang="en-US" altLang="ko-KR" sz="2400" b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520F2D-687B-70A1-78EF-638E75AC1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296BE0C-3B4D-D4D1-FC6B-44944C9ED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60848"/>
            <a:ext cx="7521286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76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ADCFA-DA82-B5F5-A2DE-01D72D37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5.1 </a:t>
            </a:r>
            <a:r>
              <a:rPr lang="ko-KR" altLang="en-US" b="0" dirty="0"/>
              <a:t>함수 정의</a:t>
            </a:r>
            <a:r>
              <a:rPr lang="en-US" altLang="ko-KR" b="0" dirty="0"/>
              <a:t>(Function Definition)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3A5028-D512-D8F5-EC17-F685894C9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함수구성 요소</a:t>
            </a:r>
          </a:p>
          <a:p>
            <a:pPr lvl="1"/>
            <a:r>
              <a:rPr lang="ko-KR" altLang="en-US" sz="2000" dirty="0"/>
              <a:t>반환형</a:t>
            </a:r>
            <a:r>
              <a:rPr lang="en-US" altLang="ko-KR" sz="2000" dirty="0"/>
              <a:t>(Return type)</a:t>
            </a:r>
          </a:p>
          <a:p>
            <a:pPr lvl="2"/>
            <a:r>
              <a:rPr lang="ko-KR" altLang="en-US" sz="1800" dirty="0"/>
              <a:t>함수가 결과로 돌려주는 값의 자료형</a:t>
            </a:r>
            <a:endParaRPr lang="en-US" altLang="ko-KR" sz="1800" dirty="0"/>
          </a:p>
          <a:p>
            <a:pPr lvl="2"/>
            <a:endParaRPr lang="ko-KR" altLang="en-US" sz="1800" dirty="0"/>
          </a:p>
          <a:p>
            <a:pPr lvl="1"/>
            <a:r>
              <a:rPr lang="ko-KR" altLang="en-US" sz="2000" dirty="0"/>
              <a:t>함수 이름</a:t>
            </a:r>
            <a:r>
              <a:rPr lang="en-US" altLang="ko-KR" sz="2000" dirty="0"/>
              <a:t>(Function name)</a:t>
            </a:r>
          </a:p>
          <a:p>
            <a:pPr lvl="2"/>
            <a:r>
              <a:rPr lang="ko-KR" altLang="en-US" sz="1800" dirty="0"/>
              <a:t>식별자</a:t>
            </a:r>
            <a:r>
              <a:rPr lang="en-US" altLang="ko-KR" sz="1800" dirty="0"/>
              <a:t>, </a:t>
            </a:r>
            <a:r>
              <a:rPr lang="ko-KR" altLang="en-US" sz="1800" dirty="0"/>
              <a:t>호출할 때 사용할 이름</a:t>
            </a:r>
            <a:endParaRPr lang="en-US" altLang="ko-KR" sz="1800" dirty="0"/>
          </a:p>
          <a:p>
            <a:pPr lvl="2"/>
            <a:endParaRPr lang="ko-KR" altLang="en-US" sz="1800" dirty="0"/>
          </a:p>
          <a:p>
            <a:pPr lvl="1"/>
            <a:r>
              <a:rPr lang="ko-KR" altLang="en-US" sz="2000" dirty="0"/>
              <a:t>매개변수 목록</a:t>
            </a:r>
            <a:r>
              <a:rPr lang="en-US" altLang="ko-KR" sz="2000" dirty="0"/>
              <a:t>(Parameter list)</a:t>
            </a:r>
          </a:p>
          <a:p>
            <a:pPr lvl="2"/>
            <a:r>
              <a:rPr lang="ko-KR" altLang="en-US" sz="1800" dirty="0"/>
              <a:t>함수에 전달되는 입력 값의 자료형과 변수명 목록</a:t>
            </a:r>
            <a:endParaRPr lang="en-US" altLang="ko-KR" sz="1800" dirty="0"/>
          </a:p>
          <a:p>
            <a:pPr lvl="2"/>
            <a:endParaRPr lang="ko-KR" altLang="en-US" sz="1800" dirty="0"/>
          </a:p>
          <a:p>
            <a:pPr lvl="1"/>
            <a:r>
              <a:rPr lang="ko-KR" altLang="en-US" sz="2000" dirty="0"/>
              <a:t>함수 본문</a:t>
            </a:r>
            <a:r>
              <a:rPr lang="en-US" altLang="ko-KR" sz="2000" dirty="0"/>
              <a:t>(Body)</a:t>
            </a:r>
          </a:p>
          <a:p>
            <a:pPr lvl="2"/>
            <a:r>
              <a:rPr lang="ko-KR" altLang="en-US" sz="1800" dirty="0"/>
              <a:t>함수의 목적에 맞는 실행 문</a:t>
            </a:r>
            <a:r>
              <a:rPr lang="en-US" altLang="ko-KR" sz="1800" dirty="0"/>
              <a:t>.</a:t>
            </a:r>
          </a:p>
          <a:p>
            <a:pPr lvl="2"/>
            <a:r>
              <a:rPr lang="ko-KR" altLang="en-US" sz="1800" dirty="0"/>
              <a:t>중괄호 </a:t>
            </a:r>
            <a:r>
              <a:rPr lang="en-US" altLang="ko-KR" sz="1800" dirty="0"/>
              <a:t>{ } </a:t>
            </a:r>
            <a:r>
              <a:rPr lang="ko-KR" altLang="en-US" sz="1800" dirty="0"/>
              <a:t>안에 실행 명령을 나열</a:t>
            </a:r>
            <a:endParaRPr lang="en-US" altLang="ko-KR" sz="1800" dirty="0"/>
          </a:p>
          <a:p>
            <a:pPr lvl="2"/>
            <a:endParaRPr lang="ko-KR" altLang="en-US" sz="1800" dirty="0"/>
          </a:p>
          <a:p>
            <a:pPr lvl="1"/>
            <a:r>
              <a:rPr lang="en-US" altLang="ko-KR" sz="2000" dirty="0"/>
              <a:t>return</a:t>
            </a:r>
          </a:p>
          <a:p>
            <a:pPr lvl="2"/>
            <a:r>
              <a:rPr lang="ko-KR" altLang="en-US" sz="1800" dirty="0"/>
              <a:t>호출한 곳으로 결과 반환</a:t>
            </a:r>
            <a:endParaRPr lang="en-US" altLang="ko-KR" sz="1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C56709-BD1D-3CB4-762D-B7B6CD1DC6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1856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23BC1-B143-E29D-9163-B2B11A6F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D1A744-AB95-6BFF-C181-E3CB89E0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5.1 </a:t>
            </a:r>
            <a:r>
              <a:rPr lang="ko-KR" altLang="en-US" b="0" dirty="0"/>
              <a:t>함수의 선언과 정의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172EFF-0143-1630-FC29-6882210DA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함수 선언 </a:t>
            </a:r>
            <a:r>
              <a:rPr lang="en-US" altLang="ko-KR" dirty="0"/>
              <a:t>(Declaration)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함수 정의 </a:t>
            </a:r>
            <a:r>
              <a:rPr lang="en-US" altLang="ko-KR" dirty="0"/>
              <a:t>(Define)</a:t>
            </a:r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E208FA-0248-CD69-DD7E-1016194503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36035D-CD18-C7FD-AE67-5D92D790796B}"/>
              </a:ext>
            </a:extLst>
          </p:cNvPr>
          <p:cNvSpPr txBox="1"/>
          <p:nvPr/>
        </p:nvSpPr>
        <p:spPr>
          <a:xfrm>
            <a:off x="539751" y="1418000"/>
            <a:ext cx="6408513" cy="193899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반환형 함수이름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매개변수 목록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반환 값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93EFB3-74D9-986D-61A1-15176A10D1C7}"/>
              </a:ext>
            </a:extLst>
          </p:cNvPr>
          <p:cNvSpPr txBox="1"/>
          <p:nvPr/>
        </p:nvSpPr>
        <p:spPr>
          <a:xfrm>
            <a:off x="539751" y="4514344"/>
            <a:ext cx="6408514" cy="193899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반환형 함수이름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매개변수 목록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반환 값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0583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D255-5182-14A4-3F71-0A38EDEF7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598FE-A81A-1C88-0F3F-0F771F479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5.1 </a:t>
            </a:r>
            <a:r>
              <a:rPr lang="ko-KR" altLang="en-US" b="0" dirty="0"/>
              <a:t>함수의 선언과 정의 </a:t>
            </a:r>
            <a:r>
              <a:rPr lang="en-US" altLang="ko-KR" b="0" dirty="0"/>
              <a:t>– </a:t>
            </a:r>
            <a:r>
              <a:rPr lang="ko-KR" altLang="en-US" b="0" dirty="0"/>
              <a:t>함수의 구현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DFD965-B4CC-54CC-BD39-666CA0E77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반환형</a:t>
            </a:r>
            <a:r>
              <a:rPr lang="en-US" altLang="ko-KR" sz="2000" dirty="0"/>
              <a:t>(Return type)</a:t>
            </a:r>
            <a:endParaRPr lang="ko-KR" altLang="en-US" sz="2000" dirty="0"/>
          </a:p>
          <a:p>
            <a:pPr lvl="1"/>
            <a:r>
              <a:rPr lang="ko-KR" altLang="en-US" sz="1600" dirty="0"/>
              <a:t>함수가 결과로 돌려주는 값의 자료형</a:t>
            </a:r>
            <a:r>
              <a:rPr lang="en-US" altLang="ko-KR" sz="1600" dirty="0"/>
              <a:t> </a:t>
            </a:r>
            <a:r>
              <a:rPr lang="ko-KR" altLang="en-US" sz="1600" dirty="0"/>
              <a:t>선언과 일치</a:t>
            </a:r>
            <a:endParaRPr lang="en-US" altLang="ko-KR" sz="1600" dirty="0"/>
          </a:p>
          <a:p>
            <a:pPr lvl="2"/>
            <a:endParaRPr lang="en-US" altLang="ko-KR" sz="1400" dirty="0"/>
          </a:p>
          <a:p>
            <a:r>
              <a:rPr lang="ko-KR" altLang="en-US" sz="2000" dirty="0"/>
              <a:t>함수 이름</a:t>
            </a:r>
            <a:r>
              <a:rPr lang="en-US" altLang="ko-KR" sz="2000" dirty="0"/>
              <a:t>(Function name)</a:t>
            </a:r>
            <a:endParaRPr lang="ko-KR" altLang="en-US" sz="2000" dirty="0"/>
          </a:p>
          <a:p>
            <a:pPr lvl="1"/>
            <a:r>
              <a:rPr lang="ko-KR" altLang="en-US" sz="1600" dirty="0"/>
              <a:t>식별자</a:t>
            </a:r>
            <a:r>
              <a:rPr lang="en-US" altLang="ko-KR" sz="1600" dirty="0"/>
              <a:t>, </a:t>
            </a:r>
            <a:r>
              <a:rPr lang="ko-KR" altLang="en-US" sz="1600" dirty="0"/>
              <a:t>호출할 때 사용할 이름</a:t>
            </a:r>
            <a:r>
              <a:rPr lang="en-US" altLang="ko-KR" sz="1600" dirty="0"/>
              <a:t>. </a:t>
            </a:r>
            <a:r>
              <a:rPr lang="ko-KR" altLang="en-US" sz="1600" dirty="0"/>
              <a:t>같은 이름 허용 안함</a:t>
            </a:r>
            <a:endParaRPr lang="en-US" altLang="ko-KR" sz="1600" dirty="0"/>
          </a:p>
          <a:p>
            <a:pPr lvl="1"/>
            <a:r>
              <a:rPr lang="en-US" altLang="ko-KR" sz="1600" dirty="0"/>
              <a:t>※ C++</a:t>
            </a:r>
            <a:r>
              <a:rPr lang="ko-KR" altLang="en-US" sz="1600" dirty="0"/>
              <a:t>은 오버로딩이 있어 인수의 개수나 타입이 다르면 중복 허용함</a:t>
            </a:r>
            <a:r>
              <a:rPr lang="en-US" altLang="ko-KR" sz="1600" dirty="0"/>
              <a:t>.</a:t>
            </a:r>
          </a:p>
          <a:p>
            <a:pPr lvl="2"/>
            <a:endParaRPr lang="en-US" altLang="ko-KR" sz="1200" dirty="0"/>
          </a:p>
          <a:p>
            <a:r>
              <a:rPr lang="ko-KR" altLang="en-US" sz="2000" dirty="0"/>
              <a:t>매개변수 목록</a:t>
            </a:r>
            <a:r>
              <a:rPr lang="en-US" altLang="ko-KR" sz="2000" dirty="0"/>
              <a:t>(Parameter list)</a:t>
            </a:r>
          </a:p>
          <a:p>
            <a:pPr lvl="1"/>
            <a:r>
              <a:rPr lang="ko-KR" altLang="en-US" sz="1600" dirty="0"/>
              <a:t>함수에 전달되는 입력 값의 자료형과 변수명 목록</a:t>
            </a:r>
            <a:endParaRPr lang="en-US" altLang="ko-KR" sz="1600" dirty="0"/>
          </a:p>
          <a:p>
            <a:pPr lvl="1"/>
            <a:r>
              <a:rPr lang="ko-KR" altLang="en-US" sz="1600" dirty="0"/>
              <a:t>함수 선언에서 작성한 매개변수 자료형</a:t>
            </a:r>
            <a:r>
              <a:rPr lang="en-US" altLang="ko-KR" sz="1600" dirty="0"/>
              <a:t>, </a:t>
            </a:r>
            <a:r>
              <a:rPr lang="ko-KR" altLang="en-US" sz="1600" dirty="0"/>
              <a:t>개수 일치</a:t>
            </a:r>
          </a:p>
          <a:p>
            <a:pPr lvl="1"/>
            <a:r>
              <a:rPr lang="ko-KR" altLang="en-US" sz="1600" dirty="0"/>
              <a:t>자료형만 일치하면 컴파일이 가능</a:t>
            </a:r>
            <a:r>
              <a:rPr lang="en-US" altLang="ko-KR" sz="1600" dirty="0"/>
              <a:t>. </a:t>
            </a:r>
            <a:r>
              <a:rPr lang="ko-KR" altLang="en-US" sz="1600" dirty="0"/>
              <a:t>코드의 가독성과 유지보수를 위해 선언과 정의를 일치</a:t>
            </a:r>
            <a:endParaRPr lang="en-US" altLang="ko-KR" sz="1600" dirty="0"/>
          </a:p>
          <a:p>
            <a:pPr lvl="2"/>
            <a:endParaRPr lang="ko-KR" altLang="en-US" sz="1200" dirty="0"/>
          </a:p>
          <a:p>
            <a:r>
              <a:rPr lang="ko-KR" altLang="en-US" sz="2000" dirty="0"/>
              <a:t>함수 본문</a:t>
            </a:r>
            <a:r>
              <a:rPr lang="en-US" altLang="ko-KR" sz="2000" dirty="0"/>
              <a:t>(Body)</a:t>
            </a:r>
            <a:endParaRPr lang="ko-KR" altLang="en-US" sz="2000" dirty="0"/>
          </a:p>
          <a:p>
            <a:pPr lvl="1"/>
            <a:r>
              <a:rPr lang="ko-KR" altLang="en-US" sz="1600" dirty="0"/>
              <a:t>함수의 목적에 맞는 실행 문이 작성되는 영역</a:t>
            </a:r>
            <a:endParaRPr lang="en-US" altLang="ko-KR" sz="1600" dirty="0"/>
          </a:p>
          <a:p>
            <a:pPr lvl="1"/>
            <a:r>
              <a:rPr lang="ko-KR" altLang="en-US" sz="1600" dirty="0"/>
              <a:t>중괄호 </a:t>
            </a:r>
            <a:r>
              <a:rPr lang="en-US" altLang="ko-KR" sz="1600" dirty="0"/>
              <a:t>{ }</a:t>
            </a:r>
            <a:r>
              <a:rPr lang="ko-KR" altLang="en-US" sz="1600" dirty="0"/>
              <a:t> 안에 실행 명령 나열</a:t>
            </a:r>
            <a:endParaRPr lang="en-US" altLang="ko-KR" sz="1600" dirty="0"/>
          </a:p>
          <a:p>
            <a:pPr lvl="2"/>
            <a:endParaRPr lang="ko-KR" altLang="en-US" sz="1200" dirty="0"/>
          </a:p>
          <a:p>
            <a:r>
              <a:rPr lang="en-US" altLang="ko-KR" sz="2000" dirty="0"/>
              <a:t>return </a:t>
            </a:r>
            <a:r>
              <a:rPr lang="ko-KR" altLang="en-US" sz="2000" dirty="0"/>
              <a:t>문</a:t>
            </a:r>
          </a:p>
          <a:p>
            <a:pPr lvl="1"/>
            <a:r>
              <a:rPr lang="ko-KR" altLang="en-US" sz="1600" dirty="0"/>
              <a:t>함수의 실행을 종료</a:t>
            </a:r>
            <a:r>
              <a:rPr lang="en-US" altLang="ko-KR" sz="1600" dirty="0"/>
              <a:t>,</a:t>
            </a:r>
            <a:r>
              <a:rPr lang="ko-KR" altLang="en-US" sz="1600" dirty="0"/>
              <a:t> 결과 값을 호출한 곳으로 반환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148643-32EB-05A7-AD6E-74B181B88F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63588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24629-ECBD-E7C8-F645-A4EAD500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532EBD-EB27-3935-FE8C-834D7B6E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5.1 </a:t>
            </a:r>
            <a:r>
              <a:rPr lang="ko-KR" altLang="en-US" b="0" dirty="0"/>
              <a:t>함수의 선언과 정의 </a:t>
            </a:r>
            <a:r>
              <a:rPr lang="en-US" altLang="ko-KR" b="0" dirty="0"/>
              <a:t>- </a:t>
            </a:r>
            <a:r>
              <a:rPr lang="ko-KR" altLang="en-US" b="0" dirty="0"/>
              <a:t>예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AFE828-735D-A269-FC91-25D8C8E0D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함수 선언 </a:t>
            </a:r>
            <a:r>
              <a:rPr lang="en-US" altLang="ko-KR" dirty="0"/>
              <a:t>(Declaration)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함수 정의 </a:t>
            </a:r>
            <a:r>
              <a:rPr lang="en-US" altLang="ko-KR" dirty="0"/>
              <a:t>(Define)</a:t>
            </a:r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CA6F29-96BC-3F1E-8AE6-4DF993C5C2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E293B9-E6AA-111F-FF65-C5D94C7661A9}"/>
              </a:ext>
            </a:extLst>
          </p:cNvPr>
          <p:cNvSpPr txBox="1"/>
          <p:nvPr/>
        </p:nvSpPr>
        <p:spPr>
          <a:xfrm>
            <a:off x="539750" y="3486487"/>
            <a:ext cx="8136706" cy="224676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ShowCharacterStat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 정의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ShowCharacterStat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playerHp,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playerMp)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"Player Stat  ==============\n"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"HP: %f\n"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playerHp);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"MP: %f\n"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playerMp);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53CB3C-4937-5DB9-DF8E-A9C23658B3D2}"/>
              </a:ext>
            </a:extLst>
          </p:cNvPr>
          <p:cNvSpPr txBox="1"/>
          <p:nvPr/>
        </p:nvSpPr>
        <p:spPr>
          <a:xfrm>
            <a:off x="539750" y="1548962"/>
            <a:ext cx="8136706" cy="70788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ShowCharacterStat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 선언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ShowCharacterStat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playerHp,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playerMp);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97495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A7819-994D-FB2C-8E77-5418E3EC8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5.2 </a:t>
            </a:r>
            <a:r>
              <a:rPr lang="ko-KR" altLang="en-US" b="0" dirty="0"/>
              <a:t>함수 호출</a:t>
            </a:r>
            <a:r>
              <a:rPr lang="en-US" altLang="ko-KR" b="0" dirty="0"/>
              <a:t>(Function Call)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21551-2C71-09BB-EA9F-3A55D4B3B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함수 호출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C20A05-D26A-D21F-43B2-39D6A03A40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07BF8-3A9A-245B-18D4-68D6FB0A8213}"/>
              </a:ext>
            </a:extLst>
          </p:cNvPr>
          <p:cNvSpPr txBox="1"/>
          <p:nvPr/>
        </p:nvSpPr>
        <p:spPr>
          <a:xfrm>
            <a:off x="325922" y="1407784"/>
            <a:ext cx="8460432" cy="440120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 선언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호출보다 앞에 있어야 한다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반환형 함수이름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매개변수 목록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어떤 함수에서 호출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어떤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함수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함수이름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인수 목록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 정의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0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어딘가에서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반드시 정의되어야 한다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.)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반환형 함수이름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매개변수 목록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...;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99606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F6080-1256-79C8-1249-753AD9B6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26EDD8-DCEB-11B4-49FA-734E8A6D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5.2 </a:t>
            </a:r>
            <a:r>
              <a:rPr lang="ko-KR" altLang="en-US" b="0" dirty="0"/>
              <a:t>함수 호출</a:t>
            </a:r>
            <a:r>
              <a:rPr lang="en-US" altLang="ko-KR" b="0" dirty="0"/>
              <a:t>(Function Call)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727493-8791-2467-81AF-53E58BDAD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함수 호출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85A971-A98E-D7C4-17BE-23D9FB5219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EC5C3-DB3D-7244-C01B-345F3766940E}"/>
              </a:ext>
            </a:extLst>
          </p:cNvPr>
          <p:cNvSpPr txBox="1"/>
          <p:nvPr/>
        </p:nvSpPr>
        <p:spPr>
          <a:xfrm>
            <a:off x="325922" y="1407784"/>
            <a:ext cx="8460432" cy="437042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 선언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호출보다 앞에 있어야 한다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반환형 함수이름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매개변수 목록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응용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함수에서 호출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응용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함수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함수이름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인수 목록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 정의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프로젝트에</a:t>
            </a:r>
            <a:r>
              <a:rPr lang="en-US" altLang="ko-KR" sz="18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8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포함된 임의의 소스</a:t>
            </a:r>
            <a:r>
              <a:rPr lang="en-US" altLang="ko-KR" sz="18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8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파일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에서 반드시 정의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반환형 함수이름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매개변수 목록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...;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49345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DAC08-CD40-1A0E-7C68-BF99A25A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B0D9DE-D5F8-5F02-A60B-A5CA605B2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5.2 </a:t>
            </a:r>
            <a:r>
              <a:rPr lang="ko-KR" altLang="en-US" b="0" dirty="0"/>
              <a:t>함수 호출</a:t>
            </a:r>
            <a:r>
              <a:rPr lang="en-US" altLang="ko-KR" b="0" dirty="0"/>
              <a:t>(Function Call)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BAB2FD-2871-E956-0278-94DC3401E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 호출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75B0AA-5FFC-5691-BA91-A817CC9746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2F8AE-D909-4795-2F14-A677EF92B9FB}"/>
              </a:ext>
            </a:extLst>
          </p:cNvPr>
          <p:cNvSpPr txBox="1"/>
          <p:nvPr/>
        </p:nvSpPr>
        <p:spPr>
          <a:xfrm>
            <a:off x="539750" y="1340768"/>
            <a:ext cx="7632650" cy="507831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b); 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// Add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함수 선언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Multi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b); 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// Multi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함수 선언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y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4000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Add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 호출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z = Add(x, y);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"Add(%d, %d) =&gt;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x, y, z);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Multi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 호출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정의가 없으면 링크 단계에서 오류 발생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z = Multi(x, y);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"Multi(%d, %d) =&gt; %d\n"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x, y, z);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94184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80A0B-5856-0C11-ECDE-58A3A91B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7BFD3-D6AE-B303-1AAE-B4E9B3EB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5.3 </a:t>
            </a:r>
            <a:r>
              <a:rPr lang="ko-KR" altLang="en-US" b="0" dirty="0"/>
              <a:t>매개변수</a:t>
            </a:r>
            <a:r>
              <a:rPr lang="en-US" altLang="ko-KR" b="0" dirty="0"/>
              <a:t>/</a:t>
            </a:r>
            <a:r>
              <a:rPr lang="ko-KR" altLang="en-US" b="0" dirty="0"/>
              <a:t>인수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898004-95AC-015E-ACB0-1535C34F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매개변수</a:t>
            </a:r>
            <a:r>
              <a:rPr lang="en-US" altLang="ko-KR" sz="2000" dirty="0"/>
              <a:t>(Parameter)</a:t>
            </a:r>
          </a:p>
          <a:p>
            <a:pPr lvl="1"/>
            <a:r>
              <a:rPr lang="ko-KR" altLang="en-US" sz="1800" dirty="0"/>
              <a:t>함수의 선언이나 정의에서 선언된 변수</a:t>
            </a:r>
            <a:endParaRPr lang="en-US" altLang="ko-KR" sz="1800" dirty="0"/>
          </a:p>
          <a:p>
            <a:pPr lvl="1"/>
            <a:r>
              <a:rPr lang="ko-KR" altLang="en-US" sz="1800" dirty="0"/>
              <a:t>함수 호출 시 전달되는 값을 받는 변수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ko-KR" altLang="en-US" sz="2000" dirty="0"/>
              <a:t>인수 </a:t>
            </a:r>
            <a:r>
              <a:rPr lang="en-US" altLang="ko-KR" sz="2000" dirty="0"/>
              <a:t>(Argument)</a:t>
            </a:r>
          </a:p>
          <a:p>
            <a:pPr lvl="1"/>
            <a:r>
              <a:rPr lang="ko-KR" altLang="en-US" sz="1800" dirty="0"/>
              <a:t>함수를 호출할 때 전달하는 실제 값</a:t>
            </a:r>
            <a:endParaRPr lang="en-US" altLang="ko-KR" sz="1800" dirty="0"/>
          </a:p>
          <a:p>
            <a:pPr lvl="1"/>
            <a:r>
              <a:rPr lang="ko-KR" altLang="en-US" sz="1800" dirty="0"/>
              <a:t>매개변수에 전달되는 값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en-US" altLang="ko-KR" sz="2000" dirty="0"/>
              <a:t>void</a:t>
            </a:r>
            <a:r>
              <a:rPr lang="ko-KR" altLang="en-US" sz="2000" dirty="0"/>
              <a:t> 매개변수</a:t>
            </a:r>
            <a:endParaRPr lang="en-US" altLang="ko-KR" sz="2000" dirty="0"/>
          </a:p>
          <a:p>
            <a:pPr lvl="1"/>
            <a:r>
              <a:rPr lang="en-US" altLang="ko-KR" sz="1800" dirty="0" err="1"/>
              <a:t>func</a:t>
            </a:r>
            <a:r>
              <a:rPr lang="en-US" altLang="ko-KR" sz="1800" dirty="0"/>
              <a:t>()       → </a:t>
            </a:r>
            <a:r>
              <a:rPr lang="ko-KR" altLang="en-US" sz="1800" dirty="0"/>
              <a:t>매개변수 정보 없음</a:t>
            </a:r>
            <a:endParaRPr lang="en-US" altLang="ko-KR" sz="1800" dirty="0"/>
          </a:p>
          <a:p>
            <a:pPr lvl="1"/>
            <a:r>
              <a:rPr lang="en-US" altLang="ko-KR" sz="1800" dirty="0" err="1"/>
              <a:t>func</a:t>
            </a:r>
            <a:r>
              <a:rPr lang="en-US" altLang="ko-KR" sz="1800" dirty="0"/>
              <a:t>(</a:t>
            </a:r>
            <a:r>
              <a:rPr lang="en-US" altLang="ko-KR" sz="1800" dirty="0">
                <a:solidFill>
                  <a:schemeClr val="accent2"/>
                </a:solidFill>
              </a:rPr>
              <a:t>void</a:t>
            </a:r>
            <a:r>
              <a:rPr lang="en-US" altLang="ko-KR" sz="1800" dirty="0"/>
              <a:t>) → </a:t>
            </a:r>
            <a:r>
              <a:rPr lang="ko-KR" altLang="en-US" sz="1800" dirty="0"/>
              <a:t>매개변수 없음</a:t>
            </a:r>
            <a:br>
              <a:rPr lang="en-US" altLang="ko-KR" sz="1800" dirty="0"/>
            </a:br>
            <a:r>
              <a:rPr lang="en-US" altLang="ko-KR" sz="1800" dirty="0"/>
              <a:t>		→ </a:t>
            </a:r>
            <a:r>
              <a:rPr lang="ko-KR" altLang="en-US" sz="1800" dirty="0"/>
              <a:t>인수 개수 안 맞으면 </a:t>
            </a:r>
            <a:r>
              <a:rPr lang="en-US" altLang="ko-KR" sz="1800" dirty="0"/>
              <a:t>Warning</a:t>
            </a:r>
            <a:r>
              <a:rPr lang="ko-KR" altLang="en-US" sz="1800" dirty="0"/>
              <a:t> 또는 </a:t>
            </a:r>
            <a:r>
              <a:rPr lang="en-US" altLang="ko-KR" sz="1800" dirty="0"/>
              <a:t>Error</a:t>
            </a:r>
            <a:endParaRPr lang="ko-KR" altLang="en-US" sz="1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045C9D-6DD5-B06A-5DA8-AA372929FE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DC8CA-A9F9-4EC8-AD8D-2AF6297B8019}"/>
              </a:ext>
            </a:extLst>
          </p:cNvPr>
          <p:cNvSpPr txBox="1"/>
          <p:nvPr/>
        </p:nvSpPr>
        <p:spPr>
          <a:xfrm>
            <a:off x="971600" y="1988840"/>
            <a:ext cx="7272808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b); </a:t>
            </a:r>
            <a:r>
              <a:rPr lang="en-US" altLang="ko-KR" sz="2400" i="1" dirty="0">
                <a:solidFill>
                  <a:srgbClr val="A0A1A7"/>
                </a:solidFill>
                <a:latin typeface="Consolas" panose="020B0609020204030204" pitchFamily="49" charset="0"/>
              </a:rPr>
              <a:t>// a, b : </a:t>
            </a:r>
            <a:r>
              <a:rPr lang="ko-KR" altLang="en-US" sz="2400" i="1" dirty="0">
                <a:solidFill>
                  <a:srgbClr val="A0A1A7"/>
                </a:solidFill>
                <a:latin typeface="Consolas" panose="020B0609020204030204" pitchFamily="49" charset="0"/>
              </a:rPr>
              <a:t>매개변수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1F47A-D8AB-C960-53B2-644EE340AD6B}"/>
              </a:ext>
            </a:extLst>
          </p:cNvPr>
          <p:cNvSpPr txBox="1"/>
          <p:nvPr/>
        </p:nvSpPr>
        <p:spPr>
          <a:xfrm>
            <a:off x="971600" y="3945831"/>
            <a:ext cx="7272808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pl-PL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l-PL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z = Add(x, y);</a:t>
            </a:r>
            <a:r>
              <a:rPr lang="en-US" altLang="ko-KR" dirty="0">
                <a:solidFill>
                  <a:srgbClr val="383A42"/>
                </a:solidFill>
                <a:latin typeface="Consolas" panose="020B0609020204030204" pitchFamily="49" charset="0"/>
              </a:rPr>
              <a:t> </a:t>
            </a:r>
            <a:r>
              <a:rPr lang="en-US" altLang="ko-KR" i="1" dirty="0">
                <a:solidFill>
                  <a:srgbClr val="A0A1A7"/>
                </a:solidFill>
                <a:latin typeface="Consolas" panose="020B0609020204030204" pitchFamily="49" charset="0"/>
              </a:rPr>
              <a:t>// x, y : </a:t>
            </a:r>
            <a:r>
              <a:rPr lang="ko-KR" altLang="en-US" i="1" dirty="0">
                <a:solidFill>
                  <a:srgbClr val="A0A1A7"/>
                </a:solidFill>
                <a:latin typeface="Consolas" panose="020B0609020204030204" pitchFamily="49" charset="0"/>
              </a:rPr>
              <a:t>인수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1482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07739-1CB7-3C04-B282-10EAD0470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C7C4A-EC9D-6F5C-7A71-0CB024A51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5.3.3 </a:t>
            </a:r>
            <a:r>
              <a:rPr lang="ko-KR" altLang="en-US" b="0" dirty="0"/>
              <a:t>값 전달 방식과 변수의 생명 시간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1DC24C-3E04-B335-75E4-A1C302BB6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값 전달 방식 </a:t>
            </a:r>
            <a:r>
              <a:rPr lang="en-US" altLang="ko-KR" dirty="0"/>
              <a:t>(Call by Value)</a:t>
            </a:r>
          </a:p>
          <a:p>
            <a:pPr lvl="1"/>
            <a:r>
              <a:rPr lang="en-US" altLang="ko-KR" dirty="0"/>
              <a:t>C </a:t>
            </a:r>
            <a:r>
              <a:rPr lang="ko-KR" altLang="en-US" dirty="0"/>
              <a:t>언어 기본 함수 호출 방식</a:t>
            </a:r>
          </a:p>
          <a:p>
            <a:pPr lvl="1"/>
            <a:r>
              <a:rPr lang="ko-KR" altLang="en-US" dirty="0"/>
              <a:t>인수</a:t>
            </a:r>
            <a:r>
              <a:rPr lang="en-US" altLang="ko-KR" dirty="0"/>
              <a:t>(argument)</a:t>
            </a:r>
            <a:r>
              <a:rPr lang="ko-KR" altLang="en-US" dirty="0"/>
              <a:t>의 값 → 매개변수</a:t>
            </a:r>
            <a:r>
              <a:rPr lang="en-US" altLang="ko-KR" dirty="0"/>
              <a:t>(parameter)</a:t>
            </a:r>
            <a:r>
              <a:rPr lang="ko-KR" altLang="en-US" dirty="0"/>
              <a:t>로 복사 전달</a:t>
            </a:r>
          </a:p>
          <a:p>
            <a:endParaRPr lang="ko-KR" altLang="en-US" dirty="0"/>
          </a:p>
          <a:p>
            <a:r>
              <a:rPr lang="ko-KR" altLang="en-US" dirty="0"/>
              <a:t>변수의 생명 시간 </a:t>
            </a:r>
            <a:r>
              <a:rPr lang="en-US" altLang="ko-KR" dirty="0"/>
              <a:t>(Lifetime)</a:t>
            </a:r>
          </a:p>
          <a:p>
            <a:pPr lvl="1"/>
            <a:r>
              <a:rPr lang="ko-KR" altLang="en-US" dirty="0"/>
              <a:t>매개변수</a:t>
            </a:r>
            <a:r>
              <a:rPr lang="en-US" altLang="ko-KR" dirty="0"/>
              <a:t>(parameter), </a:t>
            </a:r>
            <a:r>
              <a:rPr lang="ko-KR" altLang="en-US" dirty="0"/>
              <a:t>지역 변수</a:t>
            </a:r>
            <a:r>
              <a:rPr lang="en-US" altLang="ko-KR" dirty="0"/>
              <a:t>(local variable)</a:t>
            </a:r>
          </a:p>
          <a:p>
            <a:pPr lvl="1"/>
            <a:r>
              <a:rPr lang="ko-KR" altLang="en-US" dirty="0"/>
              <a:t>생성</a:t>
            </a:r>
          </a:p>
          <a:p>
            <a:pPr lvl="2"/>
            <a:r>
              <a:rPr lang="ko-KR" altLang="en-US" dirty="0"/>
              <a:t>함수 호출 시 생성</a:t>
            </a:r>
          </a:p>
          <a:p>
            <a:pPr lvl="1"/>
            <a:r>
              <a:rPr lang="ko-KR" altLang="en-US" dirty="0"/>
              <a:t>소멸</a:t>
            </a:r>
          </a:p>
          <a:p>
            <a:pPr lvl="2"/>
            <a:r>
              <a:rPr lang="ko-KR" altLang="en-US" dirty="0"/>
              <a:t>함수 실행 종료 시 소멸</a:t>
            </a:r>
          </a:p>
          <a:p>
            <a:pPr lvl="1"/>
            <a:r>
              <a:rPr lang="ko-KR" altLang="en-US" dirty="0"/>
              <a:t>저장소 위치</a:t>
            </a:r>
          </a:p>
          <a:p>
            <a:pPr lvl="2"/>
            <a:r>
              <a:rPr lang="en-US" altLang="ko-KR" dirty="0"/>
              <a:t>Stack </a:t>
            </a:r>
            <a:r>
              <a:rPr lang="ko-KR" altLang="en-US" dirty="0"/>
              <a:t>영역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3E13A2-D716-3D42-30A6-9361C8C801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7964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0D977-51FD-E440-DF45-3F7440A3B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</a:t>
            </a:r>
            <a:r>
              <a:rPr lang="ko-KR" altLang="en-US" dirty="0"/>
              <a:t>반환 값 </a:t>
            </a:r>
            <a:r>
              <a:rPr lang="en-US" altLang="ko-KR" dirty="0"/>
              <a:t>(Return Value)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31653-EBD2-F4BC-DD9B-B12D77E84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반환 값 </a:t>
            </a:r>
            <a:r>
              <a:rPr lang="en-US" altLang="ko-KR" dirty="0"/>
              <a:t>(Return Value)</a:t>
            </a:r>
          </a:p>
          <a:p>
            <a:pPr lvl="1"/>
            <a:r>
              <a:rPr lang="ko-KR" altLang="en-US" dirty="0"/>
              <a:t>함수 실행 결과를 호출한 위치로 전달</a:t>
            </a:r>
          </a:p>
          <a:p>
            <a:pPr lvl="1"/>
            <a:r>
              <a:rPr lang="en-US" altLang="ko-KR" dirty="0"/>
              <a:t>return </a:t>
            </a:r>
            <a:r>
              <a:rPr lang="ko-KR" altLang="en-US" dirty="0"/>
              <a:t>문 사용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en-US" altLang="ko-KR" dirty="0"/>
              <a:t>return </a:t>
            </a:r>
            <a:r>
              <a:rPr lang="ko-KR" altLang="en-US" dirty="0"/>
              <a:t>동작</a:t>
            </a:r>
          </a:p>
          <a:p>
            <a:pPr lvl="1"/>
            <a:r>
              <a:rPr lang="ko-KR" altLang="en-US" dirty="0"/>
              <a:t>함수 실행 종료</a:t>
            </a:r>
          </a:p>
          <a:p>
            <a:pPr lvl="1"/>
            <a:r>
              <a:rPr lang="ko-KR" altLang="en-US" dirty="0"/>
              <a:t>제어 흐름 → 호출 위치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반환 방법</a:t>
            </a:r>
          </a:p>
          <a:p>
            <a:pPr lvl="1"/>
            <a:r>
              <a:rPr lang="ko-KR" altLang="en-US" dirty="0"/>
              <a:t>변수 반환</a:t>
            </a:r>
          </a:p>
          <a:p>
            <a:pPr lvl="2"/>
            <a:r>
              <a:rPr lang="en-US" altLang="ko-KR" dirty="0"/>
              <a:t>Ex)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0000FF"/>
                </a:solidFill>
              </a:rPr>
              <a:t>return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002060"/>
                </a:solidFill>
              </a:rPr>
              <a:t>result</a:t>
            </a:r>
            <a:r>
              <a:rPr lang="en-US" altLang="ko-KR" dirty="0"/>
              <a:t>;</a:t>
            </a:r>
          </a:p>
          <a:p>
            <a:pPr lvl="1"/>
            <a:r>
              <a:rPr lang="ko-KR" altLang="en-US" dirty="0"/>
              <a:t>계산식 반환</a:t>
            </a:r>
          </a:p>
          <a:p>
            <a:pPr lvl="2"/>
            <a:r>
              <a:rPr lang="en-US" altLang="ko-KR" dirty="0"/>
              <a:t>Ex) </a:t>
            </a:r>
            <a:r>
              <a:rPr lang="en-US" altLang="ko-KR" dirty="0">
                <a:solidFill>
                  <a:srgbClr val="0000FF"/>
                </a:solidFill>
              </a:rPr>
              <a:t>return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002060"/>
                </a:solidFill>
              </a:rPr>
              <a:t>a + b</a:t>
            </a:r>
            <a:r>
              <a:rPr lang="en-US" altLang="ko-KR" dirty="0"/>
              <a:t>;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866C5A-6366-2253-9B0F-BB50E64501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2266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374DB-6653-38EB-4862-3357FA9D3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990F6-3892-8E67-12EE-6BC1DC0C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</a:t>
            </a:r>
            <a:r>
              <a:rPr lang="ko-KR" altLang="en-US" dirty="0"/>
              <a:t>반환 값 </a:t>
            </a:r>
            <a:r>
              <a:rPr lang="en-US" altLang="ko-KR" dirty="0"/>
              <a:t>(Return Value)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375AED-4226-EF6C-2AFE-6B39C4350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void </a:t>
            </a:r>
            <a:r>
              <a:rPr lang="ko-KR" altLang="en-US" dirty="0"/>
              <a:t>반환형</a:t>
            </a:r>
          </a:p>
          <a:p>
            <a:pPr lvl="1"/>
            <a:r>
              <a:rPr lang="ko-KR" altLang="en-US" dirty="0"/>
              <a:t>반환 값 없음</a:t>
            </a:r>
          </a:p>
          <a:p>
            <a:pPr lvl="1"/>
            <a:r>
              <a:rPr lang="ko-KR" altLang="en-US" dirty="0"/>
              <a:t>동작만 수행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081D865-2B89-A9F6-59D3-3F455693D3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2F945A-0709-A2C0-B3B1-8D9F315CF15B}"/>
              </a:ext>
            </a:extLst>
          </p:cNvPr>
          <p:cNvSpPr txBox="1"/>
          <p:nvPr/>
        </p:nvSpPr>
        <p:spPr>
          <a:xfrm>
            <a:off x="683568" y="2420888"/>
            <a:ext cx="7200800" cy="156966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ShowMessage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메시지를 출력합니다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4849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184F3-291E-3316-9CFC-65C4E34E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5.5 </a:t>
            </a:r>
            <a:r>
              <a:rPr lang="ko-KR" altLang="en-US" b="0" dirty="0"/>
              <a:t>랜덤 함수 </a:t>
            </a:r>
            <a:r>
              <a:rPr lang="en-US" altLang="ko-KR" b="0" dirty="0"/>
              <a:t>(rand())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3206C1-DB64-24C2-A2E1-247E837C5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rgbClr val="CC00FF"/>
                </a:solidFill>
              </a:rPr>
              <a:t>rand()</a:t>
            </a:r>
          </a:p>
          <a:p>
            <a:pPr lvl="1"/>
            <a:r>
              <a:rPr lang="ko-KR" altLang="en-US" sz="2000" dirty="0"/>
              <a:t>헤더 파일</a:t>
            </a:r>
            <a:r>
              <a:rPr lang="en-US" altLang="ko-KR" sz="2000" dirty="0"/>
              <a:t>: #include</a:t>
            </a:r>
            <a:r>
              <a:rPr lang="ko-KR" altLang="en-US" sz="2000" dirty="0"/>
              <a:t> </a:t>
            </a:r>
            <a:r>
              <a:rPr lang="en-US" altLang="ko-KR" sz="2000" dirty="0">
                <a:solidFill>
                  <a:srgbClr val="CC00FF"/>
                </a:solidFill>
              </a:rPr>
              <a:t>&lt;</a:t>
            </a:r>
            <a:r>
              <a:rPr lang="en-US" altLang="ko-KR" sz="2000" dirty="0" err="1">
                <a:solidFill>
                  <a:srgbClr val="CC00FF"/>
                </a:solidFill>
              </a:rPr>
              <a:t>stdlib.h</a:t>
            </a:r>
            <a:r>
              <a:rPr lang="en-US" altLang="ko-KR" sz="2000" dirty="0">
                <a:solidFill>
                  <a:srgbClr val="CC00FF"/>
                </a:solidFill>
              </a:rPr>
              <a:t>&gt;</a:t>
            </a:r>
          </a:p>
          <a:p>
            <a:pPr lvl="1"/>
            <a:r>
              <a:rPr lang="ko-KR" altLang="en-US" sz="2000" dirty="0"/>
              <a:t>반환 범위</a:t>
            </a:r>
            <a:r>
              <a:rPr lang="en-US" altLang="ko-KR" sz="2000" dirty="0"/>
              <a:t>: 0 ~ RAND_MAX</a:t>
            </a:r>
          </a:p>
          <a:p>
            <a:pPr lvl="1"/>
            <a:r>
              <a:rPr lang="en-US" altLang="ko-KR" sz="2000" dirty="0"/>
              <a:t>RAND_MAX</a:t>
            </a:r>
          </a:p>
          <a:p>
            <a:pPr lvl="2"/>
            <a:r>
              <a:rPr lang="ko-KR" altLang="en-US" sz="1800" dirty="0"/>
              <a:t>구현마다 다름</a:t>
            </a:r>
            <a:r>
              <a:rPr lang="en-US" altLang="ko-KR" sz="1800" dirty="0"/>
              <a:t>. </a:t>
            </a:r>
            <a:r>
              <a:rPr lang="ko-KR" altLang="en-US" sz="1800" dirty="0"/>
              <a:t>일반적으로 </a:t>
            </a:r>
            <a:r>
              <a:rPr lang="en-US" altLang="ko-KR" sz="1800" dirty="0"/>
              <a:t>32767 </a:t>
            </a:r>
            <a:r>
              <a:rPr lang="ko-KR" altLang="en-US" sz="1800" dirty="0"/>
              <a:t>이상</a:t>
            </a:r>
            <a:endParaRPr lang="en-US" altLang="ko-KR" sz="1800" dirty="0"/>
          </a:p>
          <a:p>
            <a:pPr lvl="3"/>
            <a:endParaRPr lang="en-US" altLang="ko-KR" dirty="0"/>
          </a:p>
          <a:p>
            <a:r>
              <a:rPr lang="ko-KR" altLang="en-US" sz="2400" dirty="0"/>
              <a:t>난수 종류</a:t>
            </a:r>
          </a:p>
          <a:p>
            <a:pPr lvl="1"/>
            <a:r>
              <a:rPr lang="ko-KR" altLang="en-US" sz="2000" dirty="0"/>
              <a:t>완전한 난수</a:t>
            </a:r>
            <a:r>
              <a:rPr lang="en-US" altLang="ko-KR" sz="2000" dirty="0"/>
              <a:t>(Random) </a:t>
            </a:r>
            <a:r>
              <a:rPr lang="ko-KR" altLang="en-US" sz="2000" dirty="0"/>
              <a:t>아님</a:t>
            </a:r>
          </a:p>
          <a:p>
            <a:pPr lvl="1"/>
            <a:r>
              <a:rPr lang="ko-KR" altLang="en-US" sz="2000" dirty="0"/>
              <a:t>알고리즘 기반 의사 난수 </a:t>
            </a:r>
            <a:r>
              <a:rPr lang="en-US" altLang="ko-KR" sz="2000" dirty="0"/>
              <a:t>(Pseudo-Random)</a:t>
            </a:r>
          </a:p>
          <a:p>
            <a:pPr lvl="3"/>
            <a:endParaRPr lang="en-US" altLang="ko-KR" sz="1400" dirty="0"/>
          </a:p>
          <a:p>
            <a:r>
              <a:rPr lang="ko-KR" altLang="en-US" sz="2400" dirty="0"/>
              <a:t>주의</a:t>
            </a:r>
          </a:p>
          <a:p>
            <a:pPr lvl="1"/>
            <a:r>
              <a:rPr lang="en-US" altLang="ko-KR" sz="2000" dirty="0"/>
              <a:t>RAND_MAX </a:t>
            </a:r>
            <a:r>
              <a:rPr lang="ko-KR" altLang="en-US" sz="2000" dirty="0"/>
              <a:t>작음</a:t>
            </a:r>
          </a:p>
          <a:p>
            <a:pPr lvl="1"/>
            <a:r>
              <a:rPr lang="ko-KR" altLang="en-US" sz="2000" dirty="0"/>
              <a:t>난수 품질 좋지 않음 → 교육용 </a:t>
            </a:r>
            <a:r>
              <a:rPr lang="en-US" altLang="ko-KR" sz="2000" dirty="0"/>
              <a:t>/ </a:t>
            </a:r>
            <a:r>
              <a:rPr lang="ko-KR" altLang="en-US" sz="2000" dirty="0"/>
              <a:t>간단한 테스트 코드에 적합</a:t>
            </a:r>
          </a:p>
          <a:p>
            <a:pPr lvl="1"/>
            <a:r>
              <a:rPr lang="ko-KR" altLang="en-US" sz="2000" dirty="0"/>
              <a:t>실제 게임 개발</a:t>
            </a:r>
          </a:p>
          <a:p>
            <a:pPr lvl="2"/>
            <a:r>
              <a:rPr lang="ko-KR" altLang="en-US" sz="1800" dirty="0"/>
              <a:t>더 좋은 </a:t>
            </a:r>
            <a:r>
              <a:rPr lang="en-US" altLang="ko-KR" sz="1800" dirty="0"/>
              <a:t>RNG </a:t>
            </a:r>
            <a:r>
              <a:rPr lang="ko-KR" altLang="en-US" sz="1800" dirty="0"/>
              <a:t>사용</a:t>
            </a:r>
            <a:r>
              <a:rPr lang="en-US" altLang="ko-KR" sz="1800" dirty="0"/>
              <a:t>. </a:t>
            </a:r>
            <a:r>
              <a:rPr lang="ko-KR" altLang="en-US" sz="1800" dirty="0"/>
              <a:t>예</a:t>
            </a:r>
            <a:r>
              <a:rPr lang="en-US" altLang="ko-KR" sz="1800" dirty="0"/>
              <a:t>: C++ Mersenne Twister (std::mt19937)</a:t>
            </a:r>
            <a:endParaRPr lang="ko-KR" altLang="en-US" sz="1800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4DD6F4-C0D7-9EBC-4EF6-72CEE94450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314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63A16-4DEE-14A4-FEAC-8CA72082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45A14-C8B0-82A8-7D94-36E109BE8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5.5 </a:t>
            </a:r>
            <a:r>
              <a:rPr lang="ko-KR" altLang="en-US" b="0" dirty="0"/>
              <a:t>랜덤 함수 </a:t>
            </a:r>
            <a:r>
              <a:rPr lang="en-US" altLang="ko-KR" b="0" dirty="0"/>
              <a:t>(rand())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3D8898-9EDC-FA48-0BC8-235D2B783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난수 공식</a:t>
            </a:r>
          </a:p>
          <a:p>
            <a:pPr lvl="1"/>
            <a:r>
              <a:rPr lang="en-US" altLang="ko-KR" dirty="0"/>
              <a:t>[0, n-1]: rand() % n</a:t>
            </a:r>
          </a:p>
          <a:p>
            <a:pPr lvl="1"/>
            <a:r>
              <a:rPr lang="ko-KR" altLang="en-US" dirty="0"/>
              <a:t>일반 범위</a:t>
            </a:r>
            <a:r>
              <a:rPr lang="en-US" altLang="ko-KR" dirty="0"/>
              <a:t>: min + rand() % (max - min + 1)</a:t>
            </a:r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rand() % 10 // 0~9</a:t>
            </a:r>
          </a:p>
          <a:p>
            <a:pPr lvl="2"/>
            <a:r>
              <a:rPr lang="en-US" altLang="ko-KR" dirty="0"/>
              <a:t>1 + rand() % 6 // </a:t>
            </a:r>
            <a:r>
              <a:rPr lang="ko-KR" altLang="en-US" dirty="0"/>
              <a:t>주사위</a:t>
            </a:r>
            <a:endParaRPr lang="en-US" altLang="ko-KR" dirty="0"/>
          </a:p>
          <a:p>
            <a:pPr lvl="3"/>
            <a:endParaRPr lang="en-US" altLang="ko-KR" dirty="0"/>
          </a:p>
          <a:p>
            <a:r>
              <a:rPr lang="en-US" altLang="ko-KR" dirty="0">
                <a:solidFill>
                  <a:srgbClr val="CC00FF"/>
                </a:solidFill>
              </a:rPr>
              <a:t>srand()</a:t>
            </a:r>
          </a:p>
          <a:p>
            <a:pPr lvl="1"/>
            <a:r>
              <a:rPr lang="ko-KR" altLang="en-US" dirty="0"/>
              <a:t>난수 초기값 </a:t>
            </a:r>
            <a:r>
              <a:rPr lang="en-US" altLang="ko-KR" dirty="0"/>
              <a:t>(Seed)</a:t>
            </a:r>
          </a:p>
          <a:p>
            <a:pPr lvl="1"/>
            <a:r>
              <a:rPr lang="en-US" altLang="ko-KR" dirty="0"/>
              <a:t>Seed: </a:t>
            </a:r>
            <a:r>
              <a:rPr lang="ko-KR" altLang="en-US" dirty="0"/>
              <a:t>난수 시작 값</a:t>
            </a:r>
            <a:r>
              <a:rPr lang="en-US" altLang="ko-KR" dirty="0"/>
              <a:t>. Seed</a:t>
            </a:r>
            <a:r>
              <a:rPr lang="ko-KR" altLang="en-US" dirty="0"/>
              <a:t>가 동일하면 → 난수 순서 동일</a:t>
            </a:r>
            <a:endParaRPr lang="en-US" altLang="ko-KR" dirty="0"/>
          </a:p>
          <a:p>
            <a:pPr lvl="1"/>
            <a:r>
              <a:rPr lang="en-US" altLang="ko-KR" dirty="0"/>
              <a:t>time</a:t>
            </a:r>
            <a:r>
              <a:rPr lang="ko-KR" altLang="en-US" dirty="0"/>
              <a:t>을 사용한 실행마다 다른 </a:t>
            </a:r>
            <a:r>
              <a:rPr lang="en-US" altLang="ko-KR" dirty="0"/>
              <a:t>Seed</a:t>
            </a:r>
            <a:r>
              <a:rPr lang="ko-KR" altLang="en-US" dirty="0"/>
              <a:t> 생성</a:t>
            </a:r>
          </a:p>
          <a:p>
            <a:pPr lvl="2"/>
            <a:r>
              <a:rPr lang="en-US" altLang="ko-KR" dirty="0">
                <a:solidFill>
                  <a:srgbClr val="CC00FF"/>
                </a:solidFill>
              </a:rPr>
              <a:t>srand((unsigned int)time(NULL));</a:t>
            </a:r>
          </a:p>
          <a:p>
            <a:pPr lvl="1"/>
            <a:r>
              <a:rPr lang="ko-KR" altLang="en-US" dirty="0"/>
              <a:t>주의</a:t>
            </a:r>
          </a:p>
          <a:p>
            <a:pPr lvl="2"/>
            <a:r>
              <a:rPr lang="ko-KR" altLang="en-US" dirty="0"/>
              <a:t>프로그램 시작 시 한 번만 호출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F3A97C-EDDE-E6D2-A248-B503037E96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631556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B68E7-7632-6411-8174-32EAD262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5.6 </a:t>
            </a:r>
            <a:r>
              <a:rPr lang="ko-KR" altLang="en-US" b="0" dirty="0"/>
              <a:t>타임 함수 </a:t>
            </a:r>
            <a:r>
              <a:rPr lang="en-US" altLang="ko-KR" b="0" dirty="0"/>
              <a:t>(time())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B326D-786B-4E07-9375-A2CBB7D2C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time()</a:t>
            </a:r>
          </a:p>
          <a:p>
            <a:pPr lvl="1"/>
            <a:r>
              <a:rPr lang="ko-KR" altLang="en-US" sz="1600" dirty="0"/>
              <a:t>헤더 파일</a:t>
            </a:r>
            <a:r>
              <a:rPr lang="en-US" altLang="ko-KR" sz="1600" dirty="0"/>
              <a:t>: #include</a:t>
            </a:r>
            <a:r>
              <a:rPr lang="ko-KR" altLang="en-US" sz="1600" dirty="0"/>
              <a:t> </a:t>
            </a:r>
            <a:r>
              <a:rPr lang="en-US" altLang="ko-KR" sz="1600" dirty="0">
                <a:solidFill>
                  <a:srgbClr val="CC00FF"/>
                </a:solidFill>
              </a:rPr>
              <a:t>&lt;time.h&gt;</a:t>
            </a:r>
            <a:endParaRPr lang="ko-KR" altLang="en-US" sz="1600" dirty="0">
              <a:solidFill>
                <a:srgbClr val="CC00FF"/>
              </a:solidFill>
            </a:endParaRPr>
          </a:p>
          <a:p>
            <a:pPr lvl="1"/>
            <a:r>
              <a:rPr lang="ko-KR" altLang="en-US" sz="1600" dirty="0"/>
              <a:t>기준 시간</a:t>
            </a:r>
            <a:r>
              <a:rPr lang="en-US" altLang="ko-KR" sz="1600" dirty="0"/>
              <a:t>: 1970-01-01 00:00:00 (UTC) </a:t>
            </a:r>
            <a:r>
              <a:rPr lang="ko-KR" altLang="en-US" sz="1600" dirty="0"/>
              <a:t>이후 경과 시간 → </a:t>
            </a:r>
            <a:r>
              <a:rPr lang="en-US" altLang="ko-KR" sz="1600" dirty="0"/>
              <a:t>UNIX Time / Epoch Time</a:t>
            </a:r>
          </a:p>
          <a:p>
            <a:pPr lvl="1"/>
            <a:r>
              <a:rPr lang="en-US" altLang="ko-KR" sz="1600" dirty="0"/>
              <a:t>time(NULL): </a:t>
            </a:r>
            <a:r>
              <a:rPr lang="ko-KR" altLang="en-US" sz="1600" dirty="0"/>
              <a:t>현재 시간을 초 단위로 반환</a:t>
            </a:r>
            <a:endParaRPr lang="ko-KR" altLang="en-US" sz="2000" dirty="0"/>
          </a:p>
          <a:p>
            <a:endParaRPr lang="en-US" altLang="ko-KR" sz="2000" dirty="0"/>
          </a:p>
          <a:p>
            <a:r>
              <a:rPr lang="ko-KR" altLang="en-US" sz="2000" dirty="0"/>
              <a:t>난수 </a:t>
            </a:r>
            <a:r>
              <a:rPr lang="en-US" altLang="ko-KR" sz="2000" dirty="0"/>
              <a:t>seed </a:t>
            </a:r>
            <a:r>
              <a:rPr lang="ko-KR" altLang="en-US" sz="2000" dirty="0"/>
              <a:t>설정</a:t>
            </a:r>
          </a:p>
          <a:p>
            <a:pPr lvl="1"/>
            <a:r>
              <a:rPr lang="en-US" altLang="ko-KR" sz="1600" dirty="0"/>
              <a:t>srand((unsigned int)time(NULL)); → </a:t>
            </a:r>
            <a:r>
              <a:rPr lang="ko-KR" altLang="en-US" sz="1600" dirty="0"/>
              <a:t>프로그램 실행마다 다른 난수 시퀀스</a:t>
            </a:r>
          </a:p>
          <a:p>
            <a:endParaRPr lang="en-US" altLang="ko-KR" sz="2000" dirty="0"/>
          </a:p>
          <a:p>
            <a:r>
              <a:rPr lang="ko-KR" altLang="en-US" sz="2000" dirty="0"/>
              <a:t>범위 난수 생성</a:t>
            </a:r>
          </a:p>
          <a:p>
            <a:pPr lvl="1"/>
            <a:r>
              <a:rPr lang="ko-KR" altLang="en-US" sz="1600" dirty="0"/>
              <a:t>기본 공식</a:t>
            </a:r>
            <a:r>
              <a:rPr lang="en-US" altLang="ko-KR" sz="1600" dirty="0"/>
              <a:t>: min + rand() % (max - min + 1)</a:t>
            </a:r>
          </a:p>
          <a:p>
            <a:pPr lvl="1"/>
            <a:r>
              <a:rPr lang="ko-KR" altLang="en-US" sz="1600" dirty="0"/>
              <a:t>예</a:t>
            </a:r>
            <a:r>
              <a:rPr lang="en-US" altLang="ko-KR" sz="1600" dirty="0"/>
              <a:t>: 1 + rand() % 6   → </a:t>
            </a:r>
            <a:r>
              <a:rPr lang="ko-KR" altLang="en-US" sz="1600" dirty="0"/>
              <a:t>주사위</a:t>
            </a:r>
          </a:p>
          <a:p>
            <a:endParaRPr lang="en-US" altLang="ko-KR" sz="2000" dirty="0"/>
          </a:p>
          <a:p>
            <a:r>
              <a:rPr lang="ko-KR" altLang="en-US" sz="2000" dirty="0"/>
              <a:t>난수 함수 만들기</a:t>
            </a:r>
            <a:r>
              <a:rPr lang="en-US" altLang="ko-KR" sz="2000" dirty="0"/>
              <a:t>(minVal,</a:t>
            </a:r>
            <a:r>
              <a:rPr lang="ko-KR" altLang="en-US" sz="2000" dirty="0"/>
              <a:t> </a:t>
            </a:r>
            <a:r>
              <a:rPr lang="en-US" altLang="ko-KR" sz="2000" dirty="0"/>
              <a:t>maxVal)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F97C65-32F9-1960-548F-0CE203824A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40A55-76BD-8C0B-655C-B29C67407601}"/>
              </a:ext>
            </a:extLst>
          </p:cNvPr>
          <p:cNvSpPr txBox="1"/>
          <p:nvPr/>
        </p:nvSpPr>
        <p:spPr>
          <a:xfrm>
            <a:off x="539750" y="5201186"/>
            <a:ext cx="7488634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GetRandom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minVal,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maxVal)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minVal + rand() % (maxVal - minVal +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40583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145A6-63AC-2B56-3075-6402A3CB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5.7 </a:t>
            </a:r>
            <a:r>
              <a:rPr lang="ko-KR" altLang="en-US" dirty="0"/>
              <a:t>변수의 범위와 생명 시간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8501F3-6764-70A8-3A4F-587844637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변수의 저장 위치</a:t>
            </a:r>
            <a:r>
              <a:rPr lang="en-US" altLang="ko-KR" dirty="0"/>
              <a:t>, </a:t>
            </a:r>
            <a:r>
              <a:rPr lang="ko-KR" altLang="en-US" dirty="0"/>
              <a:t>범위</a:t>
            </a:r>
            <a:r>
              <a:rPr lang="en-US" altLang="ko-KR" dirty="0"/>
              <a:t>, </a:t>
            </a:r>
            <a:r>
              <a:rPr lang="ko-KR" altLang="en-US" dirty="0"/>
              <a:t>생명시간 결정 요소</a:t>
            </a:r>
            <a:endParaRPr lang="en-US" altLang="ko-KR" dirty="0"/>
          </a:p>
          <a:p>
            <a:pPr lvl="1"/>
            <a:r>
              <a:rPr lang="ko-KR" altLang="en-US" dirty="0"/>
              <a:t>선언 위치</a:t>
            </a:r>
          </a:p>
          <a:p>
            <a:pPr lvl="1"/>
            <a:r>
              <a:rPr lang="en-US" altLang="ko-KR" dirty="0"/>
              <a:t>Storage class </a:t>
            </a:r>
            <a:r>
              <a:rPr lang="ko-KR" altLang="en-US" dirty="0"/>
              <a:t>키워드</a:t>
            </a:r>
            <a:endParaRPr lang="en-US" altLang="ko-KR" dirty="0"/>
          </a:p>
          <a:p>
            <a:pPr lvl="2"/>
            <a:endParaRPr lang="ko-KR" altLang="en-US" dirty="0"/>
          </a:p>
          <a:p>
            <a:r>
              <a:rPr lang="ko-KR" altLang="en-US" dirty="0"/>
              <a:t>대표적인 변수 종류</a:t>
            </a:r>
          </a:p>
          <a:p>
            <a:pPr lvl="1"/>
            <a:r>
              <a:rPr lang="ko-KR" altLang="en-US" dirty="0"/>
              <a:t>지역 변수 </a:t>
            </a:r>
            <a:r>
              <a:rPr lang="en-US" altLang="ko-KR" dirty="0"/>
              <a:t>(Local Variable)</a:t>
            </a:r>
          </a:p>
          <a:p>
            <a:pPr lvl="1"/>
            <a:r>
              <a:rPr lang="ko-KR" altLang="en-US" dirty="0"/>
              <a:t>전역 변수 </a:t>
            </a:r>
            <a:r>
              <a:rPr lang="en-US" altLang="ko-KR" dirty="0"/>
              <a:t>(Global Variable)</a:t>
            </a:r>
          </a:p>
          <a:p>
            <a:pPr lvl="1"/>
            <a:r>
              <a:rPr lang="en-US" altLang="ko-KR" dirty="0"/>
              <a:t>static </a:t>
            </a:r>
            <a:r>
              <a:rPr lang="ko-KR" altLang="en-US" dirty="0"/>
              <a:t>변수</a:t>
            </a:r>
          </a:p>
          <a:p>
            <a:pPr lvl="1"/>
            <a:r>
              <a:rPr lang="en-US" altLang="ko-KR" dirty="0"/>
              <a:t>register </a:t>
            </a:r>
            <a:r>
              <a:rPr lang="ko-KR" altLang="en-US" dirty="0"/>
              <a:t>변수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630E2A-695D-985F-5E1D-FA036237EA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77908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D6667-DEE4-0DEC-D890-17F3CA036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BE64FC-68FC-5822-149A-051E19D44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5.7 </a:t>
            </a:r>
            <a:r>
              <a:rPr lang="ko-KR" altLang="en-US" dirty="0"/>
              <a:t>프로그램 메모리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2EAC96-ACFC-D000-7E9D-3E1252842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영역 → 프로그램 코드</a:t>
            </a:r>
            <a:endParaRPr lang="en-US" altLang="ko-KR" dirty="0"/>
          </a:p>
          <a:p>
            <a:r>
              <a:rPr lang="en-US" altLang="ko-KR" dirty="0"/>
              <a:t>Global / Static → </a:t>
            </a:r>
            <a:r>
              <a:rPr lang="ko-KR" altLang="en-US" dirty="0"/>
              <a:t>전역 변수</a:t>
            </a:r>
            <a:r>
              <a:rPr lang="en-US" altLang="ko-KR" dirty="0"/>
              <a:t>, static </a:t>
            </a:r>
            <a:r>
              <a:rPr lang="ko-KR" altLang="en-US" dirty="0"/>
              <a:t>변수</a:t>
            </a:r>
            <a:endParaRPr lang="en-US" altLang="ko-KR" dirty="0"/>
          </a:p>
          <a:p>
            <a:r>
              <a:rPr lang="en-US" altLang="ko-KR" dirty="0"/>
              <a:t>Heap → </a:t>
            </a:r>
            <a:r>
              <a:rPr lang="ko-KR" altLang="en-US" dirty="0"/>
              <a:t>동적 메모리</a:t>
            </a:r>
            <a:endParaRPr lang="en-US" altLang="ko-KR" dirty="0"/>
          </a:p>
          <a:p>
            <a:r>
              <a:rPr lang="en-US" altLang="ko-KR" dirty="0"/>
              <a:t>Stack → </a:t>
            </a:r>
            <a:r>
              <a:rPr lang="ko-KR" altLang="en-US" dirty="0"/>
              <a:t>지역 변수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C0C03B-2126-6D69-C003-8E33AC6E19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28643-F3AE-8387-86B4-725B1ACE21AB}"/>
              </a:ext>
            </a:extLst>
          </p:cNvPr>
          <p:cNvSpPr txBox="1"/>
          <p:nvPr/>
        </p:nvSpPr>
        <p:spPr>
          <a:xfrm>
            <a:off x="5687367" y="2867818"/>
            <a:ext cx="3456633" cy="3693319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┌───────────────────────┐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Code / Text Segment   │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├───────────────────────┤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Global / Static Data  │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(.data / .bss)        │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├───────────────────────┤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  Heap (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      │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        ↑             │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        │             │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        │             │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        ↓             │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Stack (local vars)    │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└───────────────────────┘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774867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38C0-6A89-8789-755B-A62947F3B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6FCD6-ACEA-ED6F-E22D-2D1B3113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5.7.1 </a:t>
            </a:r>
            <a:r>
              <a:rPr lang="ko-KR" altLang="en-US" dirty="0"/>
              <a:t>지역변수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F47EB4-A729-EE72-5929-3001B8FDB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지역 변수 </a:t>
            </a:r>
            <a:r>
              <a:rPr lang="en-US" altLang="ko-KR" sz="2400" dirty="0"/>
              <a:t>(Local Variable)</a:t>
            </a:r>
          </a:p>
          <a:p>
            <a:pPr lvl="1"/>
            <a:r>
              <a:rPr lang="ko-KR" altLang="en-US" sz="2000" dirty="0"/>
              <a:t>함수 내부에서 선언</a:t>
            </a:r>
          </a:p>
          <a:p>
            <a:pPr lvl="1"/>
            <a:r>
              <a:rPr lang="en-US" altLang="ko-KR" sz="2000" dirty="0"/>
              <a:t>Stack </a:t>
            </a:r>
            <a:r>
              <a:rPr lang="ko-KR" altLang="en-US" sz="2000" dirty="0"/>
              <a:t>영역에 저장</a:t>
            </a:r>
          </a:p>
          <a:p>
            <a:pPr lvl="1"/>
            <a:r>
              <a:rPr lang="ko-KR" altLang="en-US" sz="2000" dirty="0"/>
              <a:t>함수 종료 시 자동 소멸</a:t>
            </a:r>
            <a:endParaRPr lang="en-US" altLang="ko-KR" sz="2000" dirty="0"/>
          </a:p>
          <a:p>
            <a:pPr lvl="2"/>
            <a:endParaRPr lang="en-US" altLang="ko-KR" sz="1600" dirty="0"/>
          </a:p>
          <a:p>
            <a:r>
              <a:rPr lang="en-US" altLang="ko-KR" sz="2400" dirty="0"/>
              <a:t>Stack </a:t>
            </a:r>
            <a:r>
              <a:rPr lang="ko-KR" altLang="en-US" sz="2400" dirty="0"/>
              <a:t>특징</a:t>
            </a:r>
          </a:p>
          <a:p>
            <a:pPr lvl="1"/>
            <a:r>
              <a:rPr lang="ko-KR" altLang="en-US" sz="2000" dirty="0"/>
              <a:t>매우 빠른 메모리 접근</a:t>
            </a:r>
          </a:p>
          <a:p>
            <a:pPr lvl="2"/>
            <a:r>
              <a:rPr lang="en-US" altLang="ko-KR" sz="1600" dirty="0"/>
              <a:t>Stack Pointer</a:t>
            </a:r>
            <a:r>
              <a:rPr lang="ko-KR" altLang="en-US" sz="1600" dirty="0"/>
              <a:t>로 관리</a:t>
            </a:r>
          </a:p>
          <a:p>
            <a:pPr lvl="2"/>
            <a:r>
              <a:rPr lang="ko-KR" altLang="en-US" sz="1600" dirty="0"/>
              <a:t>함수 호출 → 공간 확보</a:t>
            </a:r>
          </a:p>
          <a:p>
            <a:pPr lvl="2"/>
            <a:r>
              <a:rPr lang="ko-KR" altLang="en-US" sz="1600" dirty="0"/>
              <a:t>함수 종료 → 자동 해제</a:t>
            </a:r>
          </a:p>
          <a:p>
            <a:pPr lvl="1"/>
            <a:r>
              <a:rPr lang="ko-KR" altLang="en-US" sz="2000" dirty="0"/>
              <a:t>높은 캐시 효율</a:t>
            </a:r>
          </a:p>
          <a:p>
            <a:pPr lvl="2"/>
            <a:r>
              <a:rPr lang="ko-KR" altLang="en-US" sz="1600" dirty="0"/>
              <a:t>연속된 메모리 구조</a:t>
            </a:r>
          </a:p>
          <a:p>
            <a:pPr lvl="2"/>
            <a:r>
              <a:rPr lang="en-US" altLang="ko-KR" sz="1600" dirty="0"/>
              <a:t>CPU Cache Hit </a:t>
            </a:r>
            <a:r>
              <a:rPr lang="ko-KR" altLang="en-US" sz="1600" dirty="0"/>
              <a:t>높음</a:t>
            </a:r>
          </a:p>
          <a:p>
            <a:pPr lvl="1"/>
            <a:r>
              <a:rPr lang="ko-KR" altLang="en-US" sz="2000" dirty="0"/>
              <a:t>크기 제한</a:t>
            </a:r>
          </a:p>
          <a:p>
            <a:pPr lvl="2"/>
            <a:r>
              <a:rPr lang="ko-KR" altLang="en-US" sz="1600" dirty="0"/>
              <a:t>운영체제마다 기본 스택 크기 존재</a:t>
            </a:r>
          </a:p>
          <a:p>
            <a:pPr lvl="2"/>
            <a:r>
              <a:rPr lang="ko-KR" altLang="en-US" sz="1600" dirty="0"/>
              <a:t>큰 배열 </a:t>
            </a:r>
            <a:r>
              <a:rPr lang="en-US" altLang="ko-KR" sz="1600" dirty="0"/>
              <a:t>/ </a:t>
            </a:r>
            <a:r>
              <a:rPr lang="ko-KR" altLang="en-US" sz="1600" dirty="0"/>
              <a:t>깊은 재귀 → </a:t>
            </a:r>
            <a:r>
              <a:rPr lang="en-US" altLang="ko-KR" sz="1600" dirty="0"/>
              <a:t>Stack Overflow </a:t>
            </a:r>
            <a:r>
              <a:rPr lang="ko-KR" altLang="en-US" sz="1600" dirty="0"/>
              <a:t>발생</a:t>
            </a:r>
          </a:p>
          <a:p>
            <a:endParaRPr lang="ko-KR" altLang="en-US" sz="2400" dirty="0"/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3688EE1-38AE-A9AD-1499-836E0B43CF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6A9F1-65FA-BA9B-BB96-2BA8E63EA7A4}"/>
              </a:ext>
            </a:extLst>
          </p:cNvPr>
          <p:cNvSpPr txBox="1"/>
          <p:nvPr/>
        </p:nvSpPr>
        <p:spPr>
          <a:xfrm>
            <a:off x="5903640" y="2627332"/>
            <a:ext cx="3240360" cy="3970318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+mn-ea"/>
                <a:ea typeface="+mn-ea"/>
              </a:rPr>
              <a:t>메모리 주소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+mn-ea"/>
                <a:ea typeface="+mn-ea"/>
              </a:rPr>
              <a:t>(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+mn-ea"/>
                <a:ea typeface="+mn-ea"/>
              </a:rPr>
              <a:t>높은 주소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+mn-ea"/>
                <a:ea typeface="+mn-ea"/>
              </a:rPr>
              <a:t>)</a:t>
            </a:r>
            <a:endParaRPr lang="ko-KR" altLang="en-US" sz="1400" b="1" dirty="0">
              <a:effectLst/>
              <a:latin typeface="+mn-ea"/>
              <a:ea typeface="+mn-ea"/>
            </a:endParaRPr>
          </a:p>
          <a:p>
            <a:pPr rtl="0">
              <a:buNone/>
            </a:pP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       ↓</a:t>
            </a:r>
            <a:endParaRPr lang="ko-KR" altLang="en-US" sz="1400" b="1" dirty="0">
              <a:effectLst/>
            </a:endParaRPr>
          </a:p>
          <a:p>
            <a:pPr rtl="0">
              <a:buNone/>
            </a:pP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┌──────────────────────────┐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이전 함수의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Stack Frame   │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├──────────────────────────┤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반환 주소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(Return Address) │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├──────────────────────────┤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    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가을체" panose="02030600000101010101" pitchFamily="18" charset="-127"/>
                <a:ea typeface="가을체" panose="02030600000101010101" pitchFamily="18" charset="-127"/>
              </a:rPr>
              <a:t>함수 매개변수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     │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  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(Parameters)         │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├──────────────────────────┤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    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+mn-ea"/>
                <a:ea typeface="+mn-ea"/>
              </a:rPr>
              <a:t>지역 변수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           │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(Local Variables)        │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├──────────────────────────┤</a:t>
            </a:r>
            <a:endParaRPr lang="ko-KR" altLang="en-US" sz="1400" b="1" dirty="0">
              <a:effectLst/>
            </a:endParaRPr>
          </a:p>
          <a:p>
            <a:pPr rtl="0">
              <a:buNone/>
            </a:pP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+mn-ea"/>
                <a:ea typeface="+mn-ea"/>
              </a:rPr>
              <a:t>임시 데이터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+mn-ea"/>
                <a:ea typeface="+mn-ea"/>
              </a:rPr>
              <a:t>/ 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+mn-ea"/>
                <a:ea typeface="+mn-ea"/>
              </a:rPr>
              <a:t>저장 레지스터   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│</a:t>
            </a:r>
            <a:endParaRPr lang="ko-KR" altLang="en-US" sz="1400" b="1" dirty="0">
              <a:effectLst/>
            </a:endParaRPr>
          </a:p>
          <a:p>
            <a:pPr>
              <a:buNone/>
            </a:pP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└──────────────────────────┘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↑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Stack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(SP)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메모리 주소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낮은 주소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23840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88514-EF74-5E34-7417-15F9DD8C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5.7.2 </a:t>
            </a:r>
            <a:r>
              <a:rPr lang="ko-KR" altLang="en-US" dirty="0"/>
              <a:t>지역변수 </a:t>
            </a:r>
            <a:r>
              <a:rPr lang="en-US" altLang="ko-KR" dirty="0"/>
              <a:t>– Scope / Lifetime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97B483-6688-CA06-1DCB-C1B6BE546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Scope</a:t>
            </a:r>
          </a:p>
          <a:p>
            <a:pPr lvl="1"/>
            <a:r>
              <a:rPr lang="ko-KR" altLang="en-US" dirty="0"/>
              <a:t>변수에 접근 가능한 범위</a:t>
            </a:r>
          </a:p>
          <a:p>
            <a:pPr lvl="1"/>
            <a:r>
              <a:rPr lang="ko-KR" altLang="en-US" dirty="0"/>
              <a:t>선언된 블록 내부에서만 사용 가능</a:t>
            </a:r>
            <a:endParaRPr lang="en-US" altLang="ko-KR" dirty="0"/>
          </a:p>
          <a:p>
            <a:pPr lvl="1"/>
            <a:r>
              <a:rPr lang="en-US" altLang="ko-KR" dirty="0"/>
              <a:t>Shadowing</a:t>
            </a:r>
          </a:p>
          <a:p>
            <a:pPr lvl="2"/>
            <a:r>
              <a:rPr lang="ko-KR" altLang="en-US" dirty="0"/>
              <a:t>내부 블록 변수가 외부 변수를 가림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Lifetime</a:t>
            </a:r>
          </a:p>
          <a:p>
            <a:pPr lvl="1"/>
            <a:r>
              <a:rPr lang="ko-KR" altLang="en-US" dirty="0"/>
              <a:t>블록 진입 → 생성</a:t>
            </a:r>
          </a:p>
          <a:p>
            <a:pPr lvl="1"/>
            <a:r>
              <a:rPr lang="ko-KR" altLang="en-US" dirty="0"/>
              <a:t>블록 종료 → 소멸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C5D96D-3952-4E3D-7751-1B7AE36224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E4D55-4BE8-18F7-140B-7C863D5FB19F}"/>
              </a:ext>
            </a:extLst>
          </p:cNvPr>
          <p:cNvSpPr txBox="1"/>
          <p:nvPr/>
        </p:nvSpPr>
        <p:spPr>
          <a:xfrm>
            <a:off x="1468327" y="3008222"/>
            <a:ext cx="3096344" cy="120032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Consolas" panose="020B0609020204030204" pitchFamily="49" charset="0"/>
              </a:rPr>
              <a:t>int value = 10;</a:t>
            </a:r>
            <a:br>
              <a:rPr lang="en-US" altLang="ko-KR" sz="1800" b="1" dirty="0">
                <a:latin typeface="Consolas" panose="020B0609020204030204" pitchFamily="49" charset="0"/>
              </a:rPr>
            </a:br>
            <a:r>
              <a:rPr lang="en-US" altLang="ko-KR" sz="1800" b="1" dirty="0">
                <a:latin typeface="Consolas" panose="020B0609020204030204" pitchFamily="49" charset="0"/>
              </a:rPr>
              <a:t>{</a:t>
            </a:r>
            <a:br>
              <a:rPr lang="en-US" altLang="ko-KR" sz="1800" b="1" dirty="0">
                <a:latin typeface="Consolas" panose="020B0609020204030204" pitchFamily="49" charset="0"/>
              </a:rPr>
            </a:br>
            <a:r>
              <a:rPr lang="en-US" altLang="ko-KR" sz="1800" b="1" dirty="0">
                <a:latin typeface="Consolas" panose="020B0609020204030204" pitchFamily="49" charset="0"/>
              </a:rPr>
              <a:t>    int value = 20;</a:t>
            </a:r>
            <a:br>
              <a:rPr lang="en-US" altLang="ko-KR" sz="1800" b="1" dirty="0">
                <a:latin typeface="Consolas" panose="020B0609020204030204" pitchFamily="49" charset="0"/>
              </a:rPr>
            </a:br>
            <a:r>
              <a:rPr lang="en-US" altLang="ko-KR" sz="1800" b="1" dirty="0">
                <a:latin typeface="Consolas" panose="020B0609020204030204" pitchFamily="49" charset="0"/>
              </a:rPr>
              <a:t>}</a:t>
            </a:r>
            <a:endParaRPr lang="ko-KR" altLang="en-US" sz="18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700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62DE4-07E7-F37D-F83E-10862F64B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5.7.4 </a:t>
            </a:r>
            <a:r>
              <a:rPr lang="ko-KR" altLang="en-US" b="0" dirty="0"/>
              <a:t>전역 변수</a:t>
            </a:r>
            <a:r>
              <a:rPr lang="en-US" altLang="ko-KR" b="0" dirty="0"/>
              <a:t>(Global Variable)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3F35C5-0F23-EA78-59DE-86308317F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전역 변수 </a:t>
            </a:r>
            <a:r>
              <a:rPr lang="en-US" altLang="ko-KR" dirty="0"/>
              <a:t>(Global Variable)</a:t>
            </a:r>
          </a:p>
          <a:p>
            <a:pPr lvl="1"/>
            <a:r>
              <a:rPr lang="ko-KR" altLang="en-US" dirty="0"/>
              <a:t>모든 함수 외부에서 선언 </a:t>
            </a:r>
            <a:endParaRPr lang="en-US" altLang="ko-KR" dirty="0"/>
          </a:p>
          <a:p>
            <a:pPr lvl="1"/>
            <a:r>
              <a:rPr lang="ko-KR" altLang="en-US" dirty="0"/>
              <a:t>프로그램 시작 시 생성</a:t>
            </a:r>
          </a:p>
          <a:p>
            <a:pPr lvl="1"/>
            <a:r>
              <a:rPr lang="ko-KR" altLang="en-US" dirty="0"/>
              <a:t>프로그램 종료 시 소멸</a:t>
            </a:r>
          </a:p>
          <a:p>
            <a:endParaRPr lang="ko-KR" altLang="en-US" dirty="0"/>
          </a:p>
          <a:p>
            <a:r>
              <a:rPr lang="ko-KR" altLang="en-US" dirty="0"/>
              <a:t>초기화</a:t>
            </a:r>
          </a:p>
          <a:p>
            <a:pPr lvl="1"/>
            <a:r>
              <a:rPr lang="ko-KR" altLang="en-US" dirty="0"/>
              <a:t>기본값으로 자동 초기화</a:t>
            </a:r>
          </a:p>
          <a:p>
            <a:endParaRPr lang="ko-KR" altLang="en-US" dirty="0"/>
          </a:p>
          <a:p>
            <a:r>
              <a:rPr lang="ko-KR" altLang="en-US" dirty="0"/>
              <a:t>주의</a:t>
            </a:r>
          </a:p>
          <a:p>
            <a:pPr lvl="1"/>
            <a:r>
              <a:rPr lang="ko-KR" altLang="en-US" dirty="0"/>
              <a:t>여러 곳에서 변경 가능</a:t>
            </a:r>
          </a:p>
          <a:p>
            <a:pPr lvl="1"/>
            <a:r>
              <a:rPr lang="ko-KR" altLang="en-US" dirty="0"/>
              <a:t>멀티 스레드 환경에서 위험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F3910D-B7CE-632D-5977-888A160666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750144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A3E85-8BA3-D48C-EEA6-E2811243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98FE0-A373-7CB4-8BFA-0C7A64A72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5.7.5 </a:t>
            </a:r>
            <a:r>
              <a:rPr lang="en-US" altLang="ko-KR" dirty="0"/>
              <a:t>static </a:t>
            </a:r>
            <a:r>
              <a:rPr lang="ko-KR" altLang="en-US" dirty="0"/>
              <a:t>변수</a:t>
            </a:r>
            <a:r>
              <a:rPr lang="en-US" altLang="ko-KR" b="0" dirty="0"/>
              <a:t>(Global Variable)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888D35-CF68-62F3-8F66-8E64FC97C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static </a:t>
            </a:r>
            <a:r>
              <a:rPr lang="ko-KR" altLang="en-US" dirty="0"/>
              <a:t>변수</a:t>
            </a:r>
          </a:p>
          <a:p>
            <a:pPr lvl="1"/>
            <a:r>
              <a:rPr lang="ko-KR" altLang="en-US" dirty="0"/>
              <a:t>정적 영역에 저장</a:t>
            </a:r>
          </a:p>
          <a:p>
            <a:pPr lvl="1"/>
            <a:r>
              <a:rPr lang="ko-KR" altLang="en-US" dirty="0"/>
              <a:t>프로그램 종료까지 유지</a:t>
            </a:r>
          </a:p>
          <a:p>
            <a:endParaRPr lang="ko-KR" altLang="en-US" dirty="0"/>
          </a:p>
          <a:p>
            <a:r>
              <a:rPr lang="ko-KR" altLang="en-US" dirty="0"/>
              <a:t>지역 </a:t>
            </a:r>
            <a:r>
              <a:rPr lang="en-US" altLang="ko-KR" dirty="0"/>
              <a:t>static</a:t>
            </a:r>
          </a:p>
          <a:p>
            <a:pPr lvl="1"/>
            <a:r>
              <a:rPr lang="en-US" altLang="ko-KR" dirty="0"/>
              <a:t>Scope → </a:t>
            </a:r>
            <a:r>
              <a:rPr lang="ko-KR" altLang="en-US" dirty="0"/>
              <a:t>함수 내부</a:t>
            </a:r>
          </a:p>
          <a:p>
            <a:pPr lvl="1"/>
            <a:r>
              <a:rPr lang="en-US" altLang="ko-KR" dirty="0"/>
              <a:t>Lifetime → </a:t>
            </a:r>
            <a:r>
              <a:rPr lang="ko-KR" altLang="en-US" dirty="0"/>
              <a:t>프로그램 전체</a:t>
            </a:r>
          </a:p>
          <a:p>
            <a:endParaRPr lang="ko-KR" altLang="en-US" dirty="0"/>
          </a:p>
          <a:p>
            <a:r>
              <a:rPr lang="ko-KR" altLang="en-US" dirty="0"/>
              <a:t>전역 </a:t>
            </a:r>
            <a:r>
              <a:rPr lang="en-US" altLang="ko-KR" dirty="0"/>
              <a:t>static</a:t>
            </a:r>
          </a:p>
          <a:p>
            <a:pPr lvl="1"/>
            <a:r>
              <a:rPr lang="ko-KR" altLang="en-US" dirty="0"/>
              <a:t>파일 내부에서만 접근 가능</a:t>
            </a:r>
          </a:p>
          <a:p>
            <a:pPr lvl="1"/>
            <a:r>
              <a:rPr lang="en-US" altLang="ko-KR" dirty="0"/>
              <a:t>internal linkage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7ED95B-2080-55B5-350E-4305E5D0E4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3A475-18A6-78A2-1ED9-D016369E9896}"/>
              </a:ext>
            </a:extLst>
          </p:cNvPr>
          <p:cNvSpPr txBox="1"/>
          <p:nvPr/>
        </p:nvSpPr>
        <p:spPr>
          <a:xfrm>
            <a:off x="5831881" y="2775486"/>
            <a:ext cx="3312119" cy="3785652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    프로그램 시작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│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변수 생성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↓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┌────────────────</a:t>
            </a:r>
            <a:r>
              <a:rPr lang="ko-KR" altLang="en-US" sz="1600" dirty="0">
                <a:solidFill>
                  <a:srgbClr val="383A42"/>
                </a:solidFill>
                <a:latin typeface="Consolas" panose="020B0609020204030204" pitchFamily="49" charset="0"/>
              </a:rPr>
              <a:t>─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───────┐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변수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정적 영역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│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                       │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프로그램 전체 동안 유지  │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                       │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    함수 호출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     │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    함수 호출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   │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    함수 호출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   │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│        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...            │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└────────────────────</a:t>
            </a:r>
            <a:r>
              <a:rPr lang="ko-KR" altLang="en-US" sz="1600" dirty="0">
                <a:solidFill>
                  <a:srgbClr val="383A42"/>
                </a:solidFill>
                <a:latin typeface="Consolas" panose="020B0609020204030204" pitchFamily="49" charset="0"/>
              </a:rPr>
              <a:t>─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───┘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↑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프로그램 종료 시 소멸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362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23AA-81FC-7769-085F-C8279EB69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C5F7A-F412-FC3B-C59B-F50EC8E4C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5.7.6 </a:t>
            </a:r>
            <a:r>
              <a:rPr lang="en-US" altLang="ko-KR" dirty="0"/>
              <a:t>register </a:t>
            </a:r>
            <a:r>
              <a:rPr lang="ko-KR" altLang="en-US" dirty="0"/>
              <a:t>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47BBF2-97CC-293F-C546-12FA8BC6A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register </a:t>
            </a:r>
            <a:r>
              <a:rPr lang="ko-KR" altLang="en-US" dirty="0"/>
              <a:t>변수</a:t>
            </a:r>
          </a:p>
          <a:p>
            <a:pPr lvl="1"/>
            <a:r>
              <a:rPr lang="en-US" altLang="ko-KR" dirty="0"/>
              <a:t>CPU </a:t>
            </a:r>
            <a:r>
              <a:rPr lang="ko-KR" altLang="en-US" dirty="0"/>
              <a:t>레지스터 사용 힌트</a:t>
            </a:r>
          </a:p>
          <a:p>
            <a:pPr lvl="1"/>
            <a:r>
              <a:rPr lang="ko-KR" altLang="en-US" dirty="0"/>
              <a:t>주소 연산자</a:t>
            </a:r>
            <a:r>
              <a:rPr lang="en-US" altLang="ko-KR" dirty="0"/>
              <a:t>(&amp;) </a:t>
            </a:r>
            <a:r>
              <a:rPr lang="ko-KR" altLang="en-US" dirty="0"/>
              <a:t>사용 불가</a:t>
            </a:r>
          </a:p>
          <a:p>
            <a:pPr lvl="1"/>
            <a:r>
              <a:rPr lang="ko-KR" altLang="en-US" dirty="0"/>
              <a:t>실제 레지스터 저장 여부는 컴파일러 결정</a:t>
            </a:r>
          </a:p>
          <a:p>
            <a:endParaRPr lang="en-US" altLang="ko-KR" dirty="0"/>
          </a:p>
          <a:p>
            <a:r>
              <a:rPr lang="ko-KR" altLang="en-US" dirty="0"/>
              <a:t>현대 컴파일러</a:t>
            </a:r>
          </a:p>
          <a:p>
            <a:pPr lvl="1"/>
            <a:r>
              <a:rPr lang="ko-KR" altLang="en-US" dirty="0"/>
              <a:t>자동 레지스터 할당 수행</a:t>
            </a:r>
          </a:p>
          <a:p>
            <a:pPr lvl="1"/>
            <a:r>
              <a:rPr lang="en-US" altLang="ko-KR" dirty="0"/>
              <a:t>register </a:t>
            </a:r>
            <a:r>
              <a:rPr lang="ko-KR" altLang="en-US" dirty="0"/>
              <a:t>키워드 사용 거의 없음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5F4BC8-3242-34A0-FE7B-34A1DEA9B4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859056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1903-3343-DF86-B43D-9F90315F7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978D31-6F78-E517-DA38-61C954903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5.8 </a:t>
            </a:r>
            <a:r>
              <a:rPr lang="ko-KR" altLang="en-US" b="0" dirty="0"/>
              <a:t>재귀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6E72D0-CD5F-09EA-AD80-EB06967AF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 dirty="0"/>
              <a:t>재귀 함수 </a:t>
            </a:r>
            <a:r>
              <a:rPr lang="en-US" altLang="ko-KR" sz="1800" dirty="0"/>
              <a:t>(Recursion)</a:t>
            </a:r>
          </a:p>
          <a:p>
            <a:pPr lvl="1"/>
            <a:r>
              <a:rPr lang="ko-KR" altLang="en-US" sz="1600" dirty="0"/>
              <a:t>자기 자신 호출 방식 함수</a:t>
            </a:r>
            <a:endParaRPr lang="en-US" altLang="ko-KR" sz="1600" dirty="0"/>
          </a:p>
          <a:p>
            <a:pPr lvl="2"/>
            <a:endParaRPr lang="ko-KR" altLang="en-US" sz="1200" dirty="0"/>
          </a:p>
          <a:p>
            <a:r>
              <a:rPr lang="ko-KR" altLang="en-US" sz="1800" dirty="0"/>
              <a:t>필수 요소</a:t>
            </a:r>
          </a:p>
          <a:p>
            <a:pPr lvl="1"/>
            <a:r>
              <a:rPr lang="ko-KR" altLang="en-US" sz="1600" dirty="0"/>
              <a:t>종료 조건 </a:t>
            </a:r>
            <a:r>
              <a:rPr lang="en-US" altLang="ko-KR" sz="1600" dirty="0"/>
              <a:t>(Base Case)</a:t>
            </a:r>
          </a:p>
          <a:p>
            <a:pPr lvl="1"/>
            <a:r>
              <a:rPr lang="ko-KR" altLang="en-US" sz="1600" dirty="0"/>
              <a:t>재귀 종료 조건</a:t>
            </a:r>
            <a:endParaRPr lang="en-US" altLang="ko-KR" sz="1600" dirty="0"/>
          </a:p>
          <a:p>
            <a:pPr lvl="2"/>
            <a:endParaRPr lang="ko-KR" altLang="en-US" sz="1200" dirty="0"/>
          </a:p>
          <a:p>
            <a:r>
              <a:rPr lang="ko-KR" altLang="en-US" sz="1800" dirty="0"/>
              <a:t>재귀 단계 </a:t>
            </a:r>
            <a:r>
              <a:rPr lang="en-US" altLang="ko-KR" sz="1800" dirty="0"/>
              <a:t>(Recursive Step)</a:t>
            </a:r>
          </a:p>
          <a:p>
            <a:pPr lvl="1"/>
            <a:r>
              <a:rPr lang="ko-KR" altLang="en-US" sz="1600" dirty="0"/>
              <a:t>더 작은 문제 → 자기 자신 호출</a:t>
            </a:r>
            <a:endParaRPr lang="en-US" altLang="ko-KR" sz="1600" dirty="0"/>
          </a:p>
          <a:p>
            <a:pPr lvl="2"/>
            <a:endParaRPr lang="ko-KR" altLang="en-US" sz="1200" dirty="0"/>
          </a:p>
          <a:p>
            <a:r>
              <a:rPr lang="ko-KR" altLang="en-US" sz="1800" dirty="0"/>
              <a:t>재귀 호출과 스택</a:t>
            </a:r>
          </a:p>
          <a:p>
            <a:pPr lvl="1"/>
            <a:r>
              <a:rPr lang="ko-KR" altLang="en-US" sz="1600" dirty="0"/>
              <a:t>재귀 호출 → </a:t>
            </a:r>
            <a:r>
              <a:rPr lang="en-US" altLang="ko-KR" sz="1600" dirty="0"/>
              <a:t>Stack </a:t>
            </a:r>
            <a:r>
              <a:rPr lang="ko-KR" altLang="en-US" sz="1600" dirty="0"/>
              <a:t>메모리 사용</a:t>
            </a:r>
          </a:p>
          <a:p>
            <a:pPr lvl="1"/>
            <a:r>
              <a:rPr lang="ko-KR" altLang="en-US" sz="1600" dirty="0"/>
              <a:t>재귀 호출 중첩 횟수 → 재귀 깊이 </a:t>
            </a:r>
            <a:r>
              <a:rPr lang="en-US" altLang="ko-KR" sz="1600" dirty="0"/>
              <a:t>(Recursion Depth)</a:t>
            </a:r>
          </a:p>
          <a:p>
            <a:pPr lvl="1"/>
            <a:r>
              <a:rPr lang="ko-KR" altLang="en-US" sz="1600" dirty="0"/>
              <a:t>재귀 깊이 증가 → </a:t>
            </a:r>
            <a:r>
              <a:rPr lang="en-US" altLang="ko-KR" sz="1600" dirty="0"/>
              <a:t>Stack </a:t>
            </a:r>
            <a:r>
              <a:rPr lang="ko-KR" altLang="en-US" sz="1600" dirty="0"/>
              <a:t>사용량 증가</a:t>
            </a:r>
          </a:p>
          <a:p>
            <a:pPr lvl="1"/>
            <a:r>
              <a:rPr lang="ko-KR" altLang="en-US" sz="1600" dirty="0"/>
              <a:t>종료 조건 오류 </a:t>
            </a:r>
            <a:r>
              <a:rPr lang="en-US" altLang="ko-KR" sz="1600" dirty="0"/>
              <a:t>/ </a:t>
            </a:r>
            <a:r>
              <a:rPr lang="ko-KR" altLang="en-US" sz="1600" dirty="0"/>
              <a:t>깊이 과다 → </a:t>
            </a:r>
            <a:r>
              <a:rPr lang="en-US" altLang="ko-KR" sz="1600" dirty="0"/>
              <a:t>Stack Overflow</a:t>
            </a:r>
          </a:p>
          <a:p>
            <a:pPr lvl="2"/>
            <a:endParaRPr lang="en-US" altLang="ko-KR" sz="1200" dirty="0"/>
          </a:p>
          <a:p>
            <a:r>
              <a:rPr lang="ko-KR" altLang="en-US" sz="1800" dirty="0"/>
              <a:t>대표적인 재귀 사용 예</a:t>
            </a:r>
          </a:p>
          <a:p>
            <a:pPr lvl="1"/>
            <a:r>
              <a:rPr lang="ko-KR" altLang="en-US" sz="1600" dirty="0"/>
              <a:t>파일 시스템 탐색 </a:t>
            </a:r>
            <a:r>
              <a:rPr lang="en-US" altLang="ko-KR" sz="1600" dirty="0"/>
              <a:t>(Directory Traversal)</a:t>
            </a:r>
          </a:p>
          <a:p>
            <a:pPr lvl="1"/>
            <a:r>
              <a:rPr lang="ko-KR" altLang="en-US" sz="1600" dirty="0"/>
              <a:t>트리 구조 탐색 </a:t>
            </a:r>
            <a:r>
              <a:rPr lang="en-US" altLang="ko-KR" sz="1600" dirty="0"/>
              <a:t>(Tree Traversal)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E6AE99-10DB-EA25-11DF-28C87F44F0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025159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E7587-2CCF-9C8E-F36B-1B65AE5AD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7DA53-F144-ED68-7ACC-A4CCEEE3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5.8 </a:t>
            </a:r>
            <a:r>
              <a:rPr lang="ko-KR" altLang="en-US" b="0" dirty="0"/>
              <a:t>재귀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CB295-4689-C88C-3568-5D18368D3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재귀 함수</a:t>
            </a:r>
            <a:r>
              <a:rPr lang="en-US" altLang="ko-KR" sz="2400" dirty="0"/>
              <a:t> </a:t>
            </a:r>
            <a:r>
              <a:rPr lang="ko-KR" altLang="en-US" sz="2400" dirty="0"/>
              <a:t>형태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000" dirty="0"/>
              <a:t>Sum </a:t>
            </a:r>
            <a:r>
              <a:rPr lang="ko-KR" altLang="en-US" sz="2000" dirty="0"/>
              <a:t>알고리즘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4D7415-32C4-9690-C7D9-C3F621969A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46170B-E203-0B5C-7BF8-7E9DE036334F}"/>
              </a:ext>
            </a:extLst>
          </p:cNvPr>
          <p:cNvSpPr txBox="1"/>
          <p:nvPr/>
        </p:nvSpPr>
        <p:spPr>
          <a:xfrm>
            <a:off x="539750" y="1340768"/>
            <a:ext cx="7632650" cy="267765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반환형 함수이름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매개변수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종료 조건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어떤 값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함수이름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더 작은 값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3A6712-357A-A61C-4139-02415144B38B}"/>
              </a:ext>
            </a:extLst>
          </p:cNvPr>
          <p:cNvSpPr txBox="1"/>
          <p:nvPr/>
        </p:nvSpPr>
        <p:spPr>
          <a:xfrm>
            <a:off x="539750" y="5101733"/>
            <a:ext cx="4572000" cy="83099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Sum(n) = n + Sum(n -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Sum(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(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종료 조건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3697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7F445-209A-DB9C-CE4B-0D182106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38528-02FB-10C0-5A17-A787EEA86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5.8 </a:t>
            </a:r>
            <a:r>
              <a:rPr lang="ko-KR" altLang="en-US" b="0" dirty="0"/>
              <a:t>재귀 함수 </a:t>
            </a:r>
            <a:r>
              <a:rPr lang="en-US" altLang="ko-KR" b="0" dirty="0"/>
              <a:t>- </a:t>
            </a:r>
            <a:r>
              <a:rPr lang="ko-KR" altLang="en-US" b="0" dirty="0"/>
              <a:t>재귀 </a:t>
            </a:r>
            <a:r>
              <a:rPr lang="en-US" altLang="ko-KR" b="0" dirty="0"/>
              <a:t>vs </a:t>
            </a:r>
            <a:r>
              <a:rPr lang="ko-KR" altLang="en-US" b="0" dirty="0"/>
              <a:t>반복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7C2A2C-375C-5633-6FE5-6832C5507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재귀</a:t>
            </a:r>
          </a:p>
          <a:p>
            <a:pPr lvl="1"/>
            <a:r>
              <a:rPr lang="ko-KR" altLang="en-US" sz="2000" dirty="0"/>
              <a:t>코드 구조 간결</a:t>
            </a:r>
          </a:p>
          <a:p>
            <a:pPr lvl="1"/>
            <a:r>
              <a:rPr lang="ko-KR" altLang="en-US" sz="2000" dirty="0"/>
              <a:t>알고리즘 표현 직관적</a:t>
            </a:r>
          </a:p>
          <a:p>
            <a:pPr lvl="1"/>
            <a:r>
              <a:rPr lang="ko-KR" altLang="en-US" sz="2000" dirty="0"/>
              <a:t>함수 호출 비용</a:t>
            </a:r>
          </a:p>
          <a:p>
            <a:pPr lvl="1"/>
            <a:r>
              <a:rPr lang="en-US" altLang="ko-KR" sz="2000" dirty="0"/>
              <a:t>Stack </a:t>
            </a:r>
            <a:r>
              <a:rPr lang="ko-KR" altLang="en-US" sz="2000" dirty="0"/>
              <a:t>사용 증가</a:t>
            </a:r>
          </a:p>
          <a:p>
            <a:endParaRPr lang="ko-KR" altLang="en-US" sz="2400" dirty="0"/>
          </a:p>
          <a:p>
            <a:r>
              <a:rPr lang="ko-KR" altLang="en-US" sz="2400" dirty="0"/>
              <a:t>반복</a:t>
            </a:r>
          </a:p>
          <a:p>
            <a:pPr lvl="1"/>
            <a:r>
              <a:rPr lang="ko-KR" altLang="en-US" sz="2000" dirty="0"/>
              <a:t>함수 호출 없음</a:t>
            </a:r>
          </a:p>
          <a:p>
            <a:pPr lvl="1"/>
            <a:r>
              <a:rPr lang="en-US" altLang="ko-KR" sz="2000" dirty="0"/>
              <a:t>Stack </a:t>
            </a:r>
            <a:r>
              <a:rPr lang="ko-KR" altLang="en-US" sz="2000" dirty="0"/>
              <a:t>사용 없음</a:t>
            </a:r>
          </a:p>
          <a:p>
            <a:pPr lvl="1"/>
            <a:r>
              <a:rPr lang="ko-KR" altLang="en-US" sz="2000" dirty="0"/>
              <a:t>성능 안정</a:t>
            </a:r>
            <a:endParaRPr lang="en-US" altLang="ko-KR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C36B6A-D494-3C49-1B78-65A643F6E6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944383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0068C-FD9D-CA98-F002-35E4A4D6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EC827F-2312-7251-0C79-18702BA3A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 </a:t>
            </a:r>
            <a:r>
              <a:rPr lang="ko-KR" altLang="en-US" b="0" dirty="0"/>
              <a:t>학습정리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D9164-2685-B671-4116-7FE6A2374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함수</a:t>
            </a:r>
          </a:p>
          <a:p>
            <a:pPr lvl="1"/>
            <a:r>
              <a:rPr lang="ko-KR" altLang="en-US" sz="1800" dirty="0"/>
              <a:t>프로그램 기본 단위</a:t>
            </a:r>
            <a:r>
              <a:rPr lang="en-US" altLang="ko-KR" sz="1800" dirty="0"/>
              <a:t>, </a:t>
            </a:r>
            <a:r>
              <a:rPr lang="ko-KR" altLang="en-US" sz="1800" dirty="0"/>
              <a:t>입력 매개변수</a:t>
            </a:r>
            <a:r>
              <a:rPr lang="en-US" altLang="ko-KR" sz="1800" dirty="0"/>
              <a:t>, </a:t>
            </a:r>
            <a:r>
              <a:rPr lang="ko-KR" altLang="en-US" sz="1800" dirty="0"/>
              <a:t>출력 반환값</a:t>
            </a:r>
            <a:endParaRPr lang="en-US" altLang="ko-KR" sz="1800" dirty="0"/>
          </a:p>
          <a:p>
            <a:pPr lvl="1"/>
            <a:r>
              <a:rPr lang="ko-KR" altLang="en-US" sz="1800" dirty="0"/>
              <a:t>함수 구성</a:t>
            </a:r>
            <a:r>
              <a:rPr lang="en-US" altLang="ko-KR" sz="1800" dirty="0"/>
              <a:t>: </a:t>
            </a:r>
            <a:r>
              <a:rPr lang="ko-KR" altLang="en-US" sz="1800" dirty="0"/>
              <a:t>반환형</a:t>
            </a:r>
            <a:r>
              <a:rPr lang="en-US" altLang="ko-KR" sz="1800" dirty="0"/>
              <a:t>, </a:t>
            </a:r>
            <a:r>
              <a:rPr lang="ko-KR" altLang="en-US" sz="1800" dirty="0"/>
              <a:t>함수 이름</a:t>
            </a:r>
            <a:r>
              <a:rPr lang="en-US" altLang="ko-KR" sz="1800" dirty="0"/>
              <a:t>, </a:t>
            </a:r>
            <a:r>
              <a:rPr lang="ko-KR" altLang="en-US" sz="1800" dirty="0"/>
              <a:t>매개변수 목록</a:t>
            </a:r>
            <a:r>
              <a:rPr lang="en-US" altLang="ko-KR" sz="1800" dirty="0"/>
              <a:t>, </a:t>
            </a:r>
            <a:r>
              <a:rPr lang="ko-KR" altLang="en-US" sz="1800" dirty="0"/>
              <a:t>함수 본문</a:t>
            </a:r>
            <a:r>
              <a:rPr lang="en-US" altLang="ko-KR" sz="1800" dirty="0"/>
              <a:t>, return </a:t>
            </a:r>
            <a:r>
              <a:rPr lang="ko-KR" altLang="en-US" sz="1800" dirty="0"/>
              <a:t>문</a:t>
            </a:r>
          </a:p>
          <a:p>
            <a:endParaRPr lang="ko-KR" altLang="en-US" sz="2400" dirty="0"/>
          </a:p>
          <a:p>
            <a:r>
              <a:rPr lang="ko-KR" altLang="en-US" sz="2400" dirty="0"/>
              <a:t>함수 선언</a:t>
            </a:r>
            <a:r>
              <a:rPr lang="en-US" altLang="ko-KR" sz="2400" dirty="0"/>
              <a:t>(Function Declaration)</a:t>
            </a:r>
          </a:p>
          <a:p>
            <a:pPr lvl="1"/>
            <a:r>
              <a:rPr lang="ko-KR" altLang="en-US" sz="1800" dirty="0"/>
              <a:t>함수 형태 사전 알림</a:t>
            </a:r>
            <a:r>
              <a:rPr lang="en-US" altLang="ko-KR" sz="1800" dirty="0"/>
              <a:t>, </a:t>
            </a:r>
            <a:r>
              <a:rPr lang="ko-KR" altLang="en-US" sz="1800" dirty="0"/>
              <a:t>파일 상단 작성</a:t>
            </a:r>
          </a:p>
          <a:p>
            <a:endParaRPr lang="ko-KR" altLang="en-US" sz="2400" dirty="0"/>
          </a:p>
          <a:p>
            <a:r>
              <a:rPr lang="ko-KR" altLang="en-US" sz="2400" dirty="0"/>
              <a:t>매개변수</a:t>
            </a:r>
            <a:r>
              <a:rPr lang="en-US" altLang="ko-KR" sz="2400" dirty="0"/>
              <a:t>(parameter)</a:t>
            </a:r>
          </a:p>
          <a:p>
            <a:pPr lvl="1"/>
            <a:r>
              <a:rPr lang="ko-KR" altLang="en-US" sz="1800" dirty="0"/>
              <a:t>함수 정의 변수</a:t>
            </a:r>
          </a:p>
          <a:p>
            <a:r>
              <a:rPr lang="ko-KR" altLang="en-US" sz="2400" dirty="0"/>
              <a:t>인수</a:t>
            </a:r>
            <a:r>
              <a:rPr lang="en-US" altLang="ko-KR" sz="2400" dirty="0"/>
              <a:t>(argument)</a:t>
            </a:r>
          </a:p>
          <a:p>
            <a:pPr lvl="1"/>
            <a:r>
              <a:rPr lang="ko-KR" altLang="en-US" sz="1800" dirty="0"/>
              <a:t>함수 호출 전달 값</a:t>
            </a:r>
          </a:p>
          <a:p>
            <a:endParaRPr lang="ko-KR" altLang="en-US" sz="2400" dirty="0"/>
          </a:p>
          <a:p>
            <a:r>
              <a:rPr lang="en-US" altLang="ko-KR" sz="2400" dirty="0"/>
              <a:t>C </a:t>
            </a:r>
            <a:r>
              <a:rPr lang="ko-KR" altLang="en-US" sz="2400" dirty="0"/>
              <a:t>언어 전달 방식</a:t>
            </a:r>
          </a:p>
          <a:p>
            <a:pPr lvl="1"/>
            <a:r>
              <a:rPr lang="ko-KR" altLang="en-US" sz="1800" dirty="0"/>
              <a:t>값 전달</a:t>
            </a:r>
            <a:r>
              <a:rPr lang="en-US" altLang="ko-KR" sz="1800" dirty="0"/>
              <a:t>(Call by Value)</a:t>
            </a:r>
            <a:endParaRPr lang="en-US" altLang="ko-KR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5BDA0-2EEC-A311-FE13-F232C3885E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08380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EF79B-7AE8-78D4-0103-766ACCD37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84DA3-B932-36D9-F5EC-C3D9C5984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 </a:t>
            </a:r>
            <a:r>
              <a:rPr lang="ko-KR" altLang="en-US" b="0" dirty="0"/>
              <a:t>학습정리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FE94B-2ADD-3451-BD93-AAE74A4B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난수 생성</a:t>
            </a:r>
          </a:p>
          <a:p>
            <a:pPr lvl="1"/>
            <a:r>
              <a:rPr lang="en-US" altLang="ko-KR" sz="1800" dirty="0"/>
              <a:t>rand()</a:t>
            </a:r>
          </a:p>
          <a:p>
            <a:pPr lvl="1"/>
            <a:r>
              <a:rPr lang="ko-KR" altLang="en-US" sz="1800" dirty="0"/>
              <a:t>난수 초기값 </a:t>
            </a:r>
            <a:r>
              <a:rPr lang="en-US" altLang="ko-KR" sz="1800" dirty="0"/>
              <a:t>srand()</a:t>
            </a:r>
          </a:p>
          <a:p>
            <a:pPr lvl="1"/>
            <a:r>
              <a:rPr lang="en-US" altLang="ko-KR" sz="1800" dirty="0"/>
              <a:t>seed </a:t>
            </a:r>
            <a:r>
              <a:rPr lang="ko-KR" altLang="en-US" sz="1800" dirty="0"/>
              <a:t>값 </a:t>
            </a:r>
            <a:r>
              <a:rPr lang="en-US" altLang="ko-KR" sz="1800" dirty="0"/>
              <a:t>time()</a:t>
            </a:r>
          </a:p>
          <a:p>
            <a:endParaRPr lang="en-US" altLang="ko-KR" sz="2400" dirty="0"/>
          </a:p>
          <a:p>
            <a:r>
              <a:rPr lang="ko-KR" altLang="en-US" sz="2400" dirty="0"/>
              <a:t>변수 종류</a:t>
            </a:r>
          </a:p>
          <a:p>
            <a:pPr lvl="1"/>
            <a:r>
              <a:rPr lang="ko-KR" altLang="en-US" sz="1800" dirty="0"/>
              <a:t>지역 변수 </a:t>
            </a:r>
            <a:r>
              <a:rPr lang="en-US" altLang="ko-KR" sz="1800" dirty="0"/>
              <a:t>(Local)</a:t>
            </a:r>
          </a:p>
          <a:p>
            <a:pPr lvl="1"/>
            <a:r>
              <a:rPr lang="ko-KR" altLang="en-US" sz="1800" dirty="0"/>
              <a:t>전역 변수 </a:t>
            </a:r>
            <a:r>
              <a:rPr lang="en-US" altLang="ko-KR" sz="1800" dirty="0"/>
              <a:t>(Global)</a:t>
            </a:r>
          </a:p>
          <a:p>
            <a:pPr lvl="1"/>
            <a:r>
              <a:rPr lang="en-US" altLang="ko-KR" sz="1800" dirty="0"/>
              <a:t>static </a:t>
            </a:r>
            <a:r>
              <a:rPr lang="ko-KR" altLang="en-US" sz="1800" dirty="0"/>
              <a:t>변수</a:t>
            </a:r>
          </a:p>
          <a:p>
            <a:pPr lvl="1"/>
            <a:r>
              <a:rPr lang="en-US" altLang="ko-KR" sz="1800" dirty="0"/>
              <a:t>register </a:t>
            </a:r>
            <a:r>
              <a:rPr lang="ko-KR" altLang="en-US" sz="1800" dirty="0"/>
              <a:t>변수</a:t>
            </a:r>
          </a:p>
          <a:p>
            <a:endParaRPr lang="en-US" altLang="ko-KR" sz="2400" dirty="0"/>
          </a:p>
          <a:p>
            <a:r>
              <a:rPr lang="ko-KR" altLang="en-US" sz="2400" dirty="0"/>
              <a:t>변수</a:t>
            </a:r>
          </a:p>
          <a:p>
            <a:pPr lvl="1"/>
            <a:r>
              <a:rPr lang="ko-KR" altLang="en-US" sz="1800" dirty="0"/>
              <a:t>범위</a:t>
            </a:r>
            <a:r>
              <a:rPr lang="en-US" altLang="ko-KR" sz="1800" dirty="0"/>
              <a:t>(Scope)</a:t>
            </a:r>
          </a:p>
          <a:p>
            <a:pPr lvl="1"/>
            <a:r>
              <a:rPr lang="ko-KR" altLang="en-US" sz="1800" dirty="0"/>
              <a:t>생명 시간</a:t>
            </a:r>
            <a:r>
              <a:rPr lang="en-US" altLang="ko-KR" sz="1800" dirty="0"/>
              <a:t>(Lifetime)</a:t>
            </a:r>
            <a:endParaRPr lang="en-US" altLang="ko-KR" sz="105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081000-178B-8652-DB8F-AD0109C6FD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596086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58885-D763-CC0E-8DE1-8D59E1CB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77106-10A5-7591-94ED-6B876BA01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5. </a:t>
            </a:r>
            <a:r>
              <a:rPr lang="ko-KR" altLang="en-US" b="0" dirty="0"/>
              <a:t>실습 및 과제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8FC2AD-8189-83C0-1B03-79674A949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1</a:t>
            </a:r>
          </a:p>
          <a:p>
            <a:pPr lvl="1"/>
            <a:r>
              <a:rPr lang="ko-KR" altLang="en-US" dirty="0"/>
              <a:t>덧셈</a:t>
            </a:r>
            <a:r>
              <a:rPr lang="en-US" altLang="ko-KR" dirty="0"/>
              <a:t>, </a:t>
            </a:r>
            <a:r>
              <a:rPr lang="ko-KR" altLang="en-US" dirty="0"/>
              <a:t>뺄셈</a:t>
            </a:r>
            <a:r>
              <a:rPr lang="en-US" altLang="ko-KR" dirty="0"/>
              <a:t>, </a:t>
            </a:r>
            <a:r>
              <a:rPr lang="ko-KR" altLang="en-US" dirty="0"/>
              <a:t>곱셈</a:t>
            </a:r>
            <a:r>
              <a:rPr lang="en-US" altLang="ko-KR" dirty="0"/>
              <a:t>, </a:t>
            </a:r>
            <a:r>
              <a:rPr lang="ko-KR" altLang="en-US" dirty="0"/>
              <a:t>나눗셈 함수</a:t>
            </a:r>
            <a:endParaRPr lang="en-US" altLang="ko-KR" dirty="0"/>
          </a:p>
          <a:p>
            <a:pPr lvl="1"/>
            <a:r>
              <a:rPr lang="en-US" altLang="ko-KR" dirty="0"/>
              <a:t>random </a:t>
            </a:r>
            <a:r>
              <a:rPr lang="ko-KR" altLang="en-US" dirty="0"/>
              <a:t>함수 이용</a:t>
            </a:r>
            <a:endParaRPr lang="en-US" altLang="ko-KR" dirty="0"/>
          </a:p>
          <a:p>
            <a:endParaRPr lang="en-US" altLang="ko-KR" sz="1050" dirty="0"/>
          </a:p>
          <a:p>
            <a:r>
              <a:rPr lang="ko-KR" altLang="en-US" dirty="0"/>
              <a:t>과제 </a:t>
            </a:r>
            <a:r>
              <a:rPr lang="en-US" altLang="ko-KR" dirty="0"/>
              <a:t>2</a:t>
            </a:r>
            <a:endParaRPr lang="ko-KR" altLang="en-US" sz="1050" dirty="0"/>
          </a:p>
          <a:p>
            <a:pPr lvl="1"/>
            <a:r>
              <a:rPr lang="ko-KR" altLang="en-US" dirty="0"/>
              <a:t>플레이어 체력</a:t>
            </a:r>
            <a:r>
              <a:rPr lang="en-US" altLang="ko-KR" dirty="0"/>
              <a:t>(HP), </a:t>
            </a:r>
            <a:r>
              <a:rPr lang="ko-KR" altLang="en-US" dirty="0"/>
              <a:t>마력</a:t>
            </a:r>
            <a:r>
              <a:rPr lang="en-US" altLang="ko-KR" dirty="0"/>
              <a:t>(MP)</a:t>
            </a:r>
            <a:r>
              <a:rPr lang="ko-KR" altLang="en-US" dirty="0"/>
              <a:t>을 전역 변수로 선언</a:t>
            </a:r>
            <a:r>
              <a:rPr lang="en-US" altLang="ko-KR" dirty="0"/>
              <a:t>, </a:t>
            </a:r>
            <a:r>
              <a:rPr lang="ko-KR" altLang="en-US" dirty="0"/>
              <a:t>출력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과제 </a:t>
            </a:r>
            <a:r>
              <a:rPr lang="en-US" altLang="ko-KR" dirty="0"/>
              <a:t>3</a:t>
            </a:r>
            <a:endParaRPr lang="ko-KR" altLang="en-US" sz="1050" dirty="0"/>
          </a:p>
          <a:p>
            <a:pPr lvl="1"/>
            <a:r>
              <a:rPr lang="ko-KR" altLang="en-US" dirty="0"/>
              <a:t>몹</a:t>
            </a:r>
            <a:r>
              <a:rPr lang="en-US" altLang="ko-KR" dirty="0"/>
              <a:t>1, </a:t>
            </a:r>
            <a:r>
              <a:rPr lang="ko-KR" altLang="en-US" dirty="0"/>
              <a:t>몹</a:t>
            </a:r>
            <a:r>
              <a:rPr lang="en-US" altLang="ko-KR" dirty="0"/>
              <a:t>2, </a:t>
            </a:r>
            <a:r>
              <a:rPr lang="ko-KR" altLang="en-US" dirty="0"/>
              <a:t>몹</a:t>
            </a:r>
            <a:r>
              <a:rPr lang="en-US" altLang="ko-KR" dirty="0"/>
              <a:t>3 </a:t>
            </a:r>
            <a:r>
              <a:rPr lang="ko-KR" altLang="en-US" dirty="0"/>
              <a:t>용 함수를 만들고</a:t>
            </a:r>
            <a:r>
              <a:rPr lang="en-US" altLang="ko-KR" dirty="0"/>
              <a:t>, </a:t>
            </a:r>
            <a:r>
              <a:rPr lang="ko-KR" altLang="en-US" dirty="0"/>
              <a:t>각 몹의 능력치</a:t>
            </a:r>
            <a:r>
              <a:rPr lang="en-US" altLang="ko-KR" dirty="0"/>
              <a:t>(stat)</a:t>
            </a:r>
            <a:endParaRPr lang="en-US" altLang="ko-KR" sz="105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237A91-5913-8888-8981-85DEA4595A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215630509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4248</TotalTime>
  <Words>2123</Words>
  <Application>Microsoft Office PowerPoint</Application>
  <PresentationFormat>화면 슬라이드 쇼(4:3)</PresentationFormat>
  <Paragraphs>363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HY견고딕</vt:lpstr>
      <vt:lpstr>가을체</vt:lpstr>
      <vt:lpstr>굴림</vt:lpstr>
      <vt:lpstr>Arial</vt:lpstr>
      <vt:lpstr>Consolas</vt:lpstr>
      <vt:lpstr>Wingdings</vt:lpstr>
      <vt:lpstr>기본 디자인</vt:lpstr>
      <vt:lpstr>05. 함수 (Function)</vt:lpstr>
      <vt:lpstr>05. 함수</vt:lpstr>
      <vt:lpstr>5.1 함수 정의(Function Definition)</vt:lpstr>
      <vt:lpstr>5.1 함수의 선언과 정의</vt:lpstr>
      <vt:lpstr>5.1 함수의 선언과 정의 – 함수의 구현</vt:lpstr>
      <vt:lpstr>5.1 함수의 선언과 정의 - 예</vt:lpstr>
      <vt:lpstr>5.2 함수 호출(Function Call)</vt:lpstr>
      <vt:lpstr>5.2 함수 호출(Function Call)</vt:lpstr>
      <vt:lpstr>5.2 함수 호출(Function Call)</vt:lpstr>
      <vt:lpstr>5.3 매개변수/인수</vt:lpstr>
      <vt:lpstr>5.3.3 값 전달 방식과 변수의 생명 시간</vt:lpstr>
      <vt:lpstr>5.4 반환 값 (Return Value)</vt:lpstr>
      <vt:lpstr>5.4 반환 값 (Return Value)</vt:lpstr>
      <vt:lpstr>5.5 랜덤 함수 (rand())</vt:lpstr>
      <vt:lpstr>5.5 랜덤 함수 (rand())</vt:lpstr>
      <vt:lpstr>5.6 타임 함수 (time())</vt:lpstr>
      <vt:lpstr>5.7 변수의 범위와 생명 시간</vt:lpstr>
      <vt:lpstr>5.7 프로그램 메모리 구조</vt:lpstr>
      <vt:lpstr>5.7.1 지역변수</vt:lpstr>
      <vt:lpstr>5.7.2 지역변수 – Scope / Lifetime</vt:lpstr>
      <vt:lpstr>5.7.4 전역 변수(Global Variable)</vt:lpstr>
      <vt:lpstr>5.7.5 static 변수(Global Variable)</vt:lpstr>
      <vt:lpstr>5.7.6 register 변수</vt:lpstr>
      <vt:lpstr>5.8 재귀 함수</vt:lpstr>
      <vt:lpstr>5.8 재귀 함수</vt:lpstr>
      <vt:lpstr>5.8 재귀 함수 - 재귀 vs 반복</vt:lpstr>
      <vt:lpstr>5. 학습정리</vt:lpstr>
      <vt:lpstr>5. 학습정리</vt:lpstr>
      <vt:lpstr>5. 실습 및 과제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207</cp:revision>
  <dcterms:created xsi:type="dcterms:W3CDTF">2003-11-30T16:03:20Z</dcterms:created>
  <dcterms:modified xsi:type="dcterms:W3CDTF">2026-03-17T01:41:37Z</dcterms:modified>
</cp:coreProperties>
</file>