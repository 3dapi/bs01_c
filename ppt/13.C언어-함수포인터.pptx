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328" r:id="rId2"/>
    <p:sldId id="329" r:id="rId3"/>
    <p:sldId id="342" r:id="rId4"/>
    <p:sldId id="343" r:id="rId5"/>
    <p:sldId id="330" r:id="rId6"/>
    <p:sldId id="331" r:id="rId7"/>
    <p:sldId id="344" r:id="rId8"/>
    <p:sldId id="332" r:id="rId9"/>
    <p:sldId id="333" r:id="rId10"/>
    <p:sldId id="345" r:id="rId11"/>
    <p:sldId id="334" r:id="rId12"/>
    <p:sldId id="346" r:id="rId13"/>
    <p:sldId id="347" r:id="rId14"/>
    <p:sldId id="335" r:id="rId15"/>
    <p:sldId id="348" r:id="rId16"/>
    <p:sldId id="336" r:id="rId17"/>
    <p:sldId id="337" r:id="rId18"/>
    <p:sldId id="338" r:id="rId19"/>
    <p:sldId id="349" r:id="rId20"/>
    <p:sldId id="350" r:id="rId21"/>
    <p:sldId id="339" r:id="rId22"/>
    <p:sldId id="340" r:id="rId23"/>
    <p:sldId id="341" r:id="rId24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HY견고딕" panose="02030600000101010101" pitchFamily="18" charset="-127"/>
      <p:regular r:id="rId30"/>
    </p:embeddedFont>
    <p:embeddedFont>
      <p:font typeface="가을체" panose="02030600000101010101" pitchFamily="18" charset="-127"/>
      <p:regular r:id="rId31"/>
    </p:embeddedFont>
    <p:embeddedFont>
      <p:font typeface="나눔바른고딕" panose="020B0603020101020101" pitchFamily="50" charset="-127"/>
      <p:regular r:id="rId32"/>
      <p:bold r:id="rId33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FF"/>
    <a:srgbClr val="CC00FF"/>
    <a:srgbClr val="FF9900"/>
    <a:srgbClr val="CC00CC"/>
    <a:srgbClr val="FF0000"/>
    <a:srgbClr val="FF00FF"/>
    <a:srgbClr val="CCFFFF"/>
    <a:srgbClr val="FFFF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818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en-US" altLang="ko-KR" dirty="0"/>
              <a:t>13. </a:t>
            </a:r>
            <a:r>
              <a:rPr lang="ko-KR" altLang="en-US" dirty="0"/>
              <a:t>함수 포인터</a:t>
            </a:r>
            <a:br>
              <a:rPr lang="en-US" altLang="ko-KR" dirty="0"/>
            </a:br>
            <a:r>
              <a:rPr lang="en-US" altLang="ko-KR" sz="2800" dirty="0"/>
              <a:t>(union)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621D30-1502-5C58-113B-56A2BA5020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161B3-26B2-4414-9E6E-1940DB32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 </a:t>
            </a:r>
            <a:r>
              <a:rPr lang="ko-KR" altLang="en-US" dirty="0"/>
              <a:t>함수 포인터 기초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5E788-69B5-4BF6-98E9-13A4291D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endParaRPr lang="en-US" altLang="ko-KR" dirty="0"/>
          </a:p>
          <a:p>
            <a:pPr lvl="1"/>
            <a:r>
              <a:rPr lang="ko-KR" altLang="en-US" dirty="0"/>
              <a:t>코드 영역에 존재</a:t>
            </a:r>
            <a:r>
              <a:rPr lang="en-US" altLang="ko-KR" dirty="0"/>
              <a:t>, </a:t>
            </a:r>
            <a:r>
              <a:rPr lang="ko-KR" altLang="en-US" dirty="0"/>
              <a:t>고유한 주소 가짐 </a:t>
            </a:r>
          </a:p>
          <a:p>
            <a:pPr lvl="1"/>
            <a:r>
              <a:rPr lang="ko-KR" altLang="en-US" dirty="0"/>
              <a:t>함수 이름</a:t>
            </a:r>
            <a:r>
              <a:rPr lang="en-US" altLang="ko-KR" dirty="0"/>
              <a:t>: </a:t>
            </a:r>
            <a:r>
              <a:rPr lang="ko-KR" altLang="en-US" dirty="0"/>
              <a:t>함수의 시작 주소로 변환되어 사용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/>
              <a:t>함수 주소</a:t>
            </a:r>
            <a:endParaRPr lang="en-US" altLang="ko-KR" dirty="0"/>
          </a:p>
          <a:p>
            <a:pPr lvl="1"/>
            <a:r>
              <a:rPr lang="ko-KR" altLang="en-US" dirty="0"/>
              <a:t>변수에 저장 가능</a:t>
            </a:r>
          </a:p>
          <a:p>
            <a:pPr lvl="1"/>
            <a:r>
              <a:rPr lang="ko-KR" altLang="en-US" dirty="0"/>
              <a:t>저장된 주소 해당 함수 호출 가능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함수 포인터</a:t>
            </a:r>
            <a:endParaRPr lang="en-US" altLang="ko-KR" dirty="0"/>
          </a:p>
          <a:p>
            <a:pPr lvl="1"/>
            <a:r>
              <a:rPr lang="ko-KR" altLang="en-US" dirty="0"/>
              <a:t>함수의 시작 주소 저장 변수</a:t>
            </a:r>
            <a:endParaRPr lang="en-US" altLang="ko-KR" dirty="0"/>
          </a:p>
          <a:p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BBF9C-0A4C-44C9-BFA1-D7493B9CCA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C97C86-3B9C-4662-1A31-2CA269324428}"/>
              </a:ext>
            </a:extLst>
          </p:cNvPr>
          <p:cNvSpPr txBox="1"/>
          <p:nvPr/>
        </p:nvSpPr>
        <p:spPr>
          <a:xfrm>
            <a:off x="5004048" y="2492896"/>
            <a:ext cx="3960440" cy="34778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b)</a:t>
            </a:r>
          </a:p>
          <a:p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+ b; }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"%p\n"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Add);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"%p\n"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&amp;Add);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61857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503A0-2AFF-D37D-5A06-148639FDC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1301E-DFDF-4D73-B8B3-A3A43282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 </a:t>
            </a:r>
            <a:r>
              <a:rPr lang="ko-KR" altLang="en-US" dirty="0"/>
              <a:t>함수 포인터 활용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4E5FA1-FB67-25E5-0D44-30BD0B7AF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함수 포인터</a:t>
            </a:r>
            <a:endParaRPr lang="en-US" altLang="ko-KR" sz="2400" dirty="0"/>
          </a:p>
          <a:p>
            <a:pPr lvl="1"/>
            <a:r>
              <a:rPr lang="ko-KR" altLang="en-US" sz="2000" dirty="0"/>
              <a:t>함수의 시작 주소 저장 변수 → 코드 영역의 함수 위치</a:t>
            </a:r>
            <a:endParaRPr lang="en-US" altLang="ko-KR" sz="2000" dirty="0"/>
          </a:p>
          <a:p>
            <a:pPr lvl="1"/>
            <a:r>
              <a:rPr lang="ko-KR" altLang="en-US" sz="2000" dirty="0"/>
              <a:t>함수 주소 전달 가능</a:t>
            </a:r>
            <a:r>
              <a:rPr lang="en-US" altLang="ko-KR" sz="2000" dirty="0"/>
              <a:t>,</a:t>
            </a:r>
            <a:r>
              <a:rPr lang="ko-KR" altLang="en-US" sz="2000" dirty="0"/>
              <a:t> 실행할 함수  상황에 따라 선택 가능</a:t>
            </a:r>
            <a:endParaRPr lang="en-US" altLang="ko-KR" sz="2000" dirty="0"/>
          </a:p>
          <a:p>
            <a:pPr lvl="3"/>
            <a:endParaRPr lang="ko-KR" altLang="en-US" sz="1400" dirty="0"/>
          </a:p>
          <a:p>
            <a:r>
              <a:rPr lang="ko-KR" altLang="en-US" sz="2400" dirty="0"/>
              <a:t>구조적 효과</a:t>
            </a:r>
          </a:p>
          <a:p>
            <a:pPr lvl="1"/>
            <a:r>
              <a:rPr lang="ko-KR" altLang="en-US" sz="2000" dirty="0"/>
              <a:t>조건문 감소</a:t>
            </a:r>
            <a:r>
              <a:rPr lang="en-US" altLang="ko-KR" sz="2000" dirty="0"/>
              <a:t>, </a:t>
            </a:r>
            <a:r>
              <a:rPr lang="ko-KR" altLang="en-US" sz="2000" dirty="0"/>
              <a:t>코드 수정 최소화</a:t>
            </a:r>
            <a:r>
              <a:rPr lang="en-US" altLang="ko-KR" sz="2000" dirty="0"/>
              <a:t>, </a:t>
            </a:r>
            <a:r>
              <a:rPr lang="ko-KR" altLang="en-US" sz="2000" dirty="0"/>
              <a:t>흐름 유연성 증가</a:t>
            </a:r>
            <a:endParaRPr lang="en-US" altLang="ko-KR" sz="2000" dirty="0"/>
          </a:p>
          <a:p>
            <a:pPr lvl="4"/>
            <a:endParaRPr lang="ko-KR" altLang="en-US" sz="1200" dirty="0"/>
          </a:p>
          <a:p>
            <a:r>
              <a:rPr lang="ko-KR" altLang="en-US" sz="2400" dirty="0"/>
              <a:t>활용</a:t>
            </a:r>
          </a:p>
          <a:p>
            <a:pPr lvl="1"/>
            <a:r>
              <a:rPr lang="ko-KR" altLang="en-US" sz="2000" dirty="0"/>
              <a:t>콜백</a:t>
            </a:r>
            <a:r>
              <a:rPr lang="en-US" altLang="ko-KR" sz="2000" dirty="0"/>
              <a:t>, </a:t>
            </a:r>
            <a:r>
              <a:rPr lang="ko-KR" altLang="en-US" sz="2000" dirty="0"/>
              <a:t>함수 테이블</a:t>
            </a:r>
            <a:r>
              <a:rPr lang="en-US" altLang="ko-KR" sz="2000" dirty="0"/>
              <a:t>, </a:t>
            </a:r>
            <a:r>
              <a:rPr lang="ko-KR" altLang="en-US" sz="2000" dirty="0"/>
              <a:t>상태 머신</a:t>
            </a:r>
            <a:r>
              <a:rPr lang="en-US" altLang="ko-KR" sz="2000" dirty="0"/>
              <a:t>, </a:t>
            </a:r>
            <a:r>
              <a:rPr lang="ko-KR" altLang="en-US" sz="2000" dirty="0"/>
              <a:t>이벤트 처리</a:t>
            </a:r>
            <a:endParaRPr lang="ko-KR" altLang="en-US" sz="1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6B3767-0A8A-9557-3C04-8321092AC6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E116B3-2334-7B41-DEA3-BFA11FB52E86}"/>
              </a:ext>
            </a:extLst>
          </p:cNvPr>
          <p:cNvSpPr txBox="1"/>
          <p:nvPr/>
        </p:nvSpPr>
        <p:spPr>
          <a:xfrm>
            <a:off x="755576" y="4277856"/>
            <a:ext cx="7416626" cy="224676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(*fp)(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함수 포인터 선언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fp = Add;               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함수 주소 저장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result = fp(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함수 호출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또는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result = (*fp)(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동일한 의미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96627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61F31-7604-961C-F2EF-143F1EDA3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47BC9-0227-D1B2-5248-EDC76FC1B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13.1.1 </a:t>
            </a:r>
            <a:r>
              <a:rPr lang="ko-KR" altLang="en-US" dirty="0"/>
              <a:t>함수 포인터 선언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D366D9-61AC-DAE3-537A-15AFFC867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함수 포인터</a:t>
            </a:r>
            <a:endParaRPr lang="en-US" altLang="ko-KR" sz="2400" dirty="0"/>
          </a:p>
          <a:p>
            <a:pPr lvl="1"/>
            <a:r>
              <a:rPr lang="ko-KR" altLang="en-US" sz="2000" dirty="0"/>
              <a:t>함수의 주소를 담는 변수</a:t>
            </a:r>
            <a:r>
              <a:rPr lang="en-US" altLang="ko-KR" sz="2000" dirty="0"/>
              <a:t>. </a:t>
            </a:r>
            <a:r>
              <a:rPr lang="ko-KR" altLang="en-US" sz="2000" dirty="0"/>
              <a:t>반환형 </a:t>
            </a:r>
            <a:r>
              <a:rPr lang="en-US" altLang="ko-KR" sz="2000" dirty="0"/>
              <a:t>+ </a:t>
            </a:r>
            <a:r>
              <a:rPr lang="ko-KR" altLang="en-US" sz="2000" dirty="0"/>
              <a:t>매개변수 형태 → 반드시 일치</a:t>
            </a:r>
          </a:p>
          <a:p>
            <a:pPr lvl="4"/>
            <a:endParaRPr lang="en-US" altLang="ko-KR" sz="1400" dirty="0"/>
          </a:p>
          <a:p>
            <a:r>
              <a:rPr lang="ko-KR" altLang="en-US" sz="2400" dirty="0"/>
              <a:t>함수 포인터 선언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pPr lvl="3"/>
            <a:endParaRPr lang="en-US" altLang="ko-KR" sz="1400" dirty="0"/>
          </a:p>
          <a:p>
            <a:r>
              <a:rPr lang="ko-KR" altLang="en-US" sz="2400" dirty="0"/>
              <a:t>구조 해석</a:t>
            </a:r>
            <a:endParaRPr lang="en-US" altLang="ko-KR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pPr lvl="1"/>
            <a:r>
              <a:rPr lang="en-US" altLang="ko-KR" sz="2000" dirty="0"/>
              <a:t>*fp → </a:t>
            </a:r>
            <a:r>
              <a:rPr lang="ko-KR" altLang="en-US" sz="2000" dirty="0"/>
              <a:t>포인터 변수</a:t>
            </a:r>
          </a:p>
          <a:p>
            <a:pPr lvl="1"/>
            <a:r>
              <a:rPr lang="en-US" altLang="ko-KR" sz="2000" dirty="0"/>
              <a:t>(int, int) → </a:t>
            </a:r>
            <a:r>
              <a:rPr lang="ko-KR" altLang="en-US" sz="2000" dirty="0"/>
              <a:t>정수 두 개 매개변수</a:t>
            </a:r>
          </a:p>
          <a:p>
            <a:pPr lvl="1"/>
            <a:r>
              <a:rPr lang="en-US" altLang="ko-KR" sz="2000" dirty="0"/>
              <a:t>int → </a:t>
            </a:r>
            <a:r>
              <a:rPr lang="ko-KR" altLang="en-US" sz="2000" dirty="0"/>
              <a:t>반환형</a:t>
            </a:r>
          </a:p>
          <a:p>
            <a:pPr lvl="1"/>
            <a:r>
              <a:rPr lang="ko-KR" altLang="en-US" sz="2000" dirty="0"/>
              <a:t>→ </a:t>
            </a:r>
            <a:r>
              <a:rPr lang="en-US" altLang="ko-KR" sz="2000" dirty="0"/>
              <a:t>fp : </a:t>
            </a:r>
            <a:r>
              <a:rPr lang="ko-KR" altLang="en-US" sz="2000" dirty="0"/>
              <a:t>정수 두 개를 받아 정수를 반환하는 함수의 주소 저장</a:t>
            </a:r>
          </a:p>
          <a:p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5353E4-3E80-B29D-29B2-7D863BFE9B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84ECAA-F788-DE95-D668-8F8530F0A3FB}"/>
              </a:ext>
            </a:extLst>
          </p:cNvPr>
          <p:cNvSpPr txBox="1"/>
          <p:nvPr/>
        </p:nvSpPr>
        <p:spPr>
          <a:xfrm>
            <a:off x="574940" y="2223622"/>
            <a:ext cx="6832903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함수의 반환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함수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포인터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함수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인수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타입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리스트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이름이 없는 형태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함수의 반환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(*)(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함수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인수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타입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리스트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33025A-DC98-1611-9E7D-A392A06654AB}"/>
              </a:ext>
            </a:extLst>
          </p:cNvPr>
          <p:cNvSpPr txBox="1"/>
          <p:nvPr/>
        </p:nvSpPr>
        <p:spPr>
          <a:xfrm>
            <a:off x="755576" y="4365104"/>
            <a:ext cx="3601915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(*fp)(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64617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161B3-26B2-4414-9E6E-1940DB32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13.1.1 </a:t>
            </a:r>
            <a:r>
              <a:rPr lang="ko-KR" altLang="en-US" dirty="0"/>
              <a:t>함수 포인터 선언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5E788-69B5-4BF6-98E9-13A4291D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 포인터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함수 선언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BBF9C-0A4C-44C9-BFA1-D7493B9CCA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A7377B-06D4-7696-D946-E94F2B104A49}"/>
              </a:ext>
            </a:extLst>
          </p:cNvPr>
          <p:cNvSpPr txBox="1"/>
          <p:nvPr/>
        </p:nvSpPr>
        <p:spPr>
          <a:xfrm>
            <a:off x="971600" y="1340768"/>
            <a:ext cx="5976663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4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4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altLang="ko-KR" sz="40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lang="en-US" altLang="ko-KR" sz="4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altLang="ko-KR" sz="4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4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4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4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4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0F329A-AC73-52CE-5E70-C0501BC2E22D}"/>
              </a:ext>
            </a:extLst>
          </p:cNvPr>
          <p:cNvSpPr txBox="1"/>
          <p:nvPr/>
        </p:nvSpPr>
        <p:spPr>
          <a:xfrm>
            <a:off x="971600" y="3573016"/>
            <a:ext cx="5892485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4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4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40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lang="en-US" altLang="ko-KR" sz="4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4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4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4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4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267520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161B3-26B2-4414-9E6E-1940DB32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13.1.2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함수 포인터 초기화와 호출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5E788-69B5-4BF6-98E9-13A4291D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 이름</a:t>
            </a:r>
            <a:endParaRPr lang="en-US" altLang="ko-KR" dirty="0"/>
          </a:p>
          <a:p>
            <a:pPr lvl="1"/>
            <a:r>
              <a:rPr lang="ko-KR" altLang="en-US" dirty="0"/>
              <a:t>표현식에서 함수에 대한 포인터로 자동 변환 </a:t>
            </a:r>
          </a:p>
          <a:p>
            <a:pPr marL="457200" lvl="1" indent="0">
              <a:buNone/>
            </a:pPr>
            <a:endParaRPr lang="en-US" altLang="ko-KR" dirty="0"/>
          </a:p>
          <a:p>
            <a:pPr marL="857250" lvl="2" indent="0">
              <a:buNone/>
            </a:pPr>
            <a:r>
              <a:rPr lang="en-US" altLang="ko-KR" sz="2800" dirty="0"/>
              <a:t>fp = Add;        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//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&amp;Add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으로 변환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, </a:t>
            </a:r>
          </a:p>
          <a:p>
            <a:pPr marL="857250" lvl="2" indent="0">
              <a:buNone/>
            </a:pPr>
            <a:r>
              <a:rPr lang="en-US" altLang="ko-KR" dirty="0"/>
              <a:t>                                     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함수 포인터에 저장</a:t>
            </a:r>
          </a:p>
          <a:p>
            <a:endParaRPr lang="en-US" altLang="ko-KR" dirty="0"/>
          </a:p>
          <a:p>
            <a:r>
              <a:rPr lang="ko-KR" altLang="en-US" dirty="0"/>
              <a:t>함수 포인터로 함수 호출 가능 </a:t>
            </a:r>
          </a:p>
          <a:p>
            <a:pPr lvl="1"/>
            <a:r>
              <a:rPr lang="en-US" altLang="ko-KR" dirty="0"/>
              <a:t>fp(10, 20);</a:t>
            </a:r>
          </a:p>
          <a:p>
            <a:pPr lvl="2"/>
            <a:endParaRPr lang="en-US" altLang="ko-KR" dirty="0"/>
          </a:p>
          <a:p>
            <a:r>
              <a:rPr lang="ko-KR" altLang="en-US" dirty="0"/>
              <a:t>명시적 형태 </a:t>
            </a:r>
          </a:p>
          <a:p>
            <a:pPr lvl="1"/>
            <a:r>
              <a:rPr lang="en-US" altLang="ko-KR" dirty="0"/>
              <a:t>(*fp)(10, 20);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  //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동일한 의미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fp() == (*fp)()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BBF9C-0A4C-44C9-BFA1-D7493B9CCA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723267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1B2DB-4296-E7FA-6DA1-84B160B37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462B11-FC04-8896-332C-7D6F7A3DB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13.1.2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함수 포인터 초기화와 호출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F755AF-C9B5-5F7E-4D34-A82A1A455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B02A81-7DC9-944B-F818-B915F3CC21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D7BD80-9F7D-592A-E886-D8A291CB73A9}"/>
              </a:ext>
            </a:extLst>
          </p:cNvPr>
          <p:cNvSpPr txBox="1"/>
          <p:nvPr/>
        </p:nvSpPr>
        <p:spPr>
          <a:xfrm>
            <a:off x="539750" y="797510"/>
            <a:ext cx="7921129" cy="526297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b) {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+ b; }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b) {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* b; }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(*fp)(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fp = Add;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"Add </a:t>
            </a:r>
            <a:r>
              <a:rPr lang="ko-KR" altLang="en-US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결과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fp(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fp = Mul;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"Mul </a:t>
            </a:r>
            <a:r>
              <a:rPr lang="ko-KR" altLang="en-US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결과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fp(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72171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161B3-26B2-4414-9E6E-1940DB32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13.1.3 typedef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함수 포인터 단순화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5E788-69B5-4BF6-98E9-13A4291D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typedef</a:t>
            </a:r>
          </a:p>
          <a:p>
            <a:pPr lvl="1"/>
            <a:r>
              <a:rPr lang="ko-KR" altLang="en-US" sz="2000" dirty="0"/>
              <a:t>함수 포인터 단순화 → 가독성 향상</a:t>
            </a:r>
            <a:endParaRPr lang="en-US" altLang="ko-KR" sz="2000" dirty="0"/>
          </a:p>
          <a:p>
            <a:pPr lvl="1"/>
            <a:r>
              <a:rPr lang="ko-KR" altLang="en-US" sz="2000" dirty="0"/>
              <a:t>타입 이름 → 의미 전달 </a:t>
            </a:r>
          </a:p>
          <a:p>
            <a:pPr lvl="1"/>
            <a:r>
              <a:rPr lang="ko-KR" altLang="en-US" sz="2000" dirty="0"/>
              <a:t>함수 포인터 → 개념 단위로 사용 </a:t>
            </a:r>
          </a:p>
          <a:p>
            <a:pPr lvl="1"/>
            <a:r>
              <a:rPr lang="ko-KR" altLang="en-US" sz="2000" dirty="0"/>
              <a:t>코드 구조 → 명확 </a:t>
            </a:r>
            <a:r>
              <a:rPr lang="en-US" altLang="ko-KR" sz="2000" dirty="0"/>
              <a:t>/ </a:t>
            </a:r>
            <a:r>
              <a:rPr lang="ko-KR" altLang="en-US" sz="2000" dirty="0"/>
              <a:t>확장 용이 </a:t>
            </a:r>
          </a:p>
          <a:p>
            <a:pPr lvl="1"/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BBF9C-0A4C-44C9-BFA1-D7493B9CCA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4021A-572A-55EC-1628-9C4D693AE668}"/>
              </a:ext>
            </a:extLst>
          </p:cNvPr>
          <p:cNvSpPr txBox="1"/>
          <p:nvPr/>
        </p:nvSpPr>
        <p:spPr>
          <a:xfrm>
            <a:off x="899592" y="5376118"/>
            <a:ext cx="7731105" cy="10772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(*OnEvent)(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eventCode,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userData);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OnEvent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타입으로 정의된 함수 포인터를 전달받음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RegisterCallback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(OnEvent callback);</a:t>
            </a:r>
            <a:endParaRPr lang="ko-KR" altLang="en-US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275DB-8DE2-F924-B4F8-D2B70BF91DF2}"/>
              </a:ext>
            </a:extLst>
          </p:cNvPr>
          <p:cNvSpPr txBox="1"/>
          <p:nvPr/>
        </p:nvSpPr>
        <p:spPr>
          <a:xfrm>
            <a:off x="899592" y="2818671"/>
            <a:ext cx="7731106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(*BinaryOp)(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b) {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+ b;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b) {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- b;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BinaryOp op = Add;         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함수 포인터에 함수 대입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op(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Add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호출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op = Sub;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op(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Sub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호출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18601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161B3-26B2-4414-9E6E-1940DB32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13.1.4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함수 포인터 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5E788-69B5-4BF6-98E9-13A4291D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 포인터 배열</a:t>
            </a:r>
          </a:p>
          <a:p>
            <a:pPr lvl="1"/>
            <a:r>
              <a:rPr lang="ko-KR" altLang="en-US" sz="2000" dirty="0"/>
              <a:t>동일한 형태의 함수들을 배열에 저장</a:t>
            </a:r>
            <a:br>
              <a:rPr lang="en-US" altLang="ko-KR" sz="2000" dirty="0"/>
            </a:br>
            <a:r>
              <a:rPr lang="ko-KR" altLang="en-US" sz="2000" dirty="0"/>
              <a:t>→ 인덱스로 함수 선택 후 호출</a:t>
            </a:r>
            <a:br>
              <a:rPr lang="en-US" altLang="ko-KR" sz="2000" dirty="0"/>
            </a:br>
            <a:r>
              <a:rPr lang="ko-KR" altLang="en-US" sz="2000" dirty="0"/>
              <a:t>→ 조건문 없이 실행 흐름 제어</a:t>
            </a:r>
          </a:p>
          <a:p>
            <a:pPr lvl="1"/>
            <a:r>
              <a:rPr lang="ko-KR" altLang="en-US" sz="2000" dirty="0"/>
              <a:t>배열 요소 </a:t>
            </a:r>
            <a:r>
              <a:rPr lang="en-US" altLang="ko-KR" sz="2000" dirty="0"/>
              <a:t>= </a:t>
            </a:r>
            <a:r>
              <a:rPr lang="ko-KR" altLang="en-US" sz="2000" dirty="0"/>
              <a:t>함수</a:t>
            </a:r>
            <a:br>
              <a:rPr lang="en-US" altLang="ko-KR" sz="2000" dirty="0"/>
            </a:br>
            <a:r>
              <a:rPr lang="ko-KR" altLang="en-US" sz="2000" dirty="0"/>
              <a:t>인덱스 </a:t>
            </a:r>
            <a:r>
              <a:rPr lang="en-US" altLang="ko-KR" sz="2000" dirty="0"/>
              <a:t>= </a:t>
            </a:r>
            <a:r>
              <a:rPr lang="ko-KR" altLang="en-US" sz="2000" dirty="0"/>
              <a:t>선택 기준</a:t>
            </a:r>
          </a:p>
          <a:p>
            <a:pPr lvl="1"/>
            <a:r>
              <a:rPr lang="ko-KR" altLang="en-US" sz="2000" dirty="0"/>
              <a:t>선택 구조 단순화</a:t>
            </a:r>
            <a:r>
              <a:rPr lang="en-US" altLang="ko-KR" sz="2000" dirty="0"/>
              <a:t>, </a:t>
            </a:r>
            <a:r>
              <a:rPr lang="ko-KR" altLang="en-US" sz="2000" dirty="0"/>
              <a:t>가독성 향상</a:t>
            </a:r>
            <a:r>
              <a:rPr lang="en-US" altLang="ko-KR" sz="2000" dirty="0"/>
              <a:t>, </a:t>
            </a:r>
            <a:r>
              <a:rPr lang="ko-KR" altLang="en-US" sz="2000" dirty="0"/>
              <a:t>유지보수 용이</a:t>
            </a:r>
            <a:r>
              <a:rPr lang="en-US" altLang="ko-KR" sz="2000" dirty="0"/>
              <a:t>, </a:t>
            </a:r>
            <a:r>
              <a:rPr lang="ko-KR" altLang="en-US" sz="2000" dirty="0"/>
              <a:t>함수 추가 시 배열만 수정</a:t>
            </a:r>
            <a:endParaRPr lang="en-US" altLang="ko-KR" sz="2000" dirty="0"/>
          </a:p>
          <a:p>
            <a:pPr lvl="2"/>
            <a:endParaRPr lang="ko-KR" altLang="en-US" sz="1600" dirty="0"/>
          </a:p>
          <a:p>
            <a:r>
              <a:rPr lang="ko-KR" altLang="en-US" dirty="0"/>
              <a:t>구성</a:t>
            </a:r>
            <a:endParaRPr lang="en-US" altLang="ko-KR" dirty="0"/>
          </a:p>
          <a:p>
            <a:pPr lvl="1"/>
            <a:r>
              <a:rPr lang="ko-KR" altLang="en-US" sz="2000" dirty="0"/>
              <a:t>함수 포인터 배열 </a:t>
            </a:r>
            <a:r>
              <a:rPr lang="en-US" altLang="ko-KR" sz="2000" dirty="0"/>
              <a:t>= </a:t>
            </a:r>
            <a:r>
              <a:rPr lang="ko-KR" altLang="en-US" sz="2000" dirty="0"/>
              <a:t>함수 테이블</a:t>
            </a:r>
            <a:endParaRPr lang="en-US" altLang="ko-KR" sz="2000" dirty="0"/>
          </a:p>
          <a:p>
            <a:pPr lvl="1"/>
            <a:r>
              <a:rPr lang="ko-KR" altLang="en-US" sz="2000" dirty="0"/>
              <a:t>실행 흐름을 데이터</a:t>
            </a:r>
            <a:r>
              <a:rPr lang="en-US" altLang="ko-KR" sz="2000" dirty="0"/>
              <a:t>(</a:t>
            </a:r>
            <a:r>
              <a:rPr lang="ko-KR" altLang="en-US" sz="2000" dirty="0"/>
              <a:t>인덱스</a:t>
            </a:r>
            <a:r>
              <a:rPr lang="en-US" altLang="ko-KR" sz="2000" dirty="0"/>
              <a:t>)</a:t>
            </a:r>
            <a:r>
              <a:rPr lang="ko-KR" altLang="en-US" sz="2000" dirty="0"/>
              <a:t>로 제어</a:t>
            </a:r>
          </a:p>
          <a:p>
            <a:pPr lvl="2"/>
            <a:endParaRPr lang="en-US" altLang="ko-KR" dirty="0"/>
          </a:p>
          <a:p>
            <a:r>
              <a:rPr lang="ko-KR" altLang="en-US" dirty="0"/>
              <a:t>활용 예</a:t>
            </a:r>
            <a:endParaRPr lang="en-US" altLang="ko-KR" dirty="0"/>
          </a:p>
          <a:p>
            <a:pPr lvl="1"/>
            <a:r>
              <a:rPr lang="ko-KR" altLang="en-US" sz="2000" dirty="0"/>
              <a:t>행동</a:t>
            </a:r>
            <a:r>
              <a:rPr lang="en-US" altLang="ko-KR" sz="2000" dirty="0"/>
              <a:t>/</a:t>
            </a:r>
            <a:r>
              <a:rPr lang="ko-KR" altLang="en-US" sz="2000" dirty="0"/>
              <a:t>기술 테이블</a:t>
            </a:r>
            <a:endParaRPr lang="en-US" altLang="ko-KR" sz="2000" dirty="0"/>
          </a:p>
          <a:p>
            <a:pPr lvl="1"/>
            <a:r>
              <a:rPr lang="ko-KR" altLang="en-US" sz="2000" dirty="0"/>
              <a:t>메뉴 처리</a:t>
            </a:r>
            <a:r>
              <a:rPr lang="en-US" altLang="ko-KR" sz="2000" dirty="0"/>
              <a:t>, </a:t>
            </a:r>
            <a:r>
              <a:rPr lang="ko-KR" altLang="en-US" sz="2000" dirty="0"/>
              <a:t>상태 분기</a:t>
            </a:r>
            <a:r>
              <a:rPr lang="en-US" altLang="ko-KR" sz="2000" dirty="0"/>
              <a:t>, </a:t>
            </a:r>
            <a:r>
              <a:rPr lang="ko-KR" altLang="en-US" sz="2000" dirty="0"/>
              <a:t>이벤트 처리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BBF9C-0A4C-44C9-BFA1-D7493B9CCA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256697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71300-7946-5C04-F0C5-2C7F5D1E0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D7A8C-1CBB-B096-DF34-FF8D8E9B4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13.1.4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함수 포인터 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3C3C60-8D15-B9C8-5ECF-75A06EA97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z="2000" dirty="0"/>
          </a:p>
          <a:p>
            <a:endParaRPr lang="en-US" altLang="ko-KR" sz="2000" dirty="0"/>
          </a:p>
          <a:p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556A98-CF6F-D681-007A-45CD35E2B6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332A0C-30B8-5FBA-3852-B4A9C9B1132B}"/>
              </a:ext>
            </a:extLst>
          </p:cNvPr>
          <p:cNvSpPr txBox="1"/>
          <p:nvPr/>
        </p:nvSpPr>
        <p:spPr>
          <a:xfrm>
            <a:off x="287550" y="692150"/>
            <a:ext cx="3780394" cy="212365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(*OP)(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b) {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+ b; }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b) {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- b; }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b) {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* b; }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b) {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 ==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"0</a:t>
            </a:r>
            <a:r>
              <a:rPr lang="ko-KR" altLang="en-US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으로 나눌 수 없습니다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/ b;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1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9A98AE-2A5F-9AE8-F092-F0AAC66A0050}"/>
              </a:ext>
            </a:extLst>
          </p:cNvPr>
          <p:cNvSpPr txBox="1"/>
          <p:nvPr/>
        </p:nvSpPr>
        <p:spPr>
          <a:xfrm>
            <a:off x="4067944" y="692150"/>
            <a:ext cx="4788506" cy="364715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 =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choice;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0: Add, 1: Sub, 2: Mul, 3: Div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(*ops[])(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= {Add, Sub, Mul, Div};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//OP ops[] = {Add, Sub, Mul, Div};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연산 선택 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(0: +, 1: -, 2: *, 3: /) : "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&amp;choice);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(choice &lt;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|| choice &gt;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잘못된 선택입니다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결과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ops[choice](a, b));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975966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161B3-26B2-4414-9E6E-1940DB32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13.2.1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콜백 함수와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qsort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5E788-69B5-4BF6-98E9-13A4291D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콜백 함수 </a:t>
            </a:r>
            <a:r>
              <a:rPr lang="en-US" altLang="ko-KR" sz="2000" dirty="0"/>
              <a:t>(Callback Function)</a:t>
            </a:r>
          </a:p>
          <a:p>
            <a:pPr lvl="1"/>
            <a:r>
              <a:rPr lang="ko-KR" altLang="en-US" sz="1600" dirty="0"/>
              <a:t>평소 대기 → 이벤트 발생 시 호출</a:t>
            </a:r>
          </a:p>
          <a:p>
            <a:pPr lvl="1"/>
            <a:r>
              <a:rPr lang="ko-KR" altLang="en-US" sz="1600" dirty="0"/>
              <a:t>다른 코드가 대신 호출하는 함수</a:t>
            </a:r>
          </a:p>
          <a:p>
            <a:pPr lvl="1"/>
            <a:r>
              <a:rPr lang="ko-KR" altLang="en-US" sz="1600" dirty="0"/>
              <a:t>즉</a:t>
            </a:r>
            <a:r>
              <a:rPr lang="en-US" altLang="ko-KR" sz="1600" dirty="0"/>
              <a:t>, </a:t>
            </a:r>
            <a:r>
              <a:rPr lang="ko-KR" altLang="en-US" sz="1600" dirty="0"/>
              <a:t>함수의 주소를 다른 코드에 넘겨주고 필요할 때 대신 호출되는 함수</a:t>
            </a:r>
          </a:p>
          <a:p>
            <a:pPr lvl="2"/>
            <a:endParaRPr lang="ko-KR" altLang="en-US" sz="1050" dirty="0"/>
          </a:p>
          <a:p>
            <a:r>
              <a:rPr lang="ko-KR" altLang="en-US" sz="2000" dirty="0"/>
              <a:t>특징</a:t>
            </a:r>
          </a:p>
          <a:p>
            <a:pPr lvl="1"/>
            <a:r>
              <a:rPr lang="ko-KR" altLang="en-US" sz="1600" dirty="0"/>
              <a:t>호출 시점 제어 → 외부</a:t>
            </a:r>
          </a:p>
          <a:p>
            <a:pPr lvl="1"/>
            <a:r>
              <a:rPr lang="ko-KR" altLang="en-US" sz="1600" dirty="0"/>
              <a:t>코드 분리</a:t>
            </a:r>
          </a:p>
          <a:p>
            <a:pPr lvl="2"/>
            <a:endParaRPr lang="ko-KR" altLang="en-US" sz="1050" dirty="0"/>
          </a:p>
          <a:p>
            <a:r>
              <a:rPr lang="ko-KR" altLang="en-US" sz="2000" dirty="0"/>
              <a:t>일반 호출 </a:t>
            </a:r>
            <a:r>
              <a:rPr lang="en-US" altLang="ko-KR" sz="2000" dirty="0"/>
              <a:t>vs </a:t>
            </a:r>
            <a:r>
              <a:rPr lang="ko-KR" altLang="en-US" sz="2000" dirty="0"/>
              <a:t>콜백 구조</a:t>
            </a:r>
          </a:p>
          <a:p>
            <a:pPr lvl="1"/>
            <a:r>
              <a:rPr lang="ko-KR" altLang="en-US" sz="1600" dirty="0"/>
              <a:t>일반호출</a:t>
            </a:r>
            <a:r>
              <a:rPr lang="en-US" altLang="ko-KR" sz="1600" dirty="0"/>
              <a:t>:</a:t>
            </a:r>
            <a:r>
              <a:rPr lang="ko-KR" altLang="en-US" sz="1600" dirty="0"/>
              <a:t> 내 코드 → 내가 함수 호출</a:t>
            </a:r>
          </a:p>
          <a:p>
            <a:pPr lvl="1"/>
            <a:r>
              <a:rPr lang="ko-KR" altLang="en-US" sz="1600" dirty="0"/>
              <a:t>콜백 구조</a:t>
            </a:r>
            <a:r>
              <a:rPr lang="en-US" altLang="ko-KR" sz="1600" dirty="0"/>
              <a:t>: </a:t>
            </a:r>
            <a:r>
              <a:rPr lang="ko-KR" altLang="en-US" sz="1600" dirty="0"/>
              <a:t>내 코드 → 함수 주소 전달 → 외부 코드 → 필요 시 호출</a:t>
            </a:r>
          </a:p>
          <a:p>
            <a:endParaRPr lang="ko-KR" altLang="en-US" sz="2000" dirty="0"/>
          </a:p>
          <a:p>
            <a:r>
              <a:rPr lang="ko-KR" altLang="en-US" sz="2000" dirty="0"/>
              <a:t>활용</a:t>
            </a:r>
          </a:p>
          <a:p>
            <a:pPr lvl="1"/>
            <a:r>
              <a:rPr lang="ko-KR" altLang="en-US" sz="1600" dirty="0"/>
              <a:t>버튼 클릭 처리</a:t>
            </a:r>
          </a:p>
          <a:p>
            <a:pPr lvl="1"/>
            <a:r>
              <a:rPr lang="ko-KR" altLang="en-US" sz="1600" dirty="0"/>
              <a:t>충돌 처리</a:t>
            </a:r>
          </a:p>
          <a:p>
            <a:pPr lvl="1"/>
            <a:r>
              <a:rPr lang="ko-KR" altLang="en-US" sz="1600" dirty="0"/>
              <a:t>네트워크 이벤트 처리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BBF9C-0A4C-44C9-BFA1-D7493B9CCA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08089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3769B-A237-09D9-D6D7-34010E8A7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2B3CA-13C2-8634-6A54-27F7BFA6D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13.2.1 qsort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165422-2D65-9241-A6B9-CCF2EDDA1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692150"/>
            <a:ext cx="4248472" cy="5832475"/>
          </a:xfrm>
        </p:spPr>
        <p:txBody>
          <a:bodyPr/>
          <a:lstStyle/>
          <a:p>
            <a:r>
              <a:rPr lang="en-US" altLang="ko-KR" sz="2000" dirty="0"/>
              <a:t>qsort</a:t>
            </a:r>
            <a:br>
              <a:rPr lang="en-US" altLang="ko-KR" sz="2000" dirty="0"/>
            </a:br>
            <a:r>
              <a:rPr lang="en-US" altLang="ko-KR" sz="2000" dirty="0"/>
              <a:t>(base, count, size, compare)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</a:p>
          <a:p>
            <a:pPr lvl="1"/>
            <a:r>
              <a:rPr lang="ko-KR" altLang="en-US" sz="1600" dirty="0"/>
              <a:t>배열 정렬 함수</a:t>
            </a:r>
          </a:p>
          <a:p>
            <a:pPr lvl="1"/>
            <a:r>
              <a:rPr lang="ko-KR" altLang="en-US" sz="1600" dirty="0"/>
              <a:t>자료형 독립 </a:t>
            </a:r>
            <a:r>
              <a:rPr lang="en-US" altLang="ko-KR" sz="1600" dirty="0"/>
              <a:t>(void*)</a:t>
            </a:r>
          </a:p>
          <a:p>
            <a:pPr lvl="1"/>
            <a:r>
              <a:rPr lang="ko-KR" altLang="en-US" sz="1600" dirty="0"/>
              <a:t>정렬 알고리즘 → </a:t>
            </a:r>
            <a:r>
              <a:rPr lang="en-US" altLang="ko-KR" sz="1600" dirty="0"/>
              <a:t>qsort</a:t>
            </a:r>
          </a:p>
          <a:p>
            <a:pPr lvl="1"/>
            <a:r>
              <a:rPr lang="ko-KR" altLang="en-US" sz="1600" dirty="0"/>
              <a:t>정렬 기준 → 사용자 함수 </a:t>
            </a:r>
            <a:r>
              <a:rPr lang="en-US" altLang="ko-KR" sz="1600" dirty="0"/>
              <a:t>(</a:t>
            </a:r>
            <a:r>
              <a:rPr lang="ko-KR" altLang="en-US" sz="1600" dirty="0"/>
              <a:t>콜백</a:t>
            </a:r>
            <a:r>
              <a:rPr lang="en-US" altLang="ko-KR" sz="1600" dirty="0"/>
              <a:t>)</a:t>
            </a:r>
          </a:p>
          <a:p>
            <a:pPr lvl="1"/>
            <a:r>
              <a:rPr lang="ko-KR" altLang="en-US" sz="1600" dirty="0"/>
              <a:t>일반적으로 </a:t>
            </a:r>
            <a:r>
              <a:rPr lang="en-US" altLang="ko-KR" sz="1600" dirty="0"/>
              <a:t>O(n log n) </a:t>
            </a:r>
            <a:r>
              <a:rPr lang="ko-KR" altLang="en-US" sz="1600" dirty="0"/>
              <a:t>성능</a:t>
            </a:r>
            <a:endParaRPr lang="en-US" altLang="ko-KR" sz="1600" dirty="0"/>
          </a:p>
          <a:p>
            <a:pPr lvl="1"/>
            <a:endParaRPr lang="ko-KR" altLang="en-US" sz="2000" dirty="0"/>
          </a:p>
          <a:p>
            <a:r>
              <a:rPr lang="ko-KR" altLang="en-US" sz="2000" dirty="0"/>
              <a:t>특징</a:t>
            </a:r>
          </a:p>
          <a:p>
            <a:pPr lvl="1"/>
            <a:r>
              <a:rPr lang="ko-KR" altLang="en-US" sz="1600" dirty="0"/>
              <a:t>빠른 평균 성능</a:t>
            </a:r>
          </a:p>
          <a:p>
            <a:pPr lvl="1"/>
            <a:r>
              <a:rPr lang="ko-KR" altLang="en-US" sz="1600" dirty="0"/>
              <a:t>대용량 데이터 처리 적합</a:t>
            </a:r>
          </a:p>
          <a:p>
            <a:pPr lvl="1"/>
            <a:r>
              <a:rPr lang="ko-KR" altLang="en-US" sz="1600" dirty="0"/>
              <a:t>추가 메모리 거의 없음 </a:t>
            </a:r>
            <a:r>
              <a:rPr lang="en-US" altLang="ko-KR" sz="1600" dirty="0"/>
              <a:t>(in-place)</a:t>
            </a:r>
          </a:p>
          <a:p>
            <a:pPr lvl="1"/>
            <a:r>
              <a:rPr lang="ko-KR" altLang="en-US" sz="1600" dirty="0"/>
              <a:t>안정 정렬 아님 </a:t>
            </a:r>
            <a:r>
              <a:rPr lang="en-US" altLang="ko-KR" sz="1600" dirty="0"/>
              <a:t>(stable </a:t>
            </a:r>
            <a:r>
              <a:rPr lang="ko-KR" altLang="en-US" sz="1600" dirty="0"/>
              <a:t>보장 없음</a:t>
            </a:r>
            <a:r>
              <a:rPr lang="en-US" altLang="ko-KR" sz="1600" dirty="0"/>
              <a:t>)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D1D1E0-CB09-A1C2-E8A8-1A2BB490D4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95A1E07-9FCE-D3DD-CB8C-A5B4D51A3B11}"/>
              </a:ext>
            </a:extLst>
          </p:cNvPr>
          <p:cNvSpPr txBox="1">
            <a:spLocks/>
          </p:cNvSpPr>
          <p:nvPr/>
        </p:nvSpPr>
        <p:spPr bwMode="auto">
          <a:xfrm>
            <a:off x="4427984" y="692696"/>
            <a:ext cx="4536504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매개변수</a:t>
            </a:r>
          </a:p>
          <a:p>
            <a:pPr lvl="1"/>
            <a:r>
              <a:rPr lang="en-US" altLang="ko-KR" sz="1600" dirty="0"/>
              <a:t>base  : </a:t>
            </a:r>
            <a:r>
              <a:rPr lang="ko-KR" altLang="en-US" sz="1600" dirty="0"/>
              <a:t>배열 시작 주소</a:t>
            </a:r>
          </a:p>
          <a:p>
            <a:pPr lvl="1"/>
            <a:r>
              <a:rPr lang="en-US" altLang="ko-KR" sz="1600" dirty="0"/>
              <a:t>count : </a:t>
            </a:r>
            <a:r>
              <a:rPr lang="ko-KR" altLang="en-US" sz="1600" dirty="0"/>
              <a:t>요소 개수</a:t>
            </a:r>
          </a:p>
          <a:p>
            <a:pPr lvl="1"/>
            <a:r>
              <a:rPr lang="en-US" altLang="ko-KR" sz="1600" dirty="0"/>
              <a:t>size  : </a:t>
            </a:r>
            <a:r>
              <a:rPr lang="ko-KR" altLang="en-US" sz="1600" dirty="0"/>
              <a:t>요소 크기 </a:t>
            </a:r>
            <a:r>
              <a:rPr lang="en-US" altLang="ko-KR" sz="1600" dirty="0"/>
              <a:t>(byte)</a:t>
            </a:r>
          </a:p>
          <a:p>
            <a:pPr lvl="1"/>
            <a:r>
              <a:rPr lang="en-US" altLang="ko-KR" sz="1600" dirty="0"/>
              <a:t>compare : </a:t>
            </a:r>
            <a:r>
              <a:rPr lang="ko-KR" altLang="en-US" sz="1600" dirty="0"/>
              <a:t>비교 함수 </a:t>
            </a:r>
            <a:r>
              <a:rPr lang="en-US" altLang="ko-KR" sz="1600" dirty="0"/>
              <a:t>(</a:t>
            </a:r>
            <a:r>
              <a:rPr lang="ko-KR" altLang="en-US" sz="1600" dirty="0"/>
              <a:t>콜백</a:t>
            </a:r>
            <a:r>
              <a:rPr lang="en-US" altLang="ko-KR" sz="1600" dirty="0"/>
              <a:t>)</a:t>
            </a:r>
          </a:p>
          <a:p>
            <a:pPr lvl="1"/>
            <a:endParaRPr lang="en-US" altLang="ko-KR" sz="1600" dirty="0"/>
          </a:p>
          <a:p>
            <a:r>
              <a:rPr lang="ko-KR" altLang="en-US" sz="2000" dirty="0"/>
              <a:t>비교 함수</a:t>
            </a:r>
          </a:p>
          <a:p>
            <a:pPr lvl="1"/>
            <a:r>
              <a:rPr lang="ko-KR" altLang="en-US" sz="1600" dirty="0"/>
              <a:t>두 요소 비교 수행</a:t>
            </a:r>
          </a:p>
          <a:p>
            <a:pPr lvl="1"/>
            <a:r>
              <a:rPr lang="ko-KR" altLang="en-US" sz="1600" dirty="0"/>
              <a:t>반환값</a:t>
            </a:r>
          </a:p>
          <a:p>
            <a:pPr lvl="1"/>
            <a:r>
              <a:rPr lang="ko-KR" altLang="en-US" sz="1600" dirty="0"/>
              <a:t>음수 </a:t>
            </a:r>
            <a:r>
              <a:rPr lang="en-US" altLang="ko-KR" sz="1600" dirty="0"/>
              <a:t>: a &lt; b</a:t>
            </a:r>
          </a:p>
          <a:p>
            <a:pPr lvl="1"/>
            <a:r>
              <a:rPr lang="en-US" altLang="ko-KR" sz="1600" dirty="0"/>
              <a:t>0    : a == b</a:t>
            </a:r>
          </a:p>
          <a:p>
            <a:pPr lvl="1"/>
            <a:r>
              <a:rPr lang="ko-KR" altLang="en-US" sz="1600" dirty="0"/>
              <a:t>양수 </a:t>
            </a:r>
            <a:r>
              <a:rPr lang="en-US" altLang="ko-KR" sz="1600" dirty="0"/>
              <a:t>: a &gt; b</a:t>
            </a:r>
            <a:endParaRPr lang="en-US" altLang="ko-KR" sz="1000" dirty="0"/>
          </a:p>
          <a:p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403561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F69C6-CDD2-AE26-EFC1-1CEB1B28B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51181B-91E1-EFF6-1184-D2B6A0873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13.2.1 qsort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9BFFEF-97E6-9566-FA96-440D8B4344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304E91-DA21-E0EB-68E3-409B5F202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52DBA8-A29F-1A18-4F45-685853A738DB}"/>
              </a:ext>
            </a:extLst>
          </p:cNvPr>
          <p:cNvSpPr txBox="1"/>
          <p:nvPr/>
        </p:nvSpPr>
        <p:spPr>
          <a:xfrm>
            <a:off x="199156" y="692150"/>
            <a:ext cx="4248472" cy="526297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&lt;stdlib.h&gt;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CompareInt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a,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b)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lhs = *(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*)a;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rhs = *(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*)b;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(lhs &lt; rhs)</a:t>
            </a:r>
          </a:p>
          <a:p>
            <a:r>
              <a:rPr lang="en-US" altLang="ko-KR" sz="1200" b="1" dirty="0">
                <a:solidFill>
                  <a:srgbClr val="383A42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(lhs &gt; rhs)</a:t>
            </a:r>
          </a:p>
          <a:p>
            <a:r>
              <a:rPr lang="en-US" altLang="ko-KR" sz="1200" b="1" dirty="0">
                <a:solidFill>
                  <a:srgbClr val="383A42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arr[] = {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size =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(arr) /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(arr[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qsort(arr, size,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), CompareInt);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size; ++i)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 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arr[i]);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FA0C87-2A40-E2FA-88EF-7F337E08430F}"/>
              </a:ext>
            </a:extLst>
          </p:cNvPr>
          <p:cNvSpPr txBox="1"/>
          <p:nvPr/>
        </p:nvSpPr>
        <p:spPr>
          <a:xfrm>
            <a:off x="4447628" y="692150"/>
            <a:ext cx="4572000" cy="415498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ComparePlayer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p1,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p2) {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Player* lhsPlayer = (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Player*)p1;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Player* rhsPlayer = (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Player*)p2;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(lhsPlayer-&gt;level &gt; rhsPlayer-&gt;level)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(lhsPlayer-&gt;level &lt; rhsPlayer-&gt;level)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rgbClr val="383A42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// ...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sort by level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qsort(player, size,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(Player)</a:t>
            </a:r>
          </a:p>
          <a:p>
            <a:r>
              <a:rPr lang="en-US" altLang="ko-KR" sz="1200" dirty="0">
                <a:solidFill>
                  <a:srgbClr val="383A42"/>
                </a:solidFill>
                <a:latin typeface="Consolas" panose="020B0609020204030204" pitchFamily="49" charset="0"/>
              </a:rPr>
              <a:t>                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ComparePlayerLevel);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rgbClr val="383A42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// ...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47224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161B3-26B2-4414-9E6E-1940DB32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13.2.2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함수 포인터와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void*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응용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5E788-69B5-4BF6-98E9-13A4291D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콜백 </a:t>
            </a:r>
            <a:r>
              <a:rPr lang="en-US" altLang="ko-KR" sz="2400" dirty="0"/>
              <a:t>+ userData(void*)</a:t>
            </a:r>
          </a:p>
          <a:p>
            <a:pPr lvl="1"/>
            <a:r>
              <a:rPr lang="ko-KR" altLang="en-US" sz="1800" dirty="0"/>
              <a:t>콜백 호출 시 같은 </a:t>
            </a:r>
            <a:r>
              <a:rPr lang="en-US" altLang="ko-KR" sz="1800" dirty="0"/>
              <a:t>userData </a:t>
            </a:r>
            <a:r>
              <a:rPr lang="ko-KR" altLang="en-US" sz="1800" dirty="0"/>
              <a:t>전달</a:t>
            </a:r>
            <a:endParaRPr lang="en-US" altLang="ko-KR" sz="1800" dirty="0"/>
          </a:p>
          <a:p>
            <a:pPr lvl="1"/>
            <a:r>
              <a:rPr lang="ko-KR" altLang="en-US" sz="1800" dirty="0"/>
              <a:t>함수 호출과 데이터 전달 분리</a:t>
            </a:r>
            <a:r>
              <a:rPr lang="en-US" altLang="ko-KR" sz="1800" dirty="0"/>
              <a:t> → </a:t>
            </a:r>
            <a:r>
              <a:rPr lang="ko-KR" altLang="en-US" sz="1800" dirty="0"/>
              <a:t>자료형 독립적인 공용 경로 구성</a:t>
            </a:r>
          </a:p>
          <a:p>
            <a:pPr lvl="1"/>
            <a:r>
              <a:rPr lang="en-US" altLang="ko-KR" sz="1800" dirty="0"/>
              <a:t>void* → </a:t>
            </a:r>
            <a:r>
              <a:rPr lang="ko-KR" altLang="en-US" sz="1800" dirty="0"/>
              <a:t>실제 타입 정보 없음</a:t>
            </a:r>
            <a:r>
              <a:rPr lang="en-US" altLang="ko-KR" sz="1800" dirty="0"/>
              <a:t> → </a:t>
            </a:r>
            <a:r>
              <a:rPr lang="ko-KR" altLang="en-US" sz="1800" dirty="0"/>
              <a:t>어떤 데이터의 주소 든 전달 가능</a:t>
            </a:r>
            <a:endParaRPr lang="en-US" altLang="ko-KR" sz="1800" dirty="0"/>
          </a:p>
          <a:p>
            <a:pPr lvl="1"/>
            <a:endParaRPr lang="ko-KR" altLang="en-US" sz="1800" dirty="0"/>
          </a:p>
          <a:p>
            <a:r>
              <a:rPr lang="ko-KR" altLang="en-US" sz="2400" dirty="0"/>
              <a:t>사용</a:t>
            </a:r>
          </a:p>
          <a:p>
            <a:pPr lvl="1"/>
            <a:r>
              <a:rPr lang="ko-KR" altLang="en-US" sz="1800" dirty="0"/>
              <a:t>콜백 내부에서 원래 타입으로 캐스팅</a:t>
            </a:r>
          </a:p>
          <a:p>
            <a:pPr lvl="2"/>
            <a:endParaRPr lang="ko-KR" altLang="en-US" sz="1400" dirty="0"/>
          </a:p>
          <a:p>
            <a:r>
              <a:rPr lang="ko-KR" altLang="en-US" sz="2400" dirty="0"/>
              <a:t>주의</a:t>
            </a:r>
          </a:p>
          <a:p>
            <a:pPr lvl="1"/>
            <a:r>
              <a:rPr lang="ko-KR" altLang="en-US" sz="1800" dirty="0"/>
              <a:t>캐스팅 책임 → 콜백 작성자</a:t>
            </a:r>
          </a:p>
          <a:p>
            <a:pPr lvl="2"/>
            <a:endParaRPr lang="ko-KR" altLang="en-US" sz="1400" dirty="0"/>
          </a:p>
          <a:p>
            <a:r>
              <a:rPr lang="ko-KR" altLang="en-US" sz="2400" dirty="0"/>
              <a:t>활용</a:t>
            </a:r>
          </a:p>
          <a:p>
            <a:pPr lvl="1"/>
            <a:r>
              <a:rPr lang="ko-KR" altLang="en-US" sz="1800" dirty="0"/>
              <a:t>구조체 포인터 전달</a:t>
            </a:r>
          </a:p>
          <a:p>
            <a:pPr lvl="1"/>
            <a:r>
              <a:rPr lang="ko-KR" altLang="en-US" sz="1800" dirty="0"/>
              <a:t>버튼 정보</a:t>
            </a:r>
          </a:p>
          <a:p>
            <a:pPr lvl="1"/>
            <a:r>
              <a:rPr lang="ko-KR" altLang="en-US" sz="1800" dirty="0"/>
              <a:t>윈도우 핸들</a:t>
            </a:r>
          </a:p>
          <a:p>
            <a:pPr lvl="1"/>
            <a:r>
              <a:rPr lang="ko-KR" altLang="en-US" sz="1800" dirty="0"/>
              <a:t>게임 오브젝트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BBF9C-0A4C-44C9-BFA1-D7493B9CCA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20148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0694F-0DBA-B827-7439-72C20FDA8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9F6D93-3D2C-7BB4-251B-81E28292C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13.2.2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함수 포인터와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void*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응용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464BE8-6F02-72F5-88C9-C92A8074B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0C04BB-A8D3-BCEB-B98B-8233D8F93B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78CC20-4FB8-5E34-E293-59F84D64899B}"/>
              </a:ext>
            </a:extLst>
          </p:cNvPr>
          <p:cNvSpPr txBox="1"/>
          <p:nvPr/>
        </p:nvSpPr>
        <p:spPr>
          <a:xfrm>
            <a:off x="395536" y="692150"/>
            <a:ext cx="8352928" cy="550920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(*Callback)(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InvokeThreeTimes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(Callback cb,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userData)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cb(userData); 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매번 같은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userData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전달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PrintMessage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userData)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msg = 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*)userData;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"%s\n"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msg);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text =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안녕하세요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콜백입니다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InvokeThreeTimes(PrintMessage, 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*)text);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88095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161B3-26B2-4414-9E6E-1940DB32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13.2.3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함수 포인터와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const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5E788-69B5-4BF6-98E9-13A4291D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const</a:t>
            </a:r>
            <a:r>
              <a:rPr lang="ko-KR" altLang="en-US" sz="2400" dirty="0"/>
              <a:t> </a:t>
            </a:r>
            <a:r>
              <a:rPr lang="en-US" altLang="ko-KR" sz="2400" dirty="0"/>
              <a:t>fp</a:t>
            </a:r>
          </a:p>
          <a:p>
            <a:pPr lvl="1"/>
            <a:r>
              <a:rPr lang="ko-KR" altLang="en-US" sz="1800" dirty="0"/>
              <a:t>포인터 변수 자체 고정</a:t>
            </a:r>
          </a:p>
          <a:p>
            <a:pPr lvl="1"/>
            <a:r>
              <a:rPr lang="ko-KR" altLang="en-US" sz="1800" dirty="0"/>
              <a:t>함수 호출은 정상적으로 가능</a:t>
            </a:r>
          </a:p>
          <a:p>
            <a:endParaRPr lang="ko-KR" altLang="en-US" sz="2400" dirty="0"/>
          </a:p>
          <a:p>
            <a:r>
              <a:rPr lang="ko-KR" altLang="en-US" sz="2400" dirty="0"/>
              <a:t>주의</a:t>
            </a:r>
          </a:p>
          <a:p>
            <a:pPr lvl="1"/>
            <a:r>
              <a:rPr lang="ko-KR" altLang="en-US" sz="1800" dirty="0"/>
              <a:t>함수 자체는 수정 대상 아님</a:t>
            </a:r>
          </a:p>
          <a:p>
            <a:pPr lvl="1"/>
            <a:r>
              <a:rPr lang="ko-KR" altLang="en-US" sz="1800" dirty="0"/>
              <a:t>함수에 </a:t>
            </a:r>
            <a:r>
              <a:rPr lang="en-US" altLang="ko-KR" sz="1800" dirty="0"/>
              <a:t>const </a:t>
            </a:r>
            <a:r>
              <a:rPr lang="ko-KR" altLang="en-US" sz="1800" dirty="0"/>
              <a:t>적용 의미 없음</a:t>
            </a:r>
          </a:p>
          <a:p>
            <a:endParaRPr lang="ko-KR" altLang="en-US" sz="2400" dirty="0"/>
          </a:p>
          <a:p>
            <a:r>
              <a:rPr lang="ko-KR" altLang="en-US" sz="2400" dirty="0"/>
              <a:t>활용</a:t>
            </a:r>
          </a:p>
          <a:p>
            <a:pPr lvl="1"/>
            <a:r>
              <a:rPr lang="ko-KR" altLang="en-US" sz="1800" dirty="0"/>
              <a:t>디스패치 테이블</a:t>
            </a:r>
          </a:p>
          <a:p>
            <a:pPr lvl="1"/>
            <a:r>
              <a:rPr lang="ko-KR" altLang="en-US" sz="1800" dirty="0"/>
              <a:t>함수 테이블 고정</a:t>
            </a:r>
          </a:p>
          <a:p>
            <a:pPr lvl="1"/>
            <a:r>
              <a:rPr lang="ko-KR" altLang="en-US" sz="1800" dirty="0"/>
              <a:t>초기화 이후 변경 방지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BBF9C-0A4C-44C9-BFA1-D7493B9CCA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DE3292-CB02-3B5F-D2D1-C5CCE9E20EF3}"/>
              </a:ext>
            </a:extLst>
          </p:cNvPr>
          <p:cNvSpPr txBox="1"/>
          <p:nvPr/>
        </p:nvSpPr>
        <p:spPr>
          <a:xfrm>
            <a:off x="4211960" y="2132856"/>
            <a:ext cx="4788024" cy="163121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(*fp)(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fp)(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fp       →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가리키는 함수 변경 가능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fp →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한 번 정하면 변경 불가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49417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161B3-26B2-4414-9E6E-1940DB32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13.2.4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함수 포인터와 구조체 결합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5E788-69B5-4BF6-98E9-13A4291D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구조체 </a:t>
            </a:r>
            <a:r>
              <a:rPr lang="en-US" altLang="ko-KR" sz="2400" dirty="0"/>
              <a:t>+ </a:t>
            </a:r>
            <a:r>
              <a:rPr lang="ko-KR" altLang="en-US" sz="2400" dirty="0"/>
              <a:t>함수 포인터</a:t>
            </a:r>
          </a:p>
          <a:p>
            <a:pPr lvl="1"/>
            <a:r>
              <a:rPr lang="ko-KR" altLang="en-US" sz="2000" dirty="0"/>
              <a:t>데이터 </a:t>
            </a:r>
            <a:r>
              <a:rPr lang="en-US" altLang="ko-KR" sz="2000" dirty="0"/>
              <a:t>+ </a:t>
            </a:r>
            <a:r>
              <a:rPr lang="ko-KR" altLang="en-US" sz="2000" dirty="0"/>
              <a:t>동작 함께 구성</a:t>
            </a:r>
            <a:endParaRPr lang="en-US" altLang="ko-KR" sz="2000" dirty="0"/>
          </a:p>
          <a:p>
            <a:pPr lvl="1"/>
            <a:r>
              <a:rPr lang="ko-KR" altLang="en-US" sz="2000" dirty="0"/>
              <a:t>각 객체가 자신의 동작을 직접 보유</a:t>
            </a:r>
            <a:endParaRPr lang="en-US" altLang="ko-KR" sz="2000" dirty="0"/>
          </a:p>
          <a:p>
            <a:pPr lvl="1"/>
            <a:r>
              <a:rPr lang="en-US" altLang="ko-KR" sz="2000" dirty="0"/>
              <a:t>C</a:t>
            </a:r>
            <a:r>
              <a:rPr lang="ko-KR" altLang="en-US" sz="2000" dirty="0"/>
              <a:t>에서도 객체처럼 동작하는 구조 구성 가능</a:t>
            </a:r>
            <a:endParaRPr lang="en-US" altLang="ko-KR" sz="2000" dirty="0"/>
          </a:p>
          <a:p>
            <a:pPr lvl="2"/>
            <a:endParaRPr lang="en-US" altLang="ko-KR" sz="1600" dirty="0"/>
          </a:p>
          <a:p>
            <a:r>
              <a:rPr lang="ko-KR" altLang="en-US" sz="2400" dirty="0"/>
              <a:t>구조</a:t>
            </a:r>
            <a:endParaRPr lang="en-US" altLang="ko-KR" sz="2400" dirty="0"/>
          </a:p>
          <a:p>
            <a:pPr lvl="1"/>
            <a:r>
              <a:rPr lang="ko-KR" altLang="en-US" sz="2000" dirty="0"/>
              <a:t>구조체 → 데이터</a:t>
            </a:r>
          </a:p>
          <a:p>
            <a:pPr lvl="1"/>
            <a:r>
              <a:rPr lang="ko-KR" altLang="en-US" sz="2000" dirty="0"/>
              <a:t>함수 포인터 → 동작</a:t>
            </a:r>
          </a:p>
          <a:p>
            <a:endParaRPr lang="ko-KR" altLang="en-US" dirty="0"/>
          </a:p>
          <a:p>
            <a:r>
              <a:rPr lang="ko-KR" altLang="en-US" sz="2400" dirty="0"/>
              <a:t>예</a:t>
            </a:r>
            <a:endParaRPr lang="ko-KR" altLang="en-US" dirty="0"/>
          </a:p>
          <a:p>
            <a:pPr lvl="1"/>
            <a:r>
              <a:rPr lang="en-US" altLang="ko-KR" sz="2000" dirty="0"/>
              <a:t>Button</a:t>
            </a:r>
            <a:endParaRPr lang="en-US" altLang="ko-KR" dirty="0"/>
          </a:p>
          <a:p>
            <a:pPr lvl="2"/>
            <a:r>
              <a:rPr lang="en-US" altLang="ko-KR" sz="1800" dirty="0"/>
              <a:t>text     → </a:t>
            </a:r>
            <a:r>
              <a:rPr lang="ko-KR" altLang="en-US" sz="1800" dirty="0"/>
              <a:t>표시 정보</a:t>
            </a:r>
          </a:p>
          <a:p>
            <a:pPr lvl="2"/>
            <a:r>
              <a:rPr lang="en-US" altLang="ko-KR" sz="1800" dirty="0"/>
              <a:t>onClick  → </a:t>
            </a:r>
            <a:r>
              <a:rPr lang="ko-KR" altLang="en-US" sz="1800" dirty="0"/>
              <a:t>실행 함수</a:t>
            </a:r>
          </a:p>
          <a:p>
            <a:pPr lvl="1"/>
            <a:r>
              <a:rPr lang="en-US" altLang="ko-KR" sz="2000" dirty="0"/>
              <a:t>Actor </a:t>
            </a:r>
            <a:r>
              <a:rPr lang="ko-KR" altLang="en-US" sz="2000" dirty="0"/>
              <a:t>구조</a:t>
            </a:r>
          </a:p>
          <a:p>
            <a:pPr lvl="2"/>
            <a:r>
              <a:rPr lang="en-US" altLang="ko-KR" sz="1800" dirty="0"/>
              <a:t>update / draw / </a:t>
            </a:r>
            <a:r>
              <a:rPr lang="ko-KR" altLang="en-US" sz="1800" dirty="0"/>
              <a:t>충돌 처리 함수 포함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BBF9C-0A4C-44C9-BFA1-D7493B9CCA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871993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161B3-26B2-4414-9E6E-1940DB32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13.2.5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함수 포인터를 이용한 상태 머신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5E788-69B5-4BF6-98E9-13A4291D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상태 표현 방식</a:t>
            </a:r>
          </a:p>
          <a:p>
            <a:pPr lvl="1"/>
            <a:r>
              <a:rPr lang="en-US" altLang="ko-KR" dirty="0"/>
              <a:t>enum + switch</a:t>
            </a:r>
          </a:p>
          <a:p>
            <a:pPr lvl="1"/>
            <a:r>
              <a:rPr lang="ko-KR" altLang="en-US" dirty="0"/>
              <a:t>외부에서 상태 분기 → 상태가 늘어나면 분기 코드가 복잡해짐</a:t>
            </a:r>
          </a:p>
          <a:p>
            <a:endParaRPr lang="ko-KR" altLang="en-US" dirty="0"/>
          </a:p>
          <a:p>
            <a:r>
              <a:rPr lang="ko-KR" altLang="en-US" dirty="0"/>
              <a:t>함수 포인터 방식</a:t>
            </a:r>
          </a:p>
          <a:p>
            <a:pPr lvl="1"/>
            <a:r>
              <a:rPr lang="ko-KR" altLang="en-US" dirty="0"/>
              <a:t>현재 상태 함수 호출 → 상태 함수 내부에서 다음 상태 결정</a:t>
            </a:r>
          </a:p>
          <a:p>
            <a:pPr lvl="1"/>
            <a:endParaRPr lang="ko-KR" altLang="en-US" dirty="0"/>
          </a:p>
          <a:p>
            <a:pPr lvl="1"/>
            <a:r>
              <a:rPr lang="ko-KR" altLang="en-US" dirty="0"/>
              <a:t>상태 </a:t>
            </a:r>
            <a:r>
              <a:rPr lang="en-US" altLang="ko-KR" dirty="0"/>
              <a:t>= </a:t>
            </a:r>
            <a:r>
              <a:rPr lang="ko-KR" altLang="en-US" dirty="0"/>
              <a:t>함수 포인터</a:t>
            </a:r>
            <a:r>
              <a:rPr lang="en-US" altLang="ko-KR" dirty="0"/>
              <a:t>, </a:t>
            </a:r>
            <a:r>
              <a:rPr lang="ko-KR" altLang="en-US" dirty="0"/>
              <a:t>전환 </a:t>
            </a:r>
            <a:r>
              <a:rPr lang="en-US" altLang="ko-KR" dirty="0"/>
              <a:t>= </a:t>
            </a:r>
            <a:r>
              <a:rPr lang="ko-KR" altLang="en-US" dirty="0"/>
              <a:t>포인터 변경</a:t>
            </a:r>
          </a:p>
          <a:p>
            <a:pPr lvl="1"/>
            <a:endParaRPr lang="ko-KR" altLang="en-US" dirty="0"/>
          </a:p>
          <a:p>
            <a:pPr lvl="1"/>
            <a:r>
              <a:rPr lang="ko-KR" altLang="en-US" dirty="0"/>
              <a:t>현재 상태 함수 하나만 호출</a:t>
            </a:r>
          </a:p>
          <a:p>
            <a:pPr lvl="1"/>
            <a:r>
              <a:rPr lang="ko-KR" altLang="en-US" dirty="0"/>
              <a:t>상태 수 증가해도 구조 유지</a:t>
            </a:r>
            <a:endParaRPr lang="ko-KR" altLang="en-US" sz="16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BBF9C-0A4C-44C9-BFA1-D7493B9CCA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660316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7C28C-CEFF-4FCE-DC47-4B8FBAF16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7F16F4-D3F2-5274-FB0A-F66D92EBC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13.2.5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함수 포인터를 이용한 상태 머신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1856B7-5919-442A-A7A4-7544B389D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D71363-FF9F-406D-7920-063DE91E1F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33C85-9205-E0E5-5677-10D22BF6C182}"/>
              </a:ext>
            </a:extLst>
          </p:cNvPr>
          <p:cNvSpPr txBox="1"/>
          <p:nvPr/>
        </p:nvSpPr>
        <p:spPr>
          <a:xfrm>
            <a:off x="269869" y="692150"/>
            <a:ext cx="4104705" cy="286232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STATE_IDLE,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STATE_MOVE,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STATE_ATTACK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 State;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State state = STATE_IDLE;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/* ... */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(state)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STATE_IDLE:   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/* ... */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STATE_MOVE:   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/* ... */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STATE_ATTACK: 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/* ... */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03748A-E57B-1A2A-FCB4-63ADEE0DC2C5}"/>
              </a:ext>
            </a:extLst>
          </p:cNvPr>
          <p:cNvSpPr txBox="1"/>
          <p:nvPr/>
        </p:nvSpPr>
        <p:spPr>
          <a:xfrm>
            <a:off x="4498975" y="692150"/>
            <a:ext cx="4572000" cy="581697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Idle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Attack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(*currentState)(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= Idle;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Idle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"Idle </a:t>
            </a:r>
            <a:r>
              <a:rPr lang="ko-KR" altLang="en-US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상태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currentState = Move;   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예시로 다음 상태로 변경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"Move </a:t>
            </a:r>
            <a:r>
              <a:rPr lang="ko-KR" altLang="en-US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상태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currentState = Attack;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Attack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"Attack </a:t>
            </a:r>
            <a:r>
              <a:rPr lang="ko-KR" altLang="en-US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상태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currentState = Idle;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currentState();     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현재 상태의 함수 호출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357895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A71C9-ED86-08DE-204A-10DD1A35C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13.2.6 </a:t>
            </a:r>
            <a:r>
              <a:rPr lang="ko-KR" altLang="en-US" dirty="0"/>
              <a:t>함수 포인터와 플랫폼 </a:t>
            </a:r>
            <a:r>
              <a:rPr lang="en-US" altLang="ko-KR" dirty="0"/>
              <a:t>API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44BB86-6E30-0AC0-2B46-2B9F63094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Windows API</a:t>
            </a:r>
          </a:p>
          <a:p>
            <a:pPr lvl="1"/>
            <a:r>
              <a:rPr lang="en-US" altLang="ko-KR" sz="2000" dirty="0"/>
              <a:t>WndProc → OS</a:t>
            </a:r>
            <a:r>
              <a:rPr lang="ko-KR" altLang="en-US" sz="2000" dirty="0"/>
              <a:t>가 호출</a:t>
            </a:r>
          </a:p>
          <a:p>
            <a:pPr lvl="1"/>
            <a:r>
              <a:rPr lang="ko-KR" altLang="en-US" sz="2000" dirty="0"/>
              <a:t>함수 포인터 </a:t>
            </a:r>
            <a:r>
              <a:rPr lang="en-US" altLang="ko-KR" sz="2000" dirty="0"/>
              <a:t>+ </a:t>
            </a:r>
            <a:r>
              <a:rPr lang="ko-KR" altLang="en-US" sz="2000" dirty="0"/>
              <a:t>호출 규약 → 함수 형태 </a:t>
            </a:r>
            <a:r>
              <a:rPr lang="en-US" altLang="ko-KR" sz="2000" dirty="0"/>
              <a:t>+ </a:t>
            </a:r>
            <a:r>
              <a:rPr lang="ko-KR" altLang="en-US" sz="2000" dirty="0"/>
              <a:t>호출 방식 일치 필요</a:t>
            </a:r>
          </a:p>
          <a:p>
            <a:pPr lvl="1"/>
            <a:r>
              <a:rPr lang="ko-KR" altLang="en-US" sz="2000" dirty="0"/>
              <a:t>콜백 구조</a:t>
            </a:r>
            <a:r>
              <a:rPr lang="en-US" altLang="ko-KR" sz="2000" dirty="0"/>
              <a:t>: </a:t>
            </a:r>
            <a:r>
              <a:rPr lang="ko-KR" altLang="en-US" sz="2000" dirty="0"/>
              <a:t>함수 주소 등록 → 필요 시 호출</a:t>
            </a:r>
            <a:endParaRPr lang="ko-KR" altLang="en-US" sz="2400" dirty="0"/>
          </a:p>
          <a:p>
            <a:pPr lvl="1"/>
            <a:r>
              <a:rPr lang="ko-KR" altLang="en-US" sz="2000" dirty="0"/>
              <a:t>호출 규약</a:t>
            </a:r>
            <a:r>
              <a:rPr lang="en-US" altLang="ko-KR" sz="2000" dirty="0"/>
              <a:t>: </a:t>
            </a:r>
            <a:r>
              <a:rPr lang="ko-KR" altLang="en-US" sz="2000" dirty="0"/>
              <a:t>누가 스택을 정리하는지에 대한 약속</a:t>
            </a:r>
            <a:endParaRPr lang="en-US" altLang="ko-KR" sz="2000" dirty="0"/>
          </a:p>
          <a:p>
            <a:pPr lvl="1"/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5DC627-0D12-A4F2-D87C-F7D3DCB8F5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74F9163-8B47-E71E-0977-2787851E8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916672"/>
              </p:ext>
            </p:extLst>
          </p:nvPr>
        </p:nvGraphicFramePr>
        <p:xfrm>
          <a:off x="539749" y="2780928"/>
          <a:ext cx="8208964" cy="1357376"/>
        </p:xfrm>
        <a:graphic>
          <a:graphicData uri="http://schemas.openxmlformats.org/drawingml/2006/table">
            <a:tbl>
              <a:tblPr/>
              <a:tblGrid>
                <a:gridCol w="1307623">
                  <a:extLst>
                    <a:ext uri="{9D8B030D-6E8A-4147-A177-3AD203B41FA5}">
                      <a16:colId xmlns:a16="http://schemas.microsoft.com/office/drawing/2014/main" val="1540202124"/>
                    </a:ext>
                  </a:extLst>
                </a:gridCol>
                <a:gridCol w="3020739">
                  <a:extLst>
                    <a:ext uri="{9D8B030D-6E8A-4147-A177-3AD203B41FA5}">
                      <a16:colId xmlns:a16="http://schemas.microsoft.com/office/drawing/2014/main" val="1391404091"/>
                    </a:ext>
                  </a:extLst>
                </a:gridCol>
                <a:gridCol w="2238809">
                  <a:extLst>
                    <a:ext uri="{9D8B030D-6E8A-4147-A177-3AD203B41FA5}">
                      <a16:colId xmlns:a16="http://schemas.microsoft.com/office/drawing/2014/main" val="2053634764"/>
                    </a:ext>
                  </a:extLst>
                </a:gridCol>
                <a:gridCol w="1641793">
                  <a:extLst>
                    <a:ext uri="{9D8B030D-6E8A-4147-A177-3AD203B41FA5}">
                      <a16:colId xmlns:a16="http://schemas.microsoft.com/office/drawing/2014/main" val="1993798465"/>
                    </a:ext>
                  </a:extLst>
                </a:gridCol>
              </a:tblGrid>
              <a:tr h="28799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호출 규약</a:t>
                      </a:r>
                      <a:endParaRPr lang="ko-KR" altLang="en-US" sz="1600" dirty="0"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스택 정리 주체</a:t>
                      </a:r>
                      <a:endParaRPr lang="ko-KR" altLang="en-US" sz="1600" dirty="0"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인자 전달 방식</a:t>
                      </a:r>
                      <a:endParaRPr lang="ko-KR" altLang="en-US" sz="1600" dirty="0"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dirty="0"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특징</a:t>
                      </a: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092951"/>
                  </a:ext>
                </a:extLst>
              </a:tr>
              <a:tr h="28799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__cdecl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107988" marR="107988" marT="107988" marB="1079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Caller 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호출한 쪽에서 정리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800" dirty="0"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107988" marR="107988" marT="107988" marB="1079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스택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오른쪽 → 왼쪽</a:t>
                      </a:r>
                      <a:endParaRPr lang="ko-KR" altLang="en-US" sz="1800" dirty="0"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107988" marR="107988" marT="107988" marB="1079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dirty="0"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일반</a:t>
                      </a:r>
                    </a:p>
                  </a:txBody>
                  <a:tcPr marL="107988" marR="107988" marT="107988" marB="1079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230714"/>
                  </a:ext>
                </a:extLst>
              </a:tr>
              <a:tr h="28799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__stdcall</a:t>
                      </a:r>
                      <a:endParaRPr lang="en-US" sz="2000" b="1" dirty="0">
                        <a:solidFill>
                          <a:srgbClr val="0000FF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107988" marR="107988" marT="107988" marB="1079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Callee 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함수 내부에서 정리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800" dirty="0"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107988" marR="107988" marT="107988" marB="1079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스택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오른쪽 → 왼쪽</a:t>
                      </a:r>
                      <a:endParaRPr lang="ko-KR" altLang="en-US" sz="1800" dirty="0"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107988" marR="107988" marT="107988" marB="1079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Windows API</a:t>
                      </a:r>
                      <a:endParaRPr lang="ko-KR" altLang="en-US" sz="1800" b="1" dirty="0">
                        <a:solidFill>
                          <a:srgbClr val="0000FF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107988" marR="107988" marT="107988" marB="1079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040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0846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161B3-26B2-4414-9E6E-1940DB32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13.2.7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최신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표준과 함수 포인터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5E788-69B5-4BF6-98E9-13A4291D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함수 포인터</a:t>
            </a:r>
          </a:p>
          <a:p>
            <a:pPr lvl="1"/>
            <a:r>
              <a:rPr lang="en-US" altLang="ko-KR" sz="1800" dirty="0"/>
              <a:t>C </a:t>
            </a:r>
            <a:r>
              <a:rPr lang="ko-KR" altLang="en-US" sz="1800" dirty="0"/>
              <a:t>초기부터 문법 </a:t>
            </a:r>
            <a:r>
              <a:rPr lang="en-US" altLang="ko-KR" sz="1800" dirty="0"/>
              <a:t>/ </a:t>
            </a:r>
            <a:r>
              <a:rPr lang="ko-KR" altLang="en-US" sz="1800" dirty="0"/>
              <a:t>의미 변화 없음</a:t>
            </a:r>
          </a:p>
          <a:p>
            <a:endParaRPr lang="ko-KR" altLang="en-US" sz="2000" dirty="0"/>
          </a:p>
          <a:p>
            <a:r>
              <a:rPr lang="ko-KR" altLang="en-US" sz="2000" dirty="0"/>
              <a:t>문제</a:t>
            </a:r>
          </a:p>
          <a:p>
            <a:pPr lvl="1"/>
            <a:r>
              <a:rPr lang="ko-KR" altLang="en-US" sz="1800" dirty="0"/>
              <a:t>스레드 </a:t>
            </a:r>
            <a:r>
              <a:rPr lang="en-US" altLang="ko-KR" sz="1800" dirty="0"/>
              <a:t>/ </a:t>
            </a:r>
            <a:r>
              <a:rPr lang="ko-KR" altLang="en-US" sz="1800" dirty="0"/>
              <a:t>원자 연산 </a:t>
            </a:r>
            <a:r>
              <a:rPr lang="en-US" altLang="ko-KR" sz="1800" dirty="0"/>
              <a:t>/ </a:t>
            </a:r>
            <a:r>
              <a:rPr lang="ko-KR" altLang="en-US" sz="1800" dirty="0"/>
              <a:t>메모리 모델 </a:t>
            </a:r>
            <a:r>
              <a:rPr lang="en-US" altLang="ko-KR" sz="1800" dirty="0"/>
              <a:t>(</a:t>
            </a:r>
            <a:r>
              <a:rPr lang="ko-KR" altLang="en-US" sz="1800" dirty="0"/>
              <a:t>동시성</a:t>
            </a:r>
            <a:r>
              <a:rPr lang="en-US" altLang="ko-KR" sz="1800" dirty="0"/>
              <a:t>)</a:t>
            </a:r>
          </a:p>
          <a:p>
            <a:pPr lvl="1"/>
            <a:r>
              <a:rPr lang="en-US" altLang="ko-KR" sz="1800" dirty="0"/>
              <a:t>→ </a:t>
            </a:r>
            <a:r>
              <a:rPr lang="ko-KR" altLang="en-US" sz="1800" dirty="0"/>
              <a:t>잘못된 값 읽기 → 잘못된 함수 호출</a:t>
            </a:r>
          </a:p>
          <a:p>
            <a:endParaRPr lang="ko-KR" altLang="en-US" sz="2000" dirty="0"/>
          </a:p>
          <a:p>
            <a:r>
              <a:rPr lang="ko-KR" altLang="en-US" sz="2000" dirty="0"/>
              <a:t>해결</a:t>
            </a:r>
          </a:p>
          <a:p>
            <a:pPr lvl="1"/>
            <a:r>
              <a:rPr lang="en-US" altLang="ko-KR" sz="1800" dirty="0"/>
              <a:t>_Atomic → </a:t>
            </a:r>
            <a:r>
              <a:rPr lang="ko-KR" altLang="en-US" sz="1800" dirty="0"/>
              <a:t>안전한 읽기 </a:t>
            </a:r>
            <a:r>
              <a:rPr lang="en-US" altLang="ko-KR" sz="1800" dirty="0"/>
              <a:t>/ </a:t>
            </a:r>
            <a:r>
              <a:rPr lang="ko-KR" altLang="en-US" sz="1800" dirty="0"/>
              <a:t>쓰기 보장</a:t>
            </a:r>
          </a:p>
          <a:p>
            <a:pPr lvl="1"/>
            <a:r>
              <a:rPr lang="en-US" altLang="ko-KR" sz="1800" dirty="0"/>
              <a:t>※ </a:t>
            </a:r>
            <a:r>
              <a:rPr lang="ko-KR" altLang="en-US" sz="1800" dirty="0"/>
              <a:t>함수 포인터는 그대로 유지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BBF9C-0A4C-44C9-BFA1-D7493B9CCA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2E638-FA07-9D11-4877-BF23FA9DF2DA}"/>
              </a:ext>
            </a:extLst>
          </p:cNvPr>
          <p:cNvSpPr txBox="1"/>
          <p:nvPr/>
        </p:nvSpPr>
        <p:spPr>
          <a:xfrm>
            <a:off x="4821238" y="1124744"/>
            <a:ext cx="4215258" cy="32316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&lt;stdatomic.h&gt;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b) {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+ b; 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b) {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- b; 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_Atomic(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(*)(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 op = Add;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SetOp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(*newOp)(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atomic_store(&amp;op, newOp);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CallOp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(*f)(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= atomic_load(&amp;op);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f(a, b);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47074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161B3-26B2-4414-9E6E-1940DB32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5E788-69B5-4BF6-98E9-13A4291D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함수 포인터</a:t>
            </a:r>
          </a:p>
          <a:p>
            <a:pPr lvl="1"/>
            <a:r>
              <a:rPr lang="ko-KR" altLang="en-US" sz="2000" dirty="0"/>
              <a:t>함수의 주소를 저장하는 포인터</a:t>
            </a:r>
          </a:p>
          <a:p>
            <a:pPr lvl="1"/>
            <a:r>
              <a:rPr lang="ko-KR" altLang="en-US" sz="2000" dirty="0"/>
              <a:t>함수를 값처럼 전달 </a:t>
            </a:r>
            <a:r>
              <a:rPr lang="en-US" altLang="ko-KR" sz="2000" dirty="0"/>
              <a:t>/ </a:t>
            </a:r>
            <a:r>
              <a:rPr lang="ko-KR" altLang="en-US" sz="2000" dirty="0"/>
              <a:t>호출 가능 → 흐름 제어</a:t>
            </a:r>
          </a:p>
          <a:p>
            <a:pPr lvl="1"/>
            <a:endParaRPr lang="ko-KR" altLang="en-US" sz="2000" dirty="0"/>
          </a:p>
          <a:p>
            <a:pPr lvl="1"/>
            <a:r>
              <a:rPr lang="ko-KR" altLang="en-US" sz="2000" dirty="0"/>
              <a:t>콜백 </a:t>
            </a:r>
            <a:r>
              <a:rPr lang="en-US" altLang="ko-KR" sz="2000" dirty="0"/>
              <a:t>/ </a:t>
            </a:r>
            <a:r>
              <a:rPr lang="ko-KR" altLang="en-US" sz="2000" dirty="0"/>
              <a:t>함수 테이블 </a:t>
            </a:r>
            <a:r>
              <a:rPr lang="en-US" altLang="ko-KR" sz="2000" dirty="0"/>
              <a:t>/ </a:t>
            </a:r>
            <a:r>
              <a:rPr lang="ko-KR" altLang="en-US" sz="2000" dirty="0"/>
              <a:t>상태 머신 구현 가능</a:t>
            </a:r>
            <a:endParaRPr lang="en-US" altLang="ko-KR" sz="2000" dirty="0"/>
          </a:p>
          <a:p>
            <a:pPr lvl="1"/>
            <a:endParaRPr lang="ko-KR" altLang="en-US" sz="2000" dirty="0"/>
          </a:p>
          <a:p>
            <a:pPr lvl="1"/>
            <a:r>
              <a:rPr lang="ko-KR" altLang="en-US" sz="2000" dirty="0"/>
              <a:t>함수 형태 일치 필요 </a:t>
            </a:r>
            <a:r>
              <a:rPr lang="en-US" altLang="ko-KR" sz="2000" dirty="0"/>
              <a:t>(</a:t>
            </a:r>
            <a:r>
              <a:rPr lang="ko-KR" altLang="en-US" sz="2000" dirty="0"/>
              <a:t>반환형</a:t>
            </a:r>
            <a:r>
              <a:rPr lang="en-US" altLang="ko-KR" sz="2000" dirty="0"/>
              <a:t>, </a:t>
            </a:r>
            <a:r>
              <a:rPr lang="ko-KR" altLang="en-US" sz="2000" dirty="0"/>
              <a:t>매개변수</a:t>
            </a:r>
            <a:r>
              <a:rPr lang="en-US" altLang="ko-KR" sz="2000" dirty="0"/>
              <a:t>)</a:t>
            </a:r>
          </a:p>
          <a:p>
            <a:pPr lvl="1"/>
            <a:r>
              <a:rPr lang="ko-KR" altLang="en-US" sz="2000" dirty="0"/>
              <a:t>호출 규약 포함한 형태 일치 필요</a:t>
            </a:r>
          </a:p>
          <a:p>
            <a:pPr lvl="1"/>
            <a:endParaRPr lang="ko-KR" altLang="en-US" sz="2000" dirty="0"/>
          </a:p>
          <a:p>
            <a:pPr lvl="1"/>
            <a:r>
              <a:rPr lang="ko-KR" altLang="en-US" sz="2000" dirty="0"/>
              <a:t>구조체 결합 → 객체처럼 사용</a:t>
            </a:r>
          </a:p>
          <a:p>
            <a:pPr lvl="1"/>
            <a:r>
              <a:rPr lang="en-US" altLang="ko-KR" sz="2000" dirty="0"/>
              <a:t>void* </a:t>
            </a:r>
            <a:r>
              <a:rPr lang="ko-KR" altLang="en-US" sz="2000" dirty="0"/>
              <a:t>결합 → 데이터 전달 분리</a:t>
            </a:r>
          </a:p>
          <a:p>
            <a:pPr lvl="1"/>
            <a:endParaRPr lang="ko-KR" altLang="en-US" sz="2000" dirty="0"/>
          </a:p>
          <a:p>
            <a:pPr lvl="1"/>
            <a:r>
              <a:rPr lang="ko-KR" altLang="en-US" sz="2000" dirty="0"/>
              <a:t>문법 변화 없음 </a:t>
            </a:r>
            <a:r>
              <a:rPr lang="en-US" altLang="ko-KR" sz="2000" dirty="0"/>
              <a:t>(C </a:t>
            </a:r>
            <a:r>
              <a:rPr lang="ko-KR" altLang="en-US" sz="2000" dirty="0"/>
              <a:t>초기부터 동일</a:t>
            </a:r>
            <a:r>
              <a:rPr lang="en-US" altLang="ko-KR" sz="2000" dirty="0"/>
              <a:t>): </a:t>
            </a:r>
            <a:r>
              <a:rPr lang="ko-KR" altLang="en-US" sz="2000" dirty="0"/>
              <a:t>멀티 스레드 환경 → </a:t>
            </a:r>
            <a:r>
              <a:rPr lang="en-US" altLang="ko-KR" sz="2000" dirty="0"/>
              <a:t>_Atomic </a:t>
            </a:r>
            <a:r>
              <a:rPr lang="ko-KR" altLang="en-US" sz="2000" dirty="0"/>
              <a:t>필요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BBF9C-0A4C-44C9-BFA1-D7493B9CCA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444327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161B3-26B2-4414-9E6E-1940DB32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 및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5E788-69B5-4BF6-98E9-13A4291D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과제</a:t>
            </a:r>
            <a:r>
              <a:rPr lang="en-US" altLang="ko-KR" sz="2000" dirty="0"/>
              <a:t>1</a:t>
            </a:r>
          </a:p>
          <a:p>
            <a:pPr lvl="1"/>
            <a:r>
              <a:rPr lang="ko-KR" altLang="en-US" sz="1800" dirty="0"/>
              <a:t>사칙연산 함수 포인터 테이블</a:t>
            </a:r>
          </a:p>
          <a:p>
            <a:pPr lvl="1"/>
            <a:r>
              <a:rPr lang="ko-KR" altLang="en-US" sz="1800" dirty="0"/>
              <a:t>연산 기호 입력 → 함수 선택 → 실행</a:t>
            </a:r>
          </a:p>
          <a:p>
            <a:pPr lvl="1"/>
            <a:endParaRPr lang="ko-KR" altLang="en-US" sz="1600" dirty="0"/>
          </a:p>
          <a:p>
            <a:r>
              <a:rPr lang="ko-KR" altLang="en-US" sz="2000" dirty="0"/>
              <a:t>과제</a:t>
            </a:r>
            <a:r>
              <a:rPr lang="en-US" altLang="ko-KR" sz="2000" dirty="0"/>
              <a:t>2</a:t>
            </a:r>
          </a:p>
          <a:p>
            <a:pPr lvl="1"/>
            <a:r>
              <a:rPr lang="en-US" altLang="ko-KR" sz="1800" dirty="0"/>
              <a:t>qsort + </a:t>
            </a:r>
            <a:r>
              <a:rPr lang="ko-KR" altLang="en-US" sz="1800" dirty="0"/>
              <a:t>콜백</a:t>
            </a:r>
          </a:p>
          <a:p>
            <a:pPr lvl="1"/>
            <a:r>
              <a:rPr lang="ko-KR" altLang="en-US" sz="1800" dirty="0"/>
              <a:t>비교 함수 변경 → 정렬 기준 변경</a:t>
            </a:r>
          </a:p>
          <a:p>
            <a:pPr lvl="1"/>
            <a:endParaRPr lang="ko-KR" altLang="en-US" sz="1600" dirty="0"/>
          </a:p>
          <a:p>
            <a:r>
              <a:rPr lang="ko-KR" altLang="en-US" sz="2000" dirty="0"/>
              <a:t>과제</a:t>
            </a:r>
            <a:r>
              <a:rPr lang="en-US" altLang="ko-KR" sz="2000" dirty="0"/>
              <a:t>3</a:t>
            </a:r>
          </a:p>
          <a:p>
            <a:pPr lvl="1"/>
            <a:r>
              <a:rPr lang="ko-KR" altLang="en-US" sz="1800" dirty="0"/>
              <a:t>상태 머신</a:t>
            </a:r>
          </a:p>
          <a:p>
            <a:pPr lvl="1"/>
            <a:r>
              <a:rPr lang="ko-KR" altLang="en-US" sz="1800" dirty="0"/>
              <a:t>상태 </a:t>
            </a:r>
            <a:r>
              <a:rPr lang="en-US" altLang="ko-KR" sz="1800" dirty="0"/>
              <a:t>= </a:t>
            </a:r>
            <a:r>
              <a:rPr lang="ko-KR" altLang="en-US" sz="1800" dirty="0"/>
              <a:t>함수 포인터</a:t>
            </a:r>
          </a:p>
          <a:p>
            <a:pPr lvl="1"/>
            <a:r>
              <a:rPr lang="en-US" altLang="ko-KR" sz="1800" dirty="0"/>
              <a:t>currentState() </a:t>
            </a:r>
            <a:r>
              <a:rPr lang="ko-KR" altLang="en-US" sz="1800" dirty="0"/>
              <a:t>반복 호출</a:t>
            </a:r>
          </a:p>
          <a:p>
            <a:pPr lvl="1"/>
            <a:endParaRPr lang="ko-KR" altLang="en-US" sz="1600" dirty="0"/>
          </a:p>
          <a:p>
            <a:r>
              <a:rPr lang="ko-KR" altLang="en-US" sz="2000" dirty="0"/>
              <a:t>과제</a:t>
            </a:r>
            <a:r>
              <a:rPr lang="en-US" altLang="ko-KR" sz="2000" dirty="0"/>
              <a:t>4</a:t>
            </a:r>
          </a:p>
          <a:p>
            <a:pPr lvl="1"/>
            <a:r>
              <a:rPr lang="en-US" altLang="ko-KR" sz="1800" dirty="0"/>
              <a:t>Button </a:t>
            </a:r>
            <a:r>
              <a:rPr lang="ko-KR" altLang="en-US" sz="1800" dirty="0"/>
              <a:t>구조체</a:t>
            </a:r>
          </a:p>
          <a:p>
            <a:pPr lvl="1"/>
            <a:r>
              <a:rPr lang="en-US" altLang="ko-KR" sz="1800" dirty="0"/>
              <a:t>onClick </a:t>
            </a:r>
            <a:r>
              <a:rPr lang="ko-KR" altLang="en-US" sz="1800" dirty="0"/>
              <a:t>함수 포인터</a:t>
            </a:r>
          </a:p>
          <a:p>
            <a:pPr lvl="1"/>
            <a:r>
              <a:rPr lang="ko-KR" altLang="en-US" sz="1800" dirty="0"/>
              <a:t>클릭 → 함수 실행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BBF9C-0A4C-44C9-BFA1-D7493B9CCA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586285074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가을체"/>
        <a:ea typeface="가을체"/>
        <a:cs typeface=""/>
      </a:majorFont>
      <a:minorFont>
        <a:latin typeface="가을체"/>
        <a:ea typeface="가을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7889</TotalTime>
  <Words>2631</Words>
  <Application>Microsoft Office PowerPoint</Application>
  <PresentationFormat>화면 슬라이드 쇼(4:3)</PresentationFormat>
  <Paragraphs>298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1" baseType="lpstr">
      <vt:lpstr>Consolas</vt:lpstr>
      <vt:lpstr>HY견고딕</vt:lpstr>
      <vt:lpstr>Arial</vt:lpstr>
      <vt:lpstr>굴림</vt:lpstr>
      <vt:lpstr>나눔바른고딕</vt:lpstr>
      <vt:lpstr>Wingdings</vt:lpstr>
      <vt:lpstr>가을체</vt:lpstr>
      <vt:lpstr>기본 디자인</vt:lpstr>
      <vt:lpstr>13. 함수 포인터 (union)</vt:lpstr>
      <vt:lpstr>13.1 함수 포인터 기초</vt:lpstr>
      <vt:lpstr>13.1 함수 포인터 활용</vt:lpstr>
      <vt:lpstr>13.1.1 함수 포인터 선언</vt:lpstr>
      <vt:lpstr>13.1.1 함수 포인터 선언</vt:lpstr>
      <vt:lpstr>13.1.2 함수 포인터 초기화와 호출</vt:lpstr>
      <vt:lpstr>13.1.2 함수 포인터 초기화와 호출</vt:lpstr>
      <vt:lpstr>13.1.3 typedef로 함수 포인터 단순화</vt:lpstr>
      <vt:lpstr>13.1.4 함수 포인터 배열</vt:lpstr>
      <vt:lpstr>13.1.4 함수 포인터 배열</vt:lpstr>
      <vt:lpstr>13.2.1 콜백 함수와 qsort</vt:lpstr>
      <vt:lpstr>13.2.1 qsort</vt:lpstr>
      <vt:lpstr>13.2.1 qsort</vt:lpstr>
      <vt:lpstr>13.2.2 함수 포인터와 void* 응용</vt:lpstr>
      <vt:lpstr>13.2.2 함수 포인터와 void* 응용</vt:lpstr>
      <vt:lpstr>13.2.3 함수 포인터와 const 결합</vt:lpstr>
      <vt:lpstr>13.2.4 함수 포인터와 구조체 결합</vt:lpstr>
      <vt:lpstr>13.2.5 함수 포인터를 이용한 상태 머신 구현</vt:lpstr>
      <vt:lpstr>13.2.5 함수 포인터를 이용한 상태 머신 구현</vt:lpstr>
      <vt:lpstr>13.2.6 함수 포인터와 플랫폼 API</vt:lpstr>
      <vt:lpstr>13.2.7 최신 C 표준과 함수 포인터</vt:lpstr>
      <vt:lpstr>학습 정리</vt:lpstr>
      <vt:lpstr>실습 및 과제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275</cp:revision>
  <dcterms:created xsi:type="dcterms:W3CDTF">2003-11-30T16:03:20Z</dcterms:created>
  <dcterms:modified xsi:type="dcterms:W3CDTF">2026-06-23T07:25:32Z</dcterms:modified>
</cp:coreProperties>
</file>