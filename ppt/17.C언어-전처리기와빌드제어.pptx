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328" r:id="rId2"/>
    <p:sldId id="330" r:id="rId3"/>
    <p:sldId id="329" r:id="rId4"/>
    <p:sldId id="331" r:id="rId5"/>
    <p:sldId id="332" r:id="rId6"/>
    <p:sldId id="356" r:id="rId7"/>
    <p:sldId id="357" r:id="rId8"/>
    <p:sldId id="333" r:id="rId9"/>
    <p:sldId id="334" r:id="rId10"/>
    <p:sldId id="352" r:id="rId11"/>
    <p:sldId id="335" r:id="rId12"/>
    <p:sldId id="336" r:id="rId13"/>
    <p:sldId id="337" r:id="rId14"/>
    <p:sldId id="338" r:id="rId15"/>
    <p:sldId id="339" r:id="rId16"/>
    <p:sldId id="340" r:id="rId17"/>
    <p:sldId id="354" r:id="rId18"/>
    <p:sldId id="358" r:id="rId19"/>
    <p:sldId id="355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HY견고딕" panose="02030600000101010101" pitchFamily="18" charset="-127"/>
      <p:regular r:id="rId37"/>
    </p:embeddedFont>
    <p:embeddedFont>
      <p:font typeface="가을체" panose="02030600000101010101" pitchFamily="18" charset="-127"/>
      <p:regular r:id="rId38"/>
    </p:embeddedFont>
    <p:embeddedFont>
      <p:font typeface="나눔바른고딕" panose="020B0603020101020101" pitchFamily="50" charset="-127"/>
      <p:regular r:id="rId39"/>
      <p:bold r:id="rId40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FF"/>
    <a:srgbClr val="CC00FF"/>
    <a:srgbClr val="FF9900"/>
    <a:srgbClr val="CC00CC"/>
    <a:srgbClr val="FF0000"/>
    <a:srgbClr val="FF00FF"/>
    <a:srgbClr val="CCFFFF"/>
    <a:srgbClr val="FFFF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818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en-US" altLang="ko-KR" dirty="0"/>
              <a:t>17. </a:t>
            </a:r>
            <a:r>
              <a:rPr lang="ko-KR" altLang="en-US" dirty="0"/>
              <a:t>전처리기와 빌드 제어</a:t>
            </a:r>
            <a:br>
              <a:rPr lang="en-US" altLang="ko-KR" dirty="0"/>
            </a:br>
            <a:r>
              <a:rPr lang="en-US" altLang="ko-KR" sz="2800" dirty="0"/>
              <a:t>(Preprocessor and Build Control)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621D30-1502-5C58-113B-56A2BA5020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 </a:t>
            </a:r>
            <a:r>
              <a:rPr lang="ko-KR" altLang="en-US" dirty="0"/>
              <a:t>전처리기와 빌드 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전처리기 </a:t>
            </a:r>
            <a:r>
              <a:rPr lang="en-US" altLang="ko-KR" dirty="0"/>
              <a:t>(Preprocessor)</a:t>
            </a:r>
          </a:p>
          <a:p>
            <a:pPr lvl="1"/>
            <a:r>
              <a:rPr lang="ko-KR" altLang="en-US" dirty="0"/>
              <a:t>컴파일 이전 단계에서 동작</a:t>
            </a:r>
          </a:p>
          <a:p>
            <a:pPr lvl="1"/>
            <a:r>
              <a:rPr lang="ko-KR" altLang="en-US" dirty="0"/>
              <a:t>코드를 텍스트 수준에서 변형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/>
              <a:t>주요 기능</a:t>
            </a:r>
          </a:p>
          <a:p>
            <a:pPr lvl="1"/>
            <a:r>
              <a:rPr lang="en-US" altLang="ko-KR" dirty="0">
                <a:solidFill>
                  <a:srgbClr val="0000FF"/>
                </a:solidFill>
              </a:rPr>
              <a:t>#include </a:t>
            </a:r>
            <a:r>
              <a:rPr lang="en-US" altLang="ko-KR" dirty="0"/>
              <a:t>→ </a:t>
            </a:r>
            <a:r>
              <a:rPr lang="ko-KR" altLang="en-US" dirty="0"/>
              <a:t>파일 삽입</a:t>
            </a:r>
          </a:p>
          <a:p>
            <a:pPr lvl="1"/>
            <a:r>
              <a:rPr lang="en-US" altLang="ko-KR" dirty="0">
                <a:solidFill>
                  <a:srgbClr val="0000FF"/>
                </a:solidFill>
              </a:rPr>
              <a:t>#define   </a:t>
            </a:r>
            <a:r>
              <a:rPr lang="en-US" altLang="ko-KR" dirty="0"/>
              <a:t>→ </a:t>
            </a:r>
            <a:r>
              <a:rPr lang="ko-KR" altLang="en-US" dirty="0"/>
              <a:t>치환</a:t>
            </a:r>
          </a:p>
          <a:p>
            <a:pPr lvl="1"/>
            <a:r>
              <a:rPr lang="en-US" altLang="ko-KR" dirty="0">
                <a:solidFill>
                  <a:srgbClr val="0000FF"/>
                </a:solidFill>
              </a:rPr>
              <a:t>#if             </a:t>
            </a:r>
            <a:r>
              <a:rPr lang="en-US" altLang="ko-KR" dirty="0"/>
              <a:t>→ </a:t>
            </a:r>
            <a:r>
              <a:rPr lang="ko-KR" altLang="en-US" dirty="0"/>
              <a:t>조건 분기</a:t>
            </a:r>
          </a:p>
          <a:p>
            <a:endParaRPr lang="ko-KR" altLang="en-US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→</a:t>
            </a:r>
            <a:r>
              <a:rPr lang="en-US" altLang="ko-KR" dirty="0"/>
              <a:t> </a:t>
            </a:r>
            <a:r>
              <a:rPr lang="ko-KR" altLang="en-US" dirty="0"/>
              <a:t>실행 코드가 아니라 </a:t>
            </a:r>
            <a:r>
              <a:rPr lang="ko-KR" altLang="en-US" sz="3200" dirty="0">
                <a:solidFill>
                  <a:srgbClr val="0000FF"/>
                </a:solidFill>
              </a:rPr>
              <a:t>빌드 제어 도구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0814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161B3-26B2-4414-9E6E-1940DB32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17.1 Directive</a:t>
            </a:r>
            <a:r>
              <a:rPr lang="ko-KR" altLang="en-US" dirty="0"/>
              <a:t>와 명령문의 구조적 차이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5E788-69B5-4BF6-98E9-13A4291D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Directive</a:t>
            </a:r>
          </a:p>
          <a:p>
            <a:pPr lvl="1"/>
            <a:r>
              <a:rPr lang="ko-KR" altLang="en-US" dirty="0"/>
              <a:t>컴파일 이전 처리</a:t>
            </a:r>
          </a:p>
          <a:p>
            <a:pPr lvl="1"/>
            <a:r>
              <a:rPr lang="ko-KR" altLang="en-US" dirty="0"/>
              <a:t>문법 검사 없음</a:t>
            </a:r>
          </a:p>
          <a:p>
            <a:pPr lvl="1"/>
            <a:r>
              <a:rPr lang="ko-KR" altLang="en-US" dirty="0"/>
              <a:t>코드 생성 없음</a:t>
            </a:r>
          </a:p>
          <a:p>
            <a:endParaRPr lang="en-US" altLang="ko-KR" dirty="0"/>
          </a:p>
          <a:p>
            <a:r>
              <a:rPr lang="en-US" altLang="ko-KR" dirty="0"/>
              <a:t>C </a:t>
            </a:r>
            <a:r>
              <a:rPr lang="ko-KR" altLang="en-US" dirty="0"/>
              <a:t>명령문</a:t>
            </a:r>
          </a:p>
          <a:p>
            <a:pPr lvl="1"/>
            <a:r>
              <a:rPr lang="ko-KR" altLang="en-US" dirty="0"/>
              <a:t>컴파일 단계 처리</a:t>
            </a:r>
          </a:p>
          <a:p>
            <a:pPr lvl="1"/>
            <a:r>
              <a:rPr lang="ko-KR" altLang="en-US" dirty="0"/>
              <a:t>문법 검사 있음</a:t>
            </a:r>
          </a:p>
          <a:p>
            <a:pPr lvl="1"/>
            <a:r>
              <a:rPr lang="ko-KR" altLang="en-US" dirty="0"/>
              <a:t>실행 코드 생성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→ 전처리기는 </a:t>
            </a:r>
            <a:r>
              <a:rPr lang="ko-KR" altLang="en-US" sz="3200" dirty="0">
                <a:solidFill>
                  <a:srgbClr val="0000FF"/>
                </a:solidFill>
              </a:rPr>
              <a:t>코드 생성 전 단계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BBF9C-0A4C-44C9-BFA1-D7493B9CCA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961857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 </a:t>
            </a:r>
            <a:r>
              <a:rPr lang="ko-KR" altLang="en-US" dirty="0"/>
              <a:t>매크로</a:t>
            </a:r>
            <a:r>
              <a:rPr lang="en-US" altLang="ko-KR" dirty="0"/>
              <a:t>: </a:t>
            </a:r>
            <a:r>
              <a:rPr lang="ko-KR" altLang="en-US" dirty="0"/>
              <a:t>빌드 시점 코드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매크로 </a:t>
            </a:r>
            <a:r>
              <a:rPr lang="en-US" altLang="ko-KR" dirty="0"/>
              <a:t>(Macro)</a:t>
            </a:r>
          </a:p>
          <a:p>
            <a:pPr lvl="1"/>
            <a:r>
              <a:rPr lang="ko-KR" altLang="en-US" dirty="0"/>
              <a:t>반복되는 코드 패턴 정의</a:t>
            </a:r>
          </a:p>
          <a:p>
            <a:pPr lvl="1"/>
            <a:r>
              <a:rPr lang="ko-KR" altLang="en-US" dirty="0"/>
              <a:t>전처리 단계에서 코드 확장</a:t>
            </a:r>
          </a:p>
          <a:p>
            <a:pPr lvl="1"/>
            <a:r>
              <a:rPr lang="ko-KR" altLang="en-US" dirty="0"/>
              <a:t>코드 재사용</a:t>
            </a:r>
          </a:p>
          <a:p>
            <a:pPr lvl="1"/>
            <a:r>
              <a:rPr lang="ko-KR" altLang="en-US" dirty="0"/>
              <a:t>수정 비용 감소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/>
              <a:t>특징</a:t>
            </a:r>
          </a:p>
          <a:p>
            <a:pPr lvl="1"/>
            <a:r>
              <a:rPr lang="ko-KR" altLang="en-US" dirty="0"/>
              <a:t>함수 호출 아님</a:t>
            </a:r>
          </a:p>
          <a:p>
            <a:pPr lvl="1"/>
            <a:r>
              <a:rPr lang="ko-KR" altLang="en-US" dirty="0"/>
              <a:t>텍스트 치환 기반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6310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17.2.1 </a:t>
            </a:r>
            <a:r>
              <a:rPr lang="ko-KR" altLang="en-US" dirty="0"/>
              <a:t>반복 코드의 통합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반복 코드 문제</a:t>
            </a:r>
          </a:p>
          <a:p>
            <a:pPr lvl="1"/>
            <a:r>
              <a:rPr lang="ko-KR" altLang="en-US" dirty="0"/>
              <a:t>동일 코드가 여러 곳에 존재</a:t>
            </a:r>
          </a:p>
          <a:p>
            <a:pPr lvl="1"/>
            <a:r>
              <a:rPr lang="ko-KR" altLang="en-US" dirty="0"/>
              <a:t>수정 시 모든 위치 변경 필요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/>
              <a:t>매크로 효과</a:t>
            </a:r>
          </a:p>
          <a:p>
            <a:pPr lvl="1"/>
            <a:r>
              <a:rPr lang="ko-KR" altLang="en-US" dirty="0"/>
              <a:t>한 곳에서 관리</a:t>
            </a:r>
          </a:p>
          <a:p>
            <a:pPr lvl="1"/>
            <a:r>
              <a:rPr lang="ko-KR" altLang="en-US" dirty="0"/>
              <a:t>전체 코드 일관성 유지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E9C0BD-A1D2-8F65-84C1-53C35CD831BC}"/>
              </a:ext>
            </a:extLst>
          </p:cNvPr>
          <p:cNvSpPr txBox="1"/>
          <p:nvPr/>
        </p:nvSpPr>
        <p:spPr>
          <a:xfrm>
            <a:off x="539750" y="5373216"/>
            <a:ext cx="5004048" cy="9233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pt-BR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"[INFO] %s\n"</a:t>
            </a:r>
            <a:r>
              <a:rPr lang="pt-B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pt-B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"start"</a:t>
            </a:r>
            <a:r>
              <a:rPr lang="pt-B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</a:t>
            </a:r>
            <a:br>
              <a:rPr lang="pt-B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pt-BR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"[INFO] %s\n"</a:t>
            </a:r>
            <a:r>
              <a:rPr lang="pt-B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pt-B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"processing"</a:t>
            </a:r>
            <a:r>
              <a:rPr lang="pt-B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</a:t>
            </a:r>
            <a:br>
              <a:rPr lang="pt-B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pt-BR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"[INFO] %s\n"</a:t>
            </a:r>
            <a:r>
              <a:rPr lang="pt-B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pt-BR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"end"</a:t>
            </a:r>
            <a:r>
              <a:rPr lang="pt-B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</a:t>
            </a:r>
            <a:endParaRPr lang="ko-KR" altLang="en-US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B43AF-1897-61BE-9E17-BE158A67AC28}"/>
              </a:ext>
            </a:extLst>
          </p:cNvPr>
          <p:cNvSpPr txBox="1"/>
          <p:nvPr/>
        </p:nvSpPr>
        <p:spPr>
          <a:xfrm>
            <a:off x="529109" y="4317995"/>
            <a:ext cx="8352730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LOG_INFO(msg) \</a:t>
            </a:r>
            <a:b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 printf(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"[INFO] (%s:%d) %s\n"</a:t>
            </a: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, __FILE__, __LINE__, (msg))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95685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83FC6-27AC-3DE7-ED9F-7A19B014B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B5DE61-4726-A3D5-2642-0BF989B8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17.2.1 </a:t>
            </a:r>
            <a:r>
              <a:rPr lang="ko-KR" altLang="en-US" dirty="0"/>
              <a:t>반복 코드의 통합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4A420-FC64-9F39-7A66-61920B69E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C </a:t>
            </a:r>
            <a:r>
              <a:rPr lang="ko-KR" altLang="en-US" sz="2400" dirty="0"/>
              <a:t>표준 매크로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>
              <a:solidFill>
                <a:srgbClr val="0000FF"/>
              </a:solidFill>
            </a:endParaRPr>
          </a:p>
          <a:p>
            <a:r>
              <a:rPr lang="en-US" altLang="ko-KR" sz="2400" dirty="0">
                <a:solidFill>
                  <a:srgbClr val="0000FF"/>
                </a:solidFill>
              </a:rPr>
              <a:t>__</a:t>
            </a:r>
            <a:r>
              <a:rPr lang="en-US" altLang="ko-KR" sz="2400" dirty="0" err="1">
                <a:solidFill>
                  <a:srgbClr val="0000FF"/>
                </a:solidFill>
              </a:rPr>
              <a:t>func</a:t>
            </a:r>
            <a:r>
              <a:rPr lang="en-US" altLang="ko-KR" sz="2400" dirty="0">
                <a:solidFill>
                  <a:srgbClr val="0000FF"/>
                </a:solidFill>
              </a:rPr>
              <a:t>__, __FUNCTION__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(MSVC)</a:t>
            </a:r>
          </a:p>
          <a:p>
            <a:pPr lvl="1"/>
            <a:r>
              <a:rPr lang="ko-KR" altLang="en-US" sz="2000" dirty="0"/>
              <a:t>식별자</a:t>
            </a:r>
            <a:r>
              <a:rPr lang="en-US" altLang="ko-KR" sz="2000" dirty="0"/>
              <a:t>, </a:t>
            </a:r>
            <a:r>
              <a:rPr lang="ko-KR" altLang="en-US" sz="2000" dirty="0"/>
              <a:t>함수 내부에서만 유효</a:t>
            </a:r>
            <a:r>
              <a:rPr lang="en-US" altLang="ko-KR" sz="2000" dirty="0"/>
              <a:t>, </a:t>
            </a:r>
            <a:r>
              <a:rPr lang="ko-KR" altLang="en-US" sz="2000" dirty="0"/>
              <a:t>해당 함수의 이름을 문자열로 반환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3CF66F-5799-98F3-E3AC-C620A8E597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435B0C7-731C-CD9E-D67E-1FE534509D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841313"/>
              </p:ext>
            </p:extLst>
          </p:nvPr>
        </p:nvGraphicFramePr>
        <p:xfrm>
          <a:off x="467544" y="1196753"/>
          <a:ext cx="8496944" cy="2664298"/>
        </p:xfrm>
        <a:graphic>
          <a:graphicData uri="http://schemas.openxmlformats.org/drawingml/2006/table">
            <a:tbl>
              <a:tblPr/>
              <a:tblGrid>
                <a:gridCol w="2932485">
                  <a:extLst>
                    <a:ext uri="{9D8B030D-6E8A-4147-A177-3AD203B41FA5}">
                      <a16:colId xmlns:a16="http://schemas.microsoft.com/office/drawing/2014/main" val="3808244369"/>
                    </a:ext>
                  </a:extLst>
                </a:gridCol>
                <a:gridCol w="3370755">
                  <a:extLst>
                    <a:ext uri="{9D8B030D-6E8A-4147-A177-3AD203B41FA5}">
                      <a16:colId xmlns:a16="http://schemas.microsoft.com/office/drawing/2014/main" val="4068472700"/>
                    </a:ext>
                  </a:extLst>
                </a:gridCol>
                <a:gridCol w="2193704">
                  <a:extLst>
                    <a:ext uri="{9D8B030D-6E8A-4147-A177-3AD203B41FA5}">
                      <a16:colId xmlns:a16="http://schemas.microsoft.com/office/drawing/2014/main" val="1621837293"/>
                    </a:ext>
                  </a:extLst>
                </a:gridCol>
              </a:tblGrid>
              <a:tr h="3806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매크로 이름</a:t>
                      </a:r>
                      <a:endParaRPr lang="ko-KR" altLang="en-US" sz="32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내용</a:t>
                      </a:r>
                      <a:endParaRPr lang="ko-KR" altLang="en-US" sz="32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예시 값</a:t>
                      </a:r>
                      <a:endParaRPr lang="ko-KR" altLang="en-US" sz="32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197915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__FILE__</a:t>
                      </a:r>
                      <a:endParaRPr lang="en-US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현재 소스 파일 이름</a:t>
                      </a:r>
                      <a:endParaRPr lang="ko-KR" altLang="en-US" sz="32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"main.c"</a:t>
                      </a:r>
                      <a:endParaRPr lang="en-US" sz="32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286995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__LINE__</a:t>
                      </a:r>
                      <a:endParaRPr lang="en-US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현재 코드의 줄 번호</a:t>
                      </a:r>
                      <a:endParaRPr lang="ko-KR" altLang="en-US" sz="32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</a:t>
                      </a:r>
                      <a:endParaRPr lang="ko-KR" altLang="en-US" sz="32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010385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__DATE__</a:t>
                      </a:r>
                      <a:endParaRPr lang="en-US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컴파일이 수행된 날짜</a:t>
                      </a:r>
                      <a:endParaRPr lang="ko-KR" altLang="en-US" sz="32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"Mar 22 2026"</a:t>
                      </a:r>
                      <a:endParaRPr lang="en-US" sz="32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69237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__TIME__</a:t>
                      </a:r>
                      <a:endParaRPr lang="en-US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컴파일이 수행된 시간</a:t>
                      </a:r>
                      <a:endParaRPr lang="ko-KR" altLang="en-US" sz="32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"14:35:10"</a:t>
                      </a:r>
                      <a:endParaRPr lang="ko-KR" altLang="en-US" sz="32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460958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__STDC__</a:t>
                      </a:r>
                      <a:endParaRPr lang="en-US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표준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구현 여부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이면 표준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32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ko-KR" altLang="en-US" sz="32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603788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__STDC_VERSION__</a:t>
                      </a:r>
                      <a:endParaRPr lang="en-US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사용 중인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표준 버전</a:t>
                      </a:r>
                      <a:endParaRPr lang="ko-KR" altLang="en-US" sz="32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201112L, 202311L</a:t>
                      </a:r>
                      <a:endParaRPr lang="en-US" sz="32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13969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98D16CA-E694-5D4A-755A-4E34B3CFE442}"/>
              </a:ext>
            </a:extLst>
          </p:cNvPr>
          <p:cNvSpPr txBox="1"/>
          <p:nvPr/>
        </p:nvSpPr>
        <p:spPr>
          <a:xfrm>
            <a:off x="899592" y="5201186"/>
            <a:ext cx="6192688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"function: %s\n"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__func__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174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32485-C40B-2BF9-6682-033A6EBAD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4C6430-5902-2548-49D4-C19BC075E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17.2.1 </a:t>
            </a:r>
            <a:r>
              <a:rPr lang="ko-KR" altLang="en-US" dirty="0"/>
              <a:t>반복 코드의 통합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896E83-A68F-BBF3-5290-97DB8CBB2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매크로 예제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0EAB37-CE26-D465-A8EE-8B427AA26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3B06B-7386-7AA9-97A8-3C20B78FAD22}"/>
              </a:ext>
            </a:extLst>
          </p:cNvPr>
          <p:cNvSpPr txBox="1"/>
          <p:nvPr/>
        </p:nvSpPr>
        <p:spPr>
          <a:xfrm>
            <a:off x="539750" y="1196752"/>
            <a:ext cx="8136706" cy="378565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PrintMacroValue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"__FILE__: %s\n"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__FILE__);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"__LINE__: %d\n"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__LINE__);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"__DATE__: %s\n"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__DATE__);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"__TIME__ : %s\n"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__TIME__);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일부 컴파일러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(MSVC)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에서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__STDC__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지원 안함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//printf("__STDC__ : %d\n", __STDC__);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"__STDC_VERSION__ : %d\n"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__STDC_VERSION__);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"__</a:t>
            </a:r>
            <a:r>
              <a:rPr lang="en-US" altLang="ko-KR" sz="20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__: %s\n"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__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__);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"__FUNCTION__: %s\n"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__FUNCTION__);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542918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17.2.2 </a:t>
            </a:r>
            <a:r>
              <a:rPr lang="ko-KR" altLang="en-US" dirty="0"/>
              <a:t>객체 매크로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객체 매크로</a:t>
            </a:r>
          </a:p>
          <a:p>
            <a:pPr lvl="1"/>
            <a:r>
              <a:rPr lang="ko-KR" altLang="en-US" dirty="0"/>
              <a:t>토큰을 다른 토큰으로 단순 치환</a:t>
            </a:r>
          </a:p>
          <a:p>
            <a:pPr lvl="1"/>
            <a:r>
              <a:rPr lang="ko-KR" altLang="en-US" dirty="0"/>
              <a:t>타입 없음</a:t>
            </a:r>
            <a:r>
              <a:rPr lang="en-US" altLang="ko-KR" dirty="0"/>
              <a:t>. </a:t>
            </a:r>
            <a:r>
              <a:rPr lang="ko-KR" altLang="en-US" dirty="0"/>
              <a:t>메모리 없음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사용 예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전처리 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전처리 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07D00-498F-2F86-0CE0-19E3AB1246D7}"/>
              </a:ext>
            </a:extLst>
          </p:cNvPr>
          <p:cNvSpPr txBox="1"/>
          <p:nvPr/>
        </p:nvSpPr>
        <p:spPr>
          <a:xfrm>
            <a:off x="691208" y="3589337"/>
            <a:ext cx="4572000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BUFFER_SIZE 256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[BUFFER_SIZE];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8106F2-FFBB-9BB5-94B9-535074AF11A3}"/>
              </a:ext>
            </a:extLst>
          </p:cNvPr>
          <p:cNvSpPr txBox="1"/>
          <p:nvPr/>
        </p:nvSpPr>
        <p:spPr>
          <a:xfrm>
            <a:off x="691208" y="5703391"/>
            <a:ext cx="4572000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7192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17.2.3 </a:t>
            </a:r>
            <a:r>
              <a:rPr lang="ko-KR" altLang="en-US" dirty="0"/>
              <a:t>함수형 매크로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함수형 매크로</a:t>
            </a:r>
          </a:p>
          <a:p>
            <a:pPr lvl="1"/>
            <a:r>
              <a:rPr lang="ko-KR" altLang="en-US" dirty="0"/>
              <a:t>함수 형태 매크로</a:t>
            </a:r>
            <a:endParaRPr lang="en-US" altLang="ko-KR" dirty="0"/>
          </a:p>
          <a:p>
            <a:pPr lvl="1"/>
            <a:r>
              <a:rPr lang="ko-KR" altLang="en-US" dirty="0"/>
              <a:t>함수처럼 보이지만 치환</a:t>
            </a:r>
          </a:p>
          <a:p>
            <a:pPr lvl="1"/>
            <a:r>
              <a:rPr lang="ko-KR" altLang="en-US" dirty="0"/>
              <a:t>전달된 식 그대로 확장</a:t>
            </a:r>
          </a:p>
          <a:p>
            <a:endParaRPr lang="en-US" altLang="ko-KR" dirty="0"/>
          </a:p>
          <a:p>
            <a:r>
              <a:rPr lang="ko-KR" altLang="en-US" dirty="0"/>
              <a:t>사용 예</a:t>
            </a:r>
            <a:endParaRPr lang="en-US" altLang="ko-KR" dirty="0"/>
          </a:p>
          <a:p>
            <a:pPr lvl="1"/>
            <a:r>
              <a:rPr lang="ko-KR" altLang="en-US" dirty="0"/>
              <a:t>전처리 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전처리 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C3B49-0BFD-3CD2-5E4B-15476AA50AF9}"/>
              </a:ext>
            </a:extLst>
          </p:cNvPr>
          <p:cNvSpPr txBox="1"/>
          <p:nvPr/>
        </p:nvSpPr>
        <p:spPr>
          <a:xfrm>
            <a:off x="2483768" y="3068960"/>
            <a:ext cx="5760640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it-IT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SQUARE(x) ((x) * (x))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C4036-7DF5-417C-8403-632AA27FE92E}"/>
              </a:ext>
            </a:extLst>
          </p:cNvPr>
          <p:cNvSpPr txBox="1"/>
          <p:nvPr/>
        </p:nvSpPr>
        <p:spPr>
          <a:xfrm>
            <a:off x="2483768" y="4040276"/>
            <a:ext cx="5760640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 = SQUARE(a + 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05FA19-B446-3145-3E3D-A873C0DFF618}"/>
              </a:ext>
            </a:extLst>
          </p:cNvPr>
          <p:cNvSpPr txBox="1"/>
          <p:nvPr/>
        </p:nvSpPr>
        <p:spPr>
          <a:xfrm>
            <a:off x="2483768" y="5295001"/>
            <a:ext cx="5760640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pt-BR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 = ((a + </a:t>
            </a:r>
            <a:r>
              <a:rPr lang="pt-BR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* (a + </a:t>
            </a:r>
            <a:r>
              <a:rPr lang="pt-BR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428453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0107A-6B75-86E7-9AC0-C3C1F9D68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90434E-AFBF-BD67-C13C-B892B19BD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17.2.3 </a:t>
            </a:r>
            <a:r>
              <a:rPr lang="ko-KR" altLang="en-US" dirty="0"/>
              <a:t>함수형 매크로 </a:t>
            </a:r>
            <a:r>
              <a:rPr lang="en-US" altLang="ko-KR" dirty="0"/>
              <a:t>(</a:t>
            </a:r>
            <a:r>
              <a:rPr lang="ko-KR" altLang="en-US" dirty="0"/>
              <a:t>작성 규칙 </a:t>
            </a:r>
            <a:r>
              <a:rPr lang="en-US" altLang="ko-KR" dirty="0"/>
              <a:t>/ </a:t>
            </a:r>
            <a:r>
              <a:rPr lang="ko-KR" altLang="en-US" dirty="0"/>
              <a:t>세미콜론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79CB31-82CF-DAA3-424C-61342FFEA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괄호 필수</a:t>
            </a:r>
          </a:p>
          <a:p>
            <a:pPr lvl="1"/>
            <a:r>
              <a:rPr lang="en-US" altLang="ko-KR" dirty="0"/>
              <a:t>#define ADD(a,b) ((a)+(b))</a:t>
            </a:r>
          </a:p>
          <a:p>
            <a:pPr lvl="1"/>
            <a:r>
              <a:rPr lang="ko-KR" altLang="en-US" dirty="0"/>
              <a:t>괄호 없으면 연산 우선순위 오류 발생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세미콜론 주의</a:t>
            </a:r>
          </a:p>
          <a:p>
            <a:pPr lvl="1"/>
            <a:r>
              <a:rPr lang="ko-KR" altLang="en-US" dirty="0"/>
              <a:t>세미콜론도 함께 치환됨</a:t>
            </a:r>
          </a:p>
          <a:p>
            <a:pPr lvl="1"/>
            <a:r>
              <a:rPr lang="en-US" altLang="ko-KR" dirty="0"/>
              <a:t>Ex)</a:t>
            </a:r>
            <a:endParaRPr lang="ko-KR" altLang="en-US" dirty="0"/>
          </a:p>
          <a:p>
            <a:pPr lvl="2"/>
            <a:r>
              <a:rPr lang="en-US" altLang="ko-KR" dirty="0"/>
              <a:t>#define SIZE 100;</a:t>
            </a:r>
          </a:p>
          <a:p>
            <a:pPr lvl="2"/>
            <a:r>
              <a:rPr lang="en-US" altLang="ko-KR" dirty="0"/>
              <a:t>int arr[SIZE]; → int arr[100;];</a:t>
            </a:r>
          </a:p>
          <a:p>
            <a:pPr lvl="2"/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→ 매크로 정의에는 </a:t>
            </a:r>
            <a:r>
              <a:rPr lang="ko-KR" altLang="en-US" sz="3200" dirty="0">
                <a:solidFill>
                  <a:srgbClr val="0000FF"/>
                </a:solidFill>
              </a:rPr>
              <a:t>세미콜론 사용 안함</a:t>
            </a:r>
            <a:endParaRPr lang="en-US" altLang="ko-KR" dirty="0">
              <a:solidFill>
                <a:srgbClr val="0000FF"/>
              </a:solidFill>
            </a:endParaRPr>
          </a:p>
          <a:p>
            <a:endParaRPr lang="ko-KR" altLang="en-US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7D19FD6-55D4-95DC-B484-BC2360F7E4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568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17.2.4 </a:t>
            </a:r>
            <a:r>
              <a:rPr lang="ko-KR" altLang="en-US" dirty="0"/>
              <a:t>매크로의 확장 기능</a:t>
            </a:r>
            <a:r>
              <a:rPr lang="en-US" altLang="ko-KR" dirty="0"/>
              <a:t>: </a:t>
            </a:r>
            <a:r>
              <a:rPr lang="ko-KR" altLang="en-US" dirty="0"/>
              <a:t>문자열화와 토큰 결합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단순 치환을 매크로 확장 기능</a:t>
            </a:r>
          </a:p>
          <a:p>
            <a:pPr lvl="1"/>
            <a:r>
              <a:rPr lang="ko-KR" altLang="en-US" dirty="0"/>
              <a:t>문자열화 </a:t>
            </a:r>
            <a:r>
              <a:rPr lang="en-US" altLang="ko-KR" dirty="0"/>
              <a:t>(#)</a:t>
            </a:r>
          </a:p>
          <a:p>
            <a:pPr lvl="1"/>
            <a:r>
              <a:rPr lang="ko-KR" altLang="en-US" dirty="0"/>
              <a:t>토큰 결합 </a:t>
            </a:r>
            <a:r>
              <a:rPr lang="en-US" altLang="ko-KR" dirty="0"/>
              <a:t>(##)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→ </a:t>
            </a:r>
            <a:r>
              <a:rPr lang="ko-KR" altLang="en-US" sz="3200" dirty="0">
                <a:solidFill>
                  <a:srgbClr val="0000FF"/>
                </a:solidFill>
              </a:rPr>
              <a:t>코드 생성 도구</a:t>
            </a:r>
            <a:r>
              <a:rPr lang="ko-KR" altLang="en-US" dirty="0"/>
              <a:t>로 활용 가능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1920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17.2.4.1 </a:t>
            </a:r>
            <a:r>
              <a:rPr lang="ko-KR" altLang="en-US" dirty="0"/>
              <a:t>문자열화 연산자 </a:t>
            </a:r>
            <a:r>
              <a:rPr lang="en-US" altLang="ko-KR" dirty="0"/>
              <a:t>#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문자열화 </a:t>
            </a:r>
            <a:r>
              <a:rPr lang="en-US" altLang="ko-KR" dirty="0"/>
              <a:t>(#)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활용</a:t>
            </a:r>
          </a:p>
          <a:p>
            <a:pPr lvl="1"/>
            <a:r>
              <a:rPr lang="ko-KR" altLang="en-US" dirty="0"/>
              <a:t>디버그 출력</a:t>
            </a:r>
          </a:p>
          <a:p>
            <a:pPr lvl="1"/>
            <a:r>
              <a:rPr lang="ko-KR" altLang="en-US" dirty="0"/>
              <a:t>로그 메시지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E1FD23-8D87-A2E2-C3CB-EB3994B2E3FB}"/>
              </a:ext>
            </a:extLst>
          </p:cNvPr>
          <p:cNvSpPr txBox="1"/>
          <p:nvPr/>
        </p:nvSpPr>
        <p:spPr>
          <a:xfrm>
            <a:off x="519187" y="1321461"/>
            <a:ext cx="4209678" cy="19389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TO_STRING(x) #x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TO_STRING(hello)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전처리 결과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"hello</a:t>
            </a:r>
            <a:r>
              <a:rPr lang="en-US" altLang="ko-KR" sz="2000" b="1" dirty="0">
                <a:solidFill>
                  <a:srgbClr val="50A14F"/>
                </a:solidFill>
                <a:latin typeface="Consolas" panose="020B0609020204030204" pitchFamily="49" charset="0"/>
              </a:rPr>
              <a:t>"</a:t>
            </a:r>
            <a:endParaRPr lang="ko-KR" alt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6D5D15-63A7-A9C5-576F-7DBF1E902FAB}"/>
              </a:ext>
            </a:extLst>
          </p:cNvPr>
          <p:cNvSpPr txBox="1"/>
          <p:nvPr/>
        </p:nvSpPr>
        <p:spPr>
          <a:xfrm>
            <a:off x="2951561" y="3884645"/>
            <a:ext cx="5797152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PRINT_VAR(x) printf(#x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 = %d\n"</a:t>
            </a: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, x)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value =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PRINT_VAR(value);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전처리 후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"value"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 = %d\n"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value);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44428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17.2.4.2 </a:t>
            </a:r>
            <a:r>
              <a:rPr lang="ko-KR" altLang="en-US" dirty="0"/>
              <a:t>토큰 결합 연산자 </a:t>
            </a:r>
            <a:r>
              <a:rPr lang="en-US" altLang="ko-KR" dirty="0"/>
              <a:t>##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토큰 결합 </a:t>
            </a:r>
            <a:r>
              <a:rPr lang="en-US" altLang="ko-KR" dirty="0"/>
              <a:t>(##)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활용</a:t>
            </a:r>
          </a:p>
          <a:p>
            <a:pPr lvl="1"/>
            <a:r>
              <a:rPr lang="ko-KR" altLang="en-US" dirty="0"/>
              <a:t>변수 이름 생성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C30EF5-7B75-DA0D-531F-A88E19FD5CFC}"/>
              </a:ext>
            </a:extLst>
          </p:cNvPr>
          <p:cNvSpPr txBox="1"/>
          <p:nvPr/>
        </p:nvSpPr>
        <p:spPr>
          <a:xfrm>
            <a:off x="395536" y="1412776"/>
            <a:ext cx="3790156" cy="19389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CONCAT(a, b) a##b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CONCAT(my, Var)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전처리 후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myVar</a:t>
            </a:r>
            <a:endParaRPr lang="ko-KR" alt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18060E-B478-8C6E-D96C-BC0F32E8B2F5}"/>
              </a:ext>
            </a:extLst>
          </p:cNvPr>
          <p:cNvSpPr txBox="1"/>
          <p:nvPr/>
        </p:nvSpPr>
        <p:spPr>
          <a:xfrm>
            <a:off x="3126781" y="3861048"/>
            <a:ext cx="5616624" cy="19389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MAKE_VAR(name) int var_##name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MAKE_VAR(count);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전처리 결과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var_count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57568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17.2.5 </a:t>
            </a:r>
            <a:r>
              <a:rPr lang="ko-KR" altLang="en-US" dirty="0"/>
              <a:t>매크로의 재확장과 중첩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매크로 재 확장</a:t>
            </a:r>
          </a:p>
          <a:p>
            <a:pPr lvl="1"/>
            <a:r>
              <a:rPr lang="ko-KR" altLang="en-US" dirty="0"/>
              <a:t>매크로는 단계적으로 계속 확장</a:t>
            </a:r>
          </a:p>
          <a:p>
            <a:pPr lvl="1"/>
            <a:r>
              <a:rPr lang="ko-KR" altLang="en-US" dirty="0"/>
              <a:t>매크로안의 매크로를 확장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4878E-DAD1-4A76-94B8-B879B5E45F54}"/>
              </a:ext>
            </a:extLst>
          </p:cNvPr>
          <p:cNvSpPr txBox="1"/>
          <p:nvPr/>
        </p:nvSpPr>
        <p:spPr>
          <a:xfrm>
            <a:off x="395287" y="2132856"/>
            <a:ext cx="3760018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VALUE 10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DOUBLE(x) ((x) * 2)</a:t>
            </a:r>
            <a:endParaRPr lang="ko-KR" altLang="en-US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D2CD92-85F7-A25E-CD2A-CB8A4214258E}"/>
              </a:ext>
            </a:extLst>
          </p:cNvPr>
          <p:cNvSpPr txBox="1"/>
          <p:nvPr/>
        </p:nvSpPr>
        <p:spPr>
          <a:xfrm>
            <a:off x="384274" y="2950637"/>
            <a:ext cx="3760018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 = DOUBLE(VALUE);</a:t>
            </a:r>
            <a:endParaRPr lang="ko-KR" altLang="en-US" sz="1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4B6D40-3834-C71F-2394-75A324FD380B}"/>
              </a:ext>
            </a:extLst>
          </p:cNvPr>
          <p:cNvSpPr txBox="1"/>
          <p:nvPr/>
        </p:nvSpPr>
        <p:spPr>
          <a:xfrm>
            <a:off x="384274" y="3491136"/>
            <a:ext cx="3764657" cy="286232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단계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DOUBLE(VALUE)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((VALUE) *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2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단계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최종 결과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 = ((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318A8-0907-9D6B-56F2-B38318996B7E}"/>
              </a:ext>
            </a:extLst>
          </p:cNvPr>
          <p:cNvSpPr txBox="1"/>
          <p:nvPr/>
        </p:nvSpPr>
        <p:spPr>
          <a:xfrm>
            <a:off x="4572000" y="2132856"/>
            <a:ext cx="4313189" cy="203132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BASE 5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ADD_BASE(x) ((x) + BASE)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v = ADD_BASE(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전처리 결과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v = ((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2A4AB-0566-9EDA-A60C-7899B37B7C60}"/>
              </a:ext>
            </a:extLst>
          </p:cNvPr>
          <p:cNvSpPr txBox="1"/>
          <p:nvPr/>
        </p:nvSpPr>
        <p:spPr>
          <a:xfrm>
            <a:off x="4571603" y="4863034"/>
            <a:ext cx="4313189" cy="9233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8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허용 안함</a:t>
            </a:r>
            <a:endParaRPr lang="en-US" altLang="ko-KR" sz="1800" b="1" i="1" dirty="0">
              <a:solidFill>
                <a:srgbClr val="A0A1A7"/>
              </a:solidFill>
              <a:latin typeface="Consolas" panose="020B0609020204030204" pitchFamily="49" charset="0"/>
            </a:endParaRPr>
          </a:p>
          <a:p>
            <a:r>
              <a:rPr lang="it-IT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A B</a:t>
            </a:r>
            <a:br>
              <a:rPr lang="it-IT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it-IT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B A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4224957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17.3 </a:t>
            </a:r>
            <a:r>
              <a:rPr lang="ko-KR" altLang="en-US" dirty="0"/>
              <a:t>조건부 컴파일</a:t>
            </a:r>
            <a:r>
              <a:rPr lang="en-US" altLang="ko-KR" dirty="0"/>
              <a:t>: </a:t>
            </a:r>
            <a:r>
              <a:rPr lang="ko-KR" altLang="en-US" dirty="0"/>
              <a:t>빌드 분기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조건부 컴파일</a:t>
            </a:r>
            <a:endParaRPr lang="en-US" altLang="ko-KR" dirty="0"/>
          </a:p>
          <a:p>
            <a:pPr lvl="1"/>
            <a:r>
              <a:rPr lang="ko-KR" altLang="en-US" dirty="0"/>
              <a:t>빌드 단계에서 코드 선택</a:t>
            </a:r>
          </a:p>
          <a:p>
            <a:pPr lvl="1"/>
            <a:r>
              <a:rPr lang="ko-KR" altLang="en-US" dirty="0"/>
              <a:t>실행 중 분기 아님</a:t>
            </a:r>
          </a:p>
          <a:p>
            <a:pPr lvl="1"/>
            <a:r>
              <a:rPr lang="ko-KR" altLang="en-US" dirty="0"/>
              <a:t>컴파일 전에 코드 포함 여부 결정</a:t>
            </a:r>
          </a:p>
          <a:p>
            <a:endParaRPr lang="ko-KR" altLang="en-US" dirty="0"/>
          </a:p>
          <a:p>
            <a:r>
              <a:rPr lang="ko-KR" altLang="en-US" dirty="0"/>
              <a:t>용도</a:t>
            </a:r>
          </a:p>
          <a:p>
            <a:pPr lvl="1"/>
            <a:r>
              <a:rPr lang="en-US" altLang="ko-KR" dirty="0"/>
              <a:t>Debug / Release</a:t>
            </a:r>
          </a:p>
          <a:p>
            <a:pPr lvl="1"/>
            <a:r>
              <a:rPr lang="ko-KR" altLang="en-US" dirty="0"/>
              <a:t>기능 </a:t>
            </a:r>
            <a:r>
              <a:rPr lang="en-US" altLang="ko-KR" dirty="0"/>
              <a:t>ON/OFF</a:t>
            </a:r>
          </a:p>
          <a:p>
            <a:pPr lvl="1"/>
            <a:r>
              <a:rPr lang="ko-KR" altLang="en-US" dirty="0"/>
              <a:t>플랫폼 분기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9308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17.3.1 </a:t>
            </a:r>
            <a:r>
              <a:rPr lang="ko-KR" altLang="en-US" dirty="0"/>
              <a:t>조건부 컴파일</a:t>
            </a:r>
            <a:r>
              <a:rPr lang="en-US" altLang="ko-KR" dirty="0"/>
              <a:t>-</a:t>
            </a:r>
            <a:r>
              <a:rPr lang="ko-KR" altLang="en-US" dirty="0"/>
              <a:t>기본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조건부 컴파일 구조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→ </a:t>
            </a:r>
            <a:r>
              <a:rPr lang="ko-KR" altLang="en-US" dirty="0"/>
              <a:t>조건에 따라 코드 포함</a:t>
            </a:r>
            <a:r>
              <a:rPr lang="en-US" altLang="ko-KR" dirty="0"/>
              <a:t>/</a:t>
            </a:r>
            <a:r>
              <a:rPr lang="ko-KR" altLang="en-US" dirty="0"/>
              <a:t>제거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FDB73F-3629-D212-4B7C-827E0E1B0A0D}"/>
              </a:ext>
            </a:extLst>
          </p:cNvPr>
          <p:cNvSpPr txBox="1"/>
          <p:nvPr/>
        </p:nvSpPr>
        <p:spPr>
          <a:xfrm>
            <a:off x="539750" y="1340768"/>
            <a:ext cx="4420096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3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#ifdef</a:t>
            </a:r>
            <a:b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3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#ifndef</a:t>
            </a:r>
          </a:p>
          <a:p>
            <a:b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3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#if</a:t>
            </a:r>
            <a:b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3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#elif</a:t>
            </a:r>
            <a:b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3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#else</a:t>
            </a:r>
            <a:b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3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#endif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40684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E97F-69D7-B8D1-C53F-2D0462724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D5964-B718-3613-6234-31158EA52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17.3.1 </a:t>
            </a:r>
            <a:r>
              <a:rPr lang="ko-KR" altLang="en-US" dirty="0"/>
              <a:t>조건부 컴파일</a:t>
            </a:r>
            <a:r>
              <a:rPr lang="en-US" altLang="ko-KR" dirty="0"/>
              <a:t>-</a:t>
            </a:r>
            <a:r>
              <a:rPr lang="ko-KR" altLang="en-US" dirty="0"/>
              <a:t>기본 구조</a:t>
            </a:r>
            <a:r>
              <a:rPr lang="en-US" altLang="ko-KR" dirty="0"/>
              <a:t> (#ifdef/ifndef)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629FA0-5ADE-6002-9832-65885C825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기본 사용</a:t>
            </a:r>
          </a:p>
          <a:p>
            <a:pPr lvl="1"/>
            <a:r>
              <a:rPr lang="en-US" altLang="ko-KR" dirty="0"/>
              <a:t>#ifdef</a:t>
            </a:r>
          </a:p>
          <a:p>
            <a:pPr lvl="1"/>
            <a:r>
              <a:rPr lang="en-US" altLang="ko-KR" dirty="0"/>
              <a:t>#ifndef</a:t>
            </a:r>
          </a:p>
          <a:p>
            <a:pPr lvl="1"/>
            <a:r>
              <a:rPr lang="ko-KR" altLang="en-US" dirty="0"/>
              <a:t>정의 여부 </a:t>
            </a:r>
            <a:r>
              <a:rPr lang="en-US" altLang="ko-KR" dirty="0"/>
              <a:t>/ </a:t>
            </a:r>
            <a:r>
              <a:rPr lang="ko-KR" altLang="en-US" dirty="0"/>
              <a:t>값 기준 분기</a:t>
            </a:r>
            <a:endParaRPr lang="en-US" altLang="ko-KR" dirty="0"/>
          </a:p>
          <a:p>
            <a:pPr lvl="1"/>
            <a:r>
              <a:rPr lang="ko-KR" altLang="en-US" dirty="0"/>
              <a:t>→ 조건 만족 시 코드 포함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D6504C-05D8-6C51-39C6-CDEF529677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484733-1CE5-8CC9-E1B5-BEED326FBC21}"/>
              </a:ext>
            </a:extLst>
          </p:cNvPr>
          <p:cNvSpPr txBox="1"/>
          <p:nvPr/>
        </p:nvSpPr>
        <p:spPr>
          <a:xfrm>
            <a:off x="4788024" y="905208"/>
            <a:ext cx="4176466" cy="101566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#ifdef _DEBUG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"debug\n"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#endif</a:t>
            </a:r>
            <a:endParaRPr lang="ko-KR" alt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E601E6-7BB7-478E-4D91-F3D2C3D6259C}"/>
              </a:ext>
            </a:extLst>
          </p:cNvPr>
          <p:cNvSpPr txBox="1"/>
          <p:nvPr/>
        </p:nvSpPr>
        <p:spPr>
          <a:xfrm>
            <a:off x="4788025" y="2207938"/>
            <a:ext cx="4176466" cy="101566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#ifndef NDEBUG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디버그 모드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#endif</a:t>
            </a:r>
            <a:endParaRPr lang="ko-KR" alt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BE8CC0-75E8-8B48-D42D-044E16DDC2AE}"/>
              </a:ext>
            </a:extLst>
          </p:cNvPr>
          <p:cNvSpPr txBox="1"/>
          <p:nvPr/>
        </p:nvSpPr>
        <p:spPr>
          <a:xfrm>
            <a:off x="4788023" y="3637444"/>
            <a:ext cx="4176466" cy="19389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#ifndef MY_HEADER_H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MY_HEADER_H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내용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#endif</a:t>
            </a:r>
            <a:endParaRPr lang="ko-KR" alt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83EC88-DBD2-7528-7A3E-3468F3F6445A}"/>
              </a:ext>
            </a:extLst>
          </p:cNvPr>
          <p:cNvSpPr txBox="1"/>
          <p:nvPr/>
        </p:nvSpPr>
        <p:spPr>
          <a:xfrm>
            <a:off x="683568" y="3945220"/>
            <a:ext cx="3744416" cy="163121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USE_NETWORK 1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#if USE_NETWORK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init_network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#endif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1863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B5F0E-BCE6-20AA-1A08-146FDCD01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1F680-1B7D-54F0-CD7A-0717CC825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17.3.1 </a:t>
            </a:r>
            <a:r>
              <a:rPr lang="ko-KR" altLang="en-US" dirty="0"/>
              <a:t>조건부 컴파일</a:t>
            </a:r>
            <a:r>
              <a:rPr lang="en-US" altLang="ko-KR" dirty="0"/>
              <a:t>-</a:t>
            </a:r>
            <a:r>
              <a:rPr lang="ko-KR" altLang="en-US" dirty="0"/>
              <a:t>기본 구조</a:t>
            </a:r>
            <a:r>
              <a:rPr lang="en-US" altLang="ko-KR" dirty="0"/>
              <a:t> (defined/</a:t>
            </a:r>
            <a:r>
              <a:rPr lang="en-US" altLang="ko-KR" dirty="0" err="1"/>
              <a:t>undef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330737-2ACD-A147-29D4-85C8A3FD4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defined </a:t>
            </a:r>
            <a:r>
              <a:rPr lang="ko-KR" altLang="en-US" dirty="0"/>
              <a:t>연산자</a:t>
            </a:r>
          </a:p>
          <a:p>
            <a:pPr lvl="1"/>
            <a:r>
              <a:rPr lang="en-US" altLang="ko-KR" dirty="0">
                <a:solidFill>
                  <a:srgbClr val="7030A0"/>
                </a:solidFill>
              </a:rPr>
              <a:t>#if defined(_DEBUG)</a:t>
            </a:r>
          </a:p>
          <a:p>
            <a:pPr lvl="1"/>
            <a:r>
              <a:rPr lang="ko-KR" altLang="en-US" dirty="0"/>
              <a:t>복합 조건 가능</a:t>
            </a:r>
          </a:p>
          <a:p>
            <a:pPr lvl="2"/>
            <a:r>
              <a:rPr lang="en-US" altLang="ko-KR" dirty="0"/>
              <a:t>&amp;&amp; || </a:t>
            </a:r>
            <a:r>
              <a:rPr lang="ko-KR" altLang="en-US" dirty="0"/>
              <a:t>사용</a:t>
            </a:r>
          </a:p>
          <a:p>
            <a:pPr lvl="1"/>
            <a:r>
              <a:rPr lang="ko-KR" altLang="en-US" dirty="0"/>
              <a:t>→ 유연한 조건 구성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olidFill>
                  <a:srgbClr val="7030A0"/>
                </a:solidFill>
              </a:rPr>
              <a:t>#undef</a:t>
            </a:r>
          </a:p>
          <a:p>
            <a:pPr lvl="1"/>
            <a:r>
              <a:rPr lang="ko-KR" altLang="en-US" dirty="0"/>
              <a:t>매크로 해제</a:t>
            </a:r>
          </a:p>
          <a:p>
            <a:pPr lvl="1"/>
            <a:r>
              <a:rPr lang="en-US" altLang="ko-KR" dirty="0"/>
              <a:t>→ </a:t>
            </a:r>
            <a:r>
              <a:rPr lang="ko-KR" altLang="en-US" dirty="0"/>
              <a:t>다시 정의 가능</a:t>
            </a:r>
          </a:p>
          <a:p>
            <a:pPr lvl="1"/>
            <a:r>
              <a:rPr lang="ko-KR" altLang="en-US" dirty="0"/>
              <a:t>→ 설정 변경 시 사용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0AB5DE-4DF9-7701-B3FC-3A54BC3542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F9F9EF-99F1-C33B-B6B0-796F6ACDDD4A}"/>
              </a:ext>
            </a:extLst>
          </p:cNvPr>
          <p:cNvSpPr txBox="1"/>
          <p:nvPr/>
        </p:nvSpPr>
        <p:spPr>
          <a:xfrm>
            <a:off x="4283968" y="836712"/>
            <a:ext cx="4427984" cy="286232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#if defined(_DEBUG)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"debug\n"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#endif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또는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#if defined(_DEBUG) &amp;&amp;</a:t>
            </a:r>
          </a:p>
          <a:p>
            <a:r>
              <a:rPr lang="en-US" altLang="ko-KR" sz="2000" b="1" dirty="0">
                <a:solidFill>
                  <a:srgbClr val="4078F2"/>
                </a:solidFill>
                <a:latin typeface="Consolas" panose="020B0609020204030204" pitchFamily="49" charset="0"/>
              </a:rPr>
              <a:t>   </a:t>
            </a: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 defined(USE_NETWORK)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"debug network\n"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#endif</a:t>
            </a:r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435853-FEEE-1E26-CCC9-9FC623C5838A}"/>
              </a:ext>
            </a:extLst>
          </p:cNvPr>
          <p:cNvSpPr txBox="1"/>
          <p:nvPr/>
        </p:nvSpPr>
        <p:spPr>
          <a:xfrm>
            <a:off x="4283968" y="4077072"/>
            <a:ext cx="4427984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fr-FR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MODE 1</a:t>
            </a:r>
            <a:br>
              <a:rPr lang="fr-F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fr-F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fr-FR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#undef MODE</a:t>
            </a:r>
            <a:br>
              <a:rPr lang="fr-F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fr-FR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MODE 2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047120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23D67-0396-2461-5B67-F64C69FC8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7F3C3-E4C8-F717-1C11-B49F77ECE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17.3.1 </a:t>
            </a:r>
            <a:r>
              <a:rPr lang="ko-KR" altLang="en-US" dirty="0"/>
              <a:t>조건부 컴파일</a:t>
            </a:r>
            <a:r>
              <a:rPr lang="en-US" altLang="ko-KR" dirty="0"/>
              <a:t>-</a:t>
            </a:r>
            <a:r>
              <a:rPr lang="ko-KR" altLang="en-US" dirty="0"/>
              <a:t>기본 구조</a:t>
            </a:r>
            <a:r>
              <a:rPr lang="en-US" altLang="ko-KR" dirty="0"/>
              <a:t> (#elif / #else)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12952F-0C66-8E89-F8AD-2A1CB077F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다중 분기</a:t>
            </a:r>
          </a:p>
          <a:p>
            <a:pPr lvl="1"/>
            <a:r>
              <a:rPr lang="ko-KR" altLang="en-US" dirty="0"/>
              <a:t>여러 조건 처리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B221EA-2E53-8906-84A6-7E67282C9C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421576-52EB-6784-455B-E4A47D870048}"/>
              </a:ext>
            </a:extLst>
          </p:cNvPr>
          <p:cNvSpPr txBox="1"/>
          <p:nvPr/>
        </p:nvSpPr>
        <p:spPr>
          <a:xfrm>
            <a:off x="899592" y="1900227"/>
            <a:ext cx="5256584" cy="341632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MODE 2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#if MODE == 1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"Mode 1\n"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#elif MODE == 2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"Mode 2\n"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#else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"Unknown Mode\n"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#endif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95404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17.3.2 </a:t>
            </a:r>
            <a:r>
              <a:rPr lang="ko-KR" altLang="en-US" dirty="0"/>
              <a:t>빌드 환경에서 매크로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Visual Studio: _DEBUG / NDEBUG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안드로이드</a:t>
            </a:r>
          </a:p>
          <a:p>
            <a:pPr lvl="2"/>
            <a:r>
              <a:rPr lang="en-US" altLang="ko-KR" sz="1800" dirty="0"/>
              <a:t>LOCAL_CFLAGS += -DUSE_NETWORK</a:t>
            </a:r>
          </a:p>
          <a:p>
            <a:pPr lvl="2"/>
            <a:r>
              <a:rPr lang="en-US" altLang="ko-KR" sz="1800" dirty="0"/>
              <a:t>LOCAL_CFLAGS += -DDEBUG_MODE=1</a:t>
            </a:r>
          </a:p>
          <a:p>
            <a:pPr lvl="2"/>
            <a:endParaRPr lang="en-US" altLang="ko-KR" sz="1800" dirty="0"/>
          </a:p>
          <a:p>
            <a:r>
              <a:rPr lang="en-US" altLang="ko-KR" sz="2400" dirty="0"/>
              <a:t>Xcode</a:t>
            </a:r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공통 원리</a:t>
            </a:r>
          </a:p>
          <a:p>
            <a:pPr lvl="1"/>
            <a:r>
              <a:rPr lang="en-US" altLang="ko-KR" sz="2000" dirty="0"/>
              <a:t>-D </a:t>
            </a:r>
            <a:r>
              <a:rPr lang="ko-KR" altLang="en-US" sz="2000" dirty="0"/>
              <a:t>옵션</a:t>
            </a:r>
            <a:endParaRPr lang="en-US" altLang="ko-KR" sz="2000" dirty="0"/>
          </a:p>
          <a:p>
            <a:pPr lvl="1"/>
            <a:r>
              <a:rPr lang="ko-KR" altLang="en-US" sz="2000" dirty="0"/>
              <a:t>빌드 구성</a:t>
            </a:r>
            <a:r>
              <a:rPr lang="en-US" altLang="ko-KR" sz="2000" dirty="0"/>
              <a:t>(Debug/Release </a:t>
            </a:r>
            <a:r>
              <a:rPr lang="ko-KR" altLang="en-US" sz="2000" dirty="0"/>
              <a:t>등</a:t>
            </a:r>
            <a:r>
              <a:rPr lang="en-US" altLang="ko-KR" sz="2000" dirty="0"/>
              <a:t>)</a:t>
            </a:r>
            <a:r>
              <a:rPr lang="ko-KR" altLang="en-US" sz="2000" dirty="0"/>
              <a:t>에 따라 다른 매크로 집합</a:t>
            </a:r>
            <a:endParaRPr lang="en-US" altLang="ko-KR" sz="2000" dirty="0"/>
          </a:p>
          <a:p>
            <a:pPr lvl="1"/>
            <a:r>
              <a:rPr lang="ko-KR" altLang="en-US" sz="2000" dirty="0"/>
              <a:t>소스 코드 수정 안하고 빌드 구조 제어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AACDE13-241F-B554-8B99-402E6AFF4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196752"/>
            <a:ext cx="4536504" cy="871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9DD8263-8911-314F-5AB7-580A8BD3B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5" y="3917106"/>
            <a:ext cx="4824536" cy="974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699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17.4 </a:t>
            </a:r>
            <a:r>
              <a:rPr lang="ko-KR" altLang="en-US" dirty="0"/>
              <a:t>플랫폼 대응</a:t>
            </a:r>
            <a:r>
              <a:rPr lang="en-US" altLang="ko-KR" dirty="0"/>
              <a:t>: </a:t>
            </a:r>
            <a:r>
              <a:rPr lang="ko-KR" altLang="en-US" dirty="0"/>
              <a:t>구현 선택 전략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플랫폼 대응</a:t>
            </a:r>
          </a:p>
          <a:p>
            <a:pPr lvl="1"/>
            <a:r>
              <a:rPr lang="ko-KR" altLang="en-US" dirty="0"/>
              <a:t>환경에 따라 코드 선택</a:t>
            </a:r>
          </a:p>
          <a:p>
            <a:pPr lvl="1"/>
            <a:r>
              <a:rPr lang="en-US" altLang="ko-KR" dirty="0"/>
              <a:t>Windows / Linux / Android</a:t>
            </a:r>
          </a:p>
          <a:p>
            <a:pPr lvl="1"/>
            <a:r>
              <a:rPr lang="en-US" altLang="ko-KR" dirty="0"/>
              <a:t>→ </a:t>
            </a:r>
            <a:r>
              <a:rPr lang="ko-KR" altLang="en-US" dirty="0"/>
              <a:t>동일 인터페이스 유지</a:t>
            </a:r>
          </a:p>
          <a:p>
            <a:pPr lvl="1"/>
            <a:r>
              <a:rPr lang="ko-KR" altLang="en-US" dirty="0"/>
              <a:t>→ 내부 구현만 변경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3909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17.4.1 </a:t>
            </a:r>
            <a:r>
              <a:rPr lang="ko-KR" altLang="en-US" dirty="0"/>
              <a:t>플랫폼 판별 매크로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플랫폼 매크로</a:t>
            </a:r>
          </a:p>
          <a:p>
            <a:pPr lvl="1"/>
            <a:r>
              <a:rPr lang="en-US" altLang="ko-KR" dirty="0"/>
              <a:t>Windows → </a:t>
            </a:r>
            <a:r>
              <a:rPr lang="en-US" altLang="ko-KR" dirty="0">
                <a:solidFill>
                  <a:srgbClr val="7030A0"/>
                </a:solidFill>
              </a:rPr>
              <a:t>_WIN32, _WIN64</a:t>
            </a:r>
          </a:p>
          <a:p>
            <a:pPr lvl="1"/>
            <a:r>
              <a:rPr lang="en-US" altLang="ko-KR" dirty="0"/>
              <a:t>Linux   → </a:t>
            </a:r>
            <a:r>
              <a:rPr lang="en-US" altLang="ko-KR" dirty="0">
                <a:solidFill>
                  <a:srgbClr val="7030A0"/>
                </a:solidFill>
              </a:rPr>
              <a:t>__</a:t>
            </a:r>
            <a:r>
              <a:rPr lang="en-US" altLang="ko-KR" dirty="0" err="1">
                <a:solidFill>
                  <a:srgbClr val="7030A0"/>
                </a:solidFill>
              </a:rPr>
              <a:t>linux</a:t>
            </a:r>
            <a:r>
              <a:rPr lang="en-US" altLang="ko-KR" dirty="0">
                <a:solidFill>
                  <a:srgbClr val="7030A0"/>
                </a:solidFill>
              </a:rPr>
              <a:t>__</a:t>
            </a:r>
          </a:p>
          <a:p>
            <a:pPr lvl="1"/>
            <a:r>
              <a:rPr lang="en-US" altLang="ko-KR" dirty="0"/>
              <a:t>Android → </a:t>
            </a:r>
            <a:r>
              <a:rPr lang="en-US" altLang="ko-KR" dirty="0">
                <a:solidFill>
                  <a:srgbClr val="7030A0"/>
                </a:solidFill>
              </a:rPr>
              <a:t>__ANDROID__</a:t>
            </a:r>
          </a:p>
          <a:p>
            <a:pPr lvl="1"/>
            <a:r>
              <a:rPr lang="en-US" altLang="ko-KR" dirty="0"/>
              <a:t>macOS → </a:t>
            </a:r>
            <a:r>
              <a:rPr lang="en-US" altLang="ko-KR" dirty="0">
                <a:solidFill>
                  <a:srgbClr val="7030A0"/>
                </a:solidFill>
              </a:rPr>
              <a:t>__APPLE__</a:t>
            </a:r>
          </a:p>
          <a:p>
            <a:pPr lvl="1"/>
            <a:r>
              <a:rPr lang="en-US" altLang="ko-KR" dirty="0"/>
              <a:t>iOS →</a:t>
            </a:r>
            <a:r>
              <a:rPr lang="en-US" altLang="ko-KR" dirty="0">
                <a:solidFill>
                  <a:srgbClr val="7030A0"/>
                </a:solidFill>
              </a:rPr>
              <a:t>__APPLE__</a:t>
            </a:r>
            <a:r>
              <a:rPr lang="en-US" altLang="ko-KR" dirty="0"/>
              <a:t> + </a:t>
            </a:r>
            <a:r>
              <a:rPr lang="en-US" altLang="ko-KR" dirty="0">
                <a:solidFill>
                  <a:srgbClr val="7030A0"/>
                </a:solidFill>
              </a:rPr>
              <a:t>TARGET_OS_IPHONE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→ </a:t>
            </a:r>
            <a:r>
              <a:rPr lang="ko-KR" altLang="en-US" dirty="0"/>
              <a:t>컴파일러가 자동 정의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194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17.4.2 </a:t>
            </a:r>
            <a:r>
              <a:rPr lang="ko-KR" altLang="en-US" dirty="0"/>
              <a:t>동일 인터페이스</a:t>
            </a:r>
            <a:r>
              <a:rPr lang="en-US" altLang="ko-KR" dirty="0"/>
              <a:t>, </a:t>
            </a:r>
            <a:r>
              <a:rPr lang="ko-KR" altLang="en-US" dirty="0"/>
              <a:t>다른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플랫폼마다 다른 코드</a:t>
            </a:r>
          </a:p>
          <a:p>
            <a:pPr lvl="1"/>
            <a:r>
              <a:rPr lang="ko-KR" altLang="en-US" dirty="0"/>
              <a:t>빌드 시 하나만 선택</a:t>
            </a:r>
          </a:p>
          <a:p>
            <a:pPr marL="457200" lvl="1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→ 실행 비용 없음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D75A41-7813-10EF-292E-FCFC1552E7EF}"/>
              </a:ext>
            </a:extLst>
          </p:cNvPr>
          <p:cNvSpPr txBox="1"/>
          <p:nvPr/>
        </p:nvSpPr>
        <p:spPr>
          <a:xfrm>
            <a:off x="3465672" y="1217767"/>
            <a:ext cx="5644380" cy="550920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#if defined(_WIN32)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windows.h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sleep_ms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ms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Sleep(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ms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#elif defined(__APPLE__) &amp;&amp; defined(__MACH__)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TargetConditionals.h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unistd.h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sleep_ms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ms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usleep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ms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#elif defined(__ANDROID__) || defined(__</a:t>
            </a:r>
            <a:r>
              <a:rPr lang="en-US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linux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__)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unistd.h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sleep_ms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ms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usleep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ms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#else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#error Unsupported platform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#endif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949528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17.5 #include</a:t>
            </a:r>
            <a:r>
              <a:rPr lang="ko-KR" altLang="en-US" dirty="0"/>
              <a:t>와 다중 파일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3200" dirty="0"/>
              <a:t>#include</a:t>
            </a:r>
          </a:p>
          <a:p>
            <a:pPr lvl="1"/>
            <a:r>
              <a:rPr lang="ko-KR" altLang="en-US" sz="2800" dirty="0"/>
              <a:t>파일 참조 아님</a:t>
            </a:r>
          </a:p>
          <a:p>
            <a:pPr lvl="1"/>
            <a:r>
              <a:rPr lang="ko-KR" altLang="en-US" sz="2800" dirty="0"/>
              <a:t>파일 내용 삽입</a:t>
            </a:r>
          </a:p>
          <a:p>
            <a:pPr lvl="1"/>
            <a:endParaRPr lang="ko-KR" altLang="en-US" sz="2800" dirty="0"/>
          </a:p>
          <a:p>
            <a:pPr marL="457200" lvl="1" indent="0">
              <a:buNone/>
            </a:pPr>
            <a:r>
              <a:rPr lang="ko-KR" altLang="en-US" sz="2800" dirty="0"/>
              <a:t>→ 코드가 그대로 복사됨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3264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17.5.1 </a:t>
            </a:r>
            <a:r>
              <a:rPr lang="ko-KR" altLang="en-US" dirty="0"/>
              <a:t>헤더와 소스의 역할 분리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모듈 구조</a:t>
            </a:r>
          </a:p>
          <a:p>
            <a:pPr lvl="1"/>
            <a:r>
              <a:rPr lang="en-US" altLang="ko-KR" dirty="0"/>
              <a:t>.h → </a:t>
            </a:r>
            <a:r>
              <a:rPr lang="ko-KR" altLang="en-US" dirty="0"/>
              <a:t>선언</a:t>
            </a:r>
          </a:p>
          <a:p>
            <a:pPr lvl="1"/>
            <a:r>
              <a:rPr lang="en-US" altLang="ko-KR" dirty="0"/>
              <a:t>.c → </a:t>
            </a:r>
            <a:r>
              <a:rPr lang="ko-KR" altLang="en-US" dirty="0"/>
              <a:t>정의</a:t>
            </a:r>
          </a:p>
          <a:p>
            <a:endParaRPr lang="en-US" altLang="ko-KR" dirty="0"/>
          </a:p>
          <a:p>
            <a:r>
              <a:rPr lang="ko-KR" altLang="en-US" dirty="0"/>
              <a:t>목적</a:t>
            </a:r>
          </a:p>
          <a:p>
            <a:pPr lvl="1"/>
            <a:r>
              <a:rPr lang="ko-KR" altLang="en-US" dirty="0"/>
              <a:t>코드 분리</a:t>
            </a:r>
          </a:p>
          <a:p>
            <a:pPr lvl="1"/>
            <a:r>
              <a:rPr lang="ko-KR" altLang="en-US" dirty="0"/>
              <a:t>재사용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647F2-CBC5-86E6-5FFA-8FD509E8D96C}"/>
              </a:ext>
            </a:extLst>
          </p:cNvPr>
          <p:cNvSpPr txBox="1"/>
          <p:nvPr/>
        </p:nvSpPr>
        <p:spPr>
          <a:xfrm>
            <a:off x="3995936" y="692150"/>
            <a:ext cx="3528392" cy="9233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8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math.h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#pragma once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b);</a:t>
            </a:r>
            <a:endParaRPr lang="ko-KR" altLang="en-US" sz="1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98D6C3-11FF-96FB-4944-ED014CD4A635}"/>
              </a:ext>
            </a:extLst>
          </p:cNvPr>
          <p:cNvSpPr txBox="1"/>
          <p:nvPr/>
        </p:nvSpPr>
        <p:spPr>
          <a:xfrm>
            <a:off x="3995504" y="4071897"/>
            <a:ext cx="3528392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8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main.c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math.h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 = add(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42C593-B1E8-1C41-1805-77FBDBD2071E}"/>
              </a:ext>
            </a:extLst>
          </p:cNvPr>
          <p:cNvSpPr txBox="1"/>
          <p:nvPr/>
        </p:nvSpPr>
        <p:spPr>
          <a:xfrm>
            <a:off x="3995936" y="1779061"/>
            <a:ext cx="3528392" cy="203132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8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math.c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math.h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+ b;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859229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4D57A-C2AD-4174-8F39-B782528D3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17.5.2 </a:t>
            </a:r>
            <a:r>
              <a:rPr lang="ko-KR" altLang="en-US" dirty="0"/>
              <a:t>선언과 정의의 구분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E48F27-9E86-4515-8F36-0C9DBA35C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선언 </a:t>
            </a:r>
            <a:r>
              <a:rPr lang="en-US" altLang="ko-KR" dirty="0"/>
              <a:t>vs </a:t>
            </a:r>
            <a:r>
              <a:rPr lang="ko-KR" altLang="en-US" dirty="0"/>
              <a:t>정의</a:t>
            </a:r>
          </a:p>
          <a:p>
            <a:pPr lvl="1"/>
            <a:r>
              <a:rPr lang="ko-KR" altLang="en-US" dirty="0"/>
              <a:t>선언 → 존재 알림</a:t>
            </a:r>
          </a:p>
          <a:p>
            <a:pPr lvl="1"/>
            <a:r>
              <a:rPr lang="ko-KR" altLang="en-US" dirty="0"/>
              <a:t>정의 → 실제 생성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선언은 여러 번 가능</a:t>
            </a:r>
          </a:p>
          <a:p>
            <a:r>
              <a:rPr lang="ko-KR" altLang="en-US" dirty="0"/>
              <a:t>정의는 하나만 가능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5F3902-A9F9-405D-85D7-E8D9B57FD5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63908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4D57A-C2AD-4174-8F39-B782528D3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17.5.3 </a:t>
            </a:r>
            <a:r>
              <a:rPr lang="ko-KR" altLang="en-US" dirty="0"/>
              <a:t>중복 정의와 </a:t>
            </a:r>
            <a:r>
              <a:rPr lang="ko-KR" altLang="en-US" dirty="0" err="1"/>
              <a:t>링커</a:t>
            </a:r>
            <a:r>
              <a:rPr lang="ko-KR" altLang="en-US" dirty="0"/>
              <a:t> 오류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E48F27-9E86-4515-8F36-0C9DBA35C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중복 정의 문제</a:t>
            </a:r>
          </a:p>
          <a:p>
            <a:pPr lvl="1"/>
            <a:r>
              <a:rPr lang="ko-KR" altLang="en-US" dirty="0"/>
              <a:t>헤더에 정의 작성 시</a:t>
            </a:r>
          </a:p>
          <a:p>
            <a:pPr lvl="1"/>
            <a:r>
              <a:rPr lang="ko-KR" altLang="en-US" dirty="0"/>
              <a:t>여러 파일에 복사됨</a:t>
            </a:r>
            <a:endParaRPr lang="en-US" altLang="ko-KR" dirty="0"/>
          </a:p>
          <a:p>
            <a:pPr lvl="1"/>
            <a:r>
              <a:rPr lang="ko-KR" altLang="en-US" dirty="0" err="1"/>
              <a:t>링커</a:t>
            </a:r>
            <a:r>
              <a:rPr lang="ko-KR" altLang="en-US" dirty="0"/>
              <a:t> 오류 발생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5F3902-A9F9-405D-85D7-E8D9B57FD5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E4FADC-13A8-6EAC-7DEF-310418F019B3}"/>
              </a:ext>
            </a:extLst>
          </p:cNvPr>
          <p:cNvSpPr txBox="1"/>
          <p:nvPr/>
        </p:nvSpPr>
        <p:spPr>
          <a:xfrm>
            <a:off x="971600" y="2780928"/>
            <a:ext cx="5040560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24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config.h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#pragma once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value = 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</a:t>
            </a:r>
            <a:r>
              <a:rPr lang="en-US" altLang="ko-KR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잘못된 예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09144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4D57A-C2AD-4174-8F39-B782528D3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17.5.4 extern</a:t>
            </a:r>
            <a:r>
              <a:rPr lang="ko-KR" altLang="en-US" dirty="0"/>
              <a:t>과 단일 정의 원칙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E48F27-9E86-4515-8F36-0C9DBA35C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정의는 하나만 존재</a:t>
            </a:r>
          </a:p>
          <a:p>
            <a:pPr lvl="1"/>
            <a:r>
              <a:rPr lang="en-US" altLang="ko-KR" dirty="0"/>
              <a:t>extern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1"/>
            <a:r>
              <a:rPr lang="ko-KR" altLang="en-US" dirty="0"/>
              <a:t>실제 정의가 하나만 존재</a:t>
            </a:r>
            <a:br>
              <a:rPr lang="en-US" altLang="ko-KR" dirty="0"/>
            </a:br>
            <a:r>
              <a:rPr lang="ko-KR" altLang="en-US" dirty="0"/>
              <a:t>→ </a:t>
            </a:r>
            <a:r>
              <a:rPr lang="en-US" altLang="ko-KR" dirty="0"/>
              <a:t>extern </a:t>
            </a:r>
            <a:r>
              <a:rPr lang="ko-KR" altLang="en-US" dirty="0"/>
              <a:t>은 여러 번 사용해도 문제 없음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5F3902-A9F9-405D-85D7-E8D9B57FD5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434258-6BFC-4543-4308-5234B38B2458}"/>
              </a:ext>
            </a:extLst>
          </p:cNvPr>
          <p:cNvSpPr txBox="1"/>
          <p:nvPr/>
        </p:nvSpPr>
        <p:spPr>
          <a:xfrm>
            <a:off x="395536" y="2636912"/>
            <a:ext cx="3672408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24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config.h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#pragma once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value;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2855A0-DF7C-2921-8162-35BD86B3C19D}"/>
              </a:ext>
            </a:extLst>
          </p:cNvPr>
          <p:cNvSpPr txBox="1"/>
          <p:nvPr/>
        </p:nvSpPr>
        <p:spPr>
          <a:xfrm>
            <a:off x="395536" y="3978161"/>
            <a:ext cx="3672408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24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config.c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config.h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value = 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3BA942-F597-8F00-8113-444C8D35152C}"/>
              </a:ext>
            </a:extLst>
          </p:cNvPr>
          <p:cNvSpPr txBox="1"/>
          <p:nvPr/>
        </p:nvSpPr>
        <p:spPr>
          <a:xfrm>
            <a:off x="4314463" y="3239498"/>
            <a:ext cx="4496826" cy="19389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24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other.c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config.h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</a:p>
          <a:p>
            <a:r>
              <a:rPr lang="en-US" altLang="ko-KR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</a:t>
            </a:r>
            <a:r>
              <a:rPr lang="ko-KR" altLang="en-US" b="1" i="1" dirty="0">
                <a:solidFill>
                  <a:srgbClr val="A0A1A7"/>
                </a:solidFill>
                <a:latin typeface="Consolas" panose="020B0609020204030204" pitchFamily="49" charset="0"/>
              </a:rPr>
              <a:t>중복 </a:t>
            </a:r>
            <a:r>
              <a:rPr lang="en-US" altLang="ko-KR" b="1" i="1" dirty="0">
                <a:solidFill>
                  <a:srgbClr val="A0A1A7"/>
                </a:solidFill>
                <a:latin typeface="Consolas" panose="020B0609020204030204" pitchFamily="49" charset="0"/>
              </a:rPr>
              <a:t>extern </a:t>
            </a:r>
            <a:r>
              <a:rPr lang="ko-KR" altLang="en-US" b="1" i="1" dirty="0">
                <a:solidFill>
                  <a:srgbClr val="A0A1A7"/>
                </a:solidFill>
                <a:latin typeface="Consolas" panose="020B0609020204030204" pitchFamily="49" charset="0"/>
              </a:rPr>
              <a:t>선언</a:t>
            </a:r>
            <a:endParaRPr lang="en-US" altLang="ko-KR" b="1" i="1" dirty="0">
              <a:solidFill>
                <a:srgbClr val="A0A1A7"/>
              </a:solidFill>
              <a:latin typeface="Consolas" panose="020B0609020204030204" pitchFamily="49" charset="0"/>
            </a:endParaRPr>
          </a:p>
          <a:p>
            <a:r>
              <a:rPr lang="en-US" altLang="ko-KR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사용에 문제 없음</a:t>
            </a:r>
            <a:endParaRPr lang="en-US" altLang="ko-KR" sz="2400" b="1" i="0" u="none" strike="noStrike" dirty="0">
              <a:solidFill>
                <a:srgbClr val="50A14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A626A4"/>
                </a:solidFill>
                <a:latin typeface="Consolas" panose="020B0609020204030204" pitchFamily="49" charset="0"/>
              </a:rPr>
              <a:t>extern</a:t>
            </a:r>
            <a:r>
              <a:rPr lang="en-US" altLang="ko-KR" b="1" dirty="0">
                <a:solidFill>
                  <a:srgbClr val="383A42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A626A4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b="1" dirty="0">
                <a:solidFill>
                  <a:srgbClr val="383A42"/>
                </a:solidFill>
                <a:latin typeface="Consolas" panose="020B0609020204030204" pitchFamily="49" charset="0"/>
              </a:rPr>
              <a:t> value;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66767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4D57A-C2AD-4174-8F39-B782528D3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E48F27-9E86-4515-8F36-0C9DBA35C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전처리기</a:t>
            </a:r>
          </a:p>
          <a:p>
            <a:pPr lvl="1"/>
            <a:r>
              <a:rPr lang="ko-KR" altLang="en-US" dirty="0"/>
              <a:t>텍스트 치환</a:t>
            </a:r>
          </a:p>
          <a:p>
            <a:pPr lvl="1"/>
            <a:r>
              <a:rPr lang="ko-KR" altLang="en-US" dirty="0"/>
              <a:t>빌드 단계 제어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매크로 → 코드 생성</a:t>
            </a:r>
          </a:p>
          <a:p>
            <a:pPr lvl="1"/>
            <a:r>
              <a:rPr lang="ko-KR" altLang="en-US" dirty="0"/>
              <a:t>조건부 컴파일 → 코드 선택</a:t>
            </a:r>
          </a:p>
          <a:p>
            <a:pPr lvl="1"/>
            <a:r>
              <a:rPr lang="en-US" altLang="ko-KR" dirty="0"/>
              <a:t>#include → </a:t>
            </a:r>
            <a:r>
              <a:rPr lang="ko-KR" altLang="en-US" dirty="0"/>
              <a:t>파일 삽입</a:t>
            </a:r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→ 빌드 구조 이해가 핵심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5F3902-A9F9-405D-85D7-E8D9B57FD5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80656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4D57A-C2AD-4174-8F39-B782528D3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E48F27-9E86-4515-8F36-0C9DBA35C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전처리 결과 확인하기</a:t>
            </a:r>
          </a:p>
          <a:p>
            <a:r>
              <a:rPr lang="ko-KR" altLang="en-US" dirty="0"/>
              <a:t>괄호 실수로 인한 오류 분석</a:t>
            </a:r>
          </a:p>
          <a:p>
            <a:r>
              <a:rPr lang="ko-KR" altLang="en-US" dirty="0"/>
              <a:t>조건부 컴파일 실험</a:t>
            </a:r>
          </a:p>
          <a:p>
            <a:r>
              <a:rPr lang="ko-KR" altLang="en-US" dirty="0"/>
              <a:t>플랫폼 분기 작성</a:t>
            </a:r>
          </a:p>
          <a:p>
            <a:r>
              <a:rPr lang="ko-KR" altLang="en-US" dirty="0"/>
              <a:t>중복 정의 오류 만들기</a:t>
            </a:r>
          </a:p>
          <a:p>
            <a:r>
              <a:rPr lang="en-US" altLang="ko-KR" dirty="0"/>
              <a:t>include guard </a:t>
            </a:r>
            <a:r>
              <a:rPr lang="ko-KR" altLang="en-US" dirty="0"/>
              <a:t>실험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5F3902-A9F9-405D-85D7-E8D9B57FD5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4302912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2400" b="1" i="0" u="none" strike="noStrike" dirty="0">
            <a:solidFill>
              <a:srgbClr val="C18401"/>
            </a:solidFill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7998</TotalTime>
  <Words>2034</Words>
  <Application>Microsoft Office PowerPoint</Application>
  <PresentationFormat>화면 슬라이드 쇼(4:3)</PresentationFormat>
  <Paragraphs>334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8" baseType="lpstr">
      <vt:lpstr>Consolas</vt:lpstr>
      <vt:lpstr>HY견고딕</vt:lpstr>
      <vt:lpstr>Arial</vt:lpstr>
      <vt:lpstr>나눔바른고딕</vt:lpstr>
      <vt:lpstr>가을체</vt:lpstr>
      <vt:lpstr>굴림</vt:lpstr>
      <vt:lpstr>Wingdings</vt:lpstr>
      <vt:lpstr>기본 디자인</vt:lpstr>
      <vt:lpstr>17. 전처리기와 빌드 제어 (Preprocessor and Build Control)</vt:lpstr>
      <vt:lpstr>17. 전처리기와 빌드 제어</vt:lpstr>
      <vt:lpstr>17.1 Directive와 명령문의 구조적 차이</vt:lpstr>
      <vt:lpstr>17.2 매크로: 빌드 시점 코드 생성</vt:lpstr>
      <vt:lpstr>17.2.1 반복 코드의 통합 관리</vt:lpstr>
      <vt:lpstr>17.2.1 반복 코드의 통합 관리</vt:lpstr>
      <vt:lpstr>17.2.1 반복 코드의 통합 관리</vt:lpstr>
      <vt:lpstr>17.2.2 객체 매크로</vt:lpstr>
      <vt:lpstr>17.2.3 함수형 매크로</vt:lpstr>
      <vt:lpstr>17.2.3 함수형 매크로 (작성 규칙 / 세미콜론)</vt:lpstr>
      <vt:lpstr>17.2.4 매크로의 확장 기능: 문자열화와 토큰 결합</vt:lpstr>
      <vt:lpstr>17.2.4.1 문자열화 연산자 #</vt:lpstr>
      <vt:lpstr>17.2.4.2 토큰 결합 연산자 ##</vt:lpstr>
      <vt:lpstr>17.2.5 매크로의 재확장과 중첩</vt:lpstr>
      <vt:lpstr>17.3 조건부 컴파일: 빌드 분기</vt:lpstr>
      <vt:lpstr>17.3.1 조건부 컴파일-기본 구조</vt:lpstr>
      <vt:lpstr>17.3.1 조건부 컴파일-기본 구조 (#ifdef/ifndef)</vt:lpstr>
      <vt:lpstr>17.3.1 조건부 컴파일-기본 구조 (defined/undef)</vt:lpstr>
      <vt:lpstr>17.3.1 조건부 컴파일-기본 구조 (#elif / #else)</vt:lpstr>
      <vt:lpstr>17.3.2 빌드 환경에서 매크로 정의</vt:lpstr>
      <vt:lpstr>17.4 플랫폼 대응: 구현 선택 전략</vt:lpstr>
      <vt:lpstr>17.4.1 플랫폼 판별 매크로</vt:lpstr>
      <vt:lpstr>17.4.2 동일 인터페이스, 다른 구현</vt:lpstr>
      <vt:lpstr>17.5 #include와 다중 파일 구조</vt:lpstr>
      <vt:lpstr>17.5.1 헤더와 소스의 역할 분리</vt:lpstr>
      <vt:lpstr>17.5.2 선언과 정의의 구분</vt:lpstr>
      <vt:lpstr>17.5.3 중복 정의와 링커 오류</vt:lpstr>
      <vt:lpstr>17.5.4 extern과 단일 정의 원칙</vt:lpstr>
      <vt:lpstr>학습 정리</vt:lpstr>
      <vt:lpstr>실습 과제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282</cp:revision>
  <dcterms:created xsi:type="dcterms:W3CDTF">2003-11-30T16:03:20Z</dcterms:created>
  <dcterms:modified xsi:type="dcterms:W3CDTF">2026-06-23T07:29:03Z</dcterms:modified>
</cp:coreProperties>
</file>