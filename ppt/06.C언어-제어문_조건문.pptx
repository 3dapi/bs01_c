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72" r:id="rId2"/>
    <p:sldId id="273" r:id="rId3"/>
    <p:sldId id="274" r:id="rId4"/>
    <p:sldId id="275" r:id="rId5"/>
    <p:sldId id="276" r:id="rId6"/>
    <p:sldId id="277" r:id="rId7"/>
    <p:sldId id="279" r:id="rId8"/>
    <p:sldId id="278" r:id="rId9"/>
    <p:sldId id="280" r:id="rId10"/>
    <p:sldId id="281" r:id="rId11"/>
    <p:sldId id="282" r:id="rId12"/>
    <p:sldId id="284" r:id="rId13"/>
    <p:sldId id="283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3" r:id="rId32"/>
  </p:sldIdLst>
  <p:sldSz cx="9144000" cy="6858000" type="screen4x3"/>
  <p:notesSz cx="6858000" cy="9144000"/>
  <p:embeddedFontLst>
    <p:embeddedFont>
      <p:font typeface="나눔바른고딕" panose="020B0603020101020101" pitchFamily="50" charset="-127"/>
      <p:regular r:id="rId34"/>
      <p:bold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HY견고딕" panose="02030600000101010101" pitchFamily="18" charset="-127"/>
      <p:regular r:id="rId40"/>
    </p:embeddedFont>
    <p:embeddedFont>
      <p:font typeface="가을체" panose="02030600000101010101" pitchFamily="18" charset="-127"/>
      <p:regular r:id="rId41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FFCC"/>
    <a:srgbClr val="CCFFFF"/>
    <a:srgbClr val="CC00FF"/>
    <a:srgbClr val="0000FF"/>
    <a:srgbClr val="CC00CC"/>
    <a:srgbClr val="CC0000"/>
    <a:srgbClr val="FF00FF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100" d="100"/>
          <a:sy n="100" d="100"/>
        </p:scale>
        <p:origin x="2556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/>
            </a:lvl1pPr>
            <a:lvl2pPr>
              <a:buSzPct val="60000"/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06. </a:t>
            </a:r>
            <a:r>
              <a:rPr lang="ko-KR" altLang="en-US" dirty="0"/>
              <a:t>제어문</a:t>
            </a:r>
            <a:r>
              <a:rPr lang="en-US" altLang="ko-KR" dirty="0"/>
              <a:t>:</a:t>
            </a:r>
            <a:r>
              <a:rPr lang="ko-KR" altLang="en-US" dirty="0"/>
              <a:t>조건문</a:t>
            </a:r>
            <a:br>
              <a:rPr lang="en-US" altLang="ko-KR" dirty="0"/>
            </a:br>
            <a:r>
              <a:rPr lang="en-US" altLang="ko-KR" sz="2800" dirty="0"/>
              <a:t>(Control</a:t>
            </a:r>
            <a:r>
              <a:rPr lang="ko-KR" altLang="en-US" sz="2800" dirty="0"/>
              <a:t> </a:t>
            </a:r>
            <a:r>
              <a:rPr lang="en-US" altLang="ko-KR" sz="2800" dirty="0"/>
              <a:t>Flow</a:t>
            </a:r>
            <a:r>
              <a:rPr lang="ko-KR" altLang="en-US" sz="2800" dirty="0"/>
              <a:t> </a:t>
            </a:r>
            <a:r>
              <a:rPr lang="en-US" altLang="ko-KR" sz="2800" dirty="0"/>
              <a:t>–</a:t>
            </a:r>
            <a:r>
              <a:rPr lang="ko-KR" altLang="en-US" sz="2800" dirty="0"/>
              <a:t> </a:t>
            </a:r>
            <a:r>
              <a:rPr lang="en-US" altLang="ko-KR" sz="2800" dirty="0"/>
              <a:t>Conditional</a:t>
            </a:r>
            <a:r>
              <a:rPr lang="ko-KR" altLang="en-US" sz="2800" dirty="0"/>
              <a:t> </a:t>
            </a:r>
            <a:r>
              <a:rPr lang="en-US" altLang="ko-KR" sz="2800" dirty="0"/>
              <a:t>Statements)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scanf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scanf</a:t>
            </a:r>
          </a:p>
          <a:p>
            <a:pPr lvl="1"/>
            <a:r>
              <a:rPr lang="ko-KR" altLang="en-US" dirty="0"/>
              <a:t>표준 입력</a:t>
            </a:r>
            <a:r>
              <a:rPr lang="en-US" altLang="ko-KR" dirty="0"/>
              <a:t>(</a:t>
            </a:r>
            <a:r>
              <a:rPr lang="ko-KR" altLang="en-US" dirty="0"/>
              <a:t>키보드</a:t>
            </a:r>
            <a:r>
              <a:rPr lang="en-US" altLang="ko-KR" dirty="0"/>
              <a:t>)</a:t>
            </a:r>
            <a:r>
              <a:rPr lang="ko-KR" altLang="en-US" dirty="0"/>
              <a:t>에서 값을 읽어 변수에 저장</a:t>
            </a:r>
            <a:endParaRPr lang="en-US" altLang="ko-KR" dirty="0"/>
          </a:p>
          <a:p>
            <a:pPr lvl="1"/>
            <a:r>
              <a:rPr lang="ko-KR" altLang="en-US" dirty="0"/>
              <a:t>변수의 주소 사용</a:t>
            </a:r>
            <a:endParaRPr lang="en-US" altLang="ko-KR" dirty="0"/>
          </a:p>
          <a:p>
            <a:pPr lvl="1"/>
            <a:r>
              <a:rPr lang="ko-KR" altLang="en-US" dirty="0"/>
              <a:t>하나의 함수 여러 자료형 입력 처리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F15F2-24AE-F716-74ED-98C769571192}"/>
              </a:ext>
            </a:extLst>
          </p:cNvPr>
          <p:cNvSpPr txBox="1"/>
          <p:nvPr/>
        </p:nvSpPr>
        <p:spPr>
          <a:xfrm>
            <a:off x="528196" y="2840742"/>
            <a:ext cx="8220515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형식지정자</a:t>
            </a:r>
            <a:r>
              <a:rPr lang="en-US" altLang="ko-KR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변수의 주소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4724C-B7B8-21B2-1392-01139A008AAA}"/>
              </a:ext>
            </a:extLst>
          </p:cNvPr>
          <p:cNvSpPr txBox="1"/>
          <p:nvPr/>
        </p:nvSpPr>
        <p:spPr>
          <a:xfrm>
            <a:off x="528197" y="4017258"/>
            <a:ext cx="8220515" cy="83099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money = </a:t>
            </a:r>
            <a:r>
              <a:rPr lang="en-US" altLang="ko-KR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</a:t>
            </a:r>
            <a:r>
              <a:rPr lang="en-US" altLang="ko-KR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lld</a:t>
            </a:r>
            <a:r>
              <a:rPr lang="en-US" altLang="ko-KR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&amp;money); </a:t>
            </a:r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1" i="1" dirty="0">
                <a:solidFill>
                  <a:srgbClr val="A0A1A7"/>
                </a:solidFill>
                <a:latin typeface="Consolas" panose="020B0609020204030204" pitchFamily="49" charset="0"/>
              </a:rPr>
              <a:t>변수</a:t>
            </a:r>
            <a:r>
              <a:rPr lang="ko-KR" altLang="en-US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의 주소로 값을 입력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3450-2998-6874-9AAB-2343959C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1D8CB-CD75-DEBB-6D2F-102B4080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6.1.2 scanf </a:t>
            </a:r>
            <a:r>
              <a:rPr lang="ko-KR" altLang="en-US" dirty="0"/>
              <a:t>함수 형식 지정자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6D3DCC-2511-1B50-BD3E-D5A2341C1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형식</a:t>
            </a:r>
            <a:r>
              <a:rPr lang="en-US" altLang="ko-KR" dirty="0"/>
              <a:t>(</a:t>
            </a:r>
            <a:r>
              <a:rPr lang="ko-KR" altLang="en-US" dirty="0"/>
              <a:t>서식</a:t>
            </a:r>
            <a:r>
              <a:rPr lang="en-US" altLang="ko-KR" dirty="0"/>
              <a:t>)</a:t>
            </a:r>
            <a:r>
              <a:rPr lang="ko-KR" altLang="en-US" dirty="0"/>
              <a:t> 지정자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B10950-6442-09E3-A02D-495F541694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4A9F6B7-8FC6-A1BB-C52D-C520EAB90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72296"/>
              </p:ext>
            </p:extLst>
          </p:nvPr>
        </p:nvGraphicFramePr>
        <p:xfrm>
          <a:off x="683568" y="1412776"/>
          <a:ext cx="7776864" cy="4436095"/>
        </p:xfrm>
        <a:graphic>
          <a:graphicData uri="http://schemas.openxmlformats.org/drawingml/2006/table">
            <a:tbl>
              <a:tblPr/>
              <a:tblGrid>
                <a:gridCol w="1982338">
                  <a:extLst>
                    <a:ext uri="{9D8B030D-6E8A-4147-A177-3AD203B41FA5}">
                      <a16:colId xmlns:a16="http://schemas.microsoft.com/office/drawing/2014/main" val="173785051"/>
                    </a:ext>
                  </a:extLst>
                </a:gridCol>
                <a:gridCol w="991169">
                  <a:extLst>
                    <a:ext uri="{9D8B030D-6E8A-4147-A177-3AD203B41FA5}">
                      <a16:colId xmlns:a16="http://schemas.microsoft.com/office/drawing/2014/main" val="1475944862"/>
                    </a:ext>
                  </a:extLst>
                </a:gridCol>
                <a:gridCol w="4803357">
                  <a:extLst>
                    <a:ext uri="{9D8B030D-6E8A-4147-A177-3AD203B41FA5}">
                      <a16:colId xmlns:a16="http://schemas.microsoft.com/office/drawing/2014/main" val="2917661077"/>
                    </a:ext>
                  </a:extLst>
                </a:gridCol>
              </a:tblGrid>
              <a:tr h="40496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자료형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형식 지정자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예시 코드</a:t>
                      </a:r>
                      <a:endParaRPr lang="ko-KR" altLang="en-US" sz="280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111230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</a:t>
                      </a:r>
                      <a:endParaRPr 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%d</a:t>
                      </a:r>
                      <a:endParaRPr 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scanf("%d", &amp;n);</a:t>
                      </a:r>
                      <a:endParaRPr 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9781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ld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ld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", &amp;n);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830688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lld</a:t>
                      </a:r>
                      <a:endParaRPr 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lld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", &amp;n);</a:t>
                      </a:r>
                      <a:endParaRPr 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16231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unsigned int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%u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scanf("%u", &amp;n);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516934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unsigned long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long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llu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llu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", &amp;n);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475120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float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%f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scanf("%f", &amp;f);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600260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double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lf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lf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", &amp;d);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979375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char(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 하나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%c</a:t>
                      </a:r>
                      <a:endParaRPr 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 %c", &amp;ch); 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앞 공백은 버퍼 문제 방지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800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825252"/>
                  </a:ext>
                </a:extLst>
              </a:tr>
              <a:tr h="42705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char[] (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%s</a:t>
                      </a:r>
                      <a:endParaRPr 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scanf("%s", str);</a:t>
                      </a:r>
                      <a:b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배열 이름은 문자열이 저장될 주소 반환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&amp;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 안 함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800" b="1" dirty="0">
                        <a:effectLst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55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326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D3D4-8948-EA7C-AC99-1637F782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51972-C73C-8167-2032-80391236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6.1.2 scanf </a:t>
            </a:r>
            <a:r>
              <a:rPr lang="ko-KR" altLang="en-US" dirty="0"/>
              <a:t>함수 형식 지정자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E25E29-A699-1CC2-7001-3627C3CDD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형식 지정자 패턴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6CDEA8-9657-E6DA-1650-3C041F717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4177A7E-5448-215F-F528-71FE49B21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872756"/>
              </p:ext>
            </p:extLst>
          </p:nvPr>
        </p:nvGraphicFramePr>
        <p:xfrm>
          <a:off x="536518" y="1412776"/>
          <a:ext cx="7931528" cy="3312368"/>
        </p:xfrm>
        <a:graphic>
          <a:graphicData uri="http://schemas.openxmlformats.org/drawingml/2006/table">
            <a:tbl>
              <a:tblPr/>
              <a:tblGrid>
                <a:gridCol w="1643272">
                  <a:extLst>
                    <a:ext uri="{9D8B030D-6E8A-4147-A177-3AD203B41FA5}">
                      <a16:colId xmlns:a16="http://schemas.microsoft.com/office/drawing/2014/main" val="2946051566"/>
                    </a:ext>
                  </a:extLst>
                </a:gridCol>
                <a:gridCol w="2946935">
                  <a:extLst>
                    <a:ext uri="{9D8B030D-6E8A-4147-A177-3AD203B41FA5}">
                      <a16:colId xmlns:a16="http://schemas.microsoft.com/office/drawing/2014/main" val="3069131872"/>
                    </a:ext>
                  </a:extLst>
                </a:gridCol>
                <a:gridCol w="3341321">
                  <a:extLst>
                    <a:ext uri="{9D8B030D-6E8A-4147-A177-3AD203B41FA5}">
                      <a16:colId xmlns:a16="http://schemas.microsoft.com/office/drawing/2014/main" val="970523138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패턴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용도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894193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row: %d</a:t>
                      </a:r>
                      <a:endParaRPr lang="en-US" sz="2100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altLang="ko-K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"row: " </a:t>
                      </a: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문자열 뒤의 정수 읽기</a:t>
                      </a:r>
                      <a:endParaRPr lang="ko-KR" altLang="en-US" sz="2100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메타데이터 파싱</a:t>
                      </a:r>
                      <a:endParaRPr lang="ko-KR" altLang="en-US" sz="2100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54588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%63s</a:t>
                      </a:r>
                      <a:endParaRPr 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공백 전까지 최대 </a:t>
                      </a:r>
                      <a:r>
                        <a:rPr lang="en-US" altLang="ko-K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문자 읽기</a:t>
                      </a:r>
                      <a:endParaRPr lang="ko-KR" alt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버퍼 오버플로 방지</a:t>
                      </a:r>
                      <a:endParaRPr lang="ko-KR" alt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09296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%[characters]</a:t>
                      </a:r>
                      <a:endParaRPr 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지정한 문자 집합에 속하는 문자만 읽기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%[A-Za-z0-9_] : </a:t>
                      </a: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영문자</a:t>
                      </a:r>
                      <a:r>
                        <a:rPr lang="en-US" altLang="ko-KR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숫자</a:t>
                      </a:r>
                      <a:r>
                        <a:rPr lang="en-US" altLang="ko-KR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_</a:t>
                      </a: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만 읽기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904988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%[^character]</a:t>
                      </a:r>
                      <a:endParaRPr 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특정 문자가 나오기 전까지 읽기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CSV </a:t>
                      </a: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필드 파싱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198642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%127[^character]</a:t>
                      </a:r>
                      <a:endParaRPr 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최대 </a:t>
                      </a:r>
                      <a:r>
                        <a:rPr lang="en-US" altLang="ko-KR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127</a:t>
                      </a:r>
                      <a:r>
                        <a:rPr lang="ko-KR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자까지 특정 문자 전까지 읽기</a:t>
                      </a:r>
                      <a:endParaRPr lang="ko-KR" altLang="en-US" sz="210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버퍼 오버플로 방지</a:t>
                      </a:r>
                      <a:endParaRPr lang="ko-KR" altLang="en-US" sz="2100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60640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%*s</a:t>
                      </a:r>
                      <a:endParaRPr 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공백 전까지 읽되 저장하지 않음</a:t>
                      </a:r>
                      <a:endParaRPr lang="ko-KR" alt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불필요한 컬럼 건너뛰기</a:t>
                      </a:r>
                      <a:endParaRPr lang="ko-KR" alt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89913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%*[^character]</a:t>
                      </a:r>
                      <a:endParaRPr 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특정 문자 전까지 읽되 저장하지 않음</a:t>
                      </a:r>
                      <a:endParaRPr lang="ko-KR" alt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CSV </a:t>
                      </a:r>
                      <a:r>
                        <a:rPr lang="ko-KR" alt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컬럼 </a:t>
                      </a:r>
                      <a:r>
                        <a:rPr lang="ko-KR" altLang="en-US" sz="1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스킵</a:t>
                      </a:r>
                      <a:endParaRPr lang="ko-KR" altLang="en-US" sz="2100" b="1" dirty="0">
                        <a:effectLst/>
                      </a:endParaRPr>
                    </a:p>
                  </a:txBody>
                  <a:tcPr marL="41396" marR="41396" marT="41396" marB="4139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1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2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3EBE-3790-C7E9-EA22-5A63FEE7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936E6-9CB8-8DCA-C0A0-04F9031A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6.1.3 windows </a:t>
            </a:r>
            <a:r>
              <a:rPr lang="ko-KR" altLang="en-US" dirty="0"/>
              <a:t>프로젝트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3FE86-9B80-1ADC-9EF1-BDE31256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Unsafe error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MSVC </a:t>
            </a:r>
            <a:r>
              <a:rPr lang="ko-KR" altLang="en-US" dirty="0"/>
              <a:t>설정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E74F2E-08F3-95DE-684F-17B690618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02D5F-7745-1D82-BFE6-20D7DE3993C3}"/>
              </a:ext>
            </a:extLst>
          </p:cNvPr>
          <p:cNvSpPr txBox="1"/>
          <p:nvPr/>
        </p:nvSpPr>
        <p:spPr>
          <a:xfrm>
            <a:off x="683568" y="1268760"/>
            <a:ext cx="6552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error </a:t>
            </a:r>
            <a:r>
              <a:rPr lang="en-US" altLang="ko-KR" sz="1400" b="0" i="0" u="none" strike="noStrike" dirty="0">
                <a:solidFill>
                  <a:srgbClr val="980000"/>
                </a:solidFill>
                <a:effectLst/>
                <a:latin typeface="Consolas" panose="020B0609020204030204" pitchFamily="49" charset="0"/>
              </a:rPr>
              <a:t>C4996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This function or variable may be unsafe.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Consider using </a:t>
            </a:r>
            <a:r>
              <a:rPr lang="en-US" altLang="ko-KR" sz="1400" b="0" i="0" u="none" strike="noStrike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scanf_s</a:t>
            </a:r>
            <a:r>
              <a:rPr lang="en-US" altLang="ko-KR" sz="1400" b="0" i="0" u="none" strike="noStrike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instead. To disable deprecation,</a:t>
            </a:r>
            <a:b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use  </a:t>
            </a:r>
            <a:r>
              <a:rPr lang="en-US" altLang="ko-KR" sz="1400" b="1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_CRT_SECURE_NO_WARNINGS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 See online help for details.</a:t>
            </a:r>
            <a:endParaRPr lang="ko-KR" altLang="en-US" sz="1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0EB446E-9446-48FE-B567-964024DEC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38" y="2780928"/>
            <a:ext cx="154305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DE4DF6C-9927-2D3F-ECBE-28DC1698A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38" y="3218274"/>
            <a:ext cx="8092436" cy="294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51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3EBE-3790-C7E9-EA22-5A63FEE7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936E6-9CB8-8DCA-C0A0-04F9031A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6.1.4 scanf - </a:t>
            </a:r>
            <a:r>
              <a:rPr lang="ko-KR" altLang="en-US" dirty="0"/>
              <a:t>여러 개의 값을 한 번에 입력 받기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3FE86-9B80-1ADC-9EF1-BDE31256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scanf </a:t>
            </a:r>
            <a:r>
              <a:rPr lang="ko-KR" altLang="en-US" dirty="0"/>
              <a:t>공백 사용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E74F2E-08F3-95DE-684F-17B690618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F74F3-C46B-4709-B6A7-4088A8C40F57}"/>
              </a:ext>
            </a:extLst>
          </p:cNvPr>
          <p:cNvSpPr txBox="1"/>
          <p:nvPr/>
        </p:nvSpPr>
        <p:spPr>
          <a:xfrm>
            <a:off x="683568" y="1196752"/>
            <a:ext cx="6984776" cy="4001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it-IT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it-IT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%d %d"</a:t>
            </a:r>
            <a:r>
              <a:rPr lang="it-IT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&amp;a, &amp;b, &amp;c);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6A08D-68AB-4B9B-859C-E53364542BBA}"/>
              </a:ext>
            </a:extLst>
          </p:cNvPr>
          <p:cNvSpPr txBox="1"/>
          <p:nvPr/>
        </p:nvSpPr>
        <p:spPr>
          <a:xfrm>
            <a:off x="683568" y="1834178"/>
            <a:ext cx="6984776" cy="317009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y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두 정수를 입력하세요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 %d"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&amp;x, &amp;y);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합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 + y);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94837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EB69-FECE-8BCA-90F3-32B1C1E1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4C8C8-24FF-3EBC-EF64-594184D9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6.1.5 </a:t>
            </a:r>
            <a:r>
              <a:rPr lang="ko-KR" altLang="en-US" dirty="0"/>
              <a:t>문자를 입력 받을 때 주의할 점 </a:t>
            </a:r>
            <a:r>
              <a:rPr lang="en-US" altLang="ko-KR" dirty="0"/>
              <a:t>(%c)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9966BD-872E-B3AC-0832-DA318BB5A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scanf – </a:t>
            </a:r>
            <a:r>
              <a:rPr lang="ko-KR" altLang="en-US" dirty="0"/>
              <a:t>문자 입력</a:t>
            </a:r>
            <a:r>
              <a:rPr lang="en-US" altLang="ko-KR" dirty="0"/>
              <a:t>: </a:t>
            </a:r>
            <a:r>
              <a:rPr lang="ko-KR" altLang="en-US" dirty="0"/>
              <a:t>버퍼의 </a:t>
            </a:r>
            <a:r>
              <a:rPr lang="en-US" altLang="ko-KR" dirty="0">
                <a:latin typeface="Consolas" panose="020B0609020204030204" pitchFamily="49" charset="0"/>
              </a:rPr>
              <a:t>'</a:t>
            </a:r>
            <a:r>
              <a:rPr lang="en-US" altLang="ko-KR" sz="2800" b="0" i="1" u="none" strike="noStrike" dirty="0">
                <a:effectLst/>
                <a:latin typeface="Consolas" panose="020B0609020204030204" pitchFamily="49" charset="0"/>
              </a:rPr>
              <a:t>\n</a:t>
            </a:r>
            <a:r>
              <a:rPr lang="en-US" altLang="ko-KR" dirty="0">
                <a:latin typeface="Consolas" panose="020B0609020204030204" pitchFamily="49" charset="0"/>
              </a:rPr>
              <a:t>'</a:t>
            </a:r>
            <a:r>
              <a:rPr lang="en-US" altLang="ko-KR" dirty="0"/>
              <a:t> </a:t>
            </a:r>
            <a:r>
              <a:rPr lang="ko-KR" altLang="en-US" dirty="0"/>
              <a:t>이 </a:t>
            </a:r>
            <a:r>
              <a:rPr lang="en-US" altLang="ko-KR" dirty="0"/>
              <a:t> </a:t>
            </a:r>
            <a:r>
              <a:rPr lang="ko-KR" altLang="en-US" dirty="0"/>
              <a:t>공백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100% </a:t>
            </a:r>
            <a:r>
              <a:rPr lang="ko-KR" altLang="en-US" dirty="0"/>
              <a:t>해결이 안됨 </a:t>
            </a:r>
            <a:r>
              <a:rPr lang="en-US" altLang="ko-KR" dirty="0">
                <a:sym typeface="Wingdings" panose="05000000000000000000" pitchFamily="2" charset="2"/>
              </a:rPr>
              <a:t>→ </a:t>
            </a:r>
            <a:r>
              <a:rPr lang="en-US" altLang="ko-KR" dirty="0" err="1">
                <a:sym typeface="Wingdings" panose="05000000000000000000" pitchFamily="2" charset="2"/>
              </a:rPr>
              <a:t>fgets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10ABCF-D1E6-546D-88E8-A0D7157667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855A7F-72A7-F6A5-BF8A-534938C04F8B}"/>
              </a:ext>
            </a:extLst>
          </p:cNvPr>
          <p:cNvSpPr txBox="1"/>
          <p:nvPr/>
        </p:nvSpPr>
        <p:spPr>
          <a:xfrm>
            <a:off x="539750" y="1412776"/>
            <a:ext cx="6984578" cy="120032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ch;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&amp;n);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"%c"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&amp;ch); 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버퍼의 </a:t>
            </a:r>
            <a:r>
              <a:rPr lang="en-US" altLang="ko-KR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ko-KR" altLang="en-US" sz="2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이 입력됨</a:t>
            </a:r>
            <a:endParaRPr lang="ko-KR" altLang="en-US" b="1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54428-AC52-0563-8561-3A6AB9710DEF}"/>
              </a:ext>
            </a:extLst>
          </p:cNvPr>
          <p:cNvSpPr txBox="1"/>
          <p:nvPr/>
        </p:nvSpPr>
        <p:spPr>
          <a:xfrm>
            <a:off x="539750" y="4014063"/>
            <a:ext cx="4572000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%c"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&amp;ch);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0036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3EBE-3790-C7E9-EA22-5A63FEE7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936E6-9CB8-8DCA-C0A0-04F9031A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6.1.6 </a:t>
            </a:r>
            <a:r>
              <a:rPr lang="ko-KR" altLang="en-US" dirty="0"/>
              <a:t>문자열 입력 </a:t>
            </a:r>
            <a:r>
              <a:rPr lang="en-US" altLang="ko-KR" dirty="0"/>
              <a:t>(%s)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3FE86-9B80-1ADC-9EF1-BDE31256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scanf</a:t>
            </a:r>
          </a:p>
          <a:p>
            <a:pPr lvl="1"/>
            <a:r>
              <a:rPr lang="ko-KR" altLang="en-US" dirty="0"/>
              <a:t>문자열</a:t>
            </a:r>
            <a:r>
              <a:rPr lang="en-US" altLang="ko-KR" dirty="0"/>
              <a:t>: %s </a:t>
            </a:r>
            <a:r>
              <a:rPr lang="ko-KR" altLang="en-US" dirty="0"/>
              <a:t>형식 지정자</a:t>
            </a:r>
            <a:endParaRPr lang="en-US" altLang="ko-KR" dirty="0"/>
          </a:p>
          <a:p>
            <a:pPr lvl="1"/>
            <a:r>
              <a:rPr lang="ko-KR" altLang="en-US" dirty="0"/>
              <a:t>공백 전까지 문자열 저장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E74F2E-08F3-95DE-684F-17B690618A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1F272-2047-0034-5CEA-256581EE3574}"/>
              </a:ext>
            </a:extLst>
          </p:cNvPr>
          <p:cNvSpPr txBox="1"/>
          <p:nvPr/>
        </p:nvSpPr>
        <p:spPr>
          <a:xfrm>
            <a:off x="827584" y="2204864"/>
            <a:ext cx="6984776" cy="70788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};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"%s"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name);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D442F-DAAD-1BA9-AC96-8BD7E93AE652}"/>
              </a:ext>
            </a:extLst>
          </p:cNvPr>
          <p:cNvSpPr txBox="1"/>
          <p:nvPr/>
        </p:nvSpPr>
        <p:spPr>
          <a:xfrm>
            <a:off x="827584" y="3140968"/>
            <a:ext cx="6984776" cy="317009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message[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};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메시지를 입력하세요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"%s"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message);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메시지 출력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message);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91224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FFA64-6B2E-8EBA-7BC2-F5F984B2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C5508-466F-B920-CA55-DF7C6F4F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6.1.6 </a:t>
            </a:r>
            <a:r>
              <a:rPr lang="ko-KR" altLang="en-US" dirty="0"/>
              <a:t>문자열 입력 </a:t>
            </a:r>
            <a:r>
              <a:rPr lang="en-US" altLang="ko-KR" dirty="0"/>
              <a:t>(%s)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fgets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4199B4-9E78-F3ED-DDC1-894A89957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fgets</a:t>
            </a:r>
            <a:endParaRPr lang="en-US" altLang="ko-KR" dirty="0"/>
          </a:p>
          <a:p>
            <a:pPr lvl="1"/>
            <a:r>
              <a:rPr lang="ko-KR" altLang="en-US" dirty="0"/>
              <a:t>길이만큼 입력</a:t>
            </a:r>
            <a:endParaRPr lang="en-US" altLang="ko-KR" dirty="0"/>
          </a:p>
          <a:p>
            <a:pPr lvl="1"/>
            <a:r>
              <a:rPr lang="ko-KR" altLang="en-US" dirty="0">
                <a:latin typeface="Consolas" panose="020B0609020204030204" pitchFamily="49" charset="0"/>
              </a:rPr>
              <a:t>공백 포함 </a:t>
            </a:r>
            <a:r>
              <a:rPr lang="en-US" altLang="ko-KR" dirty="0">
                <a:latin typeface="Consolas" panose="020B0609020204030204" pitchFamily="49" charset="0"/>
              </a:rPr>
              <a:t>'</a:t>
            </a:r>
            <a:r>
              <a:rPr lang="en-US" altLang="ko-KR" b="0" i="1" dirty="0">
                <a:latin typeface="Consolas" panose="020B0609020204030204" pitchFamily="49" charset="0"/>
              </a:rPr>
              <a:t>\n</a:t>
            </a:r>
            <a:r>
              <a:rPr lang="en-US" altLang="ko-KR" dirty="0">
                <a:latin typeface="Consolas" panose="020B0609020204030204" pitchFamily="49" charset="0"/>
              </a:rPr>
              <a:t>' </a:t>
            </a:r>
            <a:r>
              <a:rPr lang="ko-KR" altLang="en-US" dirty="0">
                <a:latin typeface="Consolas" panose="020B0609020204030204" pitchFamily="49" charset="0"/>
              </a:rPr>
              <a:t>까지 저장</a:t>
            </a:r>
            <a:r>
              <a:rPr lang="en-US" altLang="ko-KR" dirty="0">
                <a:latin typeface="+mn-ea"/>
              </a:rPr>
              <a:t>. </a:t>
            </a:r>
            <a:r>
              <a:rPr lang="ko-KR" altLang="en-US" dirty="0">
                <a:latin typeface="+mn-ea"/>
              </a:rPr>
              <a:t>제거 필요</a:t>
            </a:r>
            <a:endParaRPr lang="en-US" altLang="ko-KR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1AE661-07B0-439A-E8AC-031269A2DE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E7155-17A9-49D1-2FC5-447472ADCEE6}"/>
              </a:ext>
            </a:extLst>
          </p:cNvPr>
          <p:cNvSpPr txBox="1"/>
          <p:nvPr/>
        </p:nvSpPr>
        <p:spPr>
          <a:xfrm>
            <a:off x="683568" y="2276872"/>
            <a:ext cx="5544616" cy="378565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ko-KR" sz="2000" b="1" dirty="0">
              <a:effectLst/>
            </a:endParaRPr>
          </a:p>
          <a:p>
            <a:pPr>
              <a:buNone/>
            </a:pP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string.h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name[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]={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,};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(name,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(name),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 끝의 </a:t>
            </a:r>
            <a:r>
              <a:rPr lang="en-US" altLang="ko-KR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'\n' </a:t>
            </a:r>
            <a:r>
              <a:rPr lang="ko-KR" altLang="en-US" sz="20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제거</a:t>
            </a:r>
            <a:b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name[</a:t>
            </a:r>
            <a:r>
              <a:rPr lang="en-US" altLang="ko-KR" sz="20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strcspn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(name,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)] =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"name: %s\n"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name);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0532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D8C7-9720-F709-E611-CDF054B9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2871F-F938-AF74-D9CB-31A10167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6.1.7 scanf </a:t>
            </a:r>
            <a:r>
              <a:rPr lang="ko-KR" altLang="en-US" dirty="0"/>
              <a:t>반환값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04042A-2ED9-DA37-2F10-60DC7855B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 성공한 항목 개수 반환</a:t>
            </a:r>
            <a:endParaRPr lang="en-US" altLang="ko-KR" dirty="0"/>
          </a:p>
          <a:p>
            <a:pPr lvl="1"/>
            <a:r>
              <a:rPr lang="en-US" altLang="ko-KR" dirty="0"/>
              <a:t>Ex) "%d %d %d" → </a:t>
            </a:r>
            <a:r>
              <a:rPr lang="ko-KR" altLang="en-US" dirty="0"/>
              <a:t>모두 성공 시 </a:t>
            </a:r>
            <a:r>
              <a:rPr lang="en-US" altLang="ko-KR" dirty="0"/>
              <a:t>3 </a:t>
            </a:r>
            <a:r>
              <a:rPr lang="ko-KR" altLang="en-US" dirty="0"/>
              <a:t>반환</a:t>
            </a:r>
            <a:endParaRPr lang="en-US" altLang="ko-KR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1F03A5-9F3B-8C33-C843-1750345460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6BD9C-A1E2-9E5D-EF43-594C12BE1CF9}"/>
              </a:ext>
            </a:extLst>
          </p:cNvPr>
          <p:cNvSpPr txBox="1"/>
          <p:nvPr/>
        </p:nvSpPr>
        <p:spPr>
          <a:xfrm>
            <a:off x="611560" y="1844824"/>
            <a:ext cx="7704856" cy="39703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-999999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scanf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실패하면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-999999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값이 유지됨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ret =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&amp;n);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"scanf 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%d, 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읽은 값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ret, n);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n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-999999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scanf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실패하면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-999999 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값이 유지됨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ret =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&amp;n);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"scanf 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결과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%d, 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읽은 값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ret, n);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00056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C2540-FC90-F567-A84F-5AF92267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39D25-0C26-F48D-3067-7F7F4126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6.1.8 </a:t>
            </a:r>
            <a:r>
              <a:rPr lang="ko-KR" altLang="en-US" dirty="0"/>
              <a:t>입력 관련 종합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D1B03D-F240-21D0-BC66-68911D3CE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2E4DB4-CBB0-8810-878F-812A67FDB9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AB8BF-2B7B-6AB1-8504-FDAC55B30F27}"/>
              </a:ext>
            </a:extLst>
          </p:cNvPr>
          <p:cNvSpPr txBox="1"/>
          <p:nvPr/>
        </p:nvSpPr>
        <p:spPr>
          <a:xfrm>
            <a:off x="539750" y="780673"/>
            <a:ext cx="7848674" cy="526297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문자열을 안 배웠지만 미리 알아 둔다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player_name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]= {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};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player_level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-999999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player_hp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-999999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player_gold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-999999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플레이어의 이름을 입력하세요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"%s"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player_name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플레이어의 레벨을 입력하세요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player_level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플레이어의 체력을 입력하세요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player_hp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플레이어의 골드를 입력하세요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</a:t>
            </a:r>
            <a:r>
              <a:rPr lang="en-US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lld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player_gold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en-US" altLang="ko-KR" sz="1400" b="1" i="0" u="none" strike="noStrike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"========================\n"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플레이어 정보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이름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%s\n"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player_name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레벨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player_level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체력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%d\n"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player_hp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골드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%</a:t>
            </a:r>
            <a:r>
              <a:rPr lang="en-US" altLang="ko-KR" sz="14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lld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player_gold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19662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EA58-8EA4-52A3-FC22-926A4F80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7F629-AB6C-7A52-4FAA-CD73E329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조건문</a:t>
            </a:r>
            <a:r>
              <a:rPr lang="en-US" altLang="ko-KR" dirty="0"/>
              <a:t>(Condition Statement)</a:t>
            </a:r>
            <a:r>
              <a:rPr lang="ko-KR" altLang="en-US" dirty="0"/>
              <a:t> </a:t>
            </a:r>
            <a:r>
              <a:rPr lang="en-US" altLang="ko-KR" dirty="0"/>
              <a:t>if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BE2690-AD1F-6572-93DC-36EEB4C2F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문</a:t>
            </a:r>
            <a:r>
              <a:rPr lang="en-US" altLang="ko-KR" dirty="0"/>
              <a:t>: </a:t>
            </a:r>
            <a:r>
              <a:rPr lang="ko-KR" altLang="en-US" dirty="0"/>
              <a:t>조건이 참일 때 실행되는 </a:t>
            </a:r>
            <a:r>
              <a:rPr lang="ko-KR" altLang="en-US" dirty="0" err="1"/>
              <a:t>분기문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1485EE-BB87-1A06-60C8-4F7A9A91E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4D6C6-CC6F-6AE7-2C1B-32ECD3D5C63A}"/>
              </a:ext>
            </a:extLst>
          </p:cNvPr>
          <p:cNvSpPr txBox="1"/>
          <p:nvPr/>
        </p:nvSpPr>
        <p:spPr>
          <a:xfrm>
            <a:off x="5210857" y="2183940"/>
            <a:ext cx="1809415" cy="32316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코드 블록</a:t>
            </a:r>
            <a:endParaRPr lang="en-US" altLang="ko-KR" sz="1200" b="1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DEDAB-5622-D73B-2024-A2764317A475}"/>
              </a:ext>
            </a:extLst>
          </p:cNvPr>
          <p:cNvSpPr txBox="1"/>
          <p:nvPr/>
        </p:nvSpPr>
        <p:spPr>
          <a:xfrm>
            <a:off x="1508453" y="2204864"/>
            <a:ext cx="1335355" cy="175432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코드 블록</a:t>
            </a:r>
            <a:endParaRPr lang="en-US" altLang="ko-KR" sz="1200" b="1" i="1" dirty="0">
              <a:solidFill>
                <a:srgbClr val="A0A1A7"/>
              </a:solidFill>
              <a:latin typeface="Consolas" panose="020B0609020204030204" pitchFamily="49" charset="0"/>
            </a:endParaRPr>
          </a:p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23304D-9CA4-28DE-2818-5F8D7D0CEC29}"/>
              </a:ext>
            </a:extLst>
          </p:cNvPr>
          <p:cNvSpPr txBox="1"/>
          <p:nvPr/>
        </p:nvSpPr>
        <p:spPr>
          <a:xfrm>
            <a:off x="96919" y="2205297"/>
            <a:ext cx="1400949" cy="101566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실행문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줄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endParaRPr lang="ko-KR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33250-CA92-41FF-9DA7-2E9BE9E72AB0}"/>
              </a:ext>
            </a:extLst>
          </p:cNvPr>
          <p:cNvSpPr txBox="1"/>
          <p:nvPr/>
        </p:nvSpPr>
        <p:spPr>
          <a:xfrm>
            <a:off x="3122625" y="2193284"/>
            <a:ext cx="1809415" cy="175432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실행문 </a:t>
            </a:r>
            <a:r>
              <a:rPr lang="en-US" altLang="ko-KR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2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줄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13" name="순서도: 판단 12">
            <a:extLst>
              <a:ext uri="{FF2B5EF4-FFF2-40B4-BE49-F238E27FC236}">
                <a16:creationId xmlns:a16="http://schemas.microsoft.com/office/drawing/2014/main" id="{FCE806CC-848D-AD7B-862D-BFED48444CF8}"/>
              </a:ext>
            </a:extLst>
          </p:cNvPr>
          <p:cNvSpPr/>
          <p:nvPr/>
        </p:nvSpPr>
        <p:spPr bwMode="auto">
          <a:xfrm>
            <a:off x="492752" y="1313334"/>
            <a:ext cx="2006071" cy="648072"/>
          </a:xfrm>
          <a:prstGeom prst="flowChartDecision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A98798-D37A-13FA-8AE5-EE66B715017D}"/>
              </a:ext>
            </a:extLst>
          </p:cNvPr>
          <p:cNvSpPr txBox="1"/>
          <p:nvPr/>
        </p:nvSpPr>
        <p:spPr>
          <a:xfrm>
            <a:off x="7064011" y="2183940"/>
            <a:ext cx="1930567" cy="433965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 </a:t>
            </a:r>
            <a:r>
              <a:rPr lang="ko-KR" altLang="en-US" sz="1200" b="1" i="1" dirty="0">
                <a:solidFill>
                  <a:srgbClr val="A0A1A7"/>
                </a:solidFill>
                <a:latin typeface="Consolas" panose="020B0609020204030204" pitchFamily="49" charset="0"/>
              </a:rPr>
              <a:t>코드 블록</a:t>
            </a:r>
            <a:endParaRPr lang="en-US" altLang="ko-KR" sz="1200" b="1" i="0" u="none" strike="noStrike" dirty="0">
              <a:solidFill>
                <a:srgbClr val="A626A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조건식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en-US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704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3CAC9-BD2F-D17C-3D85-33AD2EEE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6.2.3 </a:t>
            </a:r>
            <a:r>
              <a:rPr lang="ko-KR" altLang="en-US" dirty="0"/>
              <a:t>조건식의 평가 규칙과 암시적 조건 검사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CC591-22E4-E591-B0CB-120C80330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조건식의 평가 규칙</a:t>
            </a:r>
            <a:endParaRPr lang="en-US" altLang="ko-KR" dirty="0"/>
          </a:p>
          <a:p>
            <a:pPr lvl="1"/>
            <a:r>
              <a:rPr lang="en-US" altLang="ko-KR" dirty="0"/>
              <a:t>0</a:t>
            </a:r>
            <a:r>
              <a:rPr lang="ko-KR" altLang="en-US" dirty="0"/>
              <a:t>은 거짓</a:t>
            </a:r>
          </a:p>
          <a:p>
            <a:pPr lvl="1"/>
            <a:r>
              <a:rPr lang="en-US" altLang="ko-KR" dirty="0"/>
              <a:t>0</a:t>
            </a:r>
            <a:r>
              <a:rPr lang="ko-KR" altLang="en-US" dirty="0"/>
              <a:t>이 아닌 모든 값은 참</a:t>
            </a:r>
            <a:r>
              <a:rPr lang="en-US" altLang="ko-KR" dirty="0"/>
              <a:t>, -1</a:t>
            </a:r>
            <a:r>
              <a:rPr lang="ko-KR" altLang="en-US" dirty="0"/>
              <a:t>도 참</a:t>
            </a:r>
          </a:p>
          <a:p>
            <a:pPr lvl="1"/>
            <a:r>
              <a:rPr lang="ko-KR" altLang="en-US" dirty="0"/>
              <a:t>포인터 </a:t>
            </a:r>
            <a:r>
              <a:rPr lang="en-US" altLang="ko-KR" dirty="0">
                <a:solidFill>
                  <a:srgbClr val="C00000"/>
                </a:solidFill>
              </a:rPr>
              <a:t>NULL</a:t>
            </a:r>
            <a:r>
              <a:rPr lang="ko-KR" altLang="en-US" dirty="0"/>
              <a:t>은 거짓</a:t>
            </a:r>
          </a:p>
          <a:p>
            <a:pPr lvl="1"/>
            <a:r>
              <a:rPr lang="ko-KR" altLang="en-US" dirty="0"/>
              <a:t>널 문자 </a:t>
            </a:r>
            <a:r>
              <a:rPr lang="en-US" altLang="ko-KR" dirty="0">
                <a:solidFill>
                  <a:srgbClr val="FFC000"/>
                </a:solidFill>
                <a:latin typeface="Consolas" panose="020B0609020204030204" pitchFamily="49" charset="0"/>
              </a:rPr>
              <a:t>'\0'</a:t>
            </a:r>
            <a:r>
              <a:rPr lang="en-US" altLang="ko-KR" dirty="0"/>
              <a:t> </a:t>
            </a:r>
            <a:r>
              <a:rPr lang="ko-KR" altLang="en-US" dirty="0"/>
              <a:t>은 거짓</a:t>
            </a:r>
          </a:p>
          <a:p>
            <a:pPr lvl="1"/>
            <a:r>
              <a:rPr lang="ko-KR" altLang="en-US" dirty="0"/>
              <a:t>연산 결과가 참</a:t>
            </a:r>
            <a:r>
              <a:rPr lang="en-US" altLang="ko-KR" dirty="0"/>
              <a:t>/</a:t>
            </a:r>
            <a:r>
              <a:rPr lang="ko-KR" altLang="en-US" dirty="0"/>
              <a:t>거짓으로 해석 가능한 식이면 모두 사용 가능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A4DAB1-BD89-C21C-56C8-5229AAA802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1151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AAB5D-B222-A30C-E195-F3362AF6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4F9DB-24A1-51DD-AF75-2D7B1B38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6.2.3 </a:t>
            </a:r>
            <a:r>
              <a:rPr lang="ko-KR" altLang="en-US" dirty="0"/>
              <a:t>조건식의 평가 규칙과 암시적 조건 검사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DA1DB-0D7B-39E2-114A-CDFFAA81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암시적 조건 검사</a:t>
            </a:r>
            <a:endParaRPr lang="en-US" altLang="ko-KR" dirty="0"/>
          </a:p>
          <a:p>
            <a:pPr lvl="1"/>
            <a:r>
              <a:rPr lang="ko-KR" altLang="en-US" dirty="0"/>
              <a:t>값을 직접 비교하지 않고 참</a:t>
            </a:r>
            <a:r>
              <a:rPr lang="en-US" altLang="ko-KR" dirty="0"/>
              <a:t>/</a:t>
            </a:r>
            <a:r>
              <a:rPr lang="ko-KR" altLang="en-US" dirty="0"/>
              <a:t>거짓으로 해석해서 판단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D1BE1F-DBFF-9DA2-7A3F-314B75948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0B3285-4F66-88B2-C982-BEAE1D7DEC4B}"/>
              </a:ext>
            </a:extLst>
          </p:cNvPr>
          <p:cNvSpPr txBox="1"/>
          <p:nvPr/>
        </p:nvSpPr>
        <p:spPr>
          <a:xfrm>
            <a:off x="683568" y="2268398"/>
            <a:ext cx="2592288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1" dirty="0">
                <a:solidFill>
                  <a:srgbClr val="986801"/>
                </a:solidFill>
                <a:latin typeface="Consolas" panose="020B0609020204030204" pitchFamily="49" charset="0"/>
              </a:rPr>
              <a:t>0 !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= n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F5B926-47E6-859A-8FF8-F19248149EED}"/>
              </a:ext>
            </a:extLst>
          </p:cNvPr>
          <p:cNvSpPr txBox="1"/>
          <p:nvPr/>
        </p:nvSpPr>
        <p:spPr>
          <a:xfrm>
            <a:off x="683568" y="2852936"/>
            <a:ext cx="2592288" cy="267765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숫자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1" dirty="0">
                <a:solidFill>
                  <a:srgbClr val="986801"/>
                </a:solidFill>
                <a:latin typeface="Consolas" panose="020B0609020204030204" pitchFamily="49" charset="0"/>
              </a:rPr>
              <a:t>0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n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1" dirty="0">
                <a:solidFill>
                  <a:srgbClr val="50A14F"/>
                </a:solidFill>
                <a:latin typeface="Consolas" panose="020B0609020204030204" pitchFamily="49" charset="0"/>
              </a:rPr>
              <a:t>'\0'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a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포인터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1" dirty="0">
                <a:solidFill>
                  <a:srgbClr val="0184BB"/>
                </a:solidFill>
                <a:latin typeface="Consolas" panose="020B0609020204030204" pitchFamily="49" charset="0"/>
              </a:rPr>
              <a:t>NULL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1" dirty="0">
                <a:solidFill>
                  <a:srgbClr val="383A42"/>
                </a:solidFill>
                <a:latin typeface="Consolas" panose="020B0609020204030204" pitchFamily="49" charset="0"/>
              </a:rPr>
              <a:t> p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B37910-ABA5-1D54-2077-43D7E25092F1}"/>
              </a:ext>
            </a:extLst>
          </p:cNvPr>
          <p:cNvSpPr txBox="1"/>
          <p:nvPr/>
        </p:nvSpPr>
        <p:spPr>
          <a:xfrm>
            <a:off x="3419871" y="2852936"/>
            <a:ext cx="4584083" cy="267765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숫자</a:t>
            </a:r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문자</a:t>
            </a:r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, bool,</a:t>
            </a:r>
          </a:p>
          <a:p>
            <a:r>
              <a:rPr lang="en-US" altLang="ko-KR" b="1" i="1" dirty="0">
                <a:solidFill>
                  <a:srgbClr val="A0A1A7"/>
                </a:solidFill>
                <a:latin typeface="Consolas" panose="020B0609020204030204" pitchFamily="49" charset="0"/>
              </a:rPr>
              <a:t>//</a:t>
            </a:r>
            <a:r>
              <a:rPr lang="en-US" altLang="ko-KR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포인터 구분 없이 사용</a:t>
            </a:r>
            <a:b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(!n)</a:t>
            </a:r>
          </a:p>
          <a:p>
            <a:endParaRPr lang="en-US" altLang="ko-KR" b="1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endParaRPr lang="en-US" altLang="ko-KR" b="1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endParaRPr lang="en-US" altLang="ko-KR" b="1" dirty="0">
              <a:solidFill>
                <a:srgbClr val="383A42"/>
              </a:solidFill>
              <a:latin typeface="Consolas" panose="020B0609020204030204" pitchFamily="49" charset="0"/>
            </a:endParaRPr>
          </a:p>
          <a:p>
            <a:endParaRPr lang="ko-KR" alt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0ACE56-4FE1-9896-F9CB-91BC2E3420BA}"/>
              </a:ext>
            </a:extLst>
          </p:cNvPr>
          <p:cNvSpPr txBox="1"/>
          <p:nvPr/>
        </p:nvSpPr>
        <p:spPr>
          <a:xfrm>
            <a:off x="3431954" y="2262426"/>
            <a:ext cx="4572000" cy="46166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8139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B2A9-3069-5952-822B-DD28BA28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D9AFA-AC14-F41B-796D-1358C7FC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6.2.4 </a:t>
            </a:r>
            <a:r>
              <a:rPr lang="ko-KR" altLang="en-US" dirty="0"/>
              <a:t>조건문 사용 시 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AC33B4-D43A-01C9-C3B9-05E889E62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초기화 안 한 지역 변수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비교 연산자</a:t>
            </a:r>
            <a:r>
              <a:rPr lang="en-US" altLang="ko-KR" sz="2400" dirty="0"/>
              <a:t>(==) </a:t>
            </a:r>
            <a:r>
              <a:rPr lang="ko-KR" altLang="en-US" sz="2400" dirty="0"/>
              <a:t>대신 대입 연산자</a:t>
            </a:r>
            <a:r>
              <a:rPr lang="en-US" altLang="ko-KR" sz="2400" dirty="0"/>
              <a:t>(=) </a:t>
            </a:r>
            <a:r>
              <a:rPr lang="ko-KR" altLang="en-US" sz="2400" dirty="0"/>
              <a:t>사용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 else </a:t>
            </a:r>
            <a:r>
              <a:rPr lang="ko-KR" altLang="en-US" sz="2400" dirty="0"/>
              <a:t>연결 문제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E59C3A-0225-53FA-6CAA-60A25D24DB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B8DAA-9023-8E4F-AC26-D4C53E0DB07A}"/>
              </a:ext>
            </a:extLst>
          </p:cNvPr>
          <p:cNvSpPr txBox="1"/>
          <p:nvPr/>
        </p:nvSpPr>
        <p:spPr>
          <a:xfrm>
            <a:off x="508759" y="1196752"/>
            <a:ext cx="3600202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highlight>
                  <a:srgbClr val="FFFFCC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highlight>
                  <a:srgbClr val="FFFFCC"/>
                </a:highlight>
                <a:latin typeface="Consolas" panose="020B0609020204030204" pitchFamily="49" charset="0"/>
              </a:rPr>
              <a:t> n;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초기화되지 않음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 &gt;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양수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41F27-11B4-0333-A316-04975641DAB2}"/>
              </a:ext>
            </a:extLst>
          </p:cNvPr>
          <p:cNvSpPr txBox="1"/>
          <p:nvPr/>
        </p:nvSpPr>
        <p:spPr>
          <a:xfrm>
            <a:off x="4204931" y="1196752"/>
            <a:ext cx="3679437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highlight>
                  <a:srgbClr val="FFFFCC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highlight>
                  <a:srgbClr val="FFFFCC"/>
                </a:highlight>
                <a:latin typeface="Consolas" panose="020B0609020204030204" pitchFamily="49" charset="0"/>
              </a:rPr>
              <a:t> n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highlight>
                  <a:srgbClr val="FFFFCC"/>
                </a:highlight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highlight>
                  <a:srgbClr val="FFFFCC"/>
                </a:highlight>
                <a:latin typeface="Consolas" panose="020B0609020204030204" pitchFamily="49" charset="0"/>
              </a:rPr>
              <a:t>;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반드시 초기화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 &gt;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양수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099A23-C007-7786-280F-A32D72C31F00}"/>
              </a:ext>
            </a:extLst>
          </p:cNvPr>
          <p:cNvSpPr txBox="1"/>
          <p:nvPr/>
        </p:nvSpPr>
        <p:spPr>
          <a:xfrm>
            <a:off x="508759" y="3408094"/>
            <a:ext cx="1542961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4BBA52-9D83-539F-16A1-982C9A577DA9}"/>
              </a:ext>
            </a:extLst>
          </p:cNvPr>
          <p:cNvSpPr txBox="1"/>
          <p:nvPr/>
        </p:nvSpPr>
        <p:spPr>
          <a:xfrm>
            <a:off x="2236753" y="3406205"/>
            <a:ext cx="1542961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 n)</a:t>
            </a:r>
            <a:endParaRPr lang="ko-KR" altLang="en-US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BA19F2-BB05-3E9D-7382-3BC24AACDEA5}"/>
              </a:ext>
            </a:extLst>
          </p:cNvPr>
          <p:cNvSpPr txBox="1"/>
          <p:nvPr/>
        </p:nvSpPr>
        <p:spPr>
          <a:xfrm>
            <a:off x="508759" y="4634551"/>
            <a:ext cx="3600202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(hp &gt;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attackState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공격 상태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죽음 상태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9EDD0-6A6D-926C-1C1B-09491106E6F5}"/>
              </a:ext>
            </a:extLst>
          </p:cNvPr>
          <p:cNvSpPr txBox="1"/>
          <p:nvPr/>
        </p:nvSpPr>
        <p:spPr>
          <a:xfrm>
            <a:off x="4274438" y="4634551"/>
            <a:ext cx="3600202" cy="181588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(hp &gt;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attackState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공격 상태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죽음 상태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913597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FD08D-369D-68E7-0839-3C7BA9CF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19E0-D703-031D-37A6-7D5BD781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6.2.4 </a:t>
            </a:r>
            <a:r>
              <a:rPr lang="ko-KR" altLang="en-US" dirty="0"/>
              <a:t>조건문 사용 시 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A76E96-89A8-A3C4-C3A6-8BC36C2A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조건 순서 오류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범위 비교 오류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복잡한 조건식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C8FEB3-8047-E1F2-E968-675F7521C8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6A70F-0EE1-3303-5E8F-73E6FB8E7385}"/>
              </a:ext>
            </a:extLst>
          </p:cNvPr>
          <p:cNvSpPr txBox="1"/>
          <p:nvPr/>
        </p:nvSpPr>
        <p:spPr>
          <a:xfrm>
            <a:off x="539552" y="1196752"/>
            <a:ext cx="4572000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절대 실행 안됨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"B\n"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F7E14-728F-AE78-B524-DF8D6C0CC2D3}"/>
              </a:ext>
            </a:extLst>
          </p:cNvPr>
          <p:cNvSpPr txBox="1"/>
          <p:nvPr/>
        </p:nvSpPr>
        <p:spPr>
          <a:xfrm>
            <a:off x="5543996" y="1196752"/>
            <a:ext cx="3060254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"B\n"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A64A65-A452-D378-CEB7-5F1B0390D814}"/>
              </a:ext>
            </a:extLst>
          </p:cNvPr>
          <p:cNvSpPr txBox="1"/>
          <p:nvPr/>
        </p:nvSpPr>
        <p:spPr>
          <a:xfrm>
            <a:off x="539552" y="4732871"/>
            <a:ext cx="5004246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(a &gt;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b &lt;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|| c ==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!(d !=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</a:t>
            </a:r>
            <a:endParaRPr lang="ko-KR" altLang="en-US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1BE12F-3E43-665E-E600-D0D602080DED}"/>
              </a:ext>
            </a:extLst>
          </p:cNvPr>
          <p:cNvSpPr txBox="1"/>
          <p:nvPr/>
        </p:nvSpPr>
        <p:spPr>
          <a:xfrm>
            <a:off x="539552" y="5072972"/>
            <a:ext cx="5004246" cy="10772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validRange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(a &gt;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b &lt;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isSpecial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= (c ==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d ==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validRange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isSpecial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81FA32-F1F9-43DA-2BBB-8FAB3A56ACBA}"/>
              </a:ext>
            </a:extLst>
          </p:cNvPr>
          <p:cNvSpPr txBox="1"/>
          <p:nvPr/>
        </p:nvSpPr>
        <p:spPr>
          <a:xfrm>
            <a:off x="539552" y="3405798"/>
            <a:ext cx="5004246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|| score &lt;=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항상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true</a:t>
            </a:r>
            <a:endParaRPr lang="ko-KR" altLang="en-US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1AF162-C2EB-38C2-CA0F-7367DFF77EEE}"/>
              </a:ext>
            </a:extLst>
          </p:cNvPr>
          <p:cNvSpPr txBox="1"/>
          <p:nvPr/>
        </p:nvSpPr>
        <p:spPr>
          <a:xfrm>
            <a:off x="539552" y="3744352"/>
            <a:ext cx="5004246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(score &gt;=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&amp;&amp; score &lt;=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11904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D3DA-C944-F76F-0374-A367F530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34532-35D8-1313-78F3-9AD0B7E4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6.2.4 </a:t>
            </a:r>
            <a:r>
              <a:rPr lang="ko-KR" altLang="en-US" dirty="0"/>
              <a:t>조건문 사용 시 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A37C63-AB09-77B0-DDDB-7FBB5F20D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비 효율 중복 조건</a:t>
            </a:r>
            <a:endParaRPr lang="en-US" altLang="ko-KR" sz="2400" dirty="0"/>
          </a:p>
          <a:p>
            <a:pPr lvl="3"/>
            <a:endParaRPr lang="en-US" altLang="ko-KR" sz="1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부정 조건</a:t>
            </a:r>
            <a:r>
              <a:rPr lang="en-US" altLang="ko-KR" sz="2400" dirty="0"/>
              <a:t>(!) </a:t>
            </a:r>
            <a:r>
              <a:rPr lang="ko-KR" altLang="en-US" sz="2400" dirty="0"/>
              <a:t>지나치게 남용 오류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중첩이 깊은 조건문 </a:t>
            </a:r>
            <a:r>
              <a:rPr lang="en-US" altLang="ko-KR" sz="2400" dirty="0">
                <a:sym typeface="Wingdings" panose="05000000000000000000" pitchFamily="2" charset="2"/>
              </a:rPr>
              <a:t>→ </a:t>
            </a:r>
            <a:r>
              <a:rPr lang="en-US" altLang="ko-KR" sz="2400" dirty="0"/>
              <a:t>early return</a:t>
            </a:r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312E7A-7D78-BF77-397B-14E4228FB3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80C68-C457-FA8C-9A77-04816D8BD254}"/>
              </a:ext>
            </a:extLst>
          </p:cNvPr>
          <p:cNvSpPr txBox="1"/>
          <p:nvPr/>
        </p:nvSpPr>
        <p:spPr>
          <a:xfrm>
            <a:off x="539552" y="1146309"/>
            <a:ext cx="4572000" cy="138499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 &gt;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"10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보다 큼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 &gt;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"5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보다 큼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 &gt;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중복 검사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"???\n"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F04A0-47DD-920D-8B95-22F46C31403A}"/>
              </a:ext>
            </a:extLst>
          </p:cNvPr>
          <p:cNvSpPr txBox="1"/>
          <p:nvPr/>
        </p:nvSpPr>
        <p:spPr>
          <a:xfrm>
            <a:off x="539552" y="2996952"/>
            <a:ext cx="1872208" cy="73866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(!flag)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(!count)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(!p)</a:t>
            </a:r>
            <a:endParaRPr lang="ko-KR" alt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FC9B8-7EBC-DB30-2073-5A2DAD092F3E}"/>
              </a:ext>
            </a:extLst>
          </p:cNvPr>
          <p:cNvSpPr txBox="1"/>
          <p:nvPr/>
        </p:nvSpPr>
        <p:spPr>
          <a:xfrm>
            <a:off x="2446085" y="2996952"/>
            <a:ext cx="2665467" cy="73866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flag)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== count)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4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== p)</a:t>
            </a:r>
            <a:endParaRPr lang="ko-KR" altLang="en-US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C1205-1EAF-D7E4-7784-DEEDC37AD7B3}"/>
              </a:ext>
            </a:extLst>
          </p:cNvPr>
          <p:cNvSpPr txBox="1"/>
          <p:nvPr/>
        </p:nvSpPr>
        <p:spPr>
          <a:xfrm>
            <a:off x="2942253" y="4288605"/>
            <a:ext cx="2592288" cy="224676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 코드</a:t>
            </a:r>
            <a:b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E608E-8BDE-1F34-856E-33915F36B660}"/>
              </a:ext>
            </a:extLst>
          </p:cNvPr>
          <p:cNvSpPr txBox="1"/>
          <p:nvPr/>
        </p:nvSpPr>
        <p:spPr>
          <a:xfrm>
            <a:off x="5534541" y="3426831"/>
            <a:ext cx="3536280" cy="310854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함수가 </a:t>
            </a:r>
            <a:r>
              <a:rPr lang="en-US" altLang="ko-KR" sz="14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void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실패에 대한 약속된 값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실패에 대한 약속된 값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조건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실패에 대한 약속된 값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56946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B9741-5394-ECC6-5E95-57CC750D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switch-case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69EA77-D007-5EB1-4C14-344211A85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Switch-case</a:t>
            </a:r>
          </a:p>
          <a:p>
            <a:pPr lvl="1"/>
            <a:r>
              <a:rPr lang="ko-KR" altLang="en-US" sz="1800" dirty="0"/>
              <a:t>정수 값 기준 여러 경우 분기 처리</a:t>
            </a:r>
            <a:endParaRPr lang="en-US" altLang="ko-KR" sz="1800" dirty="0"/>
          </a:p>
          <a:p>
            <a:pPr lvl="1"/>
            <a:r>
              <a:rPr lang="ko-KR" altLang="en-US" sz="1800" dirty="0"/>
              <a:t>표현식 값 계산 후 일치 </a:t>
            </a:r>
            <a:r>
              <a:rPr lang="en-US" altLang="ko-KR" sz="1800" dirty="0"/>
              <a:t>case </a:t>
            </a:r>
            <a:r>
              <a:rPr lang="ko-KR" altLang="en-US" sz="1800" dirty="0"/>
              <a:t>레이블 실행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r>
              <a:rPr lang="ko-KR" altLang="en-US" sz="2000" dirty="0"/>
              <a:t>동작 방식</a:t>
            </a:r>
          </a:p>
          <a:p>
            <a:pPr lvl="1"/>
            <a:r>
              <a:rPr lang="ko-KR" altLang="en-US" sz="1800" dirty="0"/>
              <a:t>표현식 값 계산</a:t>
            </a:r>
          </a:p>
          <a:p>
            <a:pPr lvl="1"/>
            <a:r>
              <a:rPr lang="ko-KR" altLang="en-US" sz="1800" dirty="0"/>
              <a:t>일치 </a:t>
            </a:r>
            <a:r>
              <a:rPr lang="en-US" altLang="ko-KR" sz="1800" dirty="0"/>
              <a:t>case </a:t>
            </a:r>
            <a:r>
              <a:rPr lang="ko-KR" altLang="en-US" sz="1800" dirty="0"/>
              <a:t>실행</a:t>
            </a:r>
          </a:p>
          <a:p>
            <a:pPr lvl="1"/>
            <a:r>
              <a:rPr lang="en-US" altLang="ko-KR" sz="1800" dirty="0"/>
              <a:t>break → switch </a:t>
            </a:r>
            <a:r>
              <a:rPr lang="ko-KR" altLang="en-US" sz="1800" dirty="0"/>
              <a:t>종료</a:t>
            </a:r>
          </a:p>
          <a:p>
            <a:pPr lvl="1"/>
            <a:r>
              <a:rPr lang="en-US" altLang="ko-KR" sz="1800" dirty="0"/>
              <a:t>default → </a:t>
            </a:r>
            <a:r>
              <a:rPr lang="ko-KR" altLang="en-US" sz="1800" dirty="0"/>
              <a:t>일치 없음 처리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특징</a:t>
            </a:r>
          </a:p>
          <a:p>
            <a:pPr lvl="1"/>
            <a:r>
              <a:rPr lang="ko-KR" altLang="en-US" sz="1800" dirty="0"/>
              <a:t>정수형</a:t>
            </a:r>
            <a:r>
              <a:rPr lang="en-US" altLang="ko-KR" sz="1800" dirty="0"/>
              <a:t>(int, char, enum) </a:t>
            </a:r>
            <a:r>
              <a:rPr lang="ko-KR" altLang="en-US" sz="1800" dirty="0"/>
              <a:t>사용</a:t>
            </a:r>
          </a:p>
          <a:p>
            <a:pPr lvl="1"/>
            <a:r>
              <a:rPr lang="en-US" altLang="ko-KR" sz="1800" dirty="0"/>
              <a:t>case </a:t>
            </a:r>
            <a:r>
              <a:rPr lang="ko-KR" altLang="en-US" sz="1800" dirty="0"/>
              <a:t>값 상수만 가능</a:t>
            </a:r>
          </a:p>
          <a:p>
            <a:pPr lvl="1"/>
            <a:r>
              <a:rPr lang="en-US" altLang="ko-KR" sz="1800" dirty="0"/>
              <a:t>break </a:t>
            </a:r>
            <a:r>
              <a:rPr lang="ko-KR" altLang="en-US" sz="1800" dirty="0"/>
              <a:t>없으면 다음 </a:t>
            </a:r>
            <a:r>
              <a:rPr lang="en-US" altLang="ko-KR" sz="1800" dirty="0"/>
              <a:t>case </a:t>
            </a:r>
            <a:r>
              <a:rPr lang="ko-KR" altLang="en-US" sz="1800" dirty="0"/>
              <a:t>계속 실행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주의사항</a:t>
            </a:r>
          </a:p>
          <a:p>
            <a:pPr lvl="1"/>
            <a:r>
              <a:rPr lang="en-US" altLang="ko-KR" sz="1800" dirty="0"/>
              <a:t>break </a:t>
            </a:r>
            <a:r>
              <a:rPr lang="ko-KR" altLang="en-US" sz="1800" dirty="0"/>
              <a:t>누락 시 </a:t>
            </a:r>
            <a:r>
              <a:rPr lang="en-US" altLang="ko-KR" sz="1800" dirty="0"/>
              <a:t>fall-through </a:t>
            </a:r>
            <a:r>
              <a:rPr lang="ko-KR" altLang="en-US" sz="1800" dirty="0"/>
              <a:t>발생</a:t>
            </a:r>
          </a:p>
          <a:p>
            <a:pPr lvl="1"/>
            <a:r>
              <a:rPr lang="en-US" altLang="ko-KR" sz="1800" dirty="0"/>
              <a:t>default </a:t>
            </a:r>
            <a:r>
              <a:rPr lang="ko-KR" altLang="en-US" sz="1800" dirty="0"/>
              <a:t>생략 가능하지만 권장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6011E5-B61C-3DC0-CC24-BDFBADF728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460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BB73-151F-3B2F-1950-CBF12440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821F20-13CC-0C3E-9669-FA8E35A7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6.3.1 switch-case </a:t>
            </a:r>
            <a:r>
              <a:rPr lang="ko-KR" altLang="en-US" dirty="0"/>
              <a:t>기본 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8A09F1-4DFB-01BC-2B84-94F9949B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97C794-1258-DAD6-211D-BBE3296267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E0430-4CA7-4EAA-5715-55CE567011E9}"/>
              </a:ext>
            </a:extLst>
          </p:cNvPr>
          <p:cNvSpPr txBox="1"/>
          <p:nvPr/>
        </p:nvSpPr>
        <p:spPr>
          <a:xfrm>
            <a:off x="683568" y="692150"/>
            <a:ext cx="2820518" cy="452431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표현식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8169B-D484-6C1A-A9D0-8792FFC6D606}"/>
              </a:ext>
            </a:extLst>
          </p:cNvPr>
          <p:cNvSpPr txBox="1"/>
          <p:nvPr/>
        </p:nvSpPr>
        <p:spPr>
          <a:xfrm>
            <a:off x="3779912" y="692150"/>
            <a:ext cx="4176464" cy="575542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표현식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실행문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327564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876CA-B0DD-E664-403C-3C5C02A0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F75E8-E4EF-0780-0062-7BEB1445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6.3.2 switch-case </a:t>
            </a:r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77C66-ADCF-9877-8CA5-25DCCD705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870C97-D9F8-2ECD-8E8D-22A6E51B6D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449C7-C0A8-59F7-5D11-7BB5F453AC7C}"/>
              </a:ext>
            </a:extLst>
          </p:cNvPr>
          <p:cNvSpPr txBox="1"/>
          <p:nvPr/>
        </p:nvSpPr>
        <p:spPr>
          <a:xfrm>
            <a:off x="558096" y="629392"/>
            <a:ext cx="7345065" cy="590931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menu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메뉴를 선택하세요 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(1: 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시작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 2: 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플레이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 3: 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종료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): 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&amp;menu);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(menu)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게임을 시작합니다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게임을 플레이합니다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게임을 종료합니다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잘못된 입력입니다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95647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39A0-C7F2-4545-4CE7-A4DB25C2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A3D96-CDC6-A135-C4FB-7E822A86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6.3.3 fall-through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736190-F6E5-3BAB-E637-649D7C5F4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fall-through</a:t>
            </a:r>
          </a:p>
          <a:p>
            <a:pPr lvl="1"/>
            <a:r>
              <a:rPr lang="en-US" altLang="ko-KR" sz="2000" dirty="0"/>
              <a:t>break </a:t>
            </a:r>
            <a:r>
              <a:rPr lang="ko-KR" altLang="en-US" sz="2000" dirty="0"/>
              <a:t>생략 시 다음 </a:t>
            </a:r>
            <a:r>
              <a:rPr lang="en-US" altLang="ko-KR" sz="2000" dirty="0"/>
              <a:t>case </a:t>
            </a:r>
            <a:r>
              <a:rPr lang="ko-KR" altLang="en-US" sz="2000" dirty="0"/>
              <a:t>연속 실행</a:t>
            </a:r>
          </a:p>
          <a:p>
            <a:pPr lvl="1"/>
            <a:r>
              <a:rPr lang="ko-KR" altLang="en-US" sz="2000" dirty="0"/>
              <a:t>의도적 사용 가능</a:t>
            </a:r>
            <a:r>
              <a:rPr lang="en-US" altLang="ko-KR" sz="2000" dirty="0"/>
              <a:t>. </a:t>
            </a:r>
            <a:r>
              <a:rPr lang="ko-KR" altLang="en-US" sz="2000" dirty="0"/>
              <a:t>대부분 실수로 발생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D818B2-BE44-9EB2-78C0-91F432AE70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9C736-D8A9-827D-143F-9FB7EB0D3667}"/>
              </a:ext>
            </a:extLst>
          </p:cNvPr>
          <p:cNvSpPr txBox="1"/>
          <p:nvPr/>
        </p:nvSpPr>
        <p:spPr>
          <a:xfrm>
            <a:off x="755576" y="2348880"/>
            <a:ext cx="7056784" cy="403187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(n)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"2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break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 없으므로 실행됨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"3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break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가 없으므로 실행됨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출력 결과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2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63733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4EA8-BC01-EED0-2AB4-860015DF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83506E-543E-2D8E-984F-3F562036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6.3.4 fall-through </a:t>
            </a:r>
            <a:r>
              <a:rPr lang="ko-KR" altLang="en-US" dirty="0"/>
              <a:t>의도적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0EE48-982C-D5EC-7FCA-C664A5F7F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fall-through </a:t>
            </a:r>
            <a:r>
              <a:rPr lang="ko-KR" altLang="en-US" sz="2400" dirty="0"/>
              <a:t>사용 예</a:t>
            </a:r>
            <a:r>
              <a:rPr lang="en-US" altLang="ko-KR" sz="2400" dirty="0"/>
              <a:t>: </a:t>
            </a:r>
            <a:r>
              <a:rPr lang="ko-KR" altLang="en-US" sz="2400" dirty="0"/>
              <a:t>소문자</a:t>
            </a:r>
            <a:r>
              <a:rPr lang="en-US" altLang="ko-KR" sz="2400" dirty="0"/>
              <a:t>, </a:t>
            </a:r>
            <a:r>
              <a:rPr lang="ko-KR" altLang="en-US" sz="2400" dirty="0"/>
              <a:t>대문자 처리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DB2CD4-E181-4760-2C50-8B03D9377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77DAFF-9C6D-2104-50C9-5E0E2BB3B351}"/>
              </a:ext>
            </a:extLst>
          </p:cNvPr>
          <p:cNvSpPr txBox="1"/>
          <p:nvPr/>
        </p:nvSpPr>
        <p:spPr>
          <a:xfrm>
            <a:off x="539750" y="1268760"/>
            <a:ext cx="4572000" cy="39703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(ch)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 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선택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"B 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선택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기타 문자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083167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926BE-1FDA-943B-EFE7-0641323C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C81BE-DBE5-3EA2-F6E8-604E66BD3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6.3.5 switch </a:t>
            </a:r>
            <a:r>
              <a:rPr lang="ko-KR" altLang="en-US" dirty="0"/>
              <a:t>문에서 사용할 수 있는 값의 제한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93A0F2-3478-4FCB-BCAC-7A2DB9D81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switch </a:t>
            </a:r>
            <a:r>
              <a:rPr lang="ko-KR" altLang="en-US" sz="2000" dirty="0"/>
              <a:t>값 제한</a:t>
            </a:r>
          </a:p>
          <a:p>
            <a:pPr lvl="1"/>
            <a:r>
              <a:rPr lang="ko-KR" altLang="en-US" sz="1800" dirty="0"/>
              <a:t>표현식</a:t>
            </a:r>
            <a:r>
              <a:rPr lang="en-US" altLang="ko-KR" sz="1800" dirty="0"/>
              <a:t>, </a:t>
            </a:r>
            <a:r>
              <a:rPr lang="ko-KR" altLang="en-US" sz="2000" dirty="0"/>
              <a:t>정수형만 사용</a:t>
            </a:r>
            <a:endParaRPr lang="en-US" altLang="ko-KR" sz="2000" dirty="0"/>
          </a:p>
          <a:p>
            <a:pPr lvl="2"/>
            <a:endParaRPr lang="ko-KR" altLang="en-US" sz="1800" dirty="0"/>
          </a:p>
          <a:p>
            <a:r>
              <a:rPr lang="en-US" altLang="ko-KR" sz="2000" dirty="0"/>
              <a:t>case </a:t>
            </a:r>
            <a:r>
              <a:rPr lang="ko-KR" altLang="en-US" sz="2000" dirty="0"/>
              <a:t>규칙</a:t>
            </a:r>
          </a:p>
          <a:p>
            <a:pPr lvl="1"/>
            <a:r>
              <a:rPr lang="ko-KR" altLang="en-US" sz="1800" dirty="0"/>
              <a:t>상수만 사용</a:t>
            </a:r>
            <a:r>
              <a:rPr lang="en-US" altLang="ko-KR" sz="1800" dirty="0"/>
              <a:t>, </a:t>
            </a:r>
            <a:r>
              <a:rPr lang="ko-KR" altLang="en-US" sz="1800" dirty="0"/>
              <a:t>연산 상수 가능</a:t>
            </a:r>
            <a:r>
              <a:rPr lang="en-US" altLang="ko-KR" sz="1800" dirty="0"/>
              <a:t>, </a:t>
            </a:r>
            <a:r>
              <a:rPr lang="ko-KR" altLang="en-US" sz="1800" dirty="0"/>
              <a:t>변수 사용 불가</a:t>
            </a:r>
            <a:r>
              <a:rPr lang="en-US" altLang="ko-KR" sz="1800" dirty="0"/>
              <a:t>, </a:t>
            </a:r>
            <a:r>
              <a:rPr lang="ko-KR" altLang="en-US" sz="1800" dirty="0"/>
              <a:t>중복 불가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특징</a:t>
            </a:r>
          </a:p>
          <a:p>
            <a:pPr lvl="1"/>
            <a:r>
              <a:rPr lang="en-US" altLang="ko-KR" sz="1800" dirty="0"/>
              <a:t>jump table </a:t>
            </a:r>
            <a:r>
              <a:rPr lang="ko-KR" altLang="en-US" sz="1800" dirty="0"/>
              <a:t>기반 분기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정수값</a:t>
            </a:r>
            <a:r>
              <a:rPr lang="ko-KR" altLang="en-US" sz="1800" dirty="0"/>
              <a:t> → 직접 분기 가능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비교</a:t>
            </a:r>
          </a:p>
          <a:p>
            <a:pPr lvl="1"/>
            <a:r>
              <a:rPr lang="en-US" altLang="ko-KR" sz="1800" dirty="0"/>
              <a:t>if-else, </a:t>
            </a:r>
            <a:r>
              <a:rPr lang="ko-KR" altLang="en-US" sz="1800" dirty="0"/>
              <a:t>순차 비교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en-US" altLang="ko-KR" sz="2000" dirty="0"/>
              <a:t>switch</a:t>
            </a:r>
          </a:p>
          <a:p>
            <a:pPr lvl="1"/>
            <a:r>
              <a:rPr lang="ko-KR" altLang="en-US" sz="1800" dirty="0"/>
              <a:t>직접 분기</a:t>
            </a:r>
            <a:r>
              <a:rPr lang="en-US" altLang="ko-KR" sz="1800" dirty="0"/>
              <a:t>, </a:t>
            </a:r>
            <a:r>
              <a:rPr lang="ko-KR" altLang="en-US" sz="1800" dirty="0"/>
              <a:t>한 줄 정리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ko-KR" altLang="en-US" sz="2000" dirty="0"/>
              <a:t>분기 많고 정수 기반 → </a:t>
            </a:r>
            <a:r>
              <a:rPr lang="en-US" altLang="ko-KR" sz="2000" dirty="0"/>
              <a:t>switch </a:t>
            </a:r>
            <a:r>
              <a:rPr lang="ko-KR" altLang="en-US" sz="2000" dirty="0"/>
              <a:t>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27A265-9D74-F429-3475-FD0A9FF40F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207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28089-87BC-B7FD-1633-5A7DB4F7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AE923-1FA8-5490-143A-253CFD3A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6.3.6 enum</a:t>
            </a:r>
            <a:r>
              <a:rPr lang="ko-KR" altLang="en-US" dirty="0"/>
              <a:t>과 </a:t>
            </a:r>
            <a:r>
              <a:rPr lang="en-US" altLang="ko-KR" dirty="0"/>
              <a:t>switch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DE95B3-3B69-F363-6FCB-067B1C522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enum</a:t>
            </a:r>
            <a:r>
              <a:rPr lang="ko-KR" altLang="en-US" sz="2400" dirty="0"/>
              <a:t>과 </a:t>
            </a:r>
            <a:r>
              <a:rPr lang="en-US" altLang="ko-KR" sz="2400" dirty="0"/>
              <a:t>switch</a:t>
            </a:r>
          </a:p>
          <a:p>
            <a:pPr lvl="1"/>
            <a:r>
              <a:rPr lang="ko-KR" altLang="en-US" sz="1800" dirty="0"/>
              <a:t>의미 있는 값 집합 정의</a:t>
            </a:r>
            <a:endParaRPr lang="en-US" altLang="ko-KR" sz="1800" dirty="0"/>
          </a:p>
          <a:p>
            <a:pPr lvl="1"/>
            <a:r>
              <a:rPr lang="ko-KR" altLang="en-US" sz="1800" dirty="0"/>
              <a:t>정수 대신 이름 사용</a:t>
            </a:r>
            <a:endParaRPr lang="en-US" altLang="ko-KR" sz="1800" dirty="0"/>
          </a:p>
          <a:p>
            <a:pPr lvl="3"/>
            <a:endParaRPr lang="ko-KR" altLang="en-US" sz="1200" dirty="0"/>
          </a:p>
          <a:p>
            <a:r>
              <a:rPr lang="ko-KR" altLang="en-US" sz="2400" dirty="0"/>
              <a:t>장점</a:t>
            </a:r>
          </a:p>
          <a:p>
            <a:pPr lvl="1"/>
            <a:r>
              <a:rPr lang="ko-KR" altLang="en-US" sz="1800" dirty="0"/>
              <a:t>코드 의미 명확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가독성 향상</a:t>
            </a:r>
            <a:r>
              <a:rPr lang="en-US" altLang="ko-KR" sz="1800" dirty="0"/>
              <a:t>. </a:t>
            </a:r>
            <a:r>
              <a:rPr lang="ko-KR" altLang="en-US" sz="1800" dirty="0"/>
              <a:t>실수 감소</a:t>
            </a:r>
            <a:endParaRPr lang="en-US" altLang="ko-KR" sz="1800" dirty="0"/>
          </a:p>
          <a:p>
            <a:pPr lvl="3"/>
            <a:endParaRPr lang="ko-KR" altLang="en-US" sz="1200" dirty="0"/>
          </a:p>
          <a:p>
            <a:r>
              <a:rPr lang="ko-KR" altLang="en-US" sz="2400" dirty="0"/>
              <a:t>활용</a:t>
            </a:r>
          </a:p>
          <a:p>
            <a:pPr lvl="1"/>
            <a:r>
              <a:rPr lang="ko-KR" altLang="en-US" sz="1800" dirty="0"/>
              <a:t>상태 분기</a:t>
            </a:r>
            <a:r>
              <a:rPr lang="en-US" altLang="ko-KR" sz="1800" dirty="0"/>
              <a:t>. </a:t>
            </a:r>
            <a:r>
              <a:rPr lang="ko-KR" altLang="en-US" sz="1800" dirty="0"/>
              <a:t>명령 처리</a:t>
            </a:r>
            <a:r>
              <a:rPr lang="en-US" altLang="ko-KR" sz="1800" dirty="0"/>
              <a:t>. </a:t>
            </a:r>
            <a:r>
              <a:rPr lang="ko-KR" altLang="en-US" sz="1800" dirty="0"/>
              <a:t>단계 구분</a:t>
            </a:r>
            <a:endParaRPr lang="en-US" altLang="ko-KR" sz="1800" dirty="0"/>
          </a:p>
          <a:p>
            <a:pPr lvl="3"/>
            <a:endParaRPr lang="ko-KR" altLang="en-US" sz="1200" dirty="0"/>
          </a:p>
          <a:p>
            <a:r>
              <a:rPr lang="ko-KR" altLang="en-US" sz="2400" dirty="0"/>
              <a:t>사용 분야</a:t>
            </a:r>
          </a:p>
          <a:p>
            <a:pPr lvl="1"/>
            <a:r>
              <a:rPr lang="ko-KR" altLang="en-US" sz="1800" dirty="0"/>
              <a:t>게임</a:t>
            </a:r>
          </a:p>
          <a:p>
            <a:pPr lvl="2"/>
            <a:r>
              <a:rPr lang="ko-KR" altLang="en-US" sz="1400" dirty="0"/>
              <a:t>캐릭터 상태</a:t>
            </a:r>
            <a:r>
              <a:rPr lang="en-US" altLang="ko-KR" sz="1400" dirty="0"/>
              <a:t>, AI, </a:t>
            </a:r>
            <a:r>
              <a:rPr lang="ko-KR" altLang="en-US" sz="1400" dirty="0"/>
              <a:t>아이템</a:t>
            </a:r>
          </a:p>
          <a:p>
            <a:pPr lvl="1"/>
            <a:r>
              <a:rPr lang="ko-KR" altLang="en-US" sz="1800" dirty="0"/>
              <a:t>네트워크</a:t>
            </a:r>
          </a:p>
          <a:p>
            <a:pPr lvl="2"/>
            <a:r>
              <a:rPr lang="ko-KR" altLang="en-US" sz="1400" dirty="0"/>
              <a:t>패킷 종류 구분</a:t>
            </a:r>
          </a:p>
          <a:p>
            <a:pPr lvl="1"/>
            <a:r>
              <a:rPr lang="ko-KR" altLang="en-US" sz="1800" dirty="0"/>
              <a:t>시스템</a:t>
            </a:r>
          </a:p>
          <a:p>
            <a:pPr lvl="2"/>
            <a:r>
              <a:rPr lang="ko-KR" altLang="en-US" sz="1400" dirty="0"/>
              <a:t>상태</a:t>
            </a:r>
            <a:r>
              <a:rPr lang="en-US" altLang="ko-KR" sz="1400" dirty="0"/>
              <a:t>, </a:t>
            </a:r>
            <a:r>
              <a:rPr lang="ko-KR" altLang="en-US" sz="1400" dirty="0"/>
              <a:t>오류 코드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0B5BBC-E38B-94E2-09C9-A6AC8299BD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6F054-4188-DAB2-7BFB-EC468B36D08C}"/>
              </a:ext>
            </a:extLst>
          </p:cNvPr>
          <p:cNvSpPr txBox="1"/>
          <p:nvPr/>
        </p:nvSpPr>
        <p:spPr>
          <a:xfrm>
            <a:off x="4464496" y="610136"/>
            <a:ext cx="4572000" cy="600164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STATE_IDLE,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STATE_MOVE,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STATE_ATTACK,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STATE_DEATH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 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heroState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STATE_MOVE;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heroState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STATE_IDLE: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대기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STATE_MOVE: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이동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STATE_ATTACK: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공격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STATE_DEATH: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사망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62869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C37EE-C98B-75A8-DA9F-58D89D76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6.3.7 switch </a:t>
            </a:r>
            <a:r>
              <a:rPr lang="ko-KR" altLang="en-US" dirty="0"/>
              <a:t>문 사용 시 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59BBB7-F303-D9EE-0B41-728EE1CE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의도하지 않은 </a:t>
            </a:r>
            <a:r>
              <a:rPr lang="en-US" altLang="ko-KR" dirty="0"/>
              <a:t>fall-through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default </a:t>
            </a:r>
            <a:r>
              <a:rPr lang="ko-KR" altLang="en-US" dirty="0"/>
              <a:t>미 작성 문제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625300-A9FE-EB6A-A232-ECD7414B3C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5FB08-8165-5C5C-6D9E-B371E4204FA3}"/>
              </a:ext>
            </a:extLst>
          </p:cNvPr>
          <p:cNvSpPr txBox="1"/>
          <p:nvPr/>
        </p:nvSpPr>
        <p:spPr>
          <a:xfrm>
            <a:off x="611560" y="1196752"/>
            <a:ext cx="4572000" cy="230832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"1\n"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break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없음 → 다음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case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실행됨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"2\n"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5907B-9C0A-6D7B-877C-E08F734454F4}"/>
              </a:ext>
            </a:extLst>
          </p:cNvPr>
          <p:cNvSpPr txBox="1"/>
          <p:nvPr/>
        </p:nvSpPr>
        <p:spPr>
          <a:xfrm>
            <a:off x="611560" y="4581128"/>
            <a:ext cx="4572000" cy="181588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...;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...;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default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없음 → 예상치 못한 입력 처리 불가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50564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4061-5FD7-AE55-4D17-DD4A6019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AA08E-1F0A-1DE7-07A9-13D2B11D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6.3.7 switch </a:t>
            </a:r>
            <a:r>
              <a:rPr lang="ko-KR" altLang="en-US" dirty="0"/>
              <a:t>문 사용 시 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6D42FD-6C41-6EB6-6ECB-C6A7F2C9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값 중복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5D999E-DAD7-E4BF-14E3-415A98D2CE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E2D02-0876-AC07-570D-AB0430908614}"/>
              </a:ext>
            </a:extLst>
          </p:cNvPr>
          <p:cNvSpPr txBox="1"/>
          <p:nvPr/>
        </p:nvSpPr>
        <p:spPr>
          <a:xfrm>
            <a:off x="515780" y="1340768"/>
            <a:ext cx="6936540" cy="5847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중복 → 컴파일 오류</a:t>
            </a:r>
            <a:endParaRPr lang="ko-KR" alt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4FCE3F-D934-30A2-4D79-8DCB943BF52F}"/>
              </a:ext>
            </a:extLst>
          </p:cNvPr>
          <p:cNvSpPr txBox="1"/>
          <p:nvPr/>
        </p:nvSpPr>
        <p:spPr>
          <a:xfrm>
            <a:off x="539750" y="3632784"/>
            <a:ext cx="6912570" cy="255454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CMD_MOVE: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...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CMD_ATTACK: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CMD_MOVE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와 동일한 값 → 컴파일 오류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endParaRPr lang="ko-KR" altLang="en-US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081E6-E919-B0CD-37F5-E9B77F8F62B5}"/>
              </a:ext>
            </a:extLst>
          </p:cNvPr>
          <p:cNvSpPr txBox="1"/>
          <p:nvPr/>
        </p:nvSpPr>
        <p:spPr>
          <a:xfrm>
            <a:off x="515780" y="2309345"/>
            <a:ext cx="6936540" cy="132343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Command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CMD_MOVE  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CMD_ATTACK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  </a:t>
            </a:r>
            <a:r>
              <a:rPr lang="en-US" altLang="ko-KR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서로 다른 이름이지만 동일한 값</a:t>
            </a:r>
            <a:br>
              <a:rPr lang="ko-KR" altLang="en-US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520868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85A5-783B-C79C-7FFB-FDDD9FE70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D0047-F6E5-3FCB-9B51-945B8AAA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6.3.7 switch </a:t>
            </a:r>
            <a:r>
              <a:rPr lang="ko-KR" altLang="en-US" dirty="0"/>
              <a:t>문 사용 시 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DAB77-F6B3-47CF-572C-35FB356CF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변수의 범위</a:t>
            </a:r>
            <a:r>
              <a:rPr lang="en-US" altLang="ko-KR" dirty="0"/>
              <a:t>(scope) </a:t>
            </a:r>
            <a:r>
              <a:rPr lang="ko-KR" altLang="en-US" dirty="0"/>
              <a:t>문제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중괄호 추가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542F65-7EE2-0677-B211-86BDF0E0DC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46755-D2BD-DF26-F54E-874D8CF743E4}"/>
              </a:ext>
            </a:extLst>
          </p:cNvPr>
          <p:cNvSpPr txBox="1"/>
          <p:nvPr/>
        </p:nvSpPr>
        <p:spPr>
          <a:xfrm>
            <a:off x="395536" y="1268760"/>
            <a:ext cx="6984776" cy="181588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(n)</a:t>
            </a:r>
            <a:b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1400" b="1" i="0" u="none" strike="noStrike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US" altLang="ko-KR" sz="1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선언됨</a:t>
            </a:r>
            <a:br>
              <a:rPr lang="ko-KR" altLang="en-US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x);  </a:t>
            </a:r>
            <a:r>
              <a:rPr lang="en-US" altLang="ko-KR" sz="1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오류</a:t>
            </a:r>
            <a:r>
              <a:rPr lang="en-US" altLang="ko-KR" sz="1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: x</a:t>
            </a:r>
            <a:r>
              <a:rPr lang="ko-KR" altLang="en-US" sz="1400" b="1" i="1" u="none" strike="noStrike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는 이 영역에서 보이지 않음</a:t>
            </a:r>
            <a:br>
              <a:rPr lang="ko-KR" altLang="en-US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BE076-B679-BF99-14CC-05EEDF9CC2AA}"/>
              </a:ext>
            </a:extLst>
          </p:cNvPr>
          <p:cNvSpPr txBox="1"/>
          <p:nvPr/>
        </p:nvSpPr>
        <p:spPr>
          <a:xfrm>
            <a:off x="395536" y="3861048"/>
            <a:ext cx="3456384" cy="246221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(n)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4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4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x);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400" b="1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E4C26FBC-05C3-579B-E9C2-490BF6BCC0A0}"/>
              </a:ext>
            </a:extLst>
          </p:cNvPr>
          <p:cNvSpPr/>
          <p:nvPr/>
        </p:nvSpPr>
        <p:spPr bwMode="auto">
          <a:xfrm>
            <a:off x="3347864" y="3228657"/>
            <a:ext cx="792088" cy="488375"/>
          </a:xfrm>
          <a:prstGeom prst="downArrow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309F0-118B-C244-A1D7-FD85F769F7F5}"/>
              </a:ext>
            </a:extLst>
          </p:cNvPr>
          <p:cNvSpPr txBox="1"/>
          <p:nvPr/>
        </p:nvSpPr>
        <p:spPr>
          <a:xfrm>
            <a:off x="4427984" y="3861048"/>
            <a:ext cx="2952328" cy="267765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(n)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"%d\n"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x);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"case 2\n"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1A9938C-D543-C20F-8313-F20CB2368ABE}"/>
              </a:ext>
            </a:extLst>
          </p:cNvPr>
          <p:cNvSpPr/>
          <p:nvPr/>
        </p:nvSpPr>
        <p:spPr bwMode="auto">
          <a:xfrm>
            <a:off x="3995936" y="4581128"/>
            <a:ext cx="360040" cy="488375"/>
          </a:xfrm>
          <a:prstGeom prst="rightArrow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3114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E792B-F2FA-926B-2EC7-347E9A5B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BD404-3FAC-6F84-5B92-E047062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6.3.8 switch </a:t>
            </a:r>
            <a:r>
              <a:rPr lang="ko-KR" altLang="en-US" dirty="0"/>
              <a:t>문자 입력 </a:t>
            </a:r>
            <a:r>
              <a:rPr lang="en-US" altLang="ko-KR" dirty="0"/>
              <a:t>+ enum + fall-through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9E28FF-D0AC-F5EB-1779-5072341AA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76EF70-A275-D1D0-8F5C-A45A2C47D0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B1CEC-8034-EDD0-419A-311FDEF3EAB5}"/>
              </a:ext>
            </a:extLst>
          </p:cNvPr>
          <p:cNvSpPr txBox="1"/>
          <p:nvPr/>
        </p:nvSpPr>
        <p:spPr>
          <a:xfrm>
            <a:off x="124018" y="692627"/>
            <a:ext cx="3583886" cy="1754326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&lt;stdio.h&gt;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Command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CMD_UNKNOWN 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CMD_MOVE     = 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CMD_ATTACK     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CMD_QUIT     ,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9BCC4F-4D70-0193-5893-FDCA7209D6F7}"/>
              </a:ext>
            </a:extLst>
          </p:cNvPr>
          <p:cNvSpPr txBox="1"/>
          <p:nvPr/>
        </p:nvSpPr>
        <p:spPr>
          <a:xfrm>
            <a:off x="124018" y="2842776"/>
            <a:ext cx="3583886" cy="3231654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Command </a:t>
            </a:r>
            <a:r>
              <a:rPr lang="en-US" altLang="ko-KR" sz="12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GetCommand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key)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(key)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'g'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'G'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CMD_MOVE;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CMD_ATTACK;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'q'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'Q'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CMD_QUIT;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CMD_UNKNOWN;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103040-C0F7-C477-BD8B-F67DCF0798D7}"/>
              </a:ext>
            </a:extLst>
          </p:cNvPr>
          <p:cNvSpPr txBox="1"/>
          <p:nvPr/>
        </p:nvSpPr>
        <p:spPr>
          <a:xfrm>
            <a:off x="3779912" y="692150"/>
            <a:ext cx="5040560" cy="5447645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input =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명령 입력 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(G/A/Q): 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 %c"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&amp;input);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Command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GetCommand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(input);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CMD_MOVE: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이동 명령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CMD_ATTACK: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공격 명령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CMD_QUIT: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종료 명령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알 수 없는 명령입니다</a:t>
            </a:r>
            <a:r>
              <a:rPr lang="en-US" altLang="ko-KR" sz="12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.\n"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58640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9F387-DF88-1EC9-471E-1DA8D6E0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6.3.9 if–else </a:t>
            </a:r>
            <a:r>
              <a:rPr lang="ko-KR" altLang="en-US" dirty="0"/>
              <a:t>문 </a:t>
            </a:r>
            <a:r>
              <a:rPr lang="en-US" altLang="ko-KR" dirty="0"/>
              <a:t>VS</a:t>
            </a:r>
            <a:r>
              <a:rPr lang="ko-KR" altLang="en-US" dirty="0"/>
              <a:t> </a:t>
            </a:r>
            <a:r>
              <a:rPr lang="en-US" altLang="ko-KR" dirty="0"/>
              <a:t>switch–case </a:t>
            </a:r>
            <a:r>
              <a:rPr lang="ko-KR" altLang="en-US" dirty="0"/>
              <a:t>선택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CC041B-6688-8896-B74C-1A3B1CA58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단순 분기 →</a:t>
            </a:r>
            <a:r>
              <a:rPr lang="en-US" altLang="ko-KR" sz="2400" dirty="0"/>
              <a:t> switch, </a:t>
            </a:r>
            <a:r>
              <a:rPr lang="ko-KR" altLang="en-US" sz="2400" dirty="0"/>
              <a:t>복잡 조건 →</a:t>
            </a:r>
            <a:r>
              <a:rPr lang="en-US" altLang="ko-KR" sz="2400" dirty="0"/>
              <a:t> if-else</a:t>
            </a:r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switch</a:t>
            </a:r>
            <a:endParaRPr lang="ko-KR" altLang="en-US" sz="2400" dirty="0"/>
          </a:p>
          <a:p>
            <a:pPr lvl="1"/>
            <a:r>
              <a:rPr lang="ko-KR" altLang="en-US" sz="2000" dirty="0"/>
              <a:t>정수 값 기준</a:t>
            </a:r>
          </a:p>
          <a:p>
            <a:pPr lvl="1"/>
            <a:r>
              <a:rPr lang="ko-KR" altLang="en-US" sz="2000" dirty="0"/>
              <a:t>적합 상태</a:t>
            </a:r>
            <a:r>
              <a:rPr lang="en-US" altLang="ko-KR" sz="2000" dirty="0"/>
              <a:t>, </a:t>
            </a:r>
            <a:r>
              <a:rPr lang="ko-KR" altLang="en-US" sz="2000" dirty="0"/>
              <a:t>메뉴 입력 명령 코드</a:t>
            </a:r>
            <a:r>
              <a:rPr lang="en-US" altLang="ko-KR" sz="2000" dirty="0"/>
              <a:t>, </a:t>
            </a:r>
            <a:r>
              <a:rPr lang="ko-KR" altLang="en-US" sz="2000" dirty="0"/>
              <a:t>패킷 타입</a:t>
            </a:r>
          </a:p>
          <a:p>
            <a:pPr lvl="2"/>
            <a:endParaRPr lang="ko-KR" altLang="en-US" sz="1600" dirty="0"/>
          </a:p>
          <a:p>
            <a:r>
              <a:rPr lang="en-US" altLang="ko-KR" sz="2400" dirty="0"/>
              <a:t>switch </a:t>
            </a:r>
            <a:r>
              <a:rPr lang="ko-KR" altLang="en-US" sz="2400" dirty="0"/>
              <a:t>부적합</a:t>
            </a:r>
          </a:p>
          <a:p>
            <a:pPr lvl="1"/>
            <a:r>
              <a:rPr lang="ko-KR" altLang="en-US" sz="2000" dirty="0"/>
              <a:t>범위 비교</a:t>
            </a:r>
            <a:r>
              <a:rPr lang="en-US" altLang="ko-KR" sz="2000" dirty="0"/>
              <a:t>(score &gt;= 90)</a:t>
            </a:r>
          </a:p>
          <a:p>
            <a:pPr lvl="1"/>
            <a:r>
              <a:rPr lang="ko-KR" altLang="en-US" sz="2000" dirty="0"/>
              <a:t>복합 조건</a:t>
            </a:r>
            <a:r>
              <a:rPr lang="en-US" altLang="ko-KR" sz="2000" dirty="0"/>
              <a:t>(a &gt; b &amp;&amp; c &lt; d)</a:t>
            </a:r>
          </a:p>
          <a:p>
            <a:pPr lvl="1"/>
            <a:r>
              <a:rPr lang="ko-KR" altLang="en-US" sz="2000" dirty="0"/>
              <a:t>다중 변수 비교</a:t>
            </a:r>
          </a:p>
          <a:p>
            <a:pPr lvl="1"/>
            <a:r>
              <a:rPr lang="ko-KR" altLang="en-US" sz="2000" dirty="0"/>
              <a:t>실수 값 조건</a:t>
            </a:r>
          </a:p>
          <a:p>
            <a:pPr lvl="1"/>
            <a:r>
              <a:rPr lang="en-US" altLang="ko-KR" sz="2000" dirty="0"/>
              <a:t>case</a:t>
            </a:r>
            <a:r>
              <a:rPr lang="ko-KR" altLang="en-US" sz="2000" dirty="0"/>
              <a:t>에 사용할 값이 런타임에서 결정될 때</a:t>
            </a:r>
          </a:p>
          <a:p>
            <a:pPr lvl="3"/>
            <a:endParaRPr lang="ko-KR" altLang="en-US" sz="1400" dirty="0"/>
          </a:p>
          <a:p>
            <a:r>
              <a:rPr lang="en-US" altLang="ko-KR" sz="2400" dirty="0"/>
              <a:t>if–else </a:t>
            </a:r>
            <a:r>
              <a:rPr lang="ko-KR" altLang="en-US" sz="2400" dirty="0"/>
              <a:t>사용</a:t>
            </a:r>
          </a:p>
          <a:p>
            <a:pPr lvl="1"/>
            <a:r>
              <a:rPr lang="ko-KR" altLang="en-US" sz="1800" dirty="0"/>
              <a:t>복잡한 조건 처리</a:t>
            </a:r>
            <a:br>
              <a:rPr lang="ko-KR" altLang="en-US" sz="1800" dirty="0"/>
            </a:br>
            <a:r>
              <a:rPr lang="ko-KR" altLang="en-US" sz="1800" dirty="0"/>
              <a:t>다양한 비교 가능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698EFF-0E59-D427-FA28-B7D635CA88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627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AF5E-B96B-0B0A-7F37-59BBF9AD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DC79F-D664-4EB3-D842-01BF0DD4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CFB93-0F0E-5AEF-BD21-5EFC7D190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scanf</a:t>
            </a:r>
            <a:endParaRPr lang="ko-KR" altLang="en-US" sz="2400" dirty="0"/>
          </a:p>
          <a:p>
            <a:pPr lvl="1"/>
            <a:r>
              <a:rPr lang="en-US" altLang="ko-KR" sz="1800" dirty="0"/>
              <a:t>%c → </a:t>
            </a:r>
            <a:r>
              <a:rPr lang="ko-KR" altLang="en-US" sz="1800" dirty="0"/>
              <a:t>공백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개행</a:t>
            </a:r>
            <a:r>
              <a:rPr lang="ko-KR" altLang="en-US" sz="1800" dirty="0"/>
              <a:t> 포함</a:t>
            </a:r>
            <a:r>
              <a:rPr lang="en-US" altLang="ko-KR" sz="1800" dirty="0"/>
              <a:t>,  %d → </a:t>
            </a:r>
            <a:r>
              <a:rPr lang="ko-KR" altLang="en-US" sz="1800" dirty="0"/>
              <a:t>정수 입력</a:t>
            </a:r>
            <a:r>
              <a:rPr lang="en-US" altLang="ko-KR" sz="1800" dirty="0"/>
              <a:t>, %s → </a:t>
            </a:r>
            <a:r>
              <a:rPr lang="ko-KR" altLang="en-US" sz="1800" dirty="0"/>
              <a:t>공백 전까지 입력</a:t>
            </a:r>
          </a:p>
          <a:p>
            <a:pPr lvl="1"/>
            <a:r>
              <a:rPr lang="en-US" altLang="ko-KR" sz="1800" dirty="0" err="1"/>
              <a:t>fgets</a:t>
            </a:r>
            <a:r>
              <a:rPr lang="en-US" altLang="ko-KR" sz="1800" dirty="0"/>
              <a:t> → </a:t>
            </a:r>
            <a:r>
              <a:rPr lang="ko-KR" altLang="en-US" sz="1800" dirty="0"/>
              <a:t>공백 포함 문자열</a:t>
            </a:r>
            <a:r>
              <a:rPr lang="en-US" altLang="ko-KR" sz="1800" dirty="0"/>
              <a:t>, </a:t>
            </a:r>
            <a:r>
              <a:rPr lang="ko-KR" altLang="en-US" sz="1800" dirty="0"/>
              <a:t>반환값 → 입력 성공 개수</a:t>
            </a:r>
            <a:endParaRPr lang="en-US" altLang="ko-KR" sz="1800" dirty="0"/>
          </a:p>
          <a:p>
            <a:pPr lvl="3"/>
            <a:endParaRPr lang="ko-KR" altLang="en-US" dirty="0"/>
          </a:p>
          <a:p>
            <a:r>
              <a:rPr lang="en-US" altLang="ko-KR" sz="2400" dirty="0"/>
              <a:t>if </a:t>
            </a:r>
            <a:r>
              <a:rPr lang="ko-KR" altLang="en-US" sz="2400" dirty="0"/>
              <a:t>문</a:t>
            </a:r>
          </a:p>
          <a:p>
            <a:pPr lvl="1"/>
            <a:r>
              <a:rPr lang="ko-KR" altLang="en-US" sz="1800" dirty="0"/>
              <a:t>조건 기반 분기</a:t>
            </a:r>
            <a:r>
              <a:rPr lang="en-US" altLang="ko-KR" sz="1800" dirty="0"/>
              <a:t>, </a:t>
            </a:r>
            <a:r>
              <a:rPr lang="en-US" altLang="ko-KR" sz="2000" dirty="0"/>
              <a:t>if–else: </a:t>
            </a:r>
            <a:r>
              <a:rPr lang="ko-KR" altLang="en-US" sz="1800" dirty="0"/>
              <a:t>참 </a:t>
            </a:r>
            <a:r>
              <a:rPr lang="en-US" altLang="ko-KR" sz="1800" dirty="0"/>
              <a:t>/ </a:t>
            </a:r>
            <a:r>
              <a:rPr lang="ko-KR" altLang="en-US" sz="1800" dirty="0"/>
              <a:t>거짓 분기</a:t>
            </a:r>
            <a:endParaRPr lang="en-US" altLang="ko-KR" sz="1800" dirty="0"/>
          </a:p>
          <a:p>
            <a:pPr lvl="3"/>
            <a:endParaRPr lang="en-US" altLang="ko-KR" dirty="0"/>
          </a:p>
          <a:p>
            <a:r>
              <a:rPr lang="en-US" altLang="ko-KR" sz="2400" dirty="0"/>
              <a:t>if </a:t>
            </a:r>
            <a:r>
              <a:rPr lang="ko-KR" altLang="en-US" sz="2400" dirty="0"/>
              <a:t>주의</a:t>
            </a:r>
          </a:p>
          <a:p>
            <a:pPr lvl="1"/>
            <a:r>
              <a:rPr lang="en-US" altLang="ko-KR" sz="1800" dirty="0"/>
              <a:t>0 → </a:t>
            </a:r>
            <a:r>
              <a:rPr lang="ko-KR" altLang="en-US" sz="1800" dirty="0"/>
              <a:t>거짓</a:t>
            </a:r>
            <a:r>
              <a:rPr lang="en-US" altLang="ko-KR" sz="1800" dirty="0"/>
              <a:t>, 0</a:t>
            </a:r>
            <a:r>
              <a:rPr lang="ko-KR" altLang="en-US" sz="1800" dirty="0"/>
              <a:t>이 아닌 값 → 참</a:t>
            </a:r>
            <a:r>
              <a:rPr lang="en-US" altLang="ko-KR" sz="1800" dirty="0"/>
              <a:t>, NULL, </a:t>
            </a:r>
            <a:r>
              <a:rPr lang="en-US" altLang="ko-KR" sz="1800" dirty="0">
                <a:latin typeface="Consolas" panose="020B0609020204030204" pitchFamily="49" charset="0"/>
              </a:rPr>
              <a:t>'\0'</a:t>
            </a:r>
            <a:r>
              <a:rPr lang="en-US" altLang="ko-KR" sz="1800" dirty="0"/>
              <a:t> → </a:t>
            </a:r>
            <a:r>
              <a:rPr lang="ko-KR" altLang="en-US" sz="1800" dirty="0"/>
              <a:t>거짓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r>
              <a:rPr lang="en-US" altLang="ko-KR" sz="2400" dirty="0"/>
              <a:t>if </a:t>
            </a:r>
            <a:r>
              <a:rPr lang="ko-KR" altLang="en-US" sz="2400" dirty="0"/>
              <a:t>실수</a:t>
            </a:r>
          </a:p>
          <a:p>
            <a:pPr lvl="1"/>
            <a:r>
              <a:rPr lang="ko-KR" altLang="en-US" sz="2000" dirty="0"/>
              <a:t>변수 미초기화</a:t>
            </a:r>
            <a:r>
              <a:rPr lang="en-US" altLang="ko-KR" sz="2000" dirty="0"/>
              <a:t>, = / == </a:t>
            </a:r>
            <a:r>
              <a:rPr lang="ko-KR" altLang="en-US" sz="2000" dirty="0"/>
              <a:t>혼동</a:t>
            </a:r>
            <a:r>
              <a:rPr lang="en-US" altLang="ko-KR" sz="2000" dirty="0"/>
              <a:t>, </a:t>
            </a:r>
            <a:r>
              <a:rPr lang="ko-KR" altLang="en-US" sz="2000" dirty="0"/>
              <a:t>중괄호 생략 위험</a:t>
            </a:r>
            <a:r>
              <a:rPr lang="en-US" altLang="ko-KR" sz="2000" dirty="0"/>
              <a:t>, </a:t>
            </a:r>
            <a:r>
              <a:rPr lang="ko-KR" altLang="en-US" sz="2000" dirty="0"/>
              <a:t>조건 복잡 → 가독성 저하</a:t>
            </a:r>
            <a:endParaRPr lang="en-US" altLang="ko-KR" sz="2000" dirty="0"/>
          </a:p>
          <a:p>
            <a:endParaRPr lang="en-US" altLang="ko-KR" sz="2200" dirty="0"/>
          </a:p>
          <a:p>
            <a:r>
              <a:rPr lang="en-US" altLang="ko-KR" sz="2400" dirty="0"/>
              <a:t>If </a:t>
            </a:r>
            <a:r>
              <a:rPr lang="ko-KR" altLang="en-US" sz="2400" dirty="0"/>
              <a:t>개선 방법</a:t>
            </a:r>
          </a:p>
          <a:p>
            <a:pPr lvl="1"/>
            <a:r>
              <a:rPr lang="ko-KR" altLang="en-US" sz="2000" dirty="0"/>
              <a:t>조건 분리</a:t>
            </a:r>
            <a:r>
              <a:rPr lang="en-US" altLang="ko-KR" sz="2000" dirty="0"/>
              <a:t>, </a:t>
            </a:r>
            <a:r>
              <a:rPr lang="ko-KR" altLang="en-US" sz="2000" dirty="0"/>
              <a:t>중간 변수 사용</a:t>
            </a:r>
            <a:r>
              <a:rPr lang="en-US" altLang="ko-KR" sz="2000" dirty="0"/>
              <a:t>, early return </a:t>
            </a:r>
            <a:r>
              <a:rPr lang="ko-KR" altLang="en-US" sz="2000" dirty="0"/>
              <a:t>가독성 향상</a:t>
            </a:r>
            <a:endParaRPr lang="en-US" altLang="ko-KR" sz="2000" dirty="0"/>
          </a:p>
          <a:p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9E657D-19DA-7EC1-7C5D-ABEF2882D9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0126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00F0-703F-75CA-6F54-C7FB3060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8C3F5-D2AC-9A38-4429-A8562305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9E68A-7472-813E-6727-2CB7DE2F2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switch </a:t>
            </a:r>
            <a:r>
              <a:rPr lang="ko-KR" altLang="en-US" sz="2400" dirty="0"/>
              <a:t>문</a:t>
            </a:r>
          </a:p>
          <a:p>
            <a:pPr lvl="1"/>
            <a:r>
              <a:rPr lang="ko-KR" altLang="en-US" sz="2000" dirty="0"/>
              <a:t>정수 값 기준 분기</a:t>
            </a:r>
            <a:r>
              <a:rPr lang="en-US" altLang="ko-KR" sz="2000" dirty="0"/>
              <a:t>, case </a:t>
            </a:r>
            <a:r>
              <a:rPr lang="ko-KR" altLang="en-US" sz="2000" dirty="0"/>
              <a:t>단위 분기 처리</a:t>
            </a:r>
            <a:r>
              <a:rPr lang="en-US" altLang="ko-KR" sz="2000" dirty="0"/>
              <a:t>, </a:t>
            </a:r>
            <a:r>
              <a:rPr lang="ko-KR" altLang="en-US" sz="2000" dirty="0"/>
              <a:t>구조 단순</a:t>
            </a:r>
            <a:r>
              <a:rPr lang="en-US" altLang="ko-KR" sz="2000" dirty="0"/>
              <a:t>, </a:t>
            </a:r>
            <a:r>
              <a:rPr lang="ko-KR" altLang="en-US" sz="2000" dirty="0"/>
              <a:t>가독성 높음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en-US" altLang="ko-KR" sz="2400" dirty="0"/>
              <a:t>switch </a:t>
            </a:r>
            <a:r>
              <a:rPr lang="ko-KR" altLang="en-US" sz="2400" dirty="0"/>
              <a:t>주의</a:t>
            </a:r>
          </a:p>
          <a:p>
            <a:pPr lvl="1"/>
            <a:r>
              <a:rPr lang="en-US" altLang="ko-KR" sz="2000" dirty="0"/>
              <a:t>break </a:t>
            </a:r>
            <a:r>
              <a:rPr lang="ko-KR" altLang="en-US" sz="2000" dirty="0"/>
              <a:t>누락 → </a:t>
            </a:r>
            <a:r>
              <a:rPr lang="en-US" altLang="ko-KR" sz="2000" dirty="0"/>
              <a:t>fall-through, </a:t>
            </a:r>
            <a:r>
              <a:rPr lang="ko-KR" altLang="en-US" sz="2000" dirty="0"/>
              <a:t>변수 선언 시 블록 필요</a:t>
            </a:r>
          </a:p>
          <a:p>
            <a:pPr lvl="1"/>
            <a:r>
              <a:rPr lang="ko-KR" altLang="en-US" sz="2000" dirty="0"/>
              <a:t>정수형만 사용</a:t>
            </a:r>
            <a:r>
              <a:rPr lang="en-US" altLang="ko-KR" sz="2000" dirty="0"/>
              <a:t>, case </a:t>
            </a:r>
            <a:r>
              <a:rPr lang="ko-KR" altLang="en-US" sz="2000" dirty="0"/>
              <a:t>값 상수</a:t>
            </a:r>
            <a:r>
              <a:rPr lang="en-US" altLang="ko-KR" sz="2000" dirty="0"/>
              <a:t>, </a:t>
            </a:r>
            <a:r>
              <a:rPr lang="ko-KR" altLang="en-US" sz="2000" dirty="0"/>
              <a:t>중복 불가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en-US" altLang="ko-KR" sz="2400" dirty="0"/>
              <a:t>switch </a:t>
            </a:r>
            <a:r>
              <a:rPr lang="ko-KR" altLang="en-US" sz="2400" dirty="0"/>
              <a:t>특징</a:t>
            </a:r>
          </a:p>
          <a:p>
            <a:pPr lvl="1"/>
            <a:r>
              <a:rPr lang="en-US" altLang="ko-KR" sz="2000" dirty="0"/>
              <a:t>jump table </a:t>
            </a:r>
            <a:r>
              <a:rPr lang="ko-KR" altLang="en-US" sz="2000" dirty="0"/>
              <a:t>기반 분기</a:t>
            </a:r>
            <a:r>
              <a:rPr lang="en-US" altLang="ko-KR" sz="2000" dirty="0"/>
              <a:t>, enum + switch</a:t>
            </a:r>
          </a:p>
          <a:p>
            <a:pPr lvl="1"/>
            <a:r>
              <a:rPr lang="ko-KR" altLang="en-US" sz="2000" dirty="0"/>
              <a:t>의미 있는 값 정의</a:t>
            </a:r>
            <a:r>
              <a:rPr lang="en-US" altLang="ko-KR" sz="2000" dirty="0"/>
              <a:t>, </a:t>
            </a:r>
            <a:r>
              <a:rPr lang="ko-KR" altLang="en-US" sz="2000" dirty="0"/>
              <a:t>상태</a:t>
            </a:r>
            <a:r>
              <a:rPr lang="en-US" altLang="ko-KR" sz="2000" dirty="0"/>
              <a:t>, </a:t>
            </a:r>
            <a:r>
              <a:rPr lang="ko-KR" altLang="en-US" sz="2000" dirty="0"/>
              <a:t>명령 처리에 적합</a:t>
            </a:r>
          </a:p>
          <a:p>
            <a:endParaRPr lang="ko-KR" altLang="en-US" sz="2400" dirty="0"/>
          </a:p>
          <a:p>
            <a:r>
              <a:rPr lang="ko-KR" altLang="en-US" sz="2400" dirty="0"/>
              <a:t>선택 기준</a:t>
            </a:r>
          </a:p>
          <a:p>
            <a:pPr lvl="1"/>
            <a:r>
              <a:rPr lang="ko-KR" altLang="en-US" sz="2000" dirty="0"/>
              <a:t>단순 정수 분기 → </a:t>
            </a:r>
            <a:r>
              <a:rPr lang="en-US" altLang="ko-KR" sz="2000" dirty="0"/>
              <a:t>switch</a:t>
            </a:r>
          </a:p>
          <a:p>
            <a:pPr lvl="1"/>
            <a:r>
              <a:rPr lang="ko-KR" altLang="en-US" sz="2000" dirty="0"/>
              <a:t>복잡 조건 처리 → </a:t>
            </a:r>
            <a:r>
              <a:rPr lang="en-US" altLang="ko-KR" sz="2000" dirty="0"/>
              <a:t>if–else</a:t>
            </a:r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8D5311-83FA-4EFB-3122-992C18569F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254757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4548</TotalTime>
  <Words>3853</Words>
  <Application>Microsoft Office PowerPoint</Application>
  <PresentationFormat>화면 슬라이드 쇼(4:3)</PresentationFormat>
  <Paragraphs>374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나눔바른고딕</vt:lpstr>
      <vt:lpstr>Consolas</vt:lpstr>
      <vt:lpstr>HY견고딕</vt:lpstr>
      <vt:lpstr>굴림</vt:lpstr>
      <vt:lpstr>Arial</vt:lpstr>
      <vt:lpstr>가을체</vt:lpstr>
      <vt:lpstr>Wingdings</vt:lpstr>
      <vt:lpstr>기본 디자인</vt:lpstr>
      <vt:lpstr>06. 제어문:조건문 (Control Flow – Conditional Statements)</vt:lpstr>
      <vt:lpstr>6.1 scanf</vt:lpstr>
      <vt:lpstr>6.1.2 scanf 함수 형식 지정자</vt:lpstr>
      <vt:lpstr>6.1.2 scanf 함수 형식 지정자</vt:lpstr>
      <vt:lpstr>6.1.3 windows 프로젝트 설정</vt:lpstr>
      <vt:lpstr>6.1.4 scanf - 여러 개의 값을 한 번에 입력 받기</vt:lpstr>
      <vt:lpstr>6.1.5 문자를 입력 받을 때 주의할 점 (%c)</vt:lpstr>
      <vt:lpstr>6.1.6 문자열 입력 (%s)</vt:lpstr>
      <vt:lpstr>6.1.6 문자열 입력 (%s)  fgets</vt:lpstr>
      <vt:lpstr>6.1.7 scanf 반환값</vt:lpstr>
      <vt:lpstr>6.1.8 입력 관련 종합 예제</vt:lpstr>
      <vt:lpstr>6.2 조건문(Condition Statement) if</vt:lpstr>
      <vt:lpstr>6.2.3 조건식의 평가 규칙과 암시적 조건 검사</vt:lpstr>
      <vt:lpstr>6.2.3 조건식의 평가 규칙과 암시적 조건 검사</vt:lpstr>
      <vt:lpstr>6.2.4 조건문 사용 시 주의 사항</vt:lpstr>
      <vt:lpstr>6.2.4 조건문 사용 시 주의 사항</vt:lpstr>
      <vt:lpstr>6.2.4 조건문 사용 시 주의 사항</vt:lpstr>
      <vt:lpstr>6.3 switch-case</vt:lpstr>
      <vt:lpstr>6.3.1 switch-case 기본 형식</vt:lpstr>
      <vt:lpstr>6.3.2 switch-case 예제</vt:lpstr>
      <vt:lpstr>6.3.3 fall-through</vt:lpstr>
      <vt:lpstr>6.3.4 fall-through 의도적 사용</vt:lpstr>
      <vt:lpstr>6.3.5 switch 문에서 사용할 수 있는 값의 제한</vt:lpstr>
      <vt:lpstr>6.3.6 enum과 switch 문</vt:lpstr>
      <vt:lpstr>6.3.7 switch 문 사용 시 주의 사항</vt:lpstr>
      <vt:lpstr>6.3.7 switch 문 사용 시 주의 사항</vt:lpstr>
      <vt:lpstr>6.3.7 switch 문 사용 시 주의 사항</vt:lpstr>
      <vt:lpstr>6.3.8 switch 문자 입력 + enum + fall-through</vt:lpstr>
      <vt:lpstr>6.3.9 if–else 문 VS switch–case 선택</vt:lpstr>
      <vt:lpstr>학습 정리</vt:lpstr>
      <vt:lpstr>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219</cp:revision>
  <dcterms:created xsi:type="dcterms:W3CDTF">2003-11-30T16:03:20Z</dcterms:created>
  <dcterms:modified xsi:type="dcterms:W3CDTF">2026-04-17T23:15:24Z</dcterms:modified>
</cp:coreProperties>
</file>