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328" r:id="rId2"/>
    <p:sldId id="329" r:id="rId3"/>
    <p:sldId id="332" r:id="rId4"/>
    <p:sldId id="333" r:id="rId5"/>
    <p:sldId id="335" r:id="rId6"/>
    <p:sldId id="334" r:id="rId7"/>
    <p:sldId id="336" r:id="rId8"/>
    <p:sldId id="337" r:id="rId9"/>
    <p:sldId id="338" r:id="rId10"/>
    <p:sldId id="330" r:id="rId11"/>
    <p:sldId id="339" r:id="rId12"/>
    <p:sldId id="340" r:id="rId13"/>
    <p:sldId id="341" r:id="rId14"/>
    <p:sldId id="331" r:id="rId15"/>
    <p:sldId id="342" r:id="rId16"/>
    <p:sldId id="343" r:id="rId17"/>
    <p:sldId id="344" r:id="rId18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HY견고딕" panose="02030600000101010101" pitchFamily="18" charset="-127"/>
      <p:regular r:id="rId24"/>
    </p:embeddedFont>
    <p:embeddedFont>
      <p:font typeface="가을체" panose="02030600000101010101" pitchFamily="18" charset="-127"/>
      <p:regular r:id="rId25"/>
    </p:embeddedFont>
    <p:embeddedFont>
      <p:font typeface="나눔바른고딕" panose="020B0603020101020101" pitchFamily="50" charset="-127"/>
      <p:regular r:id="rId26"/>
      <p:bold r:id="rId27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FF"/>
    <a:srgbClr val="CC00FF"/>
    <a:srgbClr val="FF9900"/>
    <a:srgbClr val="CC00CC"/>
    <a:srgbClr val="FF0000"/>
    <a:srgbClr val="FF00FF"/>
    <a:srgbClr val="CCFFFF"/>
    <a:srgbClr val="FFFFCC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582" autoAdjust="0"/>
  </p:normalViewPr>
  <p:slideViewPr>
    <p:cSldViewPr>
      <p:cViewPr>
        <p:scale>
          <a:sx n="100" d="100"/>
          <a:sy n="100" d="100"/>
        </p:scale>
        <p:origin x="2568" y="678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en-US" altLang="ko-KR" dirty="0"/>
              <a:t>19. Modern C99~23</a:t>
            </a:r>
            <a:br>
              <a:rPr lang="en-US" altLang="ko-KR" dirty="0"/>
            </a:br>
            <a:r>
              <a:rPr lang="en-US" altLang="ko-KR" sz="2800" dirty="0"/>
              <a:t>(C99~C23)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621D30-1502-5C58-113B-56A2BA5020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161B3-26B2-4414-9E6E-1940DB32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19.1 C99 — </a:t>
            </a:r>
            <a:r>
              <a:rPr lang="ko-KR" altLang="en-US" dirty="0"/>
              <a:t>현대 </a:t>
            </a:r>
            <a:r>
              <a:rPr lang="en-US" altLang="ko-KR" dirty="0"/>
              <a:t>C</a:t>
            </a:r>
            <a:r>
              <a:rPr lang="ko-KR" altLang="en-US" dirty="0"/>
              <a:t>의 출발점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5E788-69B5-4BF6-98E9-13A4291D8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Modern C</a:t>
            </a:r>
          </a:p>
          <a:p>
            <a:pPr lvl="1"/>
            <a:r>
              <a:rPr lang="en-US" altLang="ko-KR" sz="2000" dirty="0"/>
              <a:t>C99 → C11 → C23 </a:t>
            </a:r>
            <a:r>
              <a:rPr lang="ko-KR" altLang="en-US" sz="2000" dirty="0"/>
              <a:t>발전</a:t>
            </a:r>
            <a:endParaRPr lang="en-US" altLang="ko-KR" sz="2000" dirty="0"/>
          </a:p>
          <a:p>
            <a:pPr lvl="1"/>
            <a:endParaRPr lang="ko-KR" altLang="en-US" sz="2000" dirty="0"/>
          </a:p>
          <a:p>
            <a:r>
              <a:rPr lang="ko-KR" altLang="en-US" sz="2400" dirty="0"/>
              <a:t>핵심 변화</a:t>
            </a:r>
          </a:p>
          <a:p>
            <a:pPr lvl="1"/>
            <a:r>
              <a:rPr lang="ko-KR" altLang="en-US" sz="2000" dirty="0"/>
              <a:t>데이터 표현 정확성</a:t>
            </a:r>
          </a:p>
          <a:p>
            <a:pPr lvl="1"/>
            <a:r>
              <a:rPr lang="ko-KR" altLang="en-US" sz="2000" dirty="0" err="1"/>
              <a:t>멀티스레드</a:t>
            </a:r>
            <a:r>
              <a:rPr lang="ko-KR" altLang="en-US" sz="2000" dirty="0"/>
              <a:t> 안정성</a:t>
            </a:r>
          </a:p>
          <a:p>
            <a:pPr lvl="1"/>
            <a:r>
              <a:rPr lang="ko-KR" altLang="en-US" sz="2000" dirty="0"/>
              <a:t>정렬 및 메모리 제어</a:t>
            </a:r>
          </a:p>
          <a:p>
            <a:pPr lvl="1"/>
            <a:r>
              <a:rPr lang="ko-KR" altLang="en-US" sz="2000" dirty="0"/>
              <a:t>타입 안전성</a:t>
            </a:r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4BBF9C-0A4C-44C9-BFA1-D7493B9CCA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961857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0B134-9B20-2292-243E-0EF1001F1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9C6755-0F7D-B8AC-D1A0-6EC323C27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19.1 C99 - </a:t>
            </a:r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521114-6E92-A05A-8497-FE3E657CA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C99</a:t>
            </a:r>
          </a:p>
          <a:p>
            <a:pPr lvl="1"/>
            <a:r>
              <a:rPr lang="ko-KR" altLang="en-US" sz="2000" dirty="0"/>
              <a:t>현대 </a:t>
            </a:r>
            <a:r>
              <a:rPr lang="en-US" altLang="ko-KR" sz="2000" dirty="0"/>
              <a:t>C</a:t>
            </a:r>
            <a:r>
              <a:rPr lang="ko-KR" altLang="en-US" sz="2000" dirty="0"/>
              <a:t>의 출발점</a:t>
            </a:r>
          </a:p>
          <a:p>
            <a:endParaRPr lang="ko-KR" altLang="en-US" sz="2400" dirty="0"/>
          </a:p>
          <a:p>
            <a:r>
              <a:rPr lang="ko-KR" altLang="en-US" sz="2400" dirty="0"/>
              <a:t>주요 기능</a:t>
            </a:r>
          </a:p>
          <a:p>
            <a:pPr lvl="1"/>
            <a:r>
              <a:rPr lang="ko-KR" altLang="en-US" sz="2000" dirty="0"/>
              <a:t>정확한 정수 타입</a:t>
            </a:r>
          </a:p>
          <a:p>
            <a:pPr lvl="1"/>
            <a:r>
              <a:rPr lang="en-US" altLang="ko-KR" sz="2000" dirty="0"/>
              <a:t>bool </a:t>
            </a:r>
            <a:r>
              <a:rPr lang="ko-KR" altLang="en-US" sz="2000" dirty="0"/>
              <a:t>타입</a:t>
            </a:r>
          </a:p>
          <a:p>
            <a:pPr lvl="1"/>
            <a:r>
              <a:rPr lang="ko-KR" altLang="en-US" sz="2000" dirty="0"/>
              <a:t>구조체 확장</a:t>
            </a:r>
          </a:p>
          <a:p>
            <a:pPr lvl="1"/>
            <a:r>
              <a:rPr lang="ko-KR" altLang="en-US" sz="2000" dirty="0"/>
              <a:t>메모리 표현 강화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F24E8F5-8A5E-4249-6734-B9F23798CB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8251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D7C6B-2443-EFC3-43E0-FD54E808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53E277-499E-758B-BA9B-641483F01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19.1 C99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794F44-8D5D-6D2D-98D5-A68E10AA1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&lt;</a:t>
            </a:r>
            <a:r>
              <a:rPr lang="en-US" altLang="ko-KR" sz="2400" dirty="0" err="1"/>
              <a:t>stdint.h</a:t>
            </a:r>
            <a:r>
              <a:rPr lang="en-US" altLang="ko-KR" sz="2400" dirty="0"/>
              <a:t>&gt;</a:t>
            </a:r>
          </a:p>
          <a:p>
            <a:pPr lvl="1"/>
            <a:r>
              <a:rPr lang="ko-KR" altLang="en-US" sz="2000" dirty="0"/>
              <a:t>고정 폭 정수 타입</a:t>
            </a:r>
            <a:r>
              <a:rPr lang="en-US" altLang="ko-KR" sz="2000" dirty="0"/>
              <a:t>: int8_t, int16_t, int32_t, int64_t</a:t>
            </a:r>
          </a:p>
          <a:p>
            <a:pPr lvl="1"/>
            <a:r>
              <a:rPr lang="ko-KR" altLang="en-US" sz="2000" dirty="0"/>
              <a:t>정확한 비트 크기 → 플랫폼 독립</a:t>
            </a:r>
          </a:p>
          <a:p>
            <a:pPr lvl="1"/>
            <a:r>
              <a:rPr lang="ko-KR" altLang="en-US" sz="2000" dirty="0"/>
              <a:t>용도</a:t>
            </a:r>
            <a:r>
              <a:rPr lang="en-US" altLang="ko-KR" sz="2000" dirty="0"/>
              <a:t>: </a:t>
            </a:r>
            <a:r>
              <a:rPr lang="ko-KR" altLang="en-US" sz="2000" dirty="0"/>
              <a:t>파일 포맷</a:t>
            </a:r>
            <a:r>
              <a:rPr lang="en-US" altLang="ko-KR" sz="2000" dirty="0"/>
              <a:t>, </a:t>
            </a:r>
            <a:r>
              <a:rPr lang="ko-KR" altLang="en-US" sz="2000" dirty="0"/>
              <a:t>네트워크 패킷</a:t>
            </a:r>
            <a:r>
              <a:rPr lang="en-US" altLang="ko-KR" sz="2000" dirty="0"/>
              <a:t>, GPU </a:t>
            </a:r>
            <a:r>
              <a:rPr lang="ko-KR" altLang="en-US" sz="2000" dirty="0"/>
              <a:t>버퍼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&lt;stdbool.h&gt;</a:t>
            </a:r>
          </a:p>
          <a:p>
            <a:pPr lvl="1"/>
            <a:r>
              <a:rPr lang="en-US" altLang="ko-KR" sz="2000" dirty="0"/>
              <a:t>bool </a:t>
            </a:r>
            <a:r>
              <a:rPr lang="ko-KR" altLang="en-US" sz="2000" dirty="0"/>
              <a:t>타입</a:t>
            </a:r>
            <a:r>
              <a:rPr lang="en-US" altLang="ko-KR" sz="2000" dirty="0"/>
              <a:t>: bool, true, false</a:t>
            </a:r>
          </a:p>
          <a:p>
            <a:pPr lvl="1"/>
            <a:r>
              <a:rPr lang="ko-KR" altLang="en-US" sz="2000" dirty="0"/>
              <a:t>이전 방식</a:t>
            </a:r>
            <a:r>
              <a:rPr lang="en-US" altLang="ko-KR" sz="2000" dirty="0"/>
              <a:t>: int / </a:t>
            </a:r>
            <a:r>
              <a:rPr lang="ko-KR" altLang="en-US" sz="2000" dirty="0"/>
              <a:t>매크로 사용</a:t>
            </a:r>
          </a:p>
          <a:p>
            <a:pPr lvl="1"/>
            <a:r>
              <a:rPr lang="ko-KR" altLang="en-US" sz="2000" dirty="0"/>
              <a:t>가독성 향상</a:t>
            </a:r>
            <a:r>
              <a:rPr lang="en-US" altLang="ko-KR" sz="2000" dirty="0"/>
              <a:t>, </a:t>
            </a:r>
            <a:r>
              <a:rPr lang="ko-KR" altLang="en-US" sz="2000" dirty="0"/>
              <a:t>의도 명확화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D2452C-0787-A117-36CC-DB90D42CED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012217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E04C2-BB8E-9F18-521A-8F8AA044F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18A4F-E7DA-9272-89B5-43A971C9D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19.1 C99 - Flexible Array Member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79710-9984-96D4-8FDC-D8A38D4CE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Flexible Array Member</a:t>
            </a:r>
          </a:p>
          <a:p>
            <a:pPr lvl="1"/>
            <a:r>
              <a:rPr lang="ko-KR" altLang="en-US" sz="2000" dirty="0"/>
              <a:t>가변 길이 구조체 멤버</a:t>
            </a:r>
          </a:p>
          <a:p>
            <a:pPr lvl="1"/>
            <a:r>
              <a:rPr lang="ko-KR" altLang="en-US" sz="2000" dirty="0"/>
              <a:t>런타임 크기 결정</a:t>
            </a:r>
          </a:p>
          <a:p>
            <a:pPr lvl="1"/>
            <a:r>
              <a:rPr lang="ko-KR" altLang="en-US" sz="2000" dirty="0"/>
              <a:t>연속 메모리 구조</a:t>
            </a:r>
          </a:p>
          <a:p>
            <a:pPr lvl="1"/>
            <a:r>
              <a:rPr lang="ko-KR" altLang="en-US" sz="2000" dirty="0"/>
              <a:t>용도</a:t>
            </a:r>
            <a:r>
              <a:rPr lang="en-US" altLang="ko-KR" sz="2000" dirty="0"/>
              <a:t>: </a:t>
            </a:r>
            <a:r>
              <a:rPr lang="ko-KR" altLang="en-US" sz="2000" dirty="0"/>
              <a:t>패킷</a:t>
            </a:r>
            <a:r>
              <a:rPr lang="en-US" altLang="ko-KR" sz="2000" dirty="0"/>
              <a:t>, </a:t>
            </a:r>
            <a:r>
              <a:rPr lang="ko-KR" altLang="en-US" sz="2000" dirty="0"/>
              <a:t>바이너리 데이터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sizeof(Packet)</a:t>
            </a:r>
          </a:p>
          <a:p>
            <a:pPr lvl="1"/>
            <a:r>
              <a:rPr lang="en-US" altLang="ko-KR" sz="2000" dirty="0"/>
              <a:t>data </a:t>
            </a:r>
            <a:r>
              <a:rPr lang="ko-KR" altLang="en-US" sz="2000" dirty="0"/>
              <a:t>제외</a:t>
            </a:r>
          </a:p>
          <a:p>
            <a:pPr lvl="1"/>
            <a:r>
              <a:rPr lang="ko-KR" altLang="en-US" sz="2000" dirty="0"/>
              <a:t>구조체 기본 크기만 포함</a:t>
            </a:r>
            <a:endParaRPr lang="ko-KR" altLang="en-US" dirty="0"/>
          </a:p>
          <a:p>
            <a:pPr lvl="1"/>
            <a:r>
              <a:rPr lang="ko-KR" altLang="en-US" sz="2000" dirty="0"/>
              <a:t>패딩 포함 가능</a:t>
            </a:r>
          </a:p>
          <a:p>
            <a:pPr lvl="1"/>
            <a:r>
              <a:rPr lang="en-US" altLang="ko-KR" sz="2000" dirty="0"/>
              <a:t>data </a:t>
            </a:r>
            <a:r>
              <a:rPr lang="ko-KR" altLang="en-US" sz="2000" dirty="0"/>
              <a:t>시작 위치 기준 → 추가 메모리 할당 필요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E008F76-3F54-7F1C-D5A1-DB9B34C239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ADDB9F-076D-87E5-ADE8-ACDCF2601257}"/>
              </a:ext>
            </a:extLst>
          </p:cNvPr>
          <p:cNvSpPr txBox="1"/>
          <p:nvPr/>
        </p:nvSpPr>
        <p:spPr>
          <a:xfrm>
            <a:off x="4355976" y="908720"/>
            <a:ext cx="4176464" cy="175432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Packet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size;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2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data[];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 Packet;</a:t>
            </a:r>
            <a:endParaRPr lang="ko-KR" altLang="en-US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5F9F55-EC37-E1E0-DFDD-FA69CE64DE21}"/>
              </a:ext>
            </a:extLst>
          </p:cNvPr>
          <p:cNvSpPr txBox="1"/>
          <p:nvPr/>
        </p:nvSpPr>
        <p:spPr>
          <a:xfrm>
            <a:off x="971600" y="4965521"/>
            <a:ext cx="7560840" cy="120032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100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바이트의 데이터를 담고 싶은 경우</a:t>
            </a:r>
            <a:br>
              <a:rPr lang="ko-KR" altLang="en-US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dataSize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Packet* p = (Packet*)</a:t>
            </a: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(Packet) +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dataSize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p-&gt;size =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dataSize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p-&gt;data[0]~data[99]</a:t>
            </a:r>
            <a:r>
              <a:rPr lang="ko-KR" altLang="en-US" sz="1800" b="1" i="1" u="none" strike="noStrike" dirty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 접근 가능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4294167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58DC6-E60E-58F6-592F-B4087BD7F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7189D-9309-9596-1327-7962DB08E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19.1 C99 - VLA, </a:t>
            </a:r>
            <a:r>
              <a:rPr lang="ko-KR" altLang="en-US" dirty="0"/>
              <a:t>지정 초기화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C66932-6E1A-79A6-5468-6BD1C543E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가변 길이 배열</a:t>
            </a:r>
          </a:p>
          <a:p>
            <a:pPr lvl="1"/>
            <a:r>
              <a:rPr lang="en-US" altLang="ko-KR" dirty="0"/>
              <a:t>int buffer[n];</a:t>
            </a:r>
          </a:p>
          <a:p>
            <a:pPr lvl="1"/>
            <a:r>
              <a:rPr lang="ko-KR" altLang="en-US" dirty="0"/>
              <a:t>런타임 크기 결정</a:t>
            </a:r>
          </a:p>
          <a:p>
            <a:pPr lvl="1"/>
            <a:r>
              <a:rPr lang="ko-KR" altLang="en-US" dirty="0"/>
              <a:t>스택 메모리 사용</a:t>
            </a:r>
          </a:p>
          <a:p>
            <a:pPr lvl="1"/>
            <a:r>
              <a:rPr lang="en-US" altLang="ko-KR" dirty="0"/>
              <a:t>C11 </a:t>
            </a:r>
            <a:r>
              <a:rPr lang="ko-KR" altLang="en-US" dirty="0"/>
              <a:t>이후 선택</a:t>
            </a:r>
            <a:r>
              <a:rPr lang="en-US" altLang="ko-KR" dirty="0"/>
              <a:t>(Optional)</a:t>
            </a:r>
            <a:r>
              <a:rPr lang="ko-KR" altLang="en-US" dirty="0"/>
              <a:t> 기능</a:t>
            </a:r>
            <a:br>
              <a:rPr lang="en-US" altLang="ko-KR" dirty="0"/>
            </a:br>
            <a:r>
              <a:rPr lang="ko-KR" altLang="en-US" dirty="0"/>
              <a:t>→ 크로스 플랫폼 개발에서는 사용을 지양</a:t>
            </a:r>
            <a:endParaRPr lang="en-US" altLang="ko-KR" dirty="0"/>
          </a:p>
          <a:p>
            <a:pPr lvl="1"/>
            <a:endParaRPr lang="en-US" altLang="ko-KR" sz="2000" dirty="0"/>
          </a:p>
          <a:p>
            <a:r>
              <a:rPr lang="ko-KR" altLang="en-US" dirty="0"/>
              <a:t>지정 초기화</a:t>
            </a:r>
          </a:p>
          <a:p>
            <a:pPr lvl="1"/>
            <a:r>
              <a:rPr lang="ko-KR" altLang="en-US" dirty="0"/>
              <a:t>필드 이름 기반 초기화</a:t>
            </a:r>
          </a:p>
          <a:p>
            <a:pPr lvl="1"/>
            <a:r>
              <a:rPr lang="ko-KR" altLang="en-US" dirty="0"/>
              <a:t>구조 변경에 안전</a:t>
            </a:r>
            <a:endParaRPr lang="en-US" altLang="ko-KR" dirty="0"/>
          </a:p>
          <a:p>
            <a:pPr lvl="1"/>
            <a:r>
              <a:rPr lang="en-US" altLang="ko-KR" dirty="0"/>
              <a:t>Ex)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2BF3A6-4086-C1CC-4199-130F620C2B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0B0585-2202-C322-E82D-110CD6A1467E}"/>
              </a:ext>
            </a:extLst>
          </p:cNvPr>
          <p:cNvSpPr txBox="1"/>
          <p:nvPr/>
        </p:nvSpPr>
        <p:spPr>
          <a:xfrm>
            <a:off x="971600" y="5517232"/>
            <a:ext cx="6336704" cy="4001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fr-FR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fr-F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Vec2</a:t>
            </a:r>
            <a:r>
              <a:rPr lang="fr-F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altLang="ko-KR" sz="20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fr-F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{ .x = </a:t>
            </a:r>
            <a:r>
              <a:rPr lang="fr-F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10.0f</a:t>
            </a:r>
            <a:r>
              <a:rPr lang="fr-F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.y = </a:t>
            </a:r>
            <a:r>
              <a:rPr lang="fr-FR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20.0f</a:t>
            </a:r>
            <a:r>
              <a:rPr lang="fr-F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};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89040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3EB52-7B61-B0C4-B8DB-4FB145916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6EB6E3-8476-042B-4B15-7B95EF7F8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19.1 C99 - </a:t>
            </a:r>
            <a:r>
              <a:rPr lang="ko-KR" altLang="en-US" dirty="0"/>
              <a:t>복합 리터럴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77F17-7278-D5DD-65C0-E3D814983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복합 리터럴</a:t>
            </a:r>
          </a:p>
          <a:p>
            <a:pPr lvl="1"/>
            <a:r>
              <a:rPr lang="ko-KR" altLang="en-US" dirty="0"/>
              <a:t>임시 객체 안전 사용</a:t>
            </a:r>
          </a:p>
          <a:p>
            <a:pPr lvl="1"/>
            <a:r>
              <a:rPr lang="ko-KR" altLang="en-US" dirty="0"/>
              <a:t>즉시 사용 가능</a:t>
            </a:r>
            <a:endParaRPr lang="en-US" altLang="ko-KR" dirty="0"/>
          </a:p>
          <a:p>
            <a:pPr lvl="1"/>
            <a:r>
              <a:rPr lang="ko-KR" altLang="en-US" dirty="0"/>
              <a:t>유효 범위</a:t>
            </a:r>
            <a:r>
              <a:rPr lang="en-US" altLang="ko-KR" dirty="0"/>
              <a:t>: </a:t>
            </a:r>
            <a:r>
              <a:rPr lang="ko-KR" altLang="en-US" dirty="0"/>
              <a:t>블록</a:t>
            </a:r>
            <a:r>
              <a:rPr lang="en-US" altLang="ko-KR" dirty="0"/>
              <a:t>(scope) </a:t>
            </a:r>
            <a:r>
              <a:rPr lang="ko-KR" altLang="en-US" dirty="0"/>
              <a:t>내</a:t>
            </a:r>
            <a:r>
              <a:rPr lang="en-US" altLang="ko-KR" dirty="0"/>
              <a:t>, </a:t>
            </a:r>
            <a:r>
              <a:rPr lang="ko-KR" altLang="en-US" dirty="0"/>
              <a:t>블록 종료 시 소멸</a:t>
            </a:r>
          </a:p>
          <a:p>
            <a:pPr lvl="1"/>
            <a:r>
              <a:rPr lang="ko-KR" altLang="en-US" dirty="0"/>
              <a:t>용도</a:t>
            </a:r>
            <a:r>
              <a:rPr lang="en-US" altLang="ko-KR" dirty="0"/>
              <a:t>: </a:t>
            </a:r>
            <a:r>
              <a:rPr lang="ko-KR" altLang="en-US" dirty="0"/>
              <a:t>함수 인자 전달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5C36D6-3E6D-121C-76CA-6E91365E9C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588857-D334-E3FD-35CD-BABE551CCAFB}"/>
              </a:ext>
            </a:extLst>
          </p:cNvPr>
          <p:cNvSpPr txBox="1"/>
          <p:nvPr/>
        </p:nvSpPr>
        <p:spPr>
          <a:xfrm>
            <a:off x="899592" y="3068960"/>
            <a:ext cx="7128792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 = (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[]){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E41DF5-19FA-A6D8-3D16-1E8AA6E91AD3}"/>
              </a:ext>
            </a:extLst>
          </p:cNvPr>
          <p:cNvSpPr txBox="1"/>
          <p:nvPr/>
        </p:nvSpPr>
        <p:spPr>
          <a:xfrm>
            <a:off x="899592" y="3716526"/>
            <a:ext cx="7128792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printVector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((struct Vec2){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1.0f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2.0f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});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014478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099FE-4DA2-0212-C7AA-B3E34A1A4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B258E0-08A5-B1B1-11B2-9555AC46C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19.1 C99 - restrict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F3577D-3588-5003-FCE8-9D4EFDB9E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포인터 별칭 금지</a:t>
            </a:r>
          </a:p>
          <a:p>
            <a:r>
              <a:rPr lang="ko-KR" altLang="en-US" dirty="0"/>
              <a:t>컴파일러 최적화 가능</a:t>
            </a:r>
          </a:p>
          <a:p>
            <a:r>
              <a:rPr lang="ko-KR" altLang="en-US" dirty="0"/>
              <a:t>자동 벡터화 → 수치 계산 성능 향상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BFBA90-59E7-65D5-046C-0E378424A2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F67D3-F460-AAAE-68D0-2914F8DA9FDD}"/>
              </a:ext>
            </a:extLst>
          </p:cNvPr>
          <p:cNvSpPr txBox="1"/>
          <p:nvPr/>
        </p:nvSpPr>
        <p:spPr>
          <a:xfrm>
            <a:off x="485875" y="2492896"/>
            <a:ext cx="8262838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restrict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a,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restrict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b,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restrict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c,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n)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i = </a:t>
            </a:r>
            <a:r>
              <a:rPr lang="en-US" altLang="ko-KR" sz="16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 i &lt; n; ++i)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c[i] = a[i] + b[i];</a:t>
            </a:r>
            <a:b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932473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AC2CA-4D6D-BA34-79A3-AF42ADEC1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FF141-7CE6-5D4A-90FF-3EEE8059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19.1 C99 - inline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08E3BF-50C5-5DC1-32B3-F97962CFB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 인라인 확장 힌트</a:t>
            </a:r>
          </a:p>
          <a:p>
            <a:r>
              <a:rPr lang="ko-KR" altLang="en-US" dirty="0"/>
              <a:t>함수 호출 제거 가능</a:t>
            </a:r>
          </a:p>
          <a:p>
            <a:r>
              <a:rPr lang="ko-KR" altLang="en-US" dirty="0"/>
              <a:t>성능 최적화 → 컴파일러가 판단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147FDB-0742-596F-CC1F-BEDC2137B0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D9377B-59BD-64E1-2FB7-F2CA5A420E5B}"/>
              </a:ext>
            </a:extLst>
          </p:cNvPr>
          <p:cNvSpPr txBox="1"/>
          <p:nvPr/>
        </p:nvSpPr>
        <p:spPr>
          <a:xfrm>
            <a:off x="539750" y="2492896"/>
            <a:ext cx="4572000" cy="156966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x)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x * x;</a:t>
            </a:r>
            <a:b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789253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19.2 C11 — </a:t>
            </a:r>
            <a:r>
              <a:rPr lang="ko-KR" altLang="en-US" dirty="0" err="1"/>
              <a:t>멀티스레드와</a:t>
            </a:r>
            <a:r>
              <a:rPr lang="ko-KR" altLang="en-US" dirty="0"/>
              <a:t> 안전성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C11</a:t>
            </a:r>
          </a:p>
          <a:p>
            <a:pPr lvl="1"/>
            <a:r>
              <a:rPr lang="ko-KR" altLang="en-US" dirty="0" err="1"/>
              <a:t>멀티스레드와</a:t>
            </a:r>
            <a:r>
              <a:rPr lang="ko-KR" altLang="en-US" dirty="0"/>
              <a:t> 안전성 강화</a:t>
            </a:r>
          </a:p>
          <a:p>
            <a:pPr lvl="1"/>
            <a:r>
              <a:rPr lang="ko-KR" altLang="en-US" dirty="0"/>
              <a:t>컴파일 타임 검증</a:t>
            </a:r>
          </a:p>
          <a:p>
            <a:pPr lvl="1"/>
            <a:r>
              <a:rPr lang="ko-KR" altLang="en-US" dirty="0"/>
              <a:t>원자 연산</a:t>
            </a:r>
          </a:p>
          <a:p>
            <a:pPr lvl="1"/>
            <a:r>
              <a:rPr lang="ko-KR" altLang="en-US" dirty="0"/>
              <a:t>정렬 제어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0814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E4D8C-376B-1FB3-A10C-58A3AF8C9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9EBAE-374E-FA4F-6474-17A094C91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19.2 C11 - </a:t>
            </a:r>
            <a:r>
              <a:rPr lang="ko-KR" altLang="en-US" dirty="0" err="1"/>
              <a:t>멀티스레드와</a:t>
            </a:r>
            <a:r>
              <a:rPr lang="ko-KR" altLang="en-US" dirty="0"/>
              <a:t> 안전성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9AACB1-FF74-0DAB-ED8C-38BD2611A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_Static_assert</a:t>
            </a:r>
          </a:p>
          <a:p>
            <a:pPr lvl="1"/>
            <a:r>
              <a:rPr lang="ko-KR" altLang="en-US" dirty="0"/>
              <a:t>컴파일 타임 검증</a:t>
            </a:r>
          </a:p>
          <a:p>
            <a:pPr lvl="1"/>
            <a:r>
              <a:rPr lang="ko-KR" altLang="en-US" dirty="0"/>
              <a:t>용도</a:t>
            </a:r>
            <a:r>
              <a:rPr lang="en-US" altLang="ko-KR" dirty="0"/>
              <a:t>: </a:t>
            </a:r>
            <a:r>
              <a:rPr lang="ko-KR" altLang="en-US" dirty="0"/>
              <a:t>구조 크기 검증</a:t>
            </a:r>
            <a:r>
              <a:rPr lang="en-US" altLang="ko-KR" dirty="0"/>
              <a:t>, </a:t>
            </a:r>
            <a:r>
              <a:rPr lang="ko-KR" altLang="en-US" dirty="0"/>
              <a:t>데이터 정합성 확인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익명 구조체 </a:t>
            </a:r>
            <a:r>
              <a:rPr lang="en-US" altLang="ko-KR" dirty="0"/>
              <a:t>/ </a:t>
            </a:r>
            <a:r>
              <a:rPr lang="ko-KR" altLang="en-US" dirty="0"/>
              <a:t>공용체</a:t>
            </a:r>
          </a:p>
          <a:p>
            <a:pPr lvl="1"/>
            <a:r>
              <a:rPr lang="ko-KR" altLang="en-US" dirty="0"/>
              <a:t>동일 데이터 다양한 접근</a:t>
            </a:r>
          </a:p>
          <a:p>
            <a:pPr lvl="1"/>
            <a:r>
              <a:rPr lang="ko-KR" altLang="en-US" dirty="0"/>
              <a:t>용도</a:t>
            </a:r>
            <a:r>
              <a:rPr lang="en-US" altLang="ko-KR" dirty="0"/>
              <a:t>: </a:t>
            </a:r>
            <a:r>
              <a:rPr lang="ko-KR" altLang="en-US" dirty="0"/>
              <a:t>수학 라이브러리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382930-67DF-CBAC-9B7A-3FAF8D622D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52E08E-B463-8DEE-1642-AE0251AEC704}"/>
              </a:ext>
            </a:extLst>
          </p:cNvPr>
          <p:cNvSpPr txBox="1"/>
          <p:nvPr/>
        </p:nvSpPr>
        <p:spPr>
          <a:xfrm>
            <a:off x="971600" y="4529812"/>
            <a:ext cx="5112568" cy="203132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Vec3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x, y, z; };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v[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};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 Vec3;</a:t>
            </a:r>
            <a:endParaRPr lang="ko-KR" altLang="en-US" sz="1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54F537-3503-9E99-5830-EE941B7FC331}"/>
              </a:ext>
            </a:extLst>
          </p:cNvPr>
          <p:cNvSpPr txBox="1"/>
          <p:nvPr/>
        </p:nvSpPr>
        <p:spPr>
          <a:xfrm>
            <a:off x="971600" y="2264544"/>
            <a:ext cx="7344816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_Static_assert(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altLang="ko-KR" sz="18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"float size error"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649095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7A5EE-51DF-5649-4BC1-BDE4C3C9F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E35606-D479-1C0F-8033-8F5878522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19.2 C11 - _Generic / _Atomic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E8CC29-9C16-17DC-6324-DC94C929D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_Generic</a:t>
            </a:r>
          </a:p>
          <a:p>
            <a:pPr lvl="1"/>
            <a:r>
              <a:rPr lang="ko-KR" altLang="en-US" dirty="0"/>
              <a:t>타입 기반 분기</a:t>
            </a:r>
          </a:p>
          <a:p>
            <a:pPr lvl="1"/>
            <a:r>
              <a:rPr lang="ko-KR" altLang="en-US" dirty="0"/>
              <a:t>컴파일 타임 선택</a:t>
            </a:r>
          </a:p>
          <a:p>
            <a:pPr lvl="1"/>
            <a:r>
              <a:rPr lang="ko-KR" altLang="en-US" dirty="0"/>
              <a:t>함수 오버로딩 유사</a:t>
            </a:r>
            <a:br>
              <a:rPr lang="en-US" altLang="ko-KR" dirty="0"/>
            </a:br>
            <a:r>
              <a:rPr lang="ko-KR" altLang="en-US" dirty="0"/>
              <a:t>→ 매크로 확장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_Atomic</a:t>
            </a:r>
          </a:p>
          <a:p>
            <a:pPr lvl="1"/>
            <a:r>
              <a:rPr lang="ko-KR" altLang="en-US" dirty="0"/>
              <a:t>원자적 연산</a:t>
            </a:r>
          </a:p>
          <a:p>
            <a:pPr lvl="1"/>
            <a:r>
              <a:rPr lang="ko-KR" altLang="en-US" dirty="0"/>
              <a:t>데이터 경쟁 방지</a:t>
            </a:r>
          </a:p>
          <a:p>
            <a:pPr lvl="1"/>
            <a:r>
              <a:rPr lang="ko-KR" altLang="en-US" dirty="0" err="1"/>
              <a:t>멀티스레드</a:t>
            </a:r>
            <a:r>
              <a:rPr lang="ko-KR" altLang="en-US" dirty="0"/>
              <a:t> 안전성</a:t>
            </a:r>
            <a:br>
              <a:rPr lang="en-US" altLang="ko-KR" dirty="0"/>
            </a:br>
            <a:r>
              <a:rPr lang="ko-KR" altLang="en-US" dirty="0"/>
              <a:t>→ </a:t>
            </a:r>
            <a:r>
              <a:rPr lang="en-US" altLang="ko-KR" dirty="0"/>
              <a:t>Lock-free </a:t>
            </a:r>
            <a:r>
              <a:rPr lang="ko-KR" altLang="en-US" dirty="0"/>
              <a:t>구조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A9C577-795B-EABB-81F4-768D5061A2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CA54C0-AD12-4C27-6A61-9D70AB383A5B}"/>
              </a:ext>
            </a:extLst>
          </p:cNvPr>
          <p:cNvSpPr txBox="1"/>
          <p:nvPr/>
        </p:nvSpPr>
        <p:spPr>
          <a:xfrm>
            <a:off x="3750965" y="908720"/>
            <a:ext cx="4997748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#define </a:t>
            </a:r>
            <a:r>
              <a:rPr lang="en-US" altLang="ko-KR" sz="20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my_sin</a:t>
            </a: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(x) _Generic((x), \</a:t>
            </a:r>
            <a:b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  float: sinf, \</a:t>
            </a:r>
            <a:b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  double: sin, \</a:t>
            </a:r>
            <a:b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  long double: </a:t>
            </a:r>
            <a:r>
              <a:rPr lang="en-US" altLang="ko-KR" sz="20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sinl</a:t>
            </a:r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)(x)</a:t>
            </a:r>
            <a:endParaRPr lang="ko-KR" altLang="en-US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23D300-49E7-6223-7EEE-AD1E213B888C}"/>
              </a:ext>
            </a:extLst>
          </p:cNvPr>
          <p:cNvSpPr txBox="1"/>
          <p:nvPr/>
        </p:nvSpPr>
        <p:spPr>
          <a:xfrm>
            <a:off x="3750965" y="3861048"/>
            <a:ext cx="4572000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_Atomic </a:t>
            </a:r>
            <a:r>
              <a:rPr lang="en-US" altLang="ko-KR" sz="24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counter;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39178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C4A81-80A4-8722-D400-77D227904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E4ADE-1BBF-8600-27C2-9420E7950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19.2 C11 - </a:t>
            </a:r>
            <a:r>
              <a:rPr lang="ko-KR" altLang="en-US" dirty="0"/>
              <a:t>정렬 </a:t>
            </a:r>
            <a:r>
              <a:rPr lang="en-US" altLang="ko-KR" dirty="0"/>
              <a:t>/ Annex 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F747BA-7ECF-7347-5836-C955955A9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정렬과 메모리</a:t>
            </a:r>
          </a:p>
          <a:p>
            <a:pPr lvl="1"/>
            <a:r>
              <a:rPr lang="en-US" altLang="ko-KR" dirty="0"/>
              <a:t>_Alignas</a:t>
            </a:r>
          </a:p>
          <a:p>
            <a:pPr lvl="1"/>
            <a:r>
              <a:rPr lang="en-US" altLang="ko-KR" dirty="0" err="1"/>
              <a:t>aligned_alloc</a:t>
            </a:r>
            <a:endParaRPr lang="en-US" altLang="ko-KR" dirty="0"/>
          </a:p>
          <a:p>
            <a:pPr lvl="1"/>
            <a:r>
              <a:rPr lang="en-US" altLang="ko-KR" dirty="0"/>
              <a:t>SIMD </a:t>
            </a:r>
            <a:r>
              <a:rPr lang="ko-KR" altLang="en-US" dirty="0"/>
              <a:t>대응</a:t>
            </a:r>
          </a:p>
          <a:p>
            <a:pPr lvl="1"/>
            <a:r>
              <a:rPr lang="ko-KR" altLang="en-US" dirty="0"/>
              <a:t>메모리 정렬 보장</a:t>
            </a:r>
            <a:br>
              <a:rPr lang="en-US" altLang="ko-KR" dirty="0"/>
            </a:br>
            <a:r>
              <a:rPr lang="ko-KR" altLang="en-US" dirty="0"/>
              <a:t>→ 성능 중요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Annex K</a:t>
            </a:r>
          </a:p>
          <a:p>
            <a:pPr lvl="1"/>
            <a:r>
              <a:rPr lang="en-US" altLang="ko-KR" dirty="0"/>
              <a:t>_s </a:t>
            </a:r>
            <a:r>
              <a:rPr lang="ko-KR" altLang="en-US" dirty="0"/>
              <a:t>가 붙은 함수</a:t>
            </a:r>
            <a:endParaRPr lang="en-US" altLang="ko-KR" dirty="0"/>
          </a:p>
          <a:p>
            <a:pPr lvl="1"/>
            <a:r>
              <a:rPr lang="ko-KR" altLang="en-US" dirty="0"/>
              <a:t>보안 함수</a:t>
            </a:r>
            <a:r>
              <a:rPr lang="en-US" altLang="ko-KR" dirty="0"/>
              <a:t>, </a:t>
            </a:r>
            <a:r>
              <a:rPr lang="ko-KR" altLang="en-US" dirty="0"/>
              <a:t>안전한 </a:t>
            </a:r>
            <a:r>
              <a:rPr lang="en-US" altLang="ko-KR" dirty="0"/>
              <a:t>API, </a:t>
            </a:r>
            <a:r>
              <a:rPr lang="ko-KR" altLang="en-US" dirty="0"/>
              <a:t>선택적 기능</a:t>
            </a:r>
          </a:p>
          <a:p>
            <a:pPr lvl="1"/>
            <a:r>
              <a:rPr lang="en-US" altLang="ko-KR" dirty="0" err="1"/>
              <a:t>strcpy_s</a:t>
            </a:r>
            <a:r>
              <a:rPr lang="en-US" altLang="ko-KR" dirty="0"/>
              <a:t>, </a:t>
            </a:r>
            <a:r>
              <a:rPr lang="en-US" altLang="ko-KR" dirty="0" err="1"/>
              <a:t>strcat_s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sprintf_s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memcpy_s</a:t>
            </a:r>
            <a:r>
              <a:rPr lang="en-US" altLang="ko-KR" dirty="0"/>
              <a:t> </a:t>
            </a:r>
            <a:r>
              <a:rPr lang="ko-KR" altLang="en-US" dirty="0"/>
              <a:t>추가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182ECA7-C807-DD4D-5FF8-6CB3BE7CDD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55EAA2-6EFB-7F41-5498-E01333651A56}"/>
              </a:ext>
            </a:extLst>
          </p:cNvPr>
          <p:cNvSpPr txBox="1"/>
          <p:nvPr/>
        </p:nvSpPr>
        <p:spPr>
          <a:xfrm>
            <a:off x="3707904" y="836712"/>
            <a:ext cx="4572000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fr-FR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_Alignas(</a:t>
            </a:r>
            <a:r>
              <a:rPr lang="fr-FR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fr-FR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fr-FR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matrix[</a:t>
            </a:r>
            <a:r>
              <a:rPr lang="fr-FR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fr-FR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fr-FR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fr-FR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];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FAD724-FFAE-7083-9DD9-26D76AEDEB1B}"/>
              </a:ext>
            </a:extLst>
          </p:cNvPr>
          <p:cNvSpPr txBox="1"/>
          <p:nvPr/>
        </p:nvSpPr>
        <p:spPr>
          <a:xfrm>
            <a:off x="3707904" y="1839159"/>
            <a:ext cx="4572000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 = </a:t>
            </a:r>
            <a:r>
              <a:rPr lang="en-US" altLang="ko-KR" sz="24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aligned_alloc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6783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65D6F-ECC1-4BBA-AB8C-0498584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19.3 C23 — </a:t>
            </a:r>
            <a:r>
              <a:rPr lang="ko-KR" altLang="en-US" dirty="0"/>
              <a:t>최신 </a:t>
            </a:r>
            <a:r>
              <a:rPr lang="en-US" altLang="ko-KR" dirty="0"/>
              <a:t>Modern C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A0226-C67D-4D03-93D1-E51939E7B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C23</a:t>
            </a:r>
          </a:p>
          <a:p>
            <a:pPr lvl="1"/>
            <a:r>
              <a:rPr lang="ko-KR" altLang="en-US" dirty="0"/>
              <a:t>최신 </a:t>
            </a:r>
            <a:r>
              <a:rPr lang="en-US" altLang="ko-KR" dirty="0"/>
              <a:t>Modern C</a:t>
            </a:r>
          </a:p>
          <a:p>
            <a:pPr lvl="1"/>
            <a:r>
              <a:rPr lang="ko-KR" altLang="en-US" dirty="0"/>
              <a:t>표현력 증가</a:t>
            </a:r>
          </a:p>
          <a:p>
            <a:pPr lvl="1"/>
            <a:r>
              <a:rPr lang="ko-KR" altLang="en-US" dirty="0"/>
              <a:t>타입 안전성 강화</a:t>
            </a:r>
          </a:p>
          <a:p>
            <a:pPr lvl="1"/>
            <a:r>
              <a:rPr lang="ko-KR" altLang="en-US" dirty="0"/>
              <a:t>문법 개선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995A50-5633-40D1-9F07-52103038AA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6310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1508D-F3EF-07A0-FD39-7EA138292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D76B6-EF7F-E409-9C33-7451DCF87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19.3 C23 — </a:t>
            </a:r>
            <a:r>
              <a:rPr lang="ko-KR" altLang="en-US" dirty="0"/>
              <a:t>최신 </a:t>
            </a:r>
            <a:r>
              <a:rPr lang="en-US" altLang="ko-KR" dirty="0"/>
              <a:t>Modern C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986482-3B60-C863-10A4-37FA6AE9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nullptr</a:t>
            </a:r>
          </a:p>
          <a:p>
            <a:pPr lvl="1"/>
            <a:r>
              <a:rPr lang="en-US" altLang="ko-KR" sz="2000" dirty="0"/>
              <a:t>NULL </a:t>
            </a:r>
            <a:r>
              <a:rPr lang="ko-KR" altLang="en-US" sz="2000" dirty="0"/>
              <a:t>대체</a:t>
            </a:r>
            <a:r>
              <a:rPr lang="en-US" altLang="ko-KR" sz="2000" dirty="0"/>
              <a:t>, </a:t>
            </a:r>
            <a:r>
              <a:rPr lang="ko-KR" altLang="en-US" sz="2000" dirty="0"/>
              <a:t>타입 안전성 향상→ 포인터 표현 개선</a:t>
            </a:r>
            <a:endParaRPr lang="en-US" altLang="ko-KR" sz="2000" dirty="0"/>
          </a:p>
          <a:p>
            <a:pPr lvl="2"/>
            <a:endParaRPr lang="en-US" altLang="ko-KR" sz="1600" dirty="0"/>
          </a:p>
          <a:p>
            <a:r>
              <a:rPr lang="ko-KR" altLang="en-US" sz="2400" dirty="0"/>
              <a:t>키워드 승격 </a:t>
            </a:r>
            <a:r>
              <a:rPr lang="en-US" altLang="ko-KR" sz="2400" dirty="0"/>
              <a:t>(</a:t>
            </a:r>
            <a:r>
              <a:rPr lang="ko-KR" altLang="en-US" sz="2400" dirty="0"/>
              <a:t>언어 통합</a:t>
            </a:r>
            <a:r>
              <a:rPr lang="en-US" altLang="ko-KR" sz="2400" dirty="0"/>
              <a:t>)</a:t>
            </a:r>
            <a:endParaRPr lang="ko-KR" altLang="en-US" sz="2400" dirty="0"/>
          </a:p>
          <a:p>
            <a:pPr lvl="1"/>
            <a:r>
              <a:rPr lang="en-US" altLang="ko-KR" sz="2000" dirty="0"/>
              <a:t>bool, </a:t>
            </a:r>
            <a:r>
              <a:rPr lang="en-US" altLang="ko-KR" sz="2000" dirty="0" err="1"/>
              <a:t>static_assert</a:t>
            </a:r>
            <a:r>
              <a:rPr lang="en-US" altLang="ko-KR" sz="2000" dirty="0"/>
              <a:t>, alignas</a:t>
            </a:r>
          </a:p>
          <a:p>
            <a:pPr lvl="2"/>
            <a:endParaRPr lang="en-US" altLang="ko-KR" sz="1600" dirty="0"/>
          </a:p>
          <a:p>
            <a:r>
              <a:rPr lang="en-US" altLang="ko-KR" sz="2400" dirty="0"/>
              <a:t>#embed</a:t>
            </a:r>
          </a:p>
          <a:p>
            <a:pPr lvl="1"/>
            <a:r>
              <a:rPr lang="ko-KR" altLang="en-US" sz="2000" dirty="0"/>
              <a:t>바이너리 포함</a:t>
            </a:r>
            <a:r>
              <a:rPr lang="en-US" altLang="ko-KR" sz="2000" dirty="0"/>
              <a:t>, </a:t>
            </a:r>
            <a:r>
              <a:rPr lang="ko-KR" altLang="en-US" sz="2000" dirty="0"/>
              <a:t>컴파일 타임 삽입</a:t>
            </a:r>
          </a:p>
          <a:p>
            <a:pPr lvl="1"/>
            <a:r>
              <a:rPr lang="ko-KR" altLang="en-US" sz="2000" dirty="0"/>
              <a:t>용도</a:t>
            </a:r>
            <a:r>
              <a:rPr lang="en-US" altLang="ko-KR" sz="2000" dirty="0"/>
              <a:t>: </a:t>
            </a:r>
            <a:r>
              <a:rPr lang="ko-KR" altLang="en-US" sz="2000" dirty="0"/>
              <a:t>셰이더</a:t>
            </a:r>
            <a:r>
              <a:rPr lang="en-US" altLang="ko-KR" sz="2000" dirty="0"/>
              <a:t>, </a:t>
            </a:r>
            <a:r>
              <a:rPr lang="ko-KR" altLang="en-US" sz="2000" dirty="0"/>
              <a:t>리소스 데이터</a:t>
            </a:r>
            <a:endParaRPr lang="en-US" altLang="ko-KR" sz="2000" dirty="0"/>
          </a:p>
          <a:p>
            <a:pPr lvl="2"/>
            <a:endParaRPr lang="en-US" altLang="ko-KR" sz="1600" dirty="0"/>
          </a:p>
          <a:p>
            <a:r>
              <a:rPr lang="en-US" altLang="ko-KR" sz="2400" dirty="0"/>
              <a:t>Empty Initializer</a:t>
            </a:r>
          </a:p>
          <a:p>
            <a:pPr lvl="1"/>
            <a:r>
              <a:rPr lang="ko-KR" altLang="en-US" sz="2000" dirty="0"/>
              <a:t>모든 값 </a:t>
            </a:r>
            <a:r>
              <a:rPr lang="en-US" altLang="ko-KR" sz="2000" dirty="0"/>
              <a:t>0 </a:t>
            </a:r>
            <a:r>
              <a:rPr lang="ko-KR" altLang="en-US" sz="2000" dirty="0"/>
              <a:t>초기화 → 간결한 코드</a:t>
            </a:r>
            <a:endParaRPr lang="en-US" altLang="ko-KR" sz="2000" dirty="0"/>
          </a:p>
          <a:p>
            <a:pPr lvl="2"/>
            <a:endParaRPr lang="en-US" altLang="ko-KR" sz="1600" dirty="0"/>
          </a:p>
          <a:p>
            <a:r>
              <a:rPr lang="en-US" altLang="ko-KR" sz="2400" dirty="0" err="1"/>
              <a:t>typeof</a:t>
            </a:r>
            <a:endParaRPr lang="en-US" altLang="ko-KR" sz="2400" dirty="0"/>
          </a:p>
          <a:p>
            <a:pPr lvl="1"/>
            <a:r>
              <a:rPr lang="ko-KR" altLang="en-US" sz="2000" dirty="0"/>
              <a:t>타입 추론</a:t>
            </a:r>
          </a:p>
          <a:p>
            <a:pPr lvl="1"/>
            <a:r>
              <a:rPr lang="ko-KR" altLang="en-US" sz="2000" dirty="0"/>
              <a:t>컴파일러 확장</a:t>
            </a:r>
            <a:r>
              <a:rPr lang="en-US" altLang="ko-KR" sz="2000" dirty="0"/>
              <a:t>, </a:t>
            </a:r>
            <a:r>
              <a:rPr lang="ko-KR" altLang="en-US" sz="2000" dirty="0"/>
              <a:t>매크로 간결화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B65A89E-EB51-805F-6A7C-D5CCBE8F02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4F62B2-999B-EDB8-D86C-7876392C8A62}"/>
              </a:ext>
            </a:extLst>
          </p:cNvPr>
          <p:cNvSpPr txBox="1"/>
          <p:nvPr/>
        </p:nvSpPr>
        <p:spPr>
          <a:xfrm>
            <a:off x="4544168" y="3068960"/>
            <a:ext cx="4176713" cy="9233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shader_code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[] = {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#embed 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8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triangle.spv</a:t>
            </a:r>
            <a:r>
              <a:rPr lang="en-US" altLang="ko-KR" sz="18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sz="1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033BCE-EB02-A0FB-C480-A18A2F09C81D}"/>
              </a:ext>
            </a:extLst>
          </p:cNvPr>
          <p:cNvSpPr txBox="1"/>
          <p:nvPr/>
        </p:nvSpPr>
        <p:spPr>
          <a:xfrm>
            <a:off x="4544169" y="4784373"/>
            <a:ext cx="4176712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18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Vec2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altLang="ko-KR" sz="18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{};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151081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C2249-1B87-F266-5FBA-61A899CDD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2B13D7-EAD7-DB75-A28C-03A3DD90A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19.3 C23 — </a:t>
            </a:r>
            <a:r>
              <a:rPr lang="ko-KR" altLang="en-US" dirty="0"/>
              <a:t>최신 </a:t>
            </a:r>
            <a:r>
              <a:rPr lang="en-US" altLang="ko-KR" dirty="0"/>
              <a:t>Modern C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0370BD-3C8D-9DCF-2608-EE93321B1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숫자 표현 개선</a:t>
            </a:r>
          </a:p>
          <a:p>
            <a:pPr lvl="1"/>
            <a:r>
              <a:rPr lang="ko-KR" altLang="en-US" sz="2000" dirty="0"/>
              <a:t>가독성 향상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_</a:t>
            </a:r>
            <a:r>
              <a:rPr lang="en-US" altLang="ko-KR" sz="2400" dirty="0" err="1"/>
              <a:t>BitInt</a:t>
            </a:r>
            <a:endParaRPr lang="en-US" altLang="ko-KR" sz="2400" dirty="0"/>
          </a:p>
          <a:p>
            <a:pPr lvl="1"/>
            <a:r>
              <a:rPr lang="ko-KR" altLang="en-US" sz="2000" dirty="0"/>
              <a:t>정확한 비트 정수</a:t>
            </a:r>
          </a:p>
          <a:p>
            <a:pPr lvl="1"/>
            <a:r>
              <a:rPr lang="ko-KR" altLang="en-US" sz="2000" dirty="0"/>
              <a:t>비트 단위 제어</a:t>
            </a:r>
          </a:p>
          <a:p>
            <a:pPr lvl="1"/>
            <a:r>
              <a:rPr lang="ko-KR" altLang="en-US" sz="2000" dirty="0"/>
              <a:t>메모리 최적화 → 프로토콜</a:t>
            </a:r>
            <a:r>
              <a:rPr lang="en-US" altLang="ko-KR" sz="2000" dirty="0"/>
              <a:t>/</a:t>
            </a:r>
            <a:r>
              <a:rPr lang="ko-KR" altLang="en-US" sz="2000" dirty="0"/>
              <a:t>압축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확인된 정수 연산</a:t>
            </a:r>
          </a:p>
          <a:p>
            <a:pPr lvl="1"/>
            <a:r>
              <a:rPr lang="en-US" altLang="ko-KR" sz="2000" dirty="0" err="1"/>
              <a:t>ckd_add</a:t>
            </a:r>
            <a:endParaRPr lang="en-US" altLang="ko-KR" sz="2000" dirty="0"/>
          </a:p>
          <a:p>
            <a:pPr lvl="1"/>
            <a:r>
              <a:rPr lang="ko-KR" altLang="en-US" sz="2000" dirty="0" err="1"/>
              <a:t>오버플로우</a:t>
            </a:r>
            <a:r>
              <a:rPr lang="ko-KR" altLang="en-US" sz="2000" dirty="0"/>
              <a:t> 감지 → 안전한 계산</a:t>
            </a:r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5A50BF6-9121-B849-ACCC-EFDC05D5AC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44AC9C-52A6-60AF-B8B5-5CADD4F4663A}"/>
              </a:ext>
            </a:extLst>
          </p:cNvPr>
          <p:cNvSpPr txBox="1"/>
          <p:nvPr/>
        </p:nvSpPr>
        <p:spPr>
          <a:xfrm>
            <a:off x="4283968" y="836712"/>
            <a:ext cx="3635896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money =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1'000'000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mask  =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0b11001100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F0E4C4-94F3-78BD-B116-A9E8CB6AB8AD}"/>
              </a:ext>
            </a:extLst>
          </p:cNvPr>
          <p:cNvSpPr txBox="1"/>
          <p:nvPr/>
        </p:nvSpPr>
        <p:spPr>
          <a:xfrm>
            <a:off x="4283968" y="2184887"/>
            <a:ext cx="3635896" cy="4001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BitInt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a = </a:t>
            </a:r>
            <a:r>
              <a:rPr lang="en-US" altLang="ko-KR" sz="2000" b="1" i="0" u="none" strike="noStrike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AA7BB4-C462-7358-BE76-B4A3F07A518E}"/>
              </a:ext>
            </a:extLst>
          </p:cNvPr>
          <p:cNvSpPr txBox="1"/>
          <p:nvPr/>
        </p:nvSpPr>
        <p:spPr>
          <a:xfrm>
            <a:off x="4283968" y="4200868"/>
            <a:ext cx="3635896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000" b="1" i="0" u="none" strike="noStrike" dirty="0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2000" b="1" i="0" u="none" strike="noStrike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stdckdint.h</a:t>
            </a:r>
            <a:r>
              <a:rPr lang="en-US" altLang="ko-KR" sz="2000" b="1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ckd_add</a:t>
            </a:r>
            <a:r>
              <a:rPr lang="en-US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(&amp;result, a, b);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82942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801C5-DCC4-6E1B-F15C-B58135422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27CB02-0D5F-4F41-8B76-7704B343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정리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43DD65-8EA2-B478-76AC-3A910A375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Modern C </a:t>
            </a:r>
            <a:r>
              <a:rPr lang="ko-KR" altLang="en-US" dirty="0"/>
              <a:t>핵심</a:t>
            </a:r>
            <a:endParaRPr lang="en-US" altLang="ko-KR" dirty="0"/>
          </a:p>
          <a:p>
            <a:pPr lvl="1"/>
            <a:r>
              <a:rPr lang="ko-KR" altLang="en-US" dirty="0"/>
              <a:t>정확한 데이터 표현</a:t>
            </a:r>
            <a:endParaRPr lang="en-US" altLang="ko-KR" dirty="0"/>
          </a:p>
          <a:p>
            <a:pPr lvl="1"/>
            <a:r>
              <a:rPr lang="ko-KR" altLang="en-US" dirty="0" err="1"/>
              <a:t>멀티스레드</a:t>
            </a:r>
            <a:r>
              <a:rPr lang="ko-KR" altLang="en-US" dirty="0"/>
              <a:t> 안정성</a:t>
            </a:r>
            <a:endParaRPr lang="en-US" altLang="ko-KR" dirty="0"/>
          </a:p>
          <a:p>
            <a:pPr lvl="1"/>
            <a:r>
              <a:rPr lang="ko-KR" altLang="en-US" dirty="0"/>
              <a:t>메모리 제어</a:t>
            </a:r>
            <a:endParaRPr lang="en-US" altLang="ko-KR" dirty="0"/>
          </a:p>
          <a:p>
            <a:pPr lvl="1"/>
            <a:r>
              <a:rPr lang="ko-KR" altLang="en-US" dirty="0"/>
              <a:t>→ 고성능 시스템 개발 기반</a:t>
            </a:r>
            <a:endParaRPr lang="en-US" altLang="ko-KR" sz="1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CD94AA-8842-9504-A0E0-6288BEEBE4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2983211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2400" b="1" i="0" u="none" strike="noStrike" dirty="0">
            <a:solidFill>
              <a:srgbClr val="A626A4"/>
            </a:solidFill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7985</TotalTime>
  <Words>986</Words>
  <Application>Microsoft Office PowerPoint</Application>
  <PresentationFormat>화면 슬라이드 쇼(4:3)</PresentationFormat>
  <Paragraphs>180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나눔바른고딕</vt:lpstr>
      <vt:lpstr>Wingdings</vt:lpstr>
      <vt:lpstr>가을체</vt:lpstr>
      <vt:lpstr>Consolas</vt:lpstr>
      <vt:lpstr>굴림</vt:lpstr>
      <vt:lpstr>HY견고딕</vt:lpstr>
      <vt:lpstr>Arial</vt:lpstr>
      <vt:lpstr>기본 디자인</vt:lpstr>
      <vt:lpstr>19. Modern C99~23 (C99~C23)</vt:lpstr>
      <vt:lpstr>19.1 C99 — 현대 C의 출발점</vt:lpstr>
      <vt:lpstr>19.1 C99 - 개요</vt:lpstr>
      <vt:lpstr>19.1 C99</vt:lpstr>
      <vt:lpstr>19.1 C99 - Flexible Array Member</vt:lpstr>
      <vt:lpstr>19.1 C99 - VLA, 지정 초기화</vt:lpstr>
      <vt:lpstr>19.1 C99 - 복합 리터럴</vt:lpstr>
      <vt:lpstr>19.1 C99 - restrict</vt:lpstr>
      <vt:lpstr>19.1 C99 - inline</vt:lpstr>
      <vt:lpstr>19.2 C11 — 멀티스레드와 안전성</vt:lpstr>
      <vt:lpstr>19.2 C11 - 멀티스레드와 안전성</vt:lpstr>
      <vt:lpstr>19.2 C11 - _Generic / _Atomic</vt:lpstr>
      <vt:lpstr>19.2 C11 - 정렬 / Annex K</vt:lpstr>
      <vt:lpstr>19.3 C23 — 최신 Modern C</vt:lpstr>
      <vt:lpstr>19.3 C23 — 최신 Modern C</vt:lpstr>
      <vt:lpstr>19.3 C23 — 최신 Modern C</vt:lpstr>
      <vt:lpstr>학습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283</cp:revision>
  <dcterms:created xsi:type="dcterms:W3CDTF">2003-11-30T16:03:20Z</dcterms:created>
  <dcterms:modified xsi:type="dcterms:W3CDTF">2026-04-17T18:34:50Z</dcterms:modified>
</cp:coreProperties>
</file>