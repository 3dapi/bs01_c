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9"/>
  </p:notesMasterIdLst>
  <p:sldIdLst>
    <p:sldId id="272" r:id="rId2"/>
    <p:sldId id="273" r:id="rId3"/>
    <p:sldId id="304" r:id="rId4"/>
    <p:sldId id="274" r:id="rId5"/>
    <p:sldId id="275" r:id="rId6"/>
    <p:sldId id="276" r:id="rId7"/>
    <p:sldId id="277" r:id="rId8"/>
    <p:sldId id="305" r:id="rId9"/>
    <p:sldId id="279" r:id="rId10"/>
    <p:sldId id="278" r:id="rId11"/>
    <p:sldId id="280" r:id="rId12"/>
    <p:sldId id="306" r:id="rId13"/>
    <p:sldId id="307" r:id="rId14"/>
    <p:sldId id="281" r:id="rId15"/>
    <p:sldId id="308" r:id="rId16"/>
    <p:sldId id="282" r:id="rId17"/>
    <p:sldId id="309" r:id="rId18"/>
    <p:sldId id="284" r:id="rId19"/>
    <p:sldId id="310" r:id="rId20"/>
    <p:sldId id="283" r:id="rId21"/>
    <p:sldId id="311" r:id="rId22"/>
    <p:sldId id="285" r:id="rId23"/>
    <p:sldId id="312" r:id="rId24"/>
    <p:sldId id="286" r:id="rId25"/>
    <p:sldId id="287" r:id="rId26"/>
    <p:sldId id="313" r:id="rId27"/>
    <p:sldId id="288" r:id="rId28"/>
    <p:sldId id="289" r:id="rId29"/>
    <p:sldId id="290" r:id="rId30"/>
    <p:sldId id="291" r:id="rId31"/>
    <p:sldId id="314" r:id="rId32"/>
    <p:sldId id="292" r:id="rId33"/>
    <p:sldId id="315" r:id="rId34"/>
    <p:sldId id="293" r:id="rId35"/>
    <p:sldId id="301" r:id="rId36"/>
    <p:sldId id="316" r:id="rId37"/>
    <p:sldId id="317" r:id="rId38"/>
  </p:sldIdLst>
  <p:sldSz cx="9144000" cy="6858000" type="screen4x3"/>
  <p:notesSz cx="6858000" cy="9144000"/>
  <p:embeddedFontLst>
    <p:embeddedFont>
      <p:font typeface="Adobe 고딕 Std B" panose="020B0800000000000000" pitchFamily="34" charset="-127"/>
      <p:bold r:id="rId40"/>
    </p:embeddedFont>
    <p:embeddedFont>
      <p:font typeface="Consolas" panose="020B0609020204030204" pitchFamily="49" charset="0"/>
      <p:regular r:id="rId41"/>
      <p:bold r:id="rId42"/>
      <p:italic r:id="rId43"/>
      <p:boldItalic r:id="rId44"/>
    </p:embeddedFont>
    <p:embeddedFont>
      <p:font typeface="D2Coding" panose="020B0609020101020101" pitchFamily="49" charset="-127"/>
      <p:regular r:id="rId45"/>
      <p:bold r:id="rId46"/>
    </p:embeddedFont>
    <p:embeddedFont>
      <p:font typeface="HY견고딕" panose="02030600000101010101" pitchFamily="18" charset="-127"/>
      <p:regular r:id="rId47"/>
    </p:embeddedFont>
    <p:embeddedFont>
      <p:font typeface="가을체" panose="02030600000101010101" pitchFamily="18" charset="-127"/>
      <p:regular r:id="rId48"/>
    </p:embeddedFont>
    <p:embeddedFont>
      <p:font typeface="나눔바른고딕" panose="020B0603020101020101" pitchFamily="50" charset="-127"/>
      <p:regular r:id="rId49"/>
      <p:bold r:id="rId50"/>
    </p:embeddedFont>
  </p:embeddedFontLst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FF"/>
    <a:srgbClr val="CCFFFF"/>
    <a:srgbClr val="FFFFCC"/>
    <a:srgbClr val="CCFFCC"/>
    <a:srgbClr val="CC00FF"/>
    <a:srgbClr val="0000FF"/>
    <a:srgbClr val="CC00CC"/>
    <a:srgbClr val="CC0000"/>
    <a:srgbClr val="FF99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4232" autoAdjust="0"/>
    <p:restoredTop sz="94582" autoAdjust="0"/>
  </p:normalViewPr>
  <p:slideViewPr>
    <p:cSldViewPr>
      <p:cViewPr>
        <p:scale>
          <a:sx n="100" d="100"/>
          <a:sy n="100" d="100"/>
        </p:scale>
        <p:origin x="1704" y="678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3.fntdata"/><Relationship Id="rId47" Type="http://schemas.openxmlformats.org/officeDocument/2006/relationships/font" Target="fonts/font8.fntdata"/><Relationship Id="rId50" Type="http://schemas.openxmlformats.org/officeDocument/2006/relationships/font" Target="fonts/font11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1.fntdata"/><Relationship Id="rId45" Type="http://schemas.openxmlformats.org/officeDocument/2006/relationships/font" Target="fonts/font6.fntdata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5.fntdata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4.fntdata"/><Relationship Id="rId48" Type="http://schemas.openxmlformats.org/officeDocument/2006/relationships/font" Target="fonts/font9.fntdata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7.fntdata"/><Relationship Id="rId20" Type="http://schemas.openxmlformats.org/officeDocument/2006/relationships/slide" Target="slides/slide19.xml"/><Relationship Id="rId41" Type="http://schemas.openxmlformats.org/officeDocument/2006/relationships/font" Target="fonts/font2.fntdata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>
            <a:lvl1pPr>
              <a:buSzPct val="80000"/>
              <a:defRPr b="1"/>
            </a:lvl1pPr>
            <a:lvl2pPr>
              <a:buSzPct val="60000"/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A2FC0D-1C2C-37AA-7CB1-C3D3229737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07. </a:t>
            </a:r>
            <a:r>
              <a:rPr lang="ko-KR" altLang="en-US" dirty="0"/>
              <a:t>제어문</a:t>
            </a:r>
            <a:r>
              <a:rPr lang="en-US" altLang="ko-KR" dirty="0"/>
              <a:t>:</a:t>
            </a:r>
            <a:r>
              <a:rPr lang="ko-KR" altLang="en-US" dirty="0"/>
              <a:t>반복문</a:t>
            </a:r>
            <a:br>
              <a:rPr lang="en-US" altLang="ko-KR" dirty="0"/>
            </a:br>
            <a:r>
              <a:rPr lang="en-US" altLang="ko-KR" sz="2800" dirty="0"/>
              <a:t>(Control</a:t>
            </a:r>
            <a:r>
              <a:rPr lang="ko-KR" altLang="en-US" sz="2800" dirty="0"/>
              <a:t> </a:t>
            </a:r>
            <a:r>
              <a:rPr lang="en-US" altLang="ko-KR" sz="2800" dirty="0"/>
              <a:t>Flow</a:t>
            </a:r>
            <a:r>
              <a:rPr lang="ko-KR" altLang="en-US" sz="2800" dirty="0"/>
              <a:t> </a:t>
            </a:r>
            <a:r>
              <a:rPr lang="en-US" altLang="ko-KR" sz="2800" dirty="0"/>
              <a:t>–</a:t>
            </a:r>
            <a:r>
              <a:rPr lang="ko-KR" altLang="en-US" sz="2800" dirty="0"/>
              <a:t> </a:t>
            </a:r>
            <a:r>
              <a:rPr lang="en-US" altLang="ko-KR" sz="2800" dirty="0"/>
              <a:t>Loop)</a:t>
            </a:r>
            <a:endParaRPr lang="ko-KR" altLang="en-US" sz="28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214EB79-AD88-258F-4E8F-24B268B482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99B9F4-4800-F14C-8C36-B879D7464F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8650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3F9540-6669-5CDA-78BF-4F9AF3967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7.1 for </a:t>
            </a:r>
            <a:r>
              <a:rPr lang="ko-KR" altLang="en-US" dirty="0"/>
              <a:t>문 기본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CA56B1-FED6-471B-3FDB-9DA89B9D3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반복문</a:t>
            </a:r>
            <a:r>
              <a:rPr lang="en-US" altLang="ko-KR" sz="2400" dirty="0"/>
              <a:t>: for, while, do-while</a:t>
            </a:r>
          </a:p>
          <a:p>
            <a:pPr lvl="3"/>
            <a:endParaRPr lang="en-US" altLang="ko-KR" sz="1600" dirty="0"/>
          </a:p>
          <a:p>
            <a:r>
              <a:rPr lang="en-US" altLang="ko-KR" sz="2400" dirty="0"/>
              <a:t>for statement</a:t>
            </a:r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초기식</a:t>
            </a:r>
          </a:p>
          <a:p>
            <a:pPr lvl="1"/>
            <a:r>
              <a:rPr lang="ko-KR" altLang="en-US" sz="2000" dirty="0"/>
              <a:t>반복 변수 초기화</a:t>
            </a:r>
            <a:r>
              <a:rPr lang="en-US" altLang="ko-KR" sz="2000" dirty="0"/>
              <a:t>. </a:t>
            </a:r>
            <a:r>
              <a:rPr lang="ko-KR" altLang="en-US" sz="2000" dirty="0"/>
              <a:t>반복 시작 시 </a:t>
            </a:r>
            <a:r>
              <a:rPr lang="en-US" altLang="ko-KR" sz="2000" dirty="0"/>
              <a:t>1</a:t>
            </a:r>
            <a:r>
              <a:rPr lang="ko-KR" altLang="en-US" sz="2000" dirty="0"/>
              <a:t>회 실행</a:t>
            </a:r>
          </a:p>
          <a:p>
            <a:r>
              <a:rPr lang="ko-KR" altLang="en-US" sz="2400" dirty="0"/>
              <a:t>조건식</a:t>
            </a:r>
          </a:p>
          <a:p>
            <a:pPr lvl="1"/>
            <a:r>
              <a:rPr lang="ko-KR" altLang="en-US" sz="2000" dirty="0"/>
              <a:t>반복 지속 여부 판단</a:t>
            </a:r>
            <a:r>
              <a:rPr lang="en-US" altLang="ko-KR" sz="2000" dirty="0"/>
              <a:t>. </a:t>
            </a:r>
            <a:r>
              <a:rPr lang="ko-KR" altLang="en-US" sz="2000" dirty="0"/>
              <a:t>참 → 반복 실행</a:t>
            </a:r>
            <a:r>
              <a:rPr lang="en-US" altLang="ko-KR" sz="2000" dirty="0"/>
              <a:t>, </a:t>
            </a:r>
            <a:r>
              <a:rPr lang="ko-KR" altLang="en-US" sz="2000" dirty="0"/>
              <a:t>거짓 → 반복 종료</a:t>
            </a:r>
          </a:p>
          <a:p>
            <a:r>
              <a:rPr lang="ko-KR" altLang="en-US" sz="2400" dirty="0"/>
              <a:t>증감식</a:t>
            </a:r>
          </a:p>
          <a:p>
            <a:pPr lvl="1"/>
            <a:r>
              <a:rPr lang="ko-KR" altLang="en-US" sz="2000" dirty="0"/>
              <a:t>반복마다 변수 변화</a:t>
            </a:r>
            <a:r>
              <a:rPr lang="en-US" altLang="ko-KR" sz="2000" dirty="0"/>
              <a:t>. </a:t>
            </a:r>
            <a:r>
              <a:rPr lang="ko-KR" altLang="en-US" sz="2000" dirty="0"/>
              <a:t>다음 반복 준비</a:t>
            </a:r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520F2D-687B-70A1-78EF-638E75AC15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D64658-2098-C883-633D-DE0B54A4D91E}"/>
              </a:ext>
            </a:extLst>
          </p:cNvPr>
          <p:cNvSpPr txBox="1"/>
          <p:nvPr/>
        </p:nvSpPr>
        <p:spPr>
          <a:xfrm>
            <a:off x="548130" y="2105561"/>
            <a:ext cx="4248274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초기식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조건식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 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증감식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반복 실행할 문장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9B783C-2605-946E-38A5-F21F1912E8B4}"/>
              </a:ext>
            </a:extLst>
          </p:cNvPr>
          <p:cNvSpPr txBox="1"/>
          <p:nvPr/>
        </p:nvSpPr>
        <p:spPr>
          <a:xfrm>
            <a:off x="4829456" y="2204864"/>
            <a:ext cx="4071242" cy="1102179"/>
          </a:xfrm>
          <a:prstGeom prst="rect">
            <a:avLst/>
          </a:prstGeom>
          <a:solidFill>
            <a:srgbClr val="CCFFFF"/>
          </a:solidFill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 lIns="216000" tIns="180000" rIns="216000" bIns="180000" anchor="ctr" anchorCtr="0">
            <a:spAutoFit/>
          </a:bodyPr>
          <a:lstStyle/>
          <a:p>
            <a:r>
              <a:rPr lang="ko-KR" altLang="en-US" b="1" dirty="0">
                <a:solidFill>
                  <a:srgbClr val="FF00FF"/>
                </a:solidFill>
                <a:latin typeface="Adobe 고딕 Std B" panose="020B0800000000000000" pitchFamily="34" charset="-127"/>
                <a:ea typeface="Adobe 고딕 Std B" panose="020B0800000000000000" pitchFamily="34" charset="-127"/>
              </a:rPr>
              <a:t>초기화 → 조건 확인</a:t>
            </a:r>
            <a:endParaRPr lang="en-US" altLang="ko-KR" b="1" dirty="0">
              <a:solidFill>
                <a:srgbClr val="FF00FF"/>
              </a:solidFill>
              <a:latin typeface="Adobe 고딕 Std B" panose="020B0800000000000000" pitchFamily="34" charset="-127"/>
              <a:ea typeface="Adobe 고딕 Std B" panose="020B0800000000000000" pitchFamily="34" charset="-127"/>
            </a:endParaRPr>
          </a:p>
          <a:p>
            <a:r>
              <a:rPr lang="en-US" altLang="ko-KR" b="1" dirty="0">
                <a:solidFill>
                  <a:srgbClr val="FF00FF"/>
                </a:solidFill>
                <a:latin typeface="Adobe 고딕 Std B" panose="020B0800000000000000" pitchFamily="34" charset="-127"/>
                <a:ea typeface="Adobe 고딕 Std B" panose="020B0800000000000000" pitchFamily="34" charset="-127"/>
              </a:rPr>
              <a:t>    </a:t>
            </a:r>
            <a:r>
              <a:rPr lang="ko-KR" altLang="en-US" b="1" dirty="0">
                <a:solidFill>
                  <a:srgbClr val="FF00FF"/>
                </a:solidFill>
                <a:latin typeface="Adobe 고딕 Std B" panose="020B0800000000000000" pitchFamily="34" charset="-127"/>
                <a:ea typeface="Adobe 고딕 Std B" panose="020B0800000000000000" pitchFamily="34" charset="-127"/>
              </a:rPr>
              <a:t>→ 반복 문장 실행 → 증감</a:t>
            </a:r>
          </a:p>
        </p:txBody>
      </p:sp>
    </p:spTree>
    <p:extLst>
      <p:ext uri="{BB962C8B-B14F-4D97-AF65-F5344CB8AC3E}">
        <p14:creationId xmlns:p14="http://schemas.microsoft.com/office/powerpoint/2010/main" val="30567615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A1948-E4E9-A20F-38C2-61C1D351E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6465F1-D3E8-7B30-BBB6-CDE749D45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7.1.1 for: </a:t>
            </a:r>
            <a:r>
              <a:rPr lang="ko-KR" altLang="en-US" dirty="0"/>
              <a:t>초기식 생략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5AE9068-CA52-491C-D394-8E0E3A113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변수 재사용 목적 → 초기식 생략</a:t>
            </a:r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0A47C88-BD77-1E5F-B1D2-1FF857B585C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B5D59F-C26A-FC71-ED0A-7386058565CF}"/>
              </a:ext>
            </a:extLst>
          </p:cNvPr>
          <p:cNvSpPr txBox="1"/>
          <p:nvPr/>
        </p:nvSpPr>
        <p:spPr>
          <a:xfrm>
            <a:off x="467544" y="1289953"/>
            <a:ext cx="7704856" cy="427809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jobCount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실행해야 할 작업 개수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상황에 따라 결정됨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playCount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반복문 앞에서 선언 및 초기화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초기식 생략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(; playCount &lt; jobCount; ++playCount)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어떤 작업 수행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반복 종료 후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playCount = %d </a:t>
            </a:r>
            <a:r>
              <a:rPr lang="ko-KR" altLang="en-US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회 실행되었습니다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</a:p>
          <a:p>
            <a:r>
              <a:rPr lang="en-US" altLang="ko-KR" sz="1600" b="1" dirty="0">
                <a:solidFill>
                  <a:srgbClr val="50A14F"/>
                </a:solidFill>
                <a:latin typeface="Consolas" panose="020B0609020204030204" pitchFamily="49" charset="0"/>
              </a:rPr>
              <a:t>             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playCount);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27956245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63450-2998-6874-9AAB-2343959C6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31D8CB-CD75-DEBB-6D2F-102B40806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7.1.2 for: </a:t>
            </a:r>
            <a:r>
              <a:rPr lang="ko-KR" altLang="en-US" dirty="0"/>
              <a:t>증감식 생략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86D3DCC-2511-1B50-BD3E-D5A2341C1C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반복 내부에서 직접 증가 또는 감소 수행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4B10950-6442-09E3-A02D-495F5416940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74A92BC-C0BA-BD9C-4999-5F1A38B663B0}"/>
              </a:ext>
            </a:extLst>
          </p:cNvPr>
          <p:cNvSpPr txBox="1"/>
          <p:nvPr/>
        </p:nvSpPr>
        <p:spPr>
          <a:xfrm>
            <a:off x="539750" y="1844824"/>
            <a:ext cx="7985031" cy="193899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i);</a:t>
            </a:r>
            <a:endParaRPr lang="en-US" altLang="ko-KR" sz="2000" b="1" dirty="0">
              <a:effectLst/>
            </a:endParaRPr>
          </a:p>
          <a:p>
            <a:pPr>
              <a:buNone/>
            </a:pP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i +=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증감식 대신 반복문 내부에서 증가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9913266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0D3D4-8948-EA7C-AC99-1637F782E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951972-C73C-8167-2032-80391236E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7.1.3 for: </a:t>
            </a:r>
            <a:r>
              <a:rPr lang="ko-KR" altLang="en-US" dirty="0"/>
              <a:t>초기식</a:t>
            </a:r>
            <a:r>
              <a:rPr lang="en-US" altLang="ko-KR" dirty="0"/>
              <a:t>, </a:t>
            </a:r>
            <a:r>
              <a:rPr lang="ko-KR" altLang="en-US" dirty="0"/>
              <a:t>증감식 생략</a:t>
            </a:r>
            <a:r>
              <a:rPr lang="en-US" altLang="ko-KR" dirty="0"/>
              <a:t>, </a:t>
            </a:r>
            <a:r>
              <a:rPr lang="ko-KR" altLang="en-US" dirty="0"/>
              <a:t>조건식만 구현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8E25E29-A699-1CC2-7001-3627C3CDDE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== while(</a:t>
            </a:r>
            <a:r>
              <a:rPr lang="ko-KR" altLang="en-US" dirty="0"/>
              <a:t>조건식</a:t>
            </a:r>
            <a:r>
              <a:rPr lang="en-US" altLang="ko-KR" dirty="0"/>
              <a:t>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56CDEA8-9657-E6DA-1650-3C041F717EC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14E509-262D-86E4-E0CB-4C056A5A7EE2}"/>
              </a:ext>
            </a:extLst>
          </p:cNvPr>
          <p:cNvSpPr txBox="1"/>
          <p:nvPr/>
        </p:nvSpPr>
        <p:spPr>
          <a:xfrm>
            <a:off x="564788" y="1484784"/>
            <a:ext cx="7776666" cy="255454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 =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(; i &lt;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) 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초기식 없음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증감식 없음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i);</a:t>
            </a:r>
            <a:endParaRPr lang="ko-KR" altLang="en-US" sz="2000" b="1" dirty="0">
              <a:effectLst/>
            </a:endParaRPr>
          </a:p>
          <a:p>
            <a:pPr>
              <a:buNone/>
            </a:pP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++i;            </a:t>
            </a:r>
            <a:r>
              <a:rPr lang="en-US" altLang="ko-KR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0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반복문 내부에서 증가</a:t>
            </a:r>
            <a:br>
              <a:rPr lang="ko-KR" altLang="en-US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785423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3EBE-3790-C7E9-EA22-5A63FEE79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F936E6-9CB8-8DCA-C0A0-04F9031AD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7.1.4 for: </a:t>
            </a:r>
            <a:r>
              <a:rPr lang="ko-KR" altLang="en-US" dirty="0"/>
              <a:t>모두 생략 </a:t>
            </a:r>
            <a:r>
              <a:rPr lang="en-US" altLang="ko-KR" dirty="0"/>
              <a:t>(</a:t>
            </a:r>
            <a:r>
              <a:rPr lang="ko-KR" altLang="en-US" dirty="0"/>
              <a:t>무한 루프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E3FE86-9B80-1ADC-9EF1-BDE31256A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무한 루프 표현</a:t>
            </a:r>
            <a:endParaRPr lang="en-US" altLang="ko-KR" dirty="0"/>
          </a:p>
          <a:p>
            <a:r>
              <a:rPr lang="en-US" altLang="ko-KR" dirty="0"/>
              <a:t>== while(1)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6E74F2E-08F3-95DE-684F-17B690618A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23B017-14D1-378D-820F-94E5375E7956}"/>
              </a:ext>
            </a:extLst>
          </p:cNvPr>
          <p:cNvSpPr txBox="1"/>
          <p:nvPr/>
        </p:nvSpPr>
        <p:spPr>
          <a:xfrm>
            <a:off x="568146" y="1844824"/>
            <a:ext cx="7388230" cy="230832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(;;)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반복 실행할 문장</a:t>
            </a:r>
            <a:b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ko-KR" altLang="en-US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특정 조건 *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직접 탈출</a:t>
            </a:r>
            <a:b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072511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3EBE-3790-C7E9-EA22-5A63FEE79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F936E6-9CB8-8DCA-C0A0-04F9031AD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7.2.1 for </a:t>
            </a:r>
            <a:r>
              <a:rPr lang="ko-KR" altLang="en-US" dirty="0"/>
              <a:t>문 기본 예제</a:t>
            </a:r>
            <a:r>
              <a:rPr lang="en-US" altLang="ko-KR" dirty="0"/>
              <a:t>1 (Simple for Loop)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E3FE86-9B80-1ADC-9EF1-BDE31256A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&lt;</a:t>
            </a:r>
            <a:r>
              <a:rPr lang="ko-KR" altLang="en-US" dirty="0"/>
              <a:t>예</a:t>
            </a:r>
            <a:r>
              <a:rPr lang="en-US" altLang="ko-KR" dirty="0"/>
              <a:t>: [0, 100] </a:t>
            </a:r>
            <a:r>
              <a:rPr lang="ko-KR" altLang="en-US" dirty="0"/>
              <a:t>정수 출력</a:t>
            </a:r>
            <a:r>
              <a:rPr lang="en-US" altLang="ko-KR" dirty="0"/>
              <a:t>&gt;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6E74F2E-08F3-95DE-684F-17B690618A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985FAD-C4FF-16BC-CC71-13384640B8AE}"/>
              </a:ext>
            </a:extLst>
          </p:cNvPr>
          <p:cNvSpPr txBox="1"/>
          <p:nvPr/>
        </p:nvSpPr>
        <p:spPr>
          <a:xfrm>
            <a:off x="539750" y="1218232"/>
            <a:ext cx="7776666" cy="415498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&lt;=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"%d\n"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i);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6948371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39EBE-B401-04F9-4347-6AF1D0F4F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C2D806-398E-4BA5-78D0-4F4587574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7.2.2 for </a:t>
            </a:r>
            <a:r>
              <a:rPr lang="ko-KR" altLang="en-US" dirty="0"/>
              <a:t>문 기본 예제</a:t>
            </a:r>
            <a:r>
              <a:rPr lang="en-US" altLang="ko-KR" dirty="0"/>
              <a:t>: </a:t>
            </a:r>
            <a:r>
              <a:rPr lang="ko-KR" altLang="en-US" dirty="0"/>
              <a:t>합계 구하기 </a:t>
            </a:r>
            <a:r>
              <a:rPr lang="en-US" altLang="ko-KR" dirty="0"/>
              <a:t>(Summation)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62B978-A4E3-B9B6-0C52-6BCBB8FD2F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&lt;</a:t>
            </a:r>
            <a:r>
              <a:rPr lang="ko-KR" altLang="en-US" dirty="0"/>
              <a:t>예</a:t>
            </a:r>
            <a:r>
              <a:rPr lang="en-US" altLang="ko-KR" dirty="0"/>
              <a:t>: [0, 1000] </a:t>
            </a:r>
            <a:r>
              <a:rPr lang="ko-KR" altLang="en-US" dirty="0"/>
              <a:t>합 구하기</a:t>
            </a:r>
            <a:r>
              <a:rPr lang="en-US" altLang="ko-KR" dirty="0"/>
              <a:t>&gt;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22998B5-2F62-4D01-8C54-08777D4F33F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A42D6A-5B82-24A4-73D1-032AEFAFEE78}"/>
              </a:ext>
            </a:extLst>
          </p:cNvPr>
          <p:cNvSpPr txBox="1"/>
          <p:nvPr/>
        </p:nvSpPr>
        <p:spPr>
          <a:xfrm>
            <a:off x="539751" y="1412776"/>
            <a:ext cx="8064698" cy="424731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sum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nBegin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nEnd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nBegin; i &lt;= nEnd; ++i)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sum += i;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~ %d </a:t>
            </a:r>
            <a:r>
              <a:rPr lang="ko-KR" altLang="en-US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까지의 합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nBegin, nEnd, sum);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4255410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6EB69-FECE-8BCA-90F3-32B1C1E1B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74C8C8-24FF-3EBC-EF64-594184D93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7.2.3 for </a:t>
            </a:r>
            <a:r>
              <a:rPr lang="ko-KR" altLang="en-US" dirty="0"/>
              <a:t>문 기본 예제</a:t>
            </a:r>
            <a:r>
              <a:rPr lang="en-US" altLang="ko-KR" dirty="0"/>
              <a:t>: </a:t>
            </a:r>
            <a:r>
              <a:rPr lang="ko-KR" altLang="en-US" dirty="0"/>
              <a:t>증감 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A9966BD-872E-B3AC-0832-DA318BB5A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예</a:t>
            </a:r>
            <a:r>
              <a:rPr lang="en-US" altLang="ko-KR" dirty="0"/>
              <a:t>: [0, 100] </a:t>
            </a:r>
            <a:r>
              <a:rPr lang="ko-KR" altLang="en-US" dirty="0"/>
              <a:t>의 정수 중 홀수만 합계 구하기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예</a:t>
            </a:r>
            <a:r>
              <a:rPr lang="en-US" altLang="ko-KR" dirty="0"/>
              <a:t>: [0, 1000] </a:t>
            </a:r>
            <a:r>
              <a:rPr lang="ko-KR" altLang="en-US" dirty="0"/>
              <a:t>의 정수 중 </a:t>
            </a:r>
            <a:r>
              <a:rPr lang="en-US" altLang="ko-KR" dirty="0"/>
              <a:t>7</a:t>
            </a:r>
            <a:r>
              <a:rPr lang="ko-KR" altLang="en-US" dirty="0"/>
              <a:t>의 배수 합계 구하기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510ABCF-D1E6-546D-88E8-A0D7157667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6FA7E9-217B-7A23-AA80-A76558D4C7D4}"/>
              </a:ext>
            </a:extLst>
          </p:cNvPr>
          <p:cNvSpPr txBox="1"/>
          <p:nvPr/>
        </p:nvSpPr>
        <p:spPr>
          <a:xfrm>
            <a:off x="683568" y="1340768"/>
            <a:ext cx="5575380" cy="175432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sum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altLang="ko-KR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</a:t>
            </a:r>
            <a:r>
              <a:rPr lang="ko-KR" altLang="en-US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홀수만 순차적으로 증가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+=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sum += i;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EE3FCD-A10A-9E61-E333-C2B35FEE1345}"/>
              </a:ext>
            </a:extLst>
          </p:cNvPr>
          <p:cNvSpPr txBox="1"/>
          <p:nvPr/>
        </p:nvSpPr>
        <p:spPr>
          <a:xfrm>
            <a:off x="652805" y="3846969"/>
            <a:ext cx="5575380" cy="175432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sum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// 7</a:t>
            </a:r>
            <a:r>
              <a:rPr lang="ko-KR" altLang="en-US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씩 증가 → </a:t>
            </a:r>
            <a:r>
              <a:rPr lang="en-US" altLang="ko-KR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7</a:t>
            </a:r>
            <a:r>
              <a:rPr lang="ko-KR" altLang="en-US" sz="1800" b="1" i="1" dirty="0">
                <a:solidFill>
                  <a:srgbClr val="A0A1A7"/>
                </a:solidFill>
                <a:latin typeface="Consolas" panose="020B0609020204030204" pitchFamily="49" charset="0"/>
              </a:rPr>
              <a:t>의 배수만 처리</a:t>
            </a:r>
            <a:endParaRPr lang="en-US" altLang="ko-KR" sz="1800" b="1" i="0" u="none" strike="noStrike" dirty="0">
              <a:solidFill>
                <a:srgbClr val="383A42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+=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sum += i;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13003608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63EBE-3790-C7E9-EA22-5A63FEE79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F936E6-9CB8-8DCA-C0A0-04F9031AD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7.2.4 for </a:t>
            </a:r>
            <a:r>
              <a:rPr lang="ko-KR" altLang="en-US" dirty="0"/>
              <a:t>문 기본 예제</a:t>
            </a:r>
            <a:r>
              <a:rPr lang="en-US" altLang="ko-KR" dirty="0"/>
              <a:t>: </a:t>
            </a:r>
            <a:r>
              <a:rPr lang="ko-KR" altLang="en-US" dirty="0"/>
              <a:t>숫자 자릿수 구하기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3E3FE86-9B80-1ADC-9EF1-BDE31256AF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n % 10 → </a:t>
            </a:r>
            <a:r>
              <a:rPr lang="ko-KR" altLang="en-US" sz="2400" dirty="0"/>
              <a:t>마지막 자릿수</a:t>
            </a:r>
            <a:r>
              <a:rPr lang="en-US" altLang="ko-KR" sz="2400" dirty="0"/>
              <a:t>, n /= 10 → </a:t>
            </a:r>
            <a:r>
              <a:rPr lang="ko-KR" altLang="en-US" sz="2400" dirty="0"/>
              <a:t>자릿수 감소</a:t>
            </a:r>
          </a:p>
          <a:p>
            <a:r>
              <a:rPr lang="ko-KR" altLang="en-US" sz="2400" dirty="0"/>
              <a:t>뒤에서부터 출력</a:t>
            </a:r>
            <a:r>
              <a:rPr lang="en-US" altLang="ko-KR" sz="2400" dirty="0"/>
              <a:t>, </a:t>
            </a:r>
            <a:r>
              <a:rPr lang="ko-KR" altLang="en-US" sz="2400" dirty="0"/>
              <a:t>전체 자릿수 계산</a:t>
            </a:r>
          </a:p>
          <a:p>
            <a:r>
              <a:rPr lang="ko-KR" altLang="en-US" sz="2400" dirty="0"/>
              <a:t>초기식 생략</a:t>
            </a:r>
            <a:r>
              <a:rPr lang="en-US" altLang="ko-KR" sz="2400" dirty="0"/>
              <a:t>, </a:t>
            </a:r>
            <a:r>
              <a:rPr lang="ko-KR" altLang="en-US" sz="2400" dirty="0"/>
              <a:t>감산 반복 구조</a:t>
            </a:r>
          </a:p>
          <a:p>
            <a:pPr lvl="1"/>
            <a:endParaRPr lang="en-US" altLang="ko-KR" sz="2000" dirty="0"/>
          </a:p>
          <a:p>
            <a:pPr lvl="1"/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6E74F2E-08F3-95DE-684F-17B690618A2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52A9A1-2422-F371-E0F5-C28622EF6AE1}"/>
              </a:ext>
            </a:extLst>
          </p:cNvPr>
          <p:cNvSpPr txBox="1"/>
          <p:nvPr/>
        </p:nvSpPr>
        <p:spPr>
          <a:xfrm>
            <a:off x="466653" y="2348880"/>
            <a:ext cx="8210693" cy="4031873"/>
          </a:xfrm>
          <a:prstGeom prst="rect">
            <a:avLst/>
          </a:prstGeom>
          <a:noFill/>
          <a:ln w="25400">
            <a:solidFill>
              <a:schemeClr val="bg1">
                <a:lumMod val="75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12345678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상황에 따라 주어진 숫자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digit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자릿수 저장 변수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(; n &gt;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n /=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   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초기식 생략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 n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을 계속 나누면서 감소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n %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가장 뒤 자릿수 출력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++digit;                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자릿수 증가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"\nTotal digits: %d\n"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digit); 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총 자리수 출력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1891224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FFA64-6B2E-8EBA-7BC2-F5F984B24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8C5508-466F-B920-CA55-DF7C6F4F4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7.2.5 for </a:t>
            </a:r>
            <a:r>
              <a:rPr lang="ko-KR" altLang="en-US" dirty="0"/>
              <a:t>문의 비 권장 형태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94199B4-9E78-F3ED-DDC1-894A899573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문법 유연</a:t>
            </a:r>
            <a:endParaRPr lang="en-US" altLang="ko-KR" dirty="0"/>
          </a:p>
          <a:p>
            <a:pPr lvl="1"/>
            <a:r>
              <a:rPr lang="ko-KR" altLang="en-US" dirty="0"/>
              <a:t>다양한 형태 작성 가능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문제점</a:t>
            </a:r>
          </a:p>
          <a:p>
            <a:pPr lvl="1"/>
            <a:r>
              <a:rPr lang="ko-KR" altLang="en-US" dirty="0"/>
              <a:t>가독성 저하</a:t>
            </a:r>
            <a:endParaRPr lang="en-US" altLang="ko-KR" dirty="0"/>
          </a:p>
          <a:p>
            <a:pPr lvl="1"/>
            <a:r>
              <a:rPr lang="ko-KR" altLang="en-US" dirty="0"/>
              <a:t>디버깅 어려움</a:t>
            </a:r>
            <a:endParaRPr lang="en-US" altLang="ko-KR" dirty="0"/>
          </a:p>
          <a:p>
            <a:pPr lvl="1"/>
            <a:r>
              <a:rPr lang="ko-KR" altLang="en-US" dirty="0"/>
              <a:t>협업 시 오해 발생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31AE661-07B0-439A-E8AC-031269A2DE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4053277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EA64F-2EC6-2281-9E8C-B74F31DCF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711427-7ACC-36B9-B490-F0F2EE2B4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7.2.5 for </a:t>
            </a:r>
            <a:r>
              <a:rPr lang="ko-KR" altLang="en-US" dirty="0"/>
              <a:t>문의 비 권장 형태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392866-1DD4-3DB6-98CB-0A22F6BE79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초기식</a:t>
            </a:r>
            <a:r>
              <a:rPr lang="en-US" altLang="ko-KR" sz="2400" dirty="0"/>
              <a:t>·</a:t>
            </a:r>
            <a:r>
              <a:rPr lang="ko-KR" altLang="en-US" sz="2400" dirty="0"/>
              <a:t>증감식에 실행 코드</a:t>
            </a:r>
          </a:p>
          <a:p>
            <a:pPr lvl="1"/>
            <a:r>
              <a:rPr lang="ko-KR" altLang="en-US" sz="2000" dirty="0"/>
              <a:t>설정 </a:t>
            </a:r>
            <a:r>
              <a:rPr lang="en-US" altLang="ko-KR" sz="2000" dirty="0"/>
              <a:t>/ </a:t>
            </a:r>
            <a:r>
              <a:rPr lang="ko-KR" altLang="en-US" sz="2000" dirty="0"/>
              <a:t>검사 영역에 실행 코드 혼합</a:t>
            </a:r>
          </a:p>
          <a:p>
            <a:pPr lvl="1"/>
            <a:r>
              <a:rPr lang="ko-KR" altLang="en-US" sz="2000" dirty="0"/>
              <a:t>가독성 저하</a:t>
            </a:r>
          </a:p>
          <a:p>
            <a:pPr lvl="1"/>
            <a:r>
              <a:rPr lang="ko-KR" altLang="en-US" sz="2000" dirty="0"/>
              <a:t>동작 이해 어려움</a:t>
            </a:r>
          </a:p>
          <a:p>
            <a:endParaRPr lang="ko-KR" altLang="en-US" sz="2400" dirty="0"/>
          </a:p>
          <a:p>
            <a:r>
              <a:rPr lang="ko-KR" altLang="en-US" sz="2400" dirty="0"/>
              <a:t>초기식 다중 변수</a:t>
            </a:r>
          </a:p>
          <a:p>
            <a:pPr lvl="1"/>
            <a:r>
              <a:rPr lang="ko-KR" altLang="en-US" sz="2000" dirty="0"/>
              <a:t>여러 변수 동시 선언 가능</a:t>
            </a:r>
          </a:p>
          <a:p>
            <a:pPr lvl="1"/>
            <a:r>
              <a:rPr lang="ko-KR" altLang="en-US" sz="2000" dirty="0"/>
              <a:t>반복 목적 흐림</a:t>
            </a:r>
          </a:p>
          <a:p>
            <a:pPr lvl="1"/>
            <a:r>
              <a:rPr lang="ko-KR" altLang="en-US" sz="2000" dirty="0"/>
              <a:t>가독성 저하</a:t>
            </a:r>
          </a:p>
          <a:p>
            <a:endParaRPr lang="ko-KR" altLang="en-US" sz="2400" dirty="0"/>
          </a:p>
          <a:p>
            <a:r>
              <a:rPr lang="ko-KR" altLang="en-US" sz="2400" dirty="0"/>
              <a:t>중괄호 생략</a:t>
            </a:r>
          </a:p>
          <a:p>
            <a:pPr lvl="1"/>
            <a:r>
              <a:rPr lang="ko-KR" altLang="en-US" sz="2000" dirty="0"/>
              <a:t>빈 문장 반복 구조</a:t>
            </a:r>
          </a:p>
          <a:p>
            <a:pPr lvl="1"/>
            <a:r>
              <a:rPr lang="ko-KR" altLang="en-US" sz="2000" dirty="0"/>
              <a:t>의도 파악 어려움</a:t>
            </a:r>
          </a:p>
          <a:p>
            <a:pPr lvl="1"/>
            <a:r>
              <a:rPr lang="ko-KR" altLang="en-US" sz="2000" dirty="0"/>
              <a:t>수정 시 오류 위험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9D062F8-9411-A589-625A-244089A81D7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372359-BB86-6A46-3436-8275E27416B9}"/>
              </a:ext>
            </a:extLst>
          </p:cNvPr>
          <p:cNvSpPr txBox="1"/>
          <p:nvPr/>
        </p:nvSpPr>
        <p:spPr>
          <a:xfrm>
            <a:off x="3792659" y="1725995"/>
            <a:ext cx="4774627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초기식 실행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i &lt;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증감식 값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i), i +=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6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56052C-6E7B-F6D3-0770-A48A4A82BB86}"/>
              </a:ext>
            </a:extLst>
          </p:cNvPr>
          <p:cNvSpPr txBox="1"/>
          <p:nvPr/>
        </p:nvSpPr>
        <p:spPr>
          <a:xfrm>
            <a:off x="3779912" y="3134682"/>
            <a:ext cx="4787374" cy="83099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nn-NO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nn-NO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nn-NO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nn-NO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i=</a:t>
            </a:r>
            <a:r>
              <a:rPr lang="nn-NO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j=</a:t>
            </a:r>
            <a:r>
              <a:rPr lang="nn-NO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k=</a:t>
            </a:r>
            <a:r>
              <a:rPr lang="nn-NO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l=</a:t>
            </a:r>
            <a:r>
              <a:rPr lang="nn-NO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m=</a:t>
            </a:r>
            <a:r>
              <a:rPr lang="nn-NO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n=</a:t>
            </a:r>
            <a:r>
              <a:rPr lang="nn-NO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nn-NO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nn-NO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nn-NO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i &lt; </a:t>
            </a:r>
            <a:r>
              <a:rPr lang="nn-NO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nn-NO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nn-NO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nn-NO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++i, ++j, ++k, ++l, ++m, ++n)</a:t>
            </a:r>
            <a:endParaRPr lang="ko-KR" altLang="en-US" sz="16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2C0073-373B-D95A-A64E-1B7AFDFD59AA}"/>
              </a:ext>
            </a:extLst>
          </p:cNvPr>
          <p:cNvSpPr txBox="1"/>
          <p:nvPr/>
        </p:nvSpPr>
        <p:spPr>
          <a:xfrm>
            <a:off x="3779912" y="4962050"/>
            <a:ext cx="4787374" cy="58477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본문이 없는 완전한 형태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비추천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++i, n += i);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10832747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0D5EA-563C-82C3-67C7-CE70623756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57371A-58F5-BAC1-E278-8E9F4A3BD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7.2.5 for </a:t>
            </a:r>
            <a:r>
              <a:rPr lang="ko-KR" altLang="en-US" dirty="0"/>
              <a:t>문의 비 권장 형태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CDBB22-BCAE-C620-9F7B-C2CB1A46AE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한 줄 </a:t>
            </a:r>
            <a:r>
              <a:rPr lang="en-US" altLang="ko-KR" sz="2400" dirty="0"/>
              <a:t>for </a:t>
            </a:r>
            <a:r>
              <a:rPr lang="ko-KR" altLang="en-US" sz="2400" dirty="0"/>
              <a:t>문</a:t>
            </a:r>
          </a:p>
          <a:p>
            <a:pPr lvl="1"/>
            <a:r>
              <a:rPr lang="ko-KR" altLang="en-US" sz="2000" dirty="0"/>
              <a:t>가독성 저하</a:t>
            </a:r>
          </a:p>
          <a:p>
            <a:pPr lvl="1"/>
            <a:r>
              <a:rPr lang="ko-KR" altLang="en-US" sz="2000" dirty="0"/>
              <a:t>디버깅 어려움</a:t>
            </a:r>
          </a:p>
          <a:p>
            <a:pPr lvl="1"/>
            <a:r>
              <a:rPr lang="ko-KR" altLang="en-US" sz="2000" dirty="0"/>
              <a:t>브레이크포인트 설정 불편</a:t>
            </a:r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ko-KR" altLang="en-US" sz="2400" dirty="0"/>
          </a:p>
          <a:p>
            <a:r>
              <a:rPr lang="ko-KR" altLang="en-US" sz="2400" dirty="0"/>
              <a:t>한 줄 블록</a:t>
            </a:r>
          </a:p>
          <a:p>
            <a:pPr lvl="1"/>
            <a:r>
              <a:rPr lang="ko-KR" altLang="en-US" sz="2000" dirty="0"/>
              <a:t>컴팩트 코드</a:t>
            </a:r>
          </a:p>
          <a:p>
            <a:pPr lvl="1"/>
            <a:r>
              <a:rPr lang="ko-KR" altLang="en-US" sz="2000" dirty="0"/>
              <a:t>의도 오해 가능</a:t>
            </a:r>
          </a:p>
          <a:p>
            <a:pPr lvl="1"/>
            <a:r>
              <a:rPr lang="ko-KR" altLang="en-US" sz="2000" dirty="0"/>
              <a:t>유지보수 불리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931D2E8-DBA0-6212-0595-C6A8C22719F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353E1E-ABC5-CD3B-9AD2-C5D4B4B474D9}"/>
              </a:ext>
            </a:extLst>
          </p:cNvPr>
          <p:cNvSpPr txBox="1"/>
          <p:nvPr/>
        </p:nvSpPr>
        <p:spPr>
          <a:xfrm>
            <a:off x="3779912" y="933540"/>
            <a:ext cx="5040560" cy="36933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B40F37-3C82-07A5-E45E-95966E6BEEBA}"/>
              </a:ext>
            </a:extLst>
          </p:cNvPr>
          <p:cNvSpPr txBox="1"/>
          <p:nvPr/>
        </p:nvSpPr>
        <p:spPr>
          <a:xfrm>
            <a:off x="683568" y="5739794"/>
            <a:ext cx="7621221" cy="36933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 {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}   </a:t>
            </a: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비권장</a:t>
            </a:r>
            <a:endParaRPr lang="ko-KR" altLang="en-US" sz="1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FF0751-8D28-CB31-6773-2614E7080FA0}"/>
              </a:ext>
            </a:extLst>
          </p:cNvPr>
          <p:cNvSpPr txBox="1"/>
          <p:nvPr/>
        </p:nvSpPr>
        <p:spPr>
          <a:xfrm>
            <a:off x="3779912" y="1796917"/>
            <a:ext cx="5040560" cy="258532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가독성과 디버깅을 고려한 방식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i="1" dirty="0">
                <a:solidFill>
                  <a:srgbClr val="A0A1A7"/>
                </a:solidFill>
                <a:latin typeface="Consolas" panose="020B0609020204030204" pitchFamily="49" charset="0"/>
              </a:rPr>
              <a:t>또는 </a:t>
            </a:r>
            <a:r>
              <a:rPr lang="ko-KR" altLang="en-US" sz="18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블록을 명시적으로 사용</a:t>
            </a:r>
            <a:b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 =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altLang="ko-KR" sz="18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1952004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FD8C7-9720-F709-E611-CDF054B9D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C2871F-F938-AF74-D9CB-31A101675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7.3.1 </a:t>
            </a:r>
            <a:r>
              <a:rPr lang="ko-KR" altLang="en-US" dirty="0"/>
              <a:t>다중 </a:t>
            </a:r>
            <a:r>
              <a:rPr lang="en-US" altLang="ko-KR" dirty="0"/>
              <a:t>for </a:t>
            </a:r>
            <a:r>
              <a:rPr lang="ko-KR" altLang="en-US" dirty="0"/>
              <a:t>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A04042A-2ED9-DA37-2F10-60DC7855BC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중첩 </a:t>
            </a:r>
            <a:r>
              <a:rPr lang="en-US" altLang="ko-KR" dirty="0"/>
              <a:t>for </a:t>
            </a:r>
            <a:r>
              <a:rPr lang="ko-KR" altLang="en-US" dirty="0"/>
              <a:t>문</a:t>
            </a:r>
            <a:endParaRPr lang="en-US" altLang="ko-KR" dirty="0"/>
          </a:p>
          <a:p>
            <a:pPr lvl="1"/>
            <a:r>
              <a:rPr lang="en-US" altLang="ko-KR" dirty="0"/>
              <a:t>for </a:t>
            </a:r>
            <a:r>
              <a:rPr lang="ko-KR" altLang="en-US" dirty="0"/>
              <a:t>내부에 또 다른 </a:t>
            </a:r>
            <a:r>
              <a:rPr lang="en-US" altLang="ko-KR" dirty="0"/>
              <a:t>for </a:t>
            </a:r>
            <a:r>
              <a:rPr lang="ko-KR" altLang="en-US" dirty="0"/>
              <a:t>포함 구조</a:t>
            </a:r>
            <a:endParaRPr lang="en-US" altLang="ko-KR" dirty="0">
              <a:latin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21F03A5-9F3B-8C33-C843-1750345460C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F2A8190-AD72-3378-1E6E-A0EF2C7CA9F3}"/>
              </a:ext>
            </a:extLst>
          </p:cNvPr>
          <p:cNvSpPr txBox="1"/>
          <p:nvPr/>
        </p:nvSpPr>
        <p:spPr>
          <a:xfrm>
            <a:off x="539750" y="1900227"/>
            <a:ext cx="8208963" cy="397031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 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구구단 프로그램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table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table &lt;=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++table)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바깥 반복문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단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(table)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단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table);         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각 단 출력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num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num &lt;=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++num) 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안쪽 반복문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곱하는 수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(num)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multi = table * num;         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곱하기 결과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x %d = %d\n"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table, num, multi);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                  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각 단 출력 후 줄 구분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0005632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99F96-5956-0AA7-E110-27511753A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EA007D-A129-1A4E-4760-7A13D283F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7.3.2 C99 </a:t>
            </a:r>
            <a:r>
              <a:rPr lang="ko-KR" altLang="en-US" dirty="0"/>
              <a:t>이전 스타일</a:t>
            </a:r>
            <a:r>
              <a:rPr lang="en-US" altLang="ko-KR" dirty="0"/>
              <a:t>(C89/C90 </a:t>
            </a:r>
            <a:r>
              <a:rPr lang="ko-KR" altLang="en-US" dirty="0"/>
              <a:t>방식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2756CA-9AAB-272D-763B-DF91B0830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C99 </a:t>
            </a:r>
            <a:r>
              <a:rPr lang="ko-KR" altLang="en-US" dirty="0"/>
              <a:t>이전 표준</a:t>
            </a:r>
            <a:endParaRPr lang="en-US" altLang="ko-KR" dirty="0"/>
          </a:p>
          <a:p>
            <a:pPr lvl="1"/>
            <a:r>
              <a:rPr lang="ko-KR" altLang="en-US" dirty="0"/>
              <a:t>레거시 대응</a:t>
            </a:r>
            <a:endParaRPr lang="en-US" altLang="ko-KR" dirty="0">
              <a:latin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3F66626-8075-C4B9-391E-EA427BB7041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C90B86-6041-D1CE-7969-949690AF3020}"/>
              </a:ext>
            </a:extLst>
          </p:cNvPr>
          <p:cNvSpPr txBox="1"/>
          <p:nvPr/>
        </p:nvSpPr>
        <p:spPr>
          <a:xfrm>
            <a:off x="543846" y="1641892"/>
            <a:ext cx="8060601" cy="483209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사용할 변수는 미리 선언해 둔다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.*/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table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단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(table) */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num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곱하는 수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(numb)*/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multi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곱하기 결과 *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 </a:t>
            </a:r>
            <a:r>
              <a:rPr lang="ko-KR" altLang="en-US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구구단 프로그램 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(table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table &lt;=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++table)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바깥 반복문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단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(table) */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</a:t>
            </a:r>
            <a:r>
              <a:rPr lang="ko-KR" altLang="en-US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단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table);   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각 단 출력 *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(num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num &lt;=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++num)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안쪽 반복문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곱하는 수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(num) */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multi = table * num;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x %d = %d\n"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table, num, multi);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            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/*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각 단 출력 후 줄 구분 *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40223924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C2540-FC90-F567-A84F-5AF92267F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339D25-0C26-F48D-3067-7F7F41262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7.3.3 </a:t>
            </a:r>
            <a:r>
              <a:rPr lang="ko-KR" altLang="en-US" dirty="0"/>
              <a:t>패턴 출력</a:t>
            </a:r>
            <a:r>
              <a:rPr lang="en-US" altLang="ko-KR" dirty="0"/>
              <a:t>: </a:t>
            </a:r>
            <a:r>
              <a:rPr lang="ko-KR" altLang="en-US" dirty="0"/>
              <a:t>별찍기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D1B03D-F240-21D0-BC66-68911D3CEA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왼쪽 정렬된 직각삼각형 별찍기</a:t>
            </a:r>
            <a:endParaRPr lang="en-US" altLang="ko-KR" dirty="0">
              <a:latin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22E4DB4-CBB0-8810-878F-812A67FDB9E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9C1C6C-ABB5-2CF5-125F-E43A8EE1F3D2}"/>
              </a:ext>
            </a:extLst>
          </p:cNvPr>
          <p:cNvSpPr txBox="1"/>
          <p:nvPr/>
        </p:nvSpPr>
        <p:spPr>
          <a:xfrm>
            <a:off x="611560" y="1336119"/>
            <a:ext cx="7560840" cy="353943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maxValStar = 4;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&lt;= maxValStar; ++i)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i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줄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(row)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j &lt;= i; ++j) 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j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각 줄의 별 개수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(column)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"*"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            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한 줄 출력 후 줄바꿈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8196622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F395A-7F46-D2EA-9EEB-619E6038E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7EB4A6-DBAC-56A5-0D19-1B90E481D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7.3.3.2 </a:t>
            </a:r>
            <a:r>
              <a:rPr lang="ko-KR" altLang="en-US" dirty="0"/>
              <a:t>오른쪽 정렬된 역삼각형 별찍기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79A139-ADBA-DD7B-2DA7-4B327B9E9A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>
              <a:latin typeface="+mn-ea"/>
            </a:endParaRPr>
          </a:p>
          <a:p>
            <a:endParaRPr lang="en-US" altLang="ko-KR" dirty="0">
              <a:latin typeface="+mn-ea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B33DFF3-9E67-9252-9137-9F93334297C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BE191F-FC39-3A7F-FA93-8F981FF16B98}"/>
              </a:ext>
            </a:extLst>
          </p:cNvPr>
          <p:cNvSpPr txBox="1"/>
          <p:nvPr/>
        </p:nvSpPr>
        <p:spPr>
          <a:xfrm>
            <a:off x="179512" y="692150"/>
            <a:ext cx="3956019" cy="2092881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1. </a:t>
            </a:r>
            <a:r>
              <a:rPr lang="ko-KR" altLang="en-US" sz="1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공백 출력 과정</a:t>
            </a:r>
            <a:b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공백의 개수 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 (</a:t>
            </a:r>
            <a: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최대 별 개수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− (</a:t>
            </a:r>
            <a: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현재 출력할 별의 수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개행 없이 공백 출력</a:t>
            </a:r>
            <a:b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(s = </a:t>
            </a:r>
            <a:r>
              <a:rPr lang="en-US" altLang="ko-KR" sz="1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s &lt; </a:t>
            </a:r>
            <a: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공백의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++s)</a:t>
            </a:r>
            <a:b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 "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2. </a:t>
            </a:r>
            <a:r>
              <a:rPr lang="ko-KR" altLang="en-US" sz="1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별을 출력 과정</a:t>
            </a:r>
            <a:b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별의 개수 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= </a:t>
            </a:r>
            <a: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현재 출력할 별의 수</a:t>
            </a:r>
            <a:b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(j = </a:t>
            </a:r>
            <a:r>
              <a:rPr lang="en-US" altLang="ko-KR" sz="10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j &lt; </a:t>
            </a:r>
            <a: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별의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개수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++j)</a:t>
            </a:r>
            <a:b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"*"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3. </a:t>
            </a:r>
            <a:r>
              <a:rPr lang="ko-KR" altLang="en-US" sz="1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줄바꿈 출력</a:t>
            </a:r>
            <a:b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E66BF9-3CA3-5D7A-0C8A-D014A8AD4FAE}"/>
              </a:ext>
            </a:extLst>
          </p:cNvPr>
          <p:cNvSpPr txBox="1"/>
          <p:nvPr/>
        </p:nvSpPr>
        <p:spPr>
          <a:xfrm>
            <a:off x="2336361" y="2785406"/>
            <a:ext cx="6444208" cy="364715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05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05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5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maxStar = </a:t>
            </a:r>
            <a:r>
              <a:rPr lang="en-US" altLang="ko-KR" sz="105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                  </a:t>
            </a:r>
            <a:r>
              <a:rPr lang="en-US" altLang="ko-KR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최대 별 개수</a:t>
            </a:r>
            <a:b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maxStar; i &gt;= </a:t>
            </a:r>
            <a:r>
              <a:rPr lang="en-US" altLang="ko-KR" sz="105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--i)       </a:t>
            </a:r>
            <a:r>
              <a:rPr lang="en-US" altLang="ko-KR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i </a:t>
            </a:r>
            <a:r>
              <a:rPr lang="ko-KR" altLang="en-US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출력할 별의 수</a:t>
            </a:r>
            <a:b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numSpace = maxStar - i;         </a:t>
            </a:r>
            <a:r>
              <a:rPr lang="en-US" altLang="ko-KR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공백의 개수</a:t>
            </a:r>
            <a:b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 = </a:t>
            </a:r>
            <a:r>
              <a:rPr lang="en-US" altLang="ko-KR" sz="105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s &lt; numSpace; ++s)   </a:t>
            </a:r>
            <a:r>
              <a:rPr lang="en-US" altLang="ko-KR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1. </a:t>
            </a:r>
            <a:r>
              <a:rPr lang="ko-KR" altLang="en-US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공백 출력 과정</a:t>
            </a:r>
            <a:b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 "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                    </a:t>
            </a:r>
            <a:r>
              <a:rPr lang="en-US" altLang="ko-KR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공백 출력</a:t>
            </a:r>
            <a:b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altLang="ko-KR" sz="105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j &lt; i; ++j)          </a:t>
            </a:r>
            <a:r>
              <a:rPr lang="en-US" altLang="ko-KR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2. </a:t>
            </a:r>
            <a:r>
              <a:rPr lang="ko-KR" altLang="en-US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별 출력 과정</a:t>
            </a:r>
            <a:r>
              <a:rPr lang="en-US" altLang="ko-KR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i </a:t>
            </a:r>
            <a:r>
              <a:rPr lang="ko-KR" altLang="en-US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는 출력할 별의 수</a:t>
            </a:r>
            <a:b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05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"*"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                    </a:t>
            </a:r>
            <a:r>
              <a:rPr lang="en-US" altLang="ko-KR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별 출력</a:t>
            </a:r>
            <a:b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05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05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                    </a:t>
            </a:r>
            <a:r>
              <a:rPr lang="en-US" altLang="ko-KR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3. </a:t>
            </a:r>
            <a:r>
              <a:rPr lang="ko-KR" altLang="en-US" sz="105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줄 바꿈 출력</a:t>
            </a:r>
            <a:b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05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05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05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33913517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7EA58-8EA4-52A3-FC22-926A4F80B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47F629-AB6C-7A52-4FAA-CD73E3294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7.4 while </a:t>
            </a:r>
            <a:r>
              <a:rPr lang="ko-KR" altLang="en-US" dirty="0"/>
              <a:t>문 기본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7BE2690-AD1F-6572-93DC-36EEB4C2FF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while </a:t>
            </a:r>
            <a:r>
              <a:rPr lang="ko-KR" altLang="en-US" sz="2400" dirty="0"/>
              <a:t>문</a:t>
            </a:r>
          </a:p>
          <a:p>
            <a:pPr lvl="1"/>
            <a:r>
              <a:rPr lang="ko-KR" altLang="en-US" sz="2000" dirty="0"/>
              <a:t>조건이 참인 동안 반복 실행</a:t>
            </a:r>
          </a:p>
          <a:p>
            <a:pPr lvl="1"/>
            <a:r>
              <a:rPr lang="ko-KR" altLang="en-US" sz="2000" dirty="0"/>
              <a:t>반복 횟수 미정 상황 적합</a:t>
            </a:r>
            <a:endParaRPr lang="en-US" altLang="ko-KR" sz="2000" dirty="0"/>
          </a:p>
          <a:p>
            <a:pPr lvl="3"/>
            <a:endParaRPr lang="en-US" altLang="ko-KR" sz="1400" dirty="0"/>
          </a:p>
          <a:p>
            <a:r>
              <a:rPr lang="ko-KR" altLang="en-US" sz="2400" dirty="0"/>
              <a:t>동작 방식</a:t>
            </a:r>
          </a:p>
          <a:p>
            <a:pPr lvl="1"/>
            <a:r>
              <a:rPr lang="ko-KR" altLang="en-US" sz="2000" dirty="0"/>
              <a:t>조건 검사 → 실행 → 재검사</a:t>
            </a:r>
          </a:p>
          <a:p>
            <a:pPr lvl="1"/>
            <a:r>
              <a:rPr lang="ko-KR" altLang="en-US" sz="2000" dirty="0"/>
              <a:t>조건이 처음부터 거짓 → 실행 안 함</a:t>
            </a:r>
            <a:endParaRPr lang="en-US" altLang="ko-KR" sz="2000" dirty="0"/>
          </a:p>
          <a:p>
            <a:pPr lvl="3"/>
            <a:endParaRPr lang="ko-KR" altLang="en-US" sz="1400" dirty="0"/>
          </a:p>
          <a:p>
            <a:r>
              <a:rPr lang="en-US" altLang="ko-KR" sz="2400" dirty="0"/>
              <a:t>for vs while</a:t>
            </a:r>
          </a:p>
          <a:p>
            <a:pPr lvl="1"/>
            <a:r>
              <a:rPr lang="en-US" altLang="ko-KR" sz="2000" dirty="0"/>
              <a:t>for:</a:t>
            </a:r>
            <a:r>
              <a:rPr lang="ko-KR" altLang="en-US" sz="2000" dirty="0"/>
              <a:t>횟수 기반 반복</a:t>
            </a:r>
          </a:p>
          <a:p>
            <a:pPr lvl="1"/>
            <a:r>
              <a:rPr lang="en-US" altLang="ko-KR" sz="2000" dirty="0"/>
              <a:t>while: </a:t>
            </a:r>
            <a:r>
              <a:rPr lang="ko-KR" altLang="en-US" sz="2000" dirty="0"/>
              <a:t>조건 기반 반복</a:t>
            </a:r>
          </a:p>
          <a:p>
            <a:pPr lvl="3"/>
            <a:endParaRPr lang="ko-KR" altLang="en-US" sz="1400" dirty="0"/>
          </a:p>
          <a:p>
            <a:r>
              <a:rPr lang="en-US" altLang="ko-KR" sz="2400" dirty="0"/>
              <a:t>while </a:t>
            </a:r>
            <a:r>
              <a:rPr lang="ko-KR" altLang="en-US" sz="2400" dirty="0"/>
              <a:t>사용 예</a:t>
            </a:r>
          </a:p>
          <a:p>
            <a:pPr lvl="1"/>
            <a:r>
              <a:rPr lang="ko-KR" altLang="en-US" sz="2000" dirty="0"/>
              <a:t>파일 입력</a:t>
            </a:r>
          </a:p>
          <a:p>
            <a:pPr lvl="1"/>
            <a:r>
              <a:rPr lang="ko-KR" altLang="en-US" sz="2000" dirty="0"/>
              <a:t>네트워크 수신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11485EE-BB87-1A06-60C8-4F7A9A91E15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637041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6A137D-70FF-22F7-F62A-20859B7607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18F277-B449-4897-919B-4665FC079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7.4 while </a:t>
            </a:r>
            <a:r>
              <a:rPr lang="ko-KR" altLang="en-US" dirty="0"/>
              <a:t>문 기본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1CC493-53C3-FD8E-CB8D-501774FD13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sz="2000" dirty="0"/>
          </a:p>
          <a:p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A39D711-E204-AD5F-460E-CFA53EBA75E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2B99F3-966D-F590-43E1-9C37120BB2F5}"/>
              </a:ext>
            </a:extLst>
          </p:cNvPr>
          <p:cNvSpPr txBox="1"/>
          <p:nvPr/>
        </p:nvSpPr>
        <p:spPr>
          <a:xfrm>
            <a:off x="249238" y="692150"/>
            <a:ext cx="3818706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반복 실행할 문장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F64FD3-AAA8-94D9-C0F9-C6868E9A955F}"/>
              </a:ext>
            </a:extLst>
          </p:cNvPr>
          <p:cNvSpPr txBox="1"/>
          <p:nvPr/>
        </p:nvSpPr>
        <p:spPr>
          <a:xfrm>
            <a:off x="4358698" y="706717"/>
            <a:ext cx="4390015" cy="132343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(; 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;)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반복 실행할 문장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38580A-642E-B6A2-B42E-F4060DFAF8DA}"/>
              </a:ext>
            </a:extLst>
          </p:cNvPr>
          <p:cNvSpPr txBox="1"/>
          <p:nvPr/>
        </p:nvSpPr>
        <p:spPr>
          <a:xfrm>
            <a:off x="249238" y="2348880"/>
            <a:ext cx="7203082" cy="286232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for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문을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while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문으로 변환한 형태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초기식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  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for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문의 초기식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for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문의 조건식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반복 실행할 문장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증감식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  </a:t>
            </a:r>
            <a:r>
              <a:rPr lang="en-US" altLang="ko-KR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for </a:t>
            </a:r>
            <a:r>
              <a:rPr lang="ko-KR" altLang="en-US" sz="20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문의 증감식</a:t>
            </a:r>
            <a:b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8277745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03CAC9-BD2F-D17C-3D85-33AD2EEEF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7.5 while </a:t>
            </a:r>
            <a:r>
              <a:rPr lang="ko-KR" altLang="en-US" dirty="0"/>
              <a:t>문 예제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BCC591-22E4-E591-B0CB-120C80330E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4A4DAB1-BD89-C21C-56C8-5229AAA8028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0EDC42-05CB-D3A0-B3FD-AC005D0426D4}"/>
              </a:ext>
            </a:extLst>
          </p:cNvPr>
          <p:cNvSpPr txBox="1"/>
          <p:nvPr/>
        </p:nvSpPr>
        <p:spPr>
          <a:xfrm>
            <a:off x="251520" y="715287"/>
            <a:ext cx="7992690" cy="289310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  0~1000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까지의 정수 중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의 배수 합계 구하기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sumSeven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for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문에서 사용한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int i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를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에서만 접근하도록 블록으로 감쌈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(i &lt;=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sumSeven += i;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증감식 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i +=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7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씩 증가 →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의 배수만 처리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"1~1000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까지  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ko-KR" altLang="en-US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의 배수 합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sumSeven);</a:t>
            </a:r>
            <a:endParaRPr lang="ko-KR" altLang="en-US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6CB253-3297-7480-8034-248F9566C08C}"/>
              </a:ext>
            </a:extLst>
          </p:cNvPr>
          <p:cNvSpPr txBox="1"/>
          <p:nvPr/>
        </p:nvSpPr>
        <p:spPr>
          <a:xfrm>
            <a:off x="251520" y="3789040"/>
            <a:ext cx="7992690" cy="203132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12345678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상황에 따라 주어진 숫자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digit 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자릿수 저장 변수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(n &gt;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n %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가장 뒤 자릿수 출력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++digit;             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자릿수 증가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n /= </a:t>
            </a:r>
            <a:r>
              <a:rPr lang="en-US" altLang="ko-KR" sz="1400" b="0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          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증감식 </a:t>
            </a:r>
            <a:br>
              <a:rPr lang="ko-KR" altLang="en-US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0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0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"\nTotal digits: %d\n"</a:t>
            </a:r>
            <a:r>
              <a:rPr lang="en-US" altLang="ko-KR" sz="1400" b="0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digit);  </a:t>
            </a:r>
            <a:r>
              <a:rPr lang="en-US" altLang="ko-KR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0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총 자리수 출력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48115176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64F6E-78E2-1876-6A99-2B94E466C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36C344-12B9-E275-F3DA-3C97057A0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7.6 </a:t>
            </a:r>
            <a:r>
              <a:rPr lang="ko-KR" altLang="en-US" dirty="0"/>
              <a:t>다중 </a:t>
            </a:r>
            <a:r>
              <a:rPr lang="en-US" altLang="ko-KR" dirty="0"/>
              <a:t>while </a:t>
            </a:r>
            <a:r>
              <a:rPr lang="ko-KR" altLang="en-US" dirty="0"/>
              <a:t>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DD6496E-5E21-F156-6612-7F14E0D3D3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다중 </a:t>
            </a:r>
            <a:r>
              <a:rPr lang="en-US" altLang="ko-KR" sz="2400" dirty="0"/>
              <a:t>while </a:t>
            </a:r>
            <a:r>
              <a:rPr lang="ko-KR" altLang="en-US" sz="2400" dirty="0"/>
              <a:t>문</a:t>
            </a:r>
          </a:p>
          <a:p>
            <a:pPr lvl="1"/>
            <a:r>
              <a:rPr lang="en-US" altLang="ko-KR" sz="2000" dirty="0"/>
              <a:t>while </a:t>
            </a:r>
            <a:r>
              <a:rPr lang="ko-KR" altLang="en-US" sz="2000" dirty="0"/>
              <a:t>내부에 또 다른 </a:t>
            </a:r>
            <a:r>
              <a:rPr lang="en-US" altLang="ko-KR" sz="2000" dirty="0"/>
              <a:t>while </a:t>
            </a:r>
            <a:r>
              <a:rPr lang="ko-KR" altLang="en-US" sz="2000" dirty="0"/>
              <a:t>구조</a:t>
            </a:r>
          </a:p>
          <a:p>
            <a:pPr lvl="1"/>
            <a:r>
              <a:rPr lang="ko-KR" altLang="en-US" sz="2000" dirty="0"/>
              <a:t>조건 기반 반복 중첩</a:t>
            </a:r>
            <a:endParaRPr lang="en-US" altLang="ko-KR" sz="2000" dirty="0"/>
          </a:p>
          <a:p>
            <a:pPr lvl="2"/>
            <a:endParaRPr lang="ko-KR" altLang="en-US" sz="1600" dirty="0"/>
          </a:p>
          <a:p>
            <a:r>
              <a:rPr lang="ko-KR" altLang="en-US" sz="2400" dirty="0"/>
              <a:t>활용</a:t>
            </a:r>
          </a:p>
          <a:p>
            <a:pPr lvl="1"/>
            <a:r>
              <a:rPr lang="ko-KR" altLang="en-US" sz="2000" dirty="0"/>
              <a:t>입력 처리</a:t>
            </a:r>
            <a:r>
              <a:rPr lang="en-US" altLang="ko-KR" sz="2000" dirty="0"/>
              <a:t>, </a:t>
            </a:r>
            <a:r>
              <a:rPr lang="ko-KR" altLang="en-US" sz="2000" dirty="0"/>
              <a:t>문자열 탐색</a:t>
            </a:r>
            <a:r>
              <a:rPr lang="en-US" altLang="ko-KR" sz="2000" dirty="0"/>
              <a:t>, </a:t>
            </a:r>
            <a:r>
              <a:rPr lang="ko-KR" altLang="en-US" sz="2000" dirty="0"/>
              <a:t>파일 읽기</a:t>
            </a:r>
            <a:endParaRPr lang="en-US" altLang="ko-KR" sz="2000" dirty="0"/>
          </a:p>
          <a:p>
            <a:pPr lvl="2"/>
            <a:endParaRPr lang="ko-KR" altLang="en-US" sz="1600" dirty="0"/>
          </a:p>
          <a:p>
            <a:r>
              <a:rPr lang="ko-KR" altLang="en-US" sz="2400" dirty="0"/>
              <a:t>주의사항</a:t>
            </a:r>
            <a:endParaRPr lang="en-US" altLang="ko-KR" sz="2400" dirty="0"/>
          </a:p>
          <a:p>
            <a:pPr lvl="1"/>
            <a:r>
              <a:rPr lang="ko-KR" altLang="en-US" sz="2000" dirty="0"/>
              <a:t>조건식 정확히 설정 ← 무한 루프 위험 존재</a:t>
            </a:r>
          </a:p>
          <a:p>
            <a:pPr lvl="1"/>
            <a:r>
              <a:rPr lang="ko-KR" altLang="en-US" sz="2000" dirty="0"/>
              <a:t>반복 변수 반드시 변경</a:t>
            </a:r>
            <a:r>
              <a:rPr lang="en-US" altLang="ko-KR" sz="2000" dirty="0"/>
              <a:t>, </a:t>
            </a:r>
            <a:r>
              <a:rPr lang="ko-KR" altLang="en-US" sz="2000" dirty="0"/>
              <a:t>종료 조건 명확히 정의</a:t>
            </a:r>
          </a:p>
          <a:p>
            <a:pPr lvl="2"/>
            <a:endParaRPr lang="ko-KR" altLang="en-US" sz="1600" dirty="0"/>
          </a:p>
          <a:p>
            <a:r>
              <a:rPr lang="ko-KR" altLang="en-US" sz="2400" dirty="0"/>
              <a:t>사용 기준</a:t>
            </a:r>
          </a:p>
          <a:p>
            <a:pPr lvl="1"/>
            <a:r>
              <a:rPr lang="ko-KR" altLang="en-US" sz="2000" dirty="0"/>
              <a:t>반복 횟수 불명확 → </a:t>
            </a:r>
            <a:r>
              <a:rPr lang="en-US" altLang="ko-KR" sz="2000" dirty="0"/>
              <a:t>while</a:t>
            </a:r>
          </a:p>
          <a:p>
            <a:pPr lvl="1"/>
            <a:r>
              <a:rPr lang="ko-KR" altLang="en-US" sz="2000" dirty="0"/>
              <a:t>횟수 명확 → </a:t>
            </a:r>
            <a:r>
              <a:rPr lang="en-US" altLang="ko-KR" sz="2000" dirty="0"/>
              <a:t>for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49A6347-C3B6-B5E1-0A39-1151CAB0E02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9378394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AAB5D-B222-A30C-E195-F3362AF6E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D4F9DB-24A1-51DD-AF75-2D7B1B388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7.6.2 </a:t>
            </a:r>
            <a:r>
              <a:rPr lang="ko-KR" altLang="en-US" dirty="0"/>
              <a:t>다중 </a:t>
            </a:r>
            <a:r>
              <a:rPr lang="en-US" altLang="ko-KR" dirty="0"/>
              <a:t>while </a:t>
            </a:r>
            <a:r>
              <a:rPr lang="ko-KR" altLang="en-US" dirty="0"/>
              <a:t>문 예제</a:t>
            </a:r>
            <a:r>
              <a:rPr lang="en-US" altLang="ko-KR" dirty="0"/>
              <a:t>: </a:t>
            </a:r>
            <a:r>
              <a:rPr lang="ko-KR" altLang="en-US" dirty="0"/>
              <a:t>행과 열 출력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DBDA1DB-0D7B-39E2-114A-CDFFAA81E6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FD1BE1F-DBFF-9DA2-7A3F-314B7594845A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980425-D0BA-9B06-0E16-D3A8E2F17567}"/>
              </a:ext>
            </a:extLst>
          </p:cNvPr>
          <p:cNvSpPr txBox="1"/>
          <p:nvPr/>
        </p:nvSpPr>
        <p:spPr>
          <a:xfrm>
            <a:off x="289888" y="836712"/>
            <a:ext cx="4426128" cy="501675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rows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cols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(r &lt;= rows)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(c &lt;= cols)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"(%d, %d) 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r, c);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c++;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r++;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916E78-D300-2BDF-982B-F49E1A8C9932}"/>
              </a:ext>
            </a:extLst>
          </p:cNvPr>
          <p:cNvSpPr txBox="1"/>
          <p:nvPr/>
        </p:nvSpPr>
        <p:spPr>
          <a:xfrm>
            <a:off x="4716016" y="4930140"/>
            <a:ext cx="3888432" cy="92333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(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8813977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9B76A-8E48-F90E-F0DC-DDADF077BA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DFAEA1-FF34-B445-0DE0-D8465EEEF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7.6.3 </a:t>
            </a:r>
            <a:r>
              <a:rPr lang="ko-KR" altLang="en-US" dirty="0"/>
              <a:t>다중 </a:t>
            </a:r>
            <a:r>
              <a:rPr lang="en-US" altLang="ko-KR" dirty="0"/>
              <a:t>while </a:t>
            </a:r>
            <a:r>
              <a:rPr lang="ko-KR" altLang="en-US" dirty="0"/>
              <a:t>문 예제</a:t>
            </a:r>
            <a:r>
              <a:rPr lang="en-US" altLang="ko-KR" dirty="0"/>
              <a:t>: 9X9 table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073E38-74F5-74DC-E633-88CCC69835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167E4DE-27C7-5311-74D0-35E47D95CC3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51996E-B751-F293-86A7-65CCEDC5EED5}"/>
              </a:ext>
            </a:extLst>
          </p:cNvPr>
          <p:cNvSpPr txBox="1"/>
          <p:nvPr/>
        </p:nvSpPr>
        <p:spPr>
          <a:xfrm>
            <a:off x="251520" y="673407"/>
            <a:ext cx="8712968" cy="5632311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 </a:t>
            </a:r>
            <a:r>
              <a:rPr lang="ko-KR" altLang="en-US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구구단 프로그램 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table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(table &lt;=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           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바깥 반복문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단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(table)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</a:t>
            </a:r>
            <a:r>
              <a:rPr lang="ko-KR" altLang="en-US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단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table);  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각 단 출력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num 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(num &lt;= </a:t>
            </a:r>
            <a:r>
              <a:rPr lang="en-US" altLang="ko-KR" sz="18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        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안쪽 반복문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곱하는 수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(num)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{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multi = table * num;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곱하기 결과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x %d = %d\n"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table, num, multi);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++num;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}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}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8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              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각 단 출력 후 줄 구분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++table;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800" b="1" dirty="0"/>
          </a:p>
        </p:txBody>
      </p:sp>
    </p:spTree>
    <p:extLst>
      <p:ext uri="{BB962C8B-B14F-4D97-AF65-F5344CB8AC3E}">
        <p14:creationId xmlns:p14="http://schemas.microsoft.com/office/powerpoint/2010/main" val="7936793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AB2A9-3069-5952-822B-DD28BA285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1D9AFA-AC14-F41B-796D-1358C7FCE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7.7 do–while </a:t>
            </a:r>
            <a:r>
              <a:rPr lang="ko-KR" altLang="en-US" dirty="0"/>
              <a:t>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CAC33B4-D43A-01C9-C3B9-05E889E627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do–while </a:t>
            </a:r>
            <a:r>
              <a:rPr lang="ko-KR" altLang="en-US" dirty="0"/>
              <a:t>문</a:t>
            </a:r>
          </a:p>
          <a:p>
            <a:pPr lvl="1"/>
            <a:r>
              <a:rPr lang="ko-KR" altLang="en-US" sz="2000" dirty="0"/>
              <a:t>조건과 관계없이 </a:t>
            </a:r>
            <a:r>
              <a:rPr lang="en-US" altLang="ko-KR" sz="2000" dirty="0"/>
              <a:t>1</a:t>
            </a:r>
            <a:r>
              <a:rPr lang="ko-KR" altLang="en-US" sz="2000" dirty="0"/>
              <a:t>회 실행</a:t>
            </a:r>
            <a:r>
              <a:rPr lang="en-US" altLang="ko-KR" sz="2000" dirty="0"/>
              <a:t>, </a:t>
            </a:r>
            <a:r>
              <a:rPr lang="ko-KR" altLang="en-US" sz="2000" dirty="0"/>
              <a:t>조건이 참인 동안 반복 실행 </a:t>
            </a:r>
            <a:r>
              <a:rPr lang="en-US" altLang="ko-KR" sz="2000" dirty="0"/>
              <a:t>(while)</a:t>
            </a:r>
          </a:p>
          <a:p>
            <a:pPr lvl="1"/>
            <a:endParaRPr lang="ko-KR" altLang="en-US" sz="2000" dirty="0"/>
          </a:p>
          <a:p>
            <a:r>
              <a:rPr lang="ko-KR" altLang="en-US" dirty="0"/>
              <a:t>동작 순서</a:t>
            </a:r>
          </a:p>
          <a:p>
            <a:pPr lvl="1"/>
            <a:r>
              <a:rPr lang="ko-KR" altLang="en-US" sz="2000" dirty="0"/>
              <a:t>실행 → 조건 검사 → 반복 판단</a:t>
            </a:r>
            <a:endParaRPr lang="en-US" altLang="ko-KR" sz="2000" dirty="0"/>
          </a:p>
          <a:p>
            <a:pPr lvl="1"/>
            <a:endParaRPr lang="ko-KR" altLang="en-US" sz="2000" dirty="0"/>
          </a:p>
          <a:p>
            <a:r>
              <a:rPr lang="en-US" altLang="ko-KR" dirty="0"/>
              <a:t>while</a:t>
            </a:r>
            <a:r>
              <a:rPr lang="ko-KR" altLang="en-US" dirty="0"/>
              <a:t>과 차이</a:t>
            </a:r>
          </a:p>
          <a:p>
            <a:pPr lvl="1"/>
            <a:r>
              <a:rPr lang="en-US" altLang="ko-KR" sz="2000" dirty="0"/>
              <a:t>while: </a:t>
            </a:r>
            <a:r>
              <a:rPr lang="ko-KR" altLang="en-US" sz="2000" dirty="0"/>
              <a:t>조건 먼저 검사</a:t>
            </a:r>
          </a:p>
          <a:p>
            <a:pPr lvl="1"/>
            <a:r>
              <a:rPr lang="en-US" altLang="ko-KR" sz="2000" dirty="0"/>
              <a:t>do–while: </a:t>
            </a:r>
            <a:r>
              <a:rPr lang="ko-KR" altLang="en-US" sz="2000" dirty="0"/>
              <a:t>실행 후 조건 검사</a:t>
            </a:r>
            <a:endParaRPr lang="en-US" altLang="ko-KR" sz="2000" dirty="0"/>
          </a:p>
          <a:p>
            <a:pPr lvl="1"/>
            <a:endParaRPr lang="ko-KR" altLang="en-US" sz="2000" dirty="0"/>
          </a:p>
          <a:p>
            <a:r>
              <a:rPr lang="ko-KR" altLang="en-US" dirty="0"/>
              <a:t>주의</a:t>
            </a:r>
          </a:p>
          <a:p>
            <a:pPr lvl="1"/>
            <a:r>
              <a:rPr lang="en-US" altLang="ko-KR" sz="2000" dirty="0"/>
              <a:t>while </a:t>
            </a:r>
            <a:r>
              <a:rPr lang="ko-KR" altLang="en-US" sz="2000" dirty="0"/>
              <a:t>끝 세미콜론</a:t>
            </a:r>
            <a:r>
              <a:rPr lang="en-US" altLang="ko-KR" sz="2000" dirty="0"/>
              <a:t>(;) </a:t>
            </a:r>
            <a:r>
              <a:rPr lang="ko-KR" altLang="en-US" sz="2000" dirty="0"/>
              <a:t>필수</a:t>
            </a:r>
            <a:endParaRPr lang="ko-KR" altLang="en-US" sz="32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3E59C3A-0225-53FA-6CAA-60A25D24DB3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B9EF74B-B130-D41F-45AC-60EE1989A940}"/>
              </a:ext>
            </a:extLst>
          </p:cNvPr>
          <p:cNvSpPr txBox="1"/>
          <p:nvPr/>
        </p:nvSpPr>
        <p:spPr>
          <a:xfrm>
            <a:off x="4932040" y="2459504"/>
            <a:ext cx="3960440" cy="1569660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</a:t>
            </a:r>
            <a:b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반복 실행할 문장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조건식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9135974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FD08D-369D-68E7-0839-3C7BA9CFB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DB19E0-D703-031D-37A6-7D5BD781E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7.7.2 do–while </a:t>
            </a:r>
            <a:r>
              <a:rPr lang="ko-KR" altLang="en-US" dirty="0"/>
              <a:t>문 기본 예제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A76E96-89A8-A3C4-C3A6-8BC36C2A45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사용자 입력 확인</a:t>
            </a:r>
            <a:endParaRPr lang="en-US" altLang="ko-KR" sz="2400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FC8FEB3-8047-E1F2-E968-675F7521C89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6B0EC7-D37A-5D25-DB98-7A787257E565}"/>
              </a:ext>
            </a:extLst>
          </p:cNvPr>
          <p:cNvSpPr txBox="1"/>
          <p:nvPr/>
        </p:nvSpPr>
        <p:spPr>
          <a:xfrm>
            <a:off x="539750" y="1268760"/>
            <a:ext cx="8064698" cy="4708981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value=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"0 </a:t>
            </a:r>
            <a:r>
              <a:rPr lang="ko-KR" altLang="en-US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이상의 정수를 입력하세요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&amp;value);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 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&lt;= value);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입력한 값</a:t>
            </a:r>
            <a:r>
              <a:rPr lang="en-US" altLang="ko-KR" sz="20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value);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0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20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0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2119046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4C104-B4E7-4EA9-E8E7-6C5AA1064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B2DA8D-1601-F3A0-ACCD-118AEEC39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7.7.3 do–while </a:t>
            </a:r>
            <a:r>
              <a:rPr lang="ko-KR" altLang="en-US" dirty="0"/>
              <a:t>문 기본 예제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1C59DD-44EC-D923-DC54-EA4CEAF451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메뉴 처리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0BA2FC2-701F-AC91-D5BB-D2B473A9216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07BA6E-4D2B-9DCF-6E72-099DECEFC992}"/>
              </a:ext>
            </a:extLst>
          </p:cNvPr>
          <p:cNvSpPr txBox="1"/>
          <p:nvPr/>
        </p:nvSpPr>
        <p:spPr>
          <a:xfrm>
            <a:off x="539750" y="1268760"/>
            <a:ext cx="6408514" cy="501675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&lt;stdio.h&gt;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choice=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-999999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"\n=== </a:t>
            </a:r>
            <a:r>
              <a:rPr lang="ko-KR" altLang="en-US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메뉴 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===\n"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"1. </a:t>
            </a:r>
            <a:r>
              <a:rPr lang="ko-KR" altLang="en-US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게임 시작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"2. </a:t>
            </a:r>
            <a:r>
              <a:rPr lang="ko-KR" altLang="en-US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설정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"3. </a:t>
            </a:r>
            <a:r>
              <a:rPr lang="ko-KR" altLang="en-US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종료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번호를 선택하세요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&amp;choice);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(choice !=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프로그램을 종료합니다</a:t>
            </a:r>
            <a:r>
              <a:rPr lang="en-US" altLang="ko-KR" sz="16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31115199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CD3DA-C944-F76F-0374-A367F5300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D34532-35D8-1313-78F3-9AD0B7E482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7.8.1 break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EA37C63-AB09-77B0-DDDB-7FBB5F20D5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break;</a:t>
            </a:r>
          </a:p>
          <a:p>
            <a:pPr lvl="1"/>
            <a:r>
              <a:rPr lang="ko-KR" altLang="en-US" sz="2000" dirty="0"/>
              <a:t>가장 가까운 반복문 또는 </a:t>
            </a:r>
            <a:r>
              <a:rPr lang="en-US" altLang="ko-KR" sz="2000" dirty="0"/>
              <a:t>switch </a:t>
            </a:r>
            <a:r>
              <a:rPr lang="ko-KR" altLang="en-US" sz="2000" dirty="0"/>
              <a:t>즉시 종료</a:t>
            </a:r>
            <a:r>
              <a:rPr lang="en-US" altLang="ko-KR" sz="2000" dirty="0"/>
              <a:t>. </a:t>
            </a:r>
            <a:r>
              <a:rPr lang="ko-KR" altLang="en-US" sz="2000" dirty="0"/>
              <a:t>조건과 무관하게 탈출</a:t>
            </a:r>
          </a:p>
          <a:p>
            <a:pPr lvl="1"/>
            <a:r>
              <a:rPr lang="ko-KR" altLang="en-US" sz="2000" dirty="0"/>
              <a:t>사용 위치</a:t>
            </a:r>
            <a:r>
              <a:rPr lang="en-US" altLang="ko-KR" sz="2000" dirty="0"/>
              <a:t>: switch, for, while, do–while</a:t>
            </a:r>
          </a:p>
          <a:p>
            <a:endParaRPr lang="en-US" altLang="ko-KR" sz="24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6312E7A-7D78-BF77-397B-14E4228FB35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2285E6-9B3C-5FDF-D073-1D2040ED5C9D}"/>
              </a:ext>
            </a:extLst>
          </p:cNvPr>
          <p:cNvSpPr txBox="1"/>
          <p:nvPr/>
        </p:nvSpPr>
        <p:spPr>
          <a:xfrm>
            <a:off x="107504" y="1990656"/>
            <a:ext cx="4215259" cy="138499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(i ==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발견 즉시 루프 종료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i);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14A732-BBA2-99A3-7084-39FEA06DB272}"/>
              </a:ext>
            </a:extLst>
          </p:cNvPr>
          <p:cNvSpPr txBox="1"/>
          <p:nvPr/>
        </p:nvSpPr>
        <p:spPr>
          <a:xfrm>
            <a:off x="107504" y="3375651"/>
            <a:ext cx="4215259" cy="2246769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choice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"1. </a:t>
            </a:r>
            <a:r>
              <a:rPr lang="ko-KR" altLang="en-US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시작  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2. </a:t>
            </a:r>
            <a:r>
              <a:rPr lang="ko-KR" altLang="en-US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설정  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3. </a:t>
            </a:r>
            <a:r>
              <a:rPr lang="ko-KR" altLang="en-US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종료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&amp;choice);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(choice ==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</a:t>
            </a:r>
            <a:r>
              <a:rPr lang="en-US" altLang="ko-KR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메뉴 루프 종료</a:t>
            </a:r>
            <a:b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선택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choice);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프로그램을 종료합니다</a:t>
            </a:r>
            <a:r>
              <a:rPr lang="en-US" altLang="ko-KR" sz="1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4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9AE59C-5F52-BF19-D905-D13BD0D46A35}"/>
              </a:ext>
            </a:extLst>
          </p:cNvPr>
          <p:cNvSpPr txBox="1"/>
          <p:nvPr/>
        </p:nvSpPr>
        <p:spPr>
          <a:xfrm>
            <a:off x="4716017" y="2204864"/>
            <a:ext cx="4320480" cy="1661993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1024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j &lt; </a:t>
            </a:r>
            <a:r>
              <a:rPr lang="en-US" altLang="ko-KR" sz="1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1024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++j)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8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</a:t>
            </a:r>
            <a:r>
              <a:rPr lang="en-US" altLang="ko-KR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j </a:t>
            </a:r>
            <a:r>
              <a:rPr lang="ko-KR" altLang="en-US" sz="18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반복문만 종료됨</a:t>
            </a:r>
            <a:br>
              <a:rPr lang="ko-KR" altLang="en-US" sz="18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365694635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4B9741-5394-ECC6-5E95-57CC750D2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7.8.2 continue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69EA77-D007-5EB1-4C14-344211A859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400" dirty="0"/>
              <a:t>continue </a:t>
            </a:r>
            <a:r>
              <a:rPr lang="ko-KR" altLang="en-US" sz="2400" dirty="0"/>
              <a:t>문</a:t>
            </a:r>
          </a:p>
          <a:p>
            <a:pPr lvl="1"/>
            <a:r>
              <a:rPr lang="ko-KR" altLang="en-US" sz="1800" dirty="0"/>
              <a:t>현재 반복 남은 문장 건너뜀</a:t>
            </a:r>
          </a:p>
          <a:p>
            <a:pPr lvl="1"/>
            <a:r>
              <a:rPr lang="ko-KR" altLang="en-US" sz="1800" dirty="0"/>
              <a:t>다음 반복으로 이동</a:t>
            </a:r>
          </a:p>
          <a:p>
            <a:r>
              <a:rPr lang="ko-KR" altLang="en-US" sz="2400" dirty="0"/>
              <a:t>동작</a:t>
            </a:r>
          </a:p>
          <a:p>
            <a:pPr lvl="1"/>
            <a:r>
              <a:rPr lang="en-US" altLang="ko-KR" sz="1800" dirty="0"/>
              <a:t>for : </a:t>
            </a:r>
            <a:r>
              <a:rPr lang="ko-KR" altLang="en-US" sz="1800" dirty="0"/>
              <a:t>증감식으로 이동</a:t>
            </a:r>
          </a:p>
          <a:p>
            <a:pPr lvl="1"/>
            <a:r>
              <a:rPr lang="en-US" altLang="ko-KR" sz="1800" dirty="0"/>
              <a:t>while / do–while : </a:t>
            </a:r>
            <a:r>
              <a:rPr lang="ko-KR" altLang="en-US" sz="1800" dirty="0"/>
              <a:t>조건 검사로 이동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86011E5-B61C-3DC0-CC24-BDFBADF7286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9E3048-2DF7-56FD-5100-44C3886428C2}"/>
              </a:ext>
            </a:extLst>
          </p:cNvPr>
          <p:cNvSpPr txBox="1"/>
          <p:nvPr/>
        </p:nvSpPr>
        <p:spPr>
          <a:xfrm>
            <a:off x="611560" y="3356992"/>
            <a:ext cx="7560642" cy="2677656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&lt;=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(i %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altLang="ko-KR" sz="24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24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  </a:t>
            </a:r>
            <a:r>
              <a:rPr lang="en-US" altLang="ko-KR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24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짝수는 건너뛰기</a:t>
            </a:r>
            <a:b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24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24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 "</a:t>
            </a: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i);</a:t>
            </a:r>
            <a:b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24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1724601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FBB73-151F-3B2F-1950-CBF12440D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821F20-13CC-0C3E-9669-FA8E35A73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7.8.3 goto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8A09F1-4DFB-01BC-2B84-94F9949B3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goto </a:t>
            </a:r>
            <a:r>
              <a:rPr lang="ko-KR" altLang="en-US" dirty="0"/>
              <a:t>문</a:t>
            </a:r>
          </a:p>
          <a:p>
            <a:pPr lvl="1"/>
            <a:r>
              <a:rPr lang="ko-KR" altLang="en-US" dirty="0"/>
              <a:t>지정한 레이블로 즉시 이동</a:t>
            </a:r>
          </a:p>
          <a:p>
            <a:pPr lvl="1"/>
            <a:r>
              <a:rPr lang="ko-KR" altLang="en-US" dirty="0"/>
              <a:t>임의 위치 점프</a:t>
            </a:r>
          </a:p>
          <a:p>
            <a:pPr lvl="1"/>
            <a:r>
              <a:rPr lang="ko-KR" altLang="en-US" dirty="0"/>
              <a:t>구조 흐름 붕괴 위험</a:t>
            </a:r>
            <a:endParaRPr lang="en-US" altLang="ko-KR" dirty="0"/>
          </a:p>
          <a:p>
            <a:pPr lvl="1"/>
            <a:endParaRPr lang="ko-KR" altLang="en-US" dirty="0"/>
          </a:p>
          <a:p>
            <a:r>
              <a:rPr lang="ko-KR" altLang="en-US" dirty="0"/>
              <a:t>사용</a:t>
            </a:r>
          </a:p>
          <a:p>
            <a:pPr lvl="1"/>
            <a:r>
              <a:rPr lang="ko-KR" altLang="en-US" dirty="0"/>
              <a:t>제한적 사용 권장</a:t>
            </a:r>
          </a:p>
          <a:p>
            <a:pPr lvl="1"/>
            <a:r>
              <a:rPr lang="ko-KR" altLang="en-US" dirty="0"/>
              <a:t>흐름 간결화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497C794-1258-DAD6-211D-BBE3296267B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90EADA-9FF9-8B7A-38AA-F584F47D1D85}"/>
              </a:ext>
            </a:extLst>
          </p:cNvPr>
          <p:cNvSpPr txBox="1"/>
          <p:nvPr/>
        </p:nvSpPr>
        <p:spPr>
          <a:xfrm>
            <a:off x="4716016" y="874455"/>
            <a:ext cx="3744416" cy="2554545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ash"/>
          </a:ln>
        </p:spPr>
        <p:txBody>
          <a:bodyPr wrap="square">
            <a:spAutoFit/>
          </a:bodyPr>
          <a:lstStyle/>
          <a:p>
            <a:r>
              <a:rPr lang="en-US" altLang="ko-KR" sz="3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goto</a:t>
            </a:r>
            <a:r>
              <a:rPr lang="en-US" altLang="ko-KR" sz="3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LABEL;</a:t>
            </a:r>
            <a:br>
              <a:rPr lang="en-US" altLang="ko-KR" sz="3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3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3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//...</a:t>
            </a:r>
            <a:br>
              <a:rPr lang="en-US" altLang="ko-KR" sz="3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3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3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LABEL:</a:t>
            </a:r>
            <a:endParaRPr lang="ko-KR" altLang="en-US" sz="3200" b="1" dirty="0"/>
          </a:p>
        </p:txBody>
      </p:sp>
    </p:spTree>
    <p:extLst>
      <p:ext uri="{BB962C8B-B14F-4D97-AF65-F5344CB8AC3E}">
        <p14:creationId xmlns:p14="http://schemas.microsoft.com/office/powerpoint/2010/main" val="13275641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876CA-B0DD-E664-403C-3C5C02A05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8F75E8-E4EF-0780-0062-7BEB1445F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7.8.3.1 goto </a:t>
            </a:r>
            <a:r>
              <a:rPr lang="ko-KR" altLang="en-US" dirty="0"/>
              <a:t>활용</a:t>
            </a:r>
            <a:r>
              <a:rPr lang="en-US" altLang="ko-KR" dirty="0"/>
              <a:t>: </a:t>
            </a:r>
            <a:r>
              <a:rPr lang="ko-KR" altLang="en-US" dirty="0"/>
              <a:t>에러 처리</a:t>
            </a:r>
            <a:r>
              <a:rPr lang="en-US" altLang="ko-KR" dirty="0"/>
              <a:t>(Error Handling)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D77C66-ADCF-9877-8CA5-25DCCD705F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870C97-D9F8-2ECD-8E8D-22A6E51B6DF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024A155-F5DF-ACB0-EEAE-8667843D7461}"/>
              </a:ext>
            </a:extLst>
          </p:cNvPr>
          <p:cNvSpPr txBox="1"/>
          <p:nvPr/>
        </p:nvSpPr>
        <p:spPr>
          <a:xfrm>
            <a:off x="251520" y="624145"/>
            <a:ext cx="7740253" cy="581697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choice =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-999999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"\n=== </a:t>
            </a:r>
            <a:r>
              <a:rPr lang="ko-KR" altLang="en-US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메뉴 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===\n"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"1. </a:t>
            </a:r>
            <a:r>
              <a:rPr lang="ko-KR" altLang="en-US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게임 시작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"2. </a:t>
            </a:r>
            <a:r>
              <a:rPr lang="ko-KR" altLang="en-US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설정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"3. </a:t>
            </a:r>
            <a:r>
              <a:rPr lang="ko-KR" altLang="en-US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종료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번호를 선택하세요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"%d"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&amp;choice);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(choice ==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goto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END_NORMAL;  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정상 종료 지점으로 이동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(choice &lt;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|| choice &gt;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goto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END_ERROR;   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비정상 종료 지점으로 이동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1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또는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를 선택한 경우 처리 코드가 들어갈 자리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선택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: %d\n"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, choice);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END_NORMAL: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프로그램을 종료합니다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END_ERROR: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잘못 선택된 메뉴입니다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 </a:t>
            </a:r>
            <a:r>
              <a:rPr lang="ko-KR" altLang="en-US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비정상 종료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.\n"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10956472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FAD7D-4287-5E1B-6646-294894695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452058-DA53-A49C-6771-8EF1B8F90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7.8.3.2 goto </a:t>
            </a:r>
            <a:r>
              <a:rPr lang="ko-KR" altLang="en-US" dirty="0"/>
              <a:t>활용</a:t>
            </a:r>
            <a:r>
              <a:rPr lang="en-US" altLang="ko-KR" dirty="0"/>
              <a:t>: </a:t>
            </a:r>
            <a:r>
              <a:rPr lang="ko-KR" altLang="en-US" dirty="0"/>
              <a:t>자원 정리 패턴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9F3B96-DB61-3CB0-934B-70B06513D3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C </a:t>
            </a:r>
            <a:r>
              <a:rPr lang="ko-KR" altLang="en-US" dirty="0"/>
              <a:t>언어</a:t>
            </a:r>
          </a:p>
          <a:p>
            <a:pPr lvl="1"/>
            <a:r>
              <a:rPr lang="ko-KR" altLang="en-US" sz="2000" dirty="0"/>
              <a:t>예외 처리 없음</a:t>
            </a:r>
          </a:p>
          <a:p>
            <a:pPr lvl="1"/>
            <a:r>
              <a:rPr lang="ko-KR" altLang="en-US" sz="2000" dirty="0"/>
              <a:t>자동 자원 정리 없음</a:t>
            </a:r>
            <a:endParaRPr lang="en-US" altLang="ko-KR" sz="2000" dirty="0"/>
          </a:p>
          <a:p>
            <a:pPr lvl="1"/>
            <a:endParaRPr lang="ko-KR" altLang="en-US" sz="2000" dirty="0"/>
          </a:p>
          <a:p>
            <a:r>
              <a:rPr lang="en-US" altLang="ko-KR" dirty="0"/>
              <a:t>goto </a:t>
            </a:r>
            <a:r>
              <a:rPr lang="ko-KR" altLang="en-US" dirty="0"/>
              <a:t>필요 상황</a:t>
            </a:r>
          </a:p>
          <a:p>
            <a:pPr lvl="1"/>
            <a:r>
              <a:rPr lang="ko-KR" altLang="en-US" sz="2000" dirty="0"/>
              <a:t>여러 단계 초기화 과정</a:t>
            </a:r>
          </a:p>
          <a:p>
            <a:pPr lvl="1"/>
            <a:r>
              <a:rPr lang="ko-KR" altLang="en-US" sz="2000" dirty="0"/>
              <a:t>중간 실패 가능</a:t>
            </a:r>
          </a:p>
          <a:p>
            <a:pPr lvl="1"/>
            <a:r>
              <a:rPr lang="ko-KR" altLang="en-US" sz="2000" dirty="0"/>
              <a:t>공통 지점으로 이동</a:t>
            </a:r>
            <a:r>
              <a:rPr lang="en-US" altLang="ko-KR" sz="2000" dirty="0"/>
              <a:t>, </a:t>
            </a:r>
            <a:r>
              <a:rPr lang="ko-KR" altLang="en-US" sz="2000" dirty="0"/>
              <a:t>정리</a:t>
            </a:r>
          </a:p>
          <a:p>
            <a:pPr lvl="1"/>
            <a:r>
              <a:rPr lang="ko-KR" altLang="en-US" sz="2000" dirty="0"/>
              <a:t>중복 코드 제거</a:t>
            </a:r>
          </a:p>
          <a:p>
            <a:pPr lvl="1"/>
            <a:r>
              <a:rPr lang="ko-KR" altLang="en-US" sz="2000" dirty="0"/>
              <a:t>흐름 단순화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5CBDD873-3D91-D201-1670-61E0A700A45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47C7BB-74C0-4E95-4007-FFFFE5A8E3D3}"/>
              </a:ext>
            </a:extLst>
          </p:cNvPr>
          <p:cNvSpPr txBox="1"/>
          <p:nvPr/>
        </p:nvSpPr>
        <p:spPr>
          <a:xfrm>
            <a:off x="3851920" y="593725"/>
            <a:ext cx="5184576" cy="5816977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loadData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filename)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FILE* fp     =  </a:t>
            </a:r>
            <a:r>
              <a:rPr lang="en-US" altLang="ko-KR" sz="12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 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파일 리소스 초기화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buffer =  </a:t>
            </a:r>
            <a:r>
              <a:rPr lang="en-US" altLang="ko-KR" sz="12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 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메모리 리소스 초기화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result =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   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-1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실패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0: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성공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fp = fopen(filename, 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"r"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 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파일 열기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(fp == </a:t>
            </a:r>
            <a:r>
              <a:rPr lang="en-US" altLang="ko-KR" sz="12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goto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CLEAN_UP;         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파일 열기 실패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buffer = (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1024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메모리 할당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 == </a:t>
            </a:r>
            <a:r>
              <a:rPr lang="en-US" altLang="ko-KR" sz="12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goto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CLEAN_UP;         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메모리 할당 실패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여기서 파일 읽기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처리 등 여러 작업 수행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...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result = 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           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return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값 성공으로 변경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CLEAN_UP: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자원 해제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(fp != </a:t>
            </a:r>
            <a:r>
              <a:rPr lang="en-US" altLang="ko-KR" sz="12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fclose(fp);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 != </a:t>
            </a:r>
            <a:r>
              <a:rPr lang="en-US" altLang="ko-KR" sz="12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result;              </a:t>
            </a:r>
            <a:r>
              <a:rPr lang="en-US" altLang="ko-KR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2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결과 반환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30597274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B39A0-C7F2-4545-4CE7-A4DB25C28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8A3D96-CDC6-A135-C4FB-7E822A861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7.8.3.3 goto vs do–while(0) </a:t>
            </a:r>
            <a:r>
              <a:rPr lang="ko-KR" altLang="en-US" dirty="0"/>
              <a:t>패턴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4736190-F6E5-3BAB-E637-649D7C5F45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642937"/>
            <a:ext cx="8928992" cy="5832475"/>
          </a:xfrm>
        </p:spPr>
        <p:txBody>
          <a:bodyPr/>
          <a:lstStyle/>
          <a:p>
            <a:r>
              <a:rPr lang="en-US" altLang="ko-KR" sz="2400" dirty="0"/>
              <a:t>goto</a:t>
            </a:r>
          </a:p>
          <a:p>
            <a:pPr lvl="1"/>
            <a:r>
              <a:rPr lang="ko-KR" altLang="en-US" sz="2000" dirty="0"/>
              <a:t>레이블로 직접 점프</a:t>
            </a:r>
            <a:r>
              <a:rPr lang="en-US" altLang="ko-KR" sz="2000" dirty="0"/>
              <a:t>, </a:t>
            </a:r>
            <a:r>
              <a:rPr lang="ko-KR" altLang="en-US" sz="2000" dirty="0"/>
              <a:t>여러 종료 지점 구성 가능</a:t>
            </a:r>
          </a:p>
          <a:p>
            <a:pPr lvl="1"/>
            <a:r>
              <a:rPr lang="ko-KR" altLang="en-US" sz="2000" dirty="0"/>
              <a:t>복잡한 분기</a:t>
            </a:r>
            <a:r>
              <a:rPr lang="en-US" altLang="ko-KR" sz="2000" dirty="0"/>
              <a:t>: </a:t>
            </a:r>
            <a:r>
              <a:rPr lang="ko-KR" altLang="en-US" sz="2000" dirty="0"/>
              <a:t>자원 정리</a:t>
            </a:r>
            <a:r>
              <a:rPr lang="en-US" altLang="ko-KR" sz="2000" dirty="0"/>
              <a:t>(cleanup)</a:t>
            </a:r>
            <a:r>
              <a:rPr lang="ko-KR" altLang="en-US" sz="2000" dirty="0"/>
              <a:t>에 유리</a:t>
            </a:r>
            <a:endParaRPr lang="en-US" altLang="ko-KR" sz="2000" dirty="0"/>
          </a:p>
          <a:p>
            <a:pPr lvl="2"/>
            <a:endParaRPr lang="ko-KR" altLang="en-US" sz="1600" dirty="0"/>
          </a:p>
          <a:p>
            <a:r>
              <a:rPr lang="en-US" altLang="ko-KR" sz="2400" dirty="0"/>
              <a:t>do–while(0)</a:t>
            </a:r>
          </a:p>
          <a:p>
            <a:pPr lvl="1"/>
            <a:r>
              <a:rPr lang="en-US" altLang="ko-KR" sz="2000" dirty="0"/>
              <a:t>do–while(0): </a:t>
            </a:r>
            <a:r>
              <a:rPr lang="ko-KR" altLang="en-US" sz="2000" dirty="0"/>
              <a:t>단일 블록 내부 제어 </a:t>
            </a:r>
            <a:endParaRPr lang="en-US" altLang="ko-KR" sz="2000" dirty="0"/>
          </a:p>
          <a:p>
            <a:pPr lvl="1"/>
            <a:r>
              <a:rPr lang="en-US" altLang="ko-KR" sz="2000" dirty="0"/>
              <a:t>break</a:t>
            </a:r>
            <a:r>
              <a:rPr lang="ko-KR" altLang="en-US" sz="2000" dirty="0"/>
              <a:t>로 조기 종료</a:t>
            </a:r>
          </a:p>
          <a:p>
            <a:pPr lvl="1"/>
            <a:r>
              <a:rPr lang="ko-KR" altLang="en-US" sz="2000" dirty="0"/>
              <a:t>구조 유지</a:t>
            </a:r>
            <a:r>
              <a:rPr lang="en-US" altLang="ko-KR" sz="2000" dirty="0"/>
              <a:t>: </a:t>
            </a:r>
            <a:r>
              <a:rPr lang="ko-KR" altLang="en-US" sz="2000" dirty="0"/>
              <a:t>가독성 우수</a:t>
            </a:r>
          </a:p>
          <a:p>
            <a:endParaRPr lang="ko-KR" altLang="en-US" sz="2400" dirty="0"/>
          </a:p>
          <a:p>
            <a:r>
              <a:rPr lang="ko-KR" altLang="en-US" sz="2400" dirty="0"/>
              <a:t>선택 기준</a:t>
            </a:r>
          </a:p>
          <a:p>
            <a:pPr lvl="1"/>
            <a:r>
              <a:rPr lang="ko-KR" altLang="en-US" sz="2000" dirty="0"/>
              <a:t>복잡한 정리 </a:t>
            </a:r>
            <a:r>
              <a:rPr lang="en-US" altLang="ko-KR" sz="2000" dirty="0"/>
              <a:t>/ </a:t>
            </a:r>
            <a:r>
              <a:rPr lang="ko-KR" altLang="en-US" sz="2000" dirty="0"/>
              <a:t>다중 분기 → </a:t>
            </a:r>
            <a:r>
              <a:rPr lang="en-US" altLang="ko-KR" sz="2000" dirty="0"/>
              <a:t>goto</a:t>
            </a:r>
          </a:p>
          <a:p>
            <a:pPr lvl="1"/>
            <a:r>
              <a:rPr lang="ko-KR" altLang="en-US" sz="2000" dirty="0"/>
              <a:t>단순 흐름 제어 </a:t>
            </a:r>
            <a:r>
              <a:rPr lang="en-US" altLang="ko-KR" sz="2000" dirty="0"/>
              <a:t>/ </a:t>
            </a:r>
            <a:r>
              <a:rPr lang="ko-KR" altLang="en-US" sz="2000" dirty="0"/>
              <a:t>조기 종료 → </a:t>
            </a:r>
            <a:r>
              <a:rPr lang="en-US" altLang="ko-KR" sz="2000" dirty="0"/>
              <a:t>do–while(0)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1D818B2-BE44-9EB2-78C0-91F432AE70B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8637332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348D5-041A-6889-91F3-12DD4B856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66B589-38C8-0A76-46FE-8059CEEDB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7.8.3.3 </a:t>
            </a:r>
            <a:r>
              <a:rPr lang="ko-KR" altLang="en-US" dirty="0"/>
              <a:t>제어흐름</a:t>
            </a:r>
            <a:r>
              <a:rPr lang="en-US" altLang="ko-KR" dirty="0"/>
              <a:t> do–while(0) </a:t>
            </a:r>
            <a:r>
              <a:rPr lang="ko-KR" altLang="en-US" dirty="0"/>
              <a:t>패턴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A8D9FE-3ED2-8A5B-FFF3-5D27B5590A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642937"/>
            <a:ext cx="8928992" cy="5832475"/>
          </a:xfrm>
        </p:spPr>
        <p:txBody>
          <a:bodyPr/>
          <a:lstStyle/>
          <a:p>
            <a:endParaRPr lang="en-US" altLang="ko-KR" sz="2000" dirty="0"/>
          </a:p>
          <a:p>
            <a:endParaRPr lang="en-US" altLang="ko-KR" sz="2000" dirty="0"/>
          </a:p>
          <a:p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8682CE2-F508-1BB0-DAC4-9675622A646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4156A1-2979-5304-F25E-6B5D43B99180}"/>
              </a:ext>
            </a:extLst>
          </p:cNvPr>
          <p:cNvSpPr txBox="1"/>
          <p:nvPr/>
        </p:nvSpPr>
        <p:spPr>
          <a:xfrm>
            <a:off x="179512" y="642937"/>
            <a:ext cx="3960440" cy="2308324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</a:t>
            </a:r>
            <a:b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조건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2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여러 조건을 통과한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</a:t>
            </a:r>
            <a:b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           "</a:t>
            </a:r>
            <a:r>
              <a:rPr lang="ko-KR" altLang="en-US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경우에만 실행되는 코드</a:t>
            </a:r>
            <a:r>
              <a:rPr lang="en-US" altLang="ko-KR" sz="12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\n"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altLang="ko-KR" sz="12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ko-KR" altLang="en-US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2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2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endParaRPr lang="ko-KR" altLang="en-US" sz="12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A157F9-4CA7-FC9F-BD82-34B8DBDD7624}"/>
              </a:ext>
            </a:extLst>
          </p:cNvPr>
          <p:cNvSpPr txBox="1"/>
          <p:nvPr/>
        </p:nvSpPr>
        <p:spPr>
          <a:xfrm>
            <a:off x="4303954" y="620856"/>
            <a:ext cx="4660534" cy="567847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loadData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filename)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FILE* fp     =  </a:t>
            </a:r>
            <a:r>
              <a:rPr lang="en-US" altLang="ko-KR" sz="11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  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파일 리소스 초기화</a:t>
            </a:r>
            <a:b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 buffer =  </a:t>
            </a:r>
            <a:r>
              <a:rPr lang="en-US" altLang="ko-KR" sz="11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  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메모리 리소스 초기화</a:t>
            </a:r>
            <a:b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  result = </a:t>
            </a:r>
            <a:r>
              <a:rPr lang="en-US" altLang="ko-KR" sz="11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    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-1 </a:t>
            </a:r>
            <a:r>
              <a:rPr lang="ko-KR" altLang="en-US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실패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: 0: </a:t>
            </a:r>
            <a:r>
              <a:rPr lang="ko-KR" altLang="en-US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성공</a:t>
            </a:r>
            <a:b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do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fp = fopen(filename, </a:t>
            </a:r>
            <a:r>
              <a:rPr lang="en-US" altLang="ko-KR" sz="1100" b="1" i="0" u="none" strike="noStrike" dirty="0">
                <a:solidFill>
                  <a:srgbClr val="50A14F"/>
                </a:solidFill>
                <a:effectLst/>
                <a:latin typeface="Consolas" panose="020B0609020204030204" pitchFamily="49" charset="0"/>
              </a:rPr>
              <a:t>"r"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    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파일 열기</a:t>
            </a:r>
            <a:b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(fp == </a:t>
            </a:r>
            <a:r>
              <a:rPr lang="en-US" altLang="ko-KR" sz="11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        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파일 열기 실패</a:t>
            </a:r>
            <a:b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buffer = (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*)</a:t>
            </a:r>
            <a:r>
              <a:rPr lang="en-US" altLang="ko-KR" sz="11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malloc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1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1024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메모리 할당</a:t>
            </a:r>
            <a:b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 == </a:t>
            </a:r>
            <a:r>
              <a:rPr lang="en-US" altLang="ko-KR" sz="11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              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메모리 할당 실패</a:t>
            </a:r>
            <a:b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여기서 파일 읽기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ko-KR" altLang="en-US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처리 등 여러 작업 수행</a:t>
            </a:r>
            <a:b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...</a:t>
            </a:r>
            <a:b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</a:t>
            </a:r>
            <a:endParaRPr lang="ko-KR" altLang="en-US" sz="1100" b="1" dirty="0">
              <a:effectLst/>
            </a:endParaRPr>
          </a:p>
          <a:p>
            <a:pPr>
              <a:buNone/>
            </a:pPr>
            <a: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       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result = </a:t>
            </a:r>
            <a:r>
              <a:rPr lang="en-US" altLang="ko-KR" sz="11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        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return </a:t>
            </a:r>
            <a:r>
              <a:rPr lang="ko-KR" altLang="en-US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값 성공으로 변경</a:t>
            </a:r>
            <a:b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1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자원 해제</a:t>
            </a:r>
            <a:b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(fp != </a:t>
            </a:r>
            <a:r>
              <a:rPr lang="en-US" altLang="ko-KR" sz="11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fclose(fp);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 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 != </a:t>
            </a:r>
            <a:r>
              <a:rPr lang="en-US" altLang="ko-KR" sz="1100" b="1" i="0" u="none" strike="noStrike" dirty="0">
                <a:solidFill>
                  <a:srgbClr val="0184BB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100" b="1" i="0" u="none" strike="noStrike" dirty="0">
                <a:solidFill>
                  <a:srgbClr val="C18401"/>
                </a:solidFill>
                <a:effectLst/>
                <a:latin typeface="Consolas" panose="020B0609020204030204" pitchFamily="49" charset="0"/>
              </a:rPr>
              <a:t>free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(buffer);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1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result;              </a:t>
            </a:r>
            <a:r>
              <a:rPr lang="en-US" altLang="ko-KR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1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결과 반환</a:t>
            </a:r>
            <a:br>
              <a:rPr lang="ko-KR" altLang="en-US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1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100" b="1" dirty="0"/>
          </a:p>
        </p:txBody>
      </p:sp>
    </p:spTree>
    <p:extLst>
      <p:ext uri="{BB962C8B-B14F-4D97-AF65-F5344CB8AC3E}">
        <p14:creationId xmlns:p14="http://schemas.microsoft.com/office/powerpoint/2010/main" val="34028416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C4EA8-BC01-EED0-2AB4-860015DF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83506E-543E-2D8E-984F-3F5620369D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7.8.4 return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920EE48-982C-D5EC-7FCA-C664A5F7FC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현재 함수 즉시 종료</a:t>
            </a:r>
            <a:endParaRPr lang="en-US" altLang="ko-KR" sz="2400" dirty="0"/>
          </a:p>
          <a:p>
            <a:r>
              <a:rPr lang="ko-KR" altLang="en-US" sz="2400" dirty="0"/>
              <a:t>결과 값 호출자에게 전달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2DB2CD4-E181-4760-2C50-8B03D9377E1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B962E7-A69C-9B80-5BA1-EC03C1DFD16B}"/>
              </a:ext>
            </a:extLst>
          </p:cNvPr>
          <p:cNvSpPr txBox="1"/>
          <p:nvPr/>
        </p:nvSpPr>
        <p:spPr>
          <a:xfrm>
            <a:off x="140916" y="1700808"/>
            <a:ext cx="7527428" cy="1815882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divide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b)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(b ==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잘못된 입력 → 조기 종료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a / b;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2D65783-5D44-4380-F53C-839C93C95E5A}"/>
              </a:ext>
            </a:extLst>
          </p:cNvPr>
          <p:cNvSpPr txBox="1"/>
          <p:nvPr/>
        </p:nvSpPr>
        <p:spPr>
          <a:xfrm>
            <a:off x="140916" y="3516690"/>
            <a:ext cx="7527428" cy="3046988"/>
          </a:xfrm>
          <a:prstGeom prst="rect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sysDot"/>
          </a:ln>
        </p:spPr>
        <p:txBody>
          <a:bodyPr wrap="square">
            <a:spAutoFit/>
          </a:bodyPr>
          <a:lstStyle/>
          <a:p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4078F2"/>
                </a:solidFill>
                <a:effectLst/>
                <a:latin typeface="Consolas" panose="020B0609020204030204" pitchFamily="49" charset="0"/>
              </a:rPr>
              <a:t>findIndex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searchRow,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searchCol)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i &lt;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++i)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j &lt;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++j)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{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(i == searchRow &amp;&amp; j == searchCol)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i *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+ j;     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발견 즉시 함수 종료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sz="1600" b="1" i="0" u="none" strike="noStrike" dirty="0">
                <a:solidFill>
                  <a:srgbClr val="A626A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sz="1600" b="1" i="0" u="none" strike="noStrike" dirty="0">
                <a:solidFill>
                  <a:srgbClr val="986801"/>
                </a:solidFill>
                <a:effectLst/>
                <a:latin typeface="Consolas" panose="020B0609020204030204" pitchFamily="49" charset="0"/>
              </a:rPr>
              <a:t>-1</a:t>
            </a: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;                           </a:t>
            </a:r>
            <a:r>
              <a:rPr lang="en-US" altLang="ko-KR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ko-KR" altLang="en-US" sz="1600" b="1" i="1" u="none" strike="noStrike" dirty="0">
                <a:solidFill>
                  <a:srgbClr val="A0A1A7"/>
                </a:solidFill>
                <a:effectLst/>
                <a:latin typeface="Consolas" panose="020B0609020204030204" pitchFamily="49" charset="0"/>
              </a:rPr>
              <a:t>찾지 못한 경우</a:t>
            </a:r>
            <a:br>
              <a:rPr lang="ko-KR" altLang="en-US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sz="1600" b="1" i="0" u="none" strike="noStrike" dirty="0">
                <a:solidFill>
                  <a:srgbClr val="383A42"/>
                </a:solidFill>
                <a:effectLst/>
                <a:latin typeface="Consolas" panose="020B0609020204030204" pitchFamily="49" charset="0"/>
              </a:rPr>
              <a:t>}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208316757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DAF5E-B96B-0B0A-7F37-59BBF9AD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CDC79F-D664-4EB3-D842-01BF0DD4F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학습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7CFB93-0F0E-5AEF-BD21-5EFC7D1908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for </a:t>
            </a:r>
            <a:r>
              <a:rPr lang="ko-KR" altLang="en-US" sz="2000" dirty="0"/>
              <a:t>문</a:t>
            </a:r>
          </a:p>
          <a:p>
            <a:pPr lvl="1"/>
            <a:r>
              <a:rPr lang="ko-KR" altLang="en-US" sz="1600" dirty="0"/>
              <a:t>초기식 → 조건식 → 증감식</a:t>
            </a:r>
          </a:p>
          <a:p>
            <a:pPr lvl="1"/>
            <a:r>
              <a:rPr lang="ko-KR" altLang="en-US" sz="1600" dirty="0"/>
              <a:t>반복 횟수 명확한 경우 적합</a:t>
            </a:r>
          </a:p>
          <a:p>
            <a:pPr lvl="1"/>
            <a:r>
              <a:rPr lang="ko-KR" altLang="en-US" sz="1600" dirty="0"/>
              <a:t>다중 </a:t>
            </a:r>
            <a:r>
              <a:rPr lang="en-US" altLang="ko-KR" sz="1600" dirty="0"/>
              <a:t>for → 2</a:t>
            </a:r>
            <a:r>
              <a:rPr lang="ko-KR" altLang="en-US" sz="1600" dirty="0"/>
              <a:t>차원 반복 구조</a:t>
            </a:r>
          </a:p>
          <a:p>
            <a:pPr lvl="1"/>
            <a:r>
              <a:rPr lang="ko-KR" altLang="en-US" sz="1600" dirty="0"/>
              <a:t>가독성 저하 형태 사용 유의</a:t>
            </a:r>
          </a:p>
          <a:p>
            <a:r>
              <a:rPr lang="en-US" altLang="ko-KR" sz="2000" dirty="0"/>
              <a:t>while </a:t>
            </a:r>
            <a:r>
              <a:rPr lang="ko-KR" altLang="en-US" sz="2000" dirty="0"/>
              <a:t>문</a:t>
            </a:r>
          </a:p>
          <a:p>
            <a:pPr lvl="1"/>
            <a:r>
              <a:rPr lang="ko-KR" altLang="en-US" sz="1600" dirty="0"/>
              <a:t>조건 만족 동안 반복</a:t>
            </a:r>
          </a:p>
          <a:p>
            <a:pPr lvl="1"/>
            <a:r>
              <a:rPr lang="ko-KR" altLang="en-US" sz="1600" dirty="0"/>
              <a:t>반복 횟수 불명확 상황 적합</a:t>
            </a:r>
          </a:p>
          <a:p>
            <a:pPr lvl="1"/>
            <a:r>
              <a:rPr lang="ko-KR" altLang="en-US" sz="1600" dirty="0"/>
              <a:t>종료 조건 설계 중요</a:t>
            </a:r>
          </a:p>
          <a:p>
            <a:pPr lvl="1"/>
            <a:r>
              <a:rPr lang="ko-KR" altLang="en-US" sz="1600" dirty="0"/>
              <a:t>무한 루프 주의</a:t>
            </a:r>
          </a:p>
          <a:p>
            <a:r>
              <a:rPr lang="en-US" altLang="ko-KR" sz="2000" dirty="0"/>
              <a:t>do–while </a:t>
            </a:r>
            <a:r>
              <a:rPr lang="ko-KR" altLang="en-US" sz="2000" dirty="0"/>
              <a:t>문</a:t>
            </a:r>
          </a:p>
          <a:p>
            <a:pPr lvl="1"/>
            <a:r>
              <a:rPr lang="ko-KR" altLang="en-US" sz="1600" dirty="0"/>
              <a:t>실행 → 조건 검사</a:t>
            </a:r>
          </a:p>
          <a:p>
            <a:pPr lvl="1"/>
            <a:r>
              <a:rPr lang="ko-KR" altLang="en-US" sz="1600" dirty="0"/>
              <a:t>최소 </a:t>
            </a:r>
            <a:r>
              <a:rPr lang="en-US" altLang="ko-KR" sz="1600" dirty="0"/>
              <a:t>1</a:t>
            </a:r>
            <a:r>
              <a:rPr lang="ko-KR" altLang="en-US" sz="1600" dirty="0"/>
              <a:t>회 실행 보장</a:t>
            </a:r>
          </a:p>
          <a:p>
            <a:r>
              <a:rPr lang="ko-KR" altLang="en-US" sz="2000" dirty="0"/>
              <a:t>흐름 제어문</a:t>
            </a:r>
          </a:p>
          <a:p>
            <a:pPr lvl="1"/>
            <a:r>
              <a:rPr lang="en-US" altLang="ko-KR" sz="1600" dirty="0"/>
              <a:t>break : </a:t>
            </a:r>
            <a:r>
              <a:rPr lang="ko-KR" altLang="en-US" sz="1600" dirty="0"/>
              <a:t>반복문 </a:t>
            </a:r>
            <a:r>
              <a:rPr lang="en-US" altLang="ko-KR" sz="1600" dirty="0"/>
              <a:t>/ switch </a:t>
            </a:r>
            <a:r>
              <a:rPr lang="ko-KR" altLang="en-US" sz="1600" dirty="0"/>
              <a:t>종료</a:t>
            </a:r>
          </a:p>
          <a:p>
            <a:pPr lvl="1"/>
            <a:r>
              <a:rPr lang="en-US" altLang="ko-KR" sz="1600" dirty="0"/>
              <a:t>continue: </a:t>
            </a:r>
            <a:r>
              <a:rPr lang="ko-KR" altLang="en-US" sz="1600" dirty="0"/>
              <a:t>다음 반복으로 이동</a:t>
            </a:r>
          </a:p>
          <a:p>
            <a:pPr lvl="1"/>
            <a:r>
              <a:rPr lang="en-US" altLang="ko-KR" sz="1600" dirty="0"/>
              <a:t>goto:</a:t>
            </a:r>
            <a:r>
              <a:rPr lang="ko-KR" altLang="en-US" sz="1600" dirty="0"/>
              <a:t>레이블로 점프 → 제한적 사용</a:t>
            </a:r>
          </a:p>
          <a:p>
            <a:pPr lvl="1"/>
            <a:r>
              <a:rPr lang="en-US" altLang="ko-KR" sz="1600" dirty="0"/>
              <a:t>return: </a:t>
            </a:r>
            <a:r>
              <a:rPr lang="ko-KR" altLang="en-US" sz="1600" dirty="0"/>
              <a:t>함수 종료 </a:t>
            </a:r>
            <a:r>
              <a:rPr lang="en-US" altLang="ko-KR" sz="1600" dirty="0"/>
              <a:t>+ </a:t>
            </a:r>
            <a:r>
              <a:rPr lang="ko-KR" altLang="en-US" sz="1600" dirty="0"/>
              <a:t>값 반환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B9E657D-19DA-7EC1-7C5D-ABEF2882D9E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301263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C0AE7D-77A9-2383-DC85-F4BC9D6E1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F03428-A4EA-E301-BB53-A7177910E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학습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B192BEC-893D-F4D5-E852-601F764936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흐름</a:t>
            </a:r>
            <a:r>
              <a:rPr lang="en-US" altLang="ko-KR" dirty="0"/>
              <a:t> </a:t>
            </a:r>
            <a:r>
              <a:rPr lang="ko-KR" altLang="en-US" dirty="0"/>
              <a:t>제어 패턴</a:t>
            </a:r>
          </a:p>
          <a:p>
            <a:pPr lvl="1"/>
            <a:r>
              <a:rPr lang="en-US" altLang="ko-KR" sz="2000" dirty="0"/>
              <a:t>goto</a:t>
            </a:r>
          </a:p>
          <a:p>
            <a:pPr lvl="2"/>
            <a:r>
              <a:rPr lang="en-US" altLang="ko-KR" sz="1600" dirty="0"/>
              <a:t>cleanup, </a:t>
            </a:r>
            <a:r>
              <a:rPr lang="ko-KR" altLang="en-US" sz="1600" dirty="0"/>
              <a:t>에러 처리</a:t>
            </a:r>
          </a:p>
          <a:p>
            <a:pPr lvl="1"/>
            <a:r>
              <a:rPr lang="en-US" altLang="ko-KR" sz="2000" dirty="0"/>
              <a:t>do–while(0)</a:t>
            </a:r>
          </a:p>
          <a:p>
            <a:pPr lvl="2"/>
            <a:r>
              <a:rPr lang="ko-KR" altLang="en-US" sz="1600" dirty="0"/>
              <a:t>블록 단위 조기 종료</a:t>
            </a:r>
          </a:p>
          <a:p>
            <a:endParaRPr lang="ko-KR" altLang="en-US" dirty="0"/>
          </a:p>
          <a:p>
            <a:r>
              <a:rPr lang="ko-KR" altLang="en-US" dirty="0"/>
              <a:t>선택 기준</a:t>
            </a:r>
          </a:p>
          <a:p>
            <a:pPr lvl="1"/>
            <a:r>
              <a:rPr lang="ko-KR" altLang="en-US" sz="2000" dirty="0"/>
              <a:t>횟수 기반 → </a:t>
            </a:r>
            <a:r>
              <a:rPr lang="en-US" altLang="ko-KR" sz="2000" dirty="0"/>
              <a:t>for</a:t>
            </a:r>
          </a:p>
          <a:p>
            <a:pPr lvl="1"/>
            <a:r>
              <a:rPr lang="ko-KR" altLang="en-US" sz="2000" dirty="0"/>
              <a:t>조건 기반 → </a:t>
            </a:r>
            <a:r>
              <a:rPr lang="en-US" altLang="ko-KR" sz="2000" dirty="0"/>
              <a:t>while</a:t>
            </a:r>
          </a:p>
          <a:p>
            <a:pPr lvl="1"/>
            <a:r>
              <a:rPr lang="ko-KR" altLang="en-US" sz="2000" dirty="0"/>
              <a:t>복잡 분기 → </a:t>
            </a:r>
            <a:r>
              <a:rPr lang="en-US" altLang="ko-KR" sz="2000" dirty="0"/>
              <a:t>goto</a:t>
            </a:r>
          </a:p>
          <a:p>
            <a:pPr lvl="1"/>
            <a:r>
              <a:rPr lang="ko-KR" altLang="en-US" sz="2000" dirty="0"/>
              <a:t>단순 흐름 → </a:t>
            </a:r>
            <a:r>
              <a:rPr lang="en-US" altLang="ko-KR" sz="2000" dirty="0"/>
              <a:t>do–while(0)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4601226-D6E3-24B0-1B64-7AEE0077C556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7337190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57E9A-1934-0517-37B1-BCE0D4068E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10C27F-21D7-D461-9F63-1EDD6942D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학습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DA2B6C-869E-3BE1-C5D8-1668E92658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흐름</a:t>
            </a:r>
            <a:r>
              <a:rPr lang="en-US" altLang="ko-KR" dirty="0"/>
              <a:t> </a:t>
            </a:r>
            <a:r>
              <a:rPr lang="ko-KR" altLang="en-US" dirty="0"/>
              <a:t>제어 패턴</a:t>
            </a:r>
          </a:p>
          <a:p>
            <a:pPr lvl="1"/>
            <a:r>
              <a:rPr lang="en-US" altLang="ko-KR" sz="2000" dirty="0"/>
              <a:t>goto</a:t>
            </a:r>
          </a:p>
          <a:p>
            <a:pPr lvl="2"/>
            <a:r>
              <a:rPr lang="en-US" altLang="ko-KR" sz="1600" dirty="0"/>
              <a:t>cleanup, </a:t>
            </a:r>
            <a:r>
              <a:rPr lang="ko-KR" altLang="en-US" sz="1600" dirty="0"/>
              <a:t>에러 처리</a:t>
            </a:r>
          </a:p>
          <a:p>
            <a:pPr lvl="1"/>
            <a:r>
              <a:rPr lang="en-US" altLang="ko-KR" sz="2000" dirty="0"/>
              <a:t>do–while(0)</a:t>
            </a:r>
          </a:p>
          <a:p>
            <a:pPr lvl="2"/>
            <a:r>
              <a:rPr lang="ko-KR" altLang="en-US" sz="1600" dirty="0"/>
              <a:t>블록 단위 조기 종료</a:t>
            </a:r>
          </a:p>
          <a:p>
            <a:endParaRPr lang="ko-KR" altLang="en-US" dirty="0"/>
          </a:p>
          <a:p>
            <a:r>
              <a:rPr lang="ko-KR" altLang="en-US" dirty="0"/>
              <a:t>선택 기준</a:t>
            </a:r>
          </a:p>
          <a:p>
            <a:pPr lvl="1"/>
            <a:r>
              <a:rPr lang="ko-KR" altLang="en-US" sz="2000" dirty="0"/>
              <a:t>횟수 기반 → </a:t>
            </a:r>
            <a:r>
              <a:rPr lang="en-US" altLang="ko-KR" sz="2000" dirty="0"/>
              <a:t>for</a:t>
            </a:r>
          </a:p>
          <a:p>
            <a:pPr lvl="1"/>
            <a:r>
              <a:rPr lang="ko-KR" altLang="en-US" sz="2000" dirty="0"/>
              <a:t>조건 기반 → </a:t>
            </a:r>
            <a:r>
              <a:rPr lang="en-US" altLang="ko-KR" sz="2000" dirty="0"/>
              <a:t>while</a:t>
            </a:r>
          </a:p>
          <a:p>
            <a:pPr lvl="1"/>
            <a:r>
              <a:rPr lang="ko-KR" altLang="en-US" sz="2000" dirty="0"/>
              <a:t>복잡 분기 → </a:t>
            </a:r>
            <a:r>
              <a:rPr lang="en-US" altLang="ko-KR" sz="2000" dirty="0"/>
              <a:t>goto</a:t>
            </a:r>
          </a:p>
          <a:p>
            <a:pPr lvl="1"/>
            <a:r>
              <a:rPr lang="ko-KR" altLang="en-US" sz="2000" dirty="0"/>
              <a:t>단순 흐름 → </a:t>
            </a:r>
            <a:r>
              <a:rPr lang="en-US" altLang="ko-KR" sz="2000" dirty="0"/>
              <a:t>do–while(0)</a:t>
            </a:r>
            <a:endParaRPr lang="ko-KR" altLang="en-US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6BA0EEE-2F39-62A1-F20C-D4F05832329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41552461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바른고딕">
      <a:majorFont>
        <a:latin typeface="나눔바른고딕"/>
        <a:ea typeface="나눔바른고딕"/>
        <a:cs typeface=""/>
      </a:majorFont>
      <a:minorFont>
        <a:latin typeface="나눔바른고딕"/>
        <a:ea typeface="나눔바른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  <a:txDef>
      <a:spPr>
        <a:noFill/>
        <a:ln w="25400">
          <a:solidFill>
            <a:schemeClr val="bg1">
              <a:lumMod val="75000"/>
            </a:schemeClr>
          </a:solidFill>
          <a:prstDash val="sysDot"/>
        </a:ln>
      </a:spPr>
      <a:bodyPr wrap="square">
        <a:spAutoFit/>
      </a:bodyPr>
      <a:lstStyle>
        <a:defPPr algn="l">
          <a:defRPr sz="1600" b="0" i="0" u="none" strike="noStrike" dirty="0">
            <a:solidFill>
              <a:srgbClr val="4078F2"/>
            </a:solidFill>
            <a:effectLst/>
            <a:latin typeface="Consolas" panose="020B0609020204030204" pitchFamily="49" charset="0"/>
          </a:defRPr>
        </a:defPPr>
      </a:lstStyle>
    </a:tx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4906</TotalTime>
  <Words>4387</Words>
  <Application>Microsoft Office PowerPoint</Application>
  <PresentationFormat>화면 슬라이드 쇼(4:3)</PresentationFormat>
  <Paragraphs>322</Paragraphs>
  <Slides>37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7" baseType="lpstr">
      <vt:lpstr>D2Coding</vt:lpstr>
      <vt:lpstr>굴림</vt:lpstr>
      <vt:lpstr>HY견고딕</vt:lpstr>
      <vt:lpstr>Arial</vt:lpstr>
      <vt:lpstr>Consolas</vt:lpstr>
      <vt:lpstr>가을체</vt:lpstr>
      <vt:lpstr>나눔바른고딕</vt:lpstr>
      <vt:lpstr>Adobe 고딕 Std B</vt:lpstr>
      <vt:lpstr>Wingdings</vt:lpstr>
      <vt:lpstr>기본 디자인</vt:lpstr>
      <vt:lpstr>07. 제어문:반복문 (Control Flow – Loop)</vt:lpstr>
      <vt:lpstr>7.1 for 문 기본 구조</vt:lpstr>
      <vt:lpstr>7.1.1 for: 초기식 생략</vt:lpstr>
      <vt:lpstr>7.1.2 for: 증감식 생략</vt:lpstr>
      <vt:lpstr>7.1.3 for: 초기식, 증감식 생략, 조건식만 구현</vt:lpstr>
      <vt:lpstr>7.1.4 for: 모두 생략 (무한 루프)</vt:lpstr>
      <vt:lpstr>7.2.1 for 문 기본 예제1 (Simple for Loop)</vt:lpstr>
      <vt:lpstr>7.2.2 for 문 기본 예제: 합계 구하기 (Summation)</vt:lpstr>
      <vt:lpstr>7.2.3 for 문 기본 예제: 증감 식</vt:lpstr>
      <vt:lpstr>7.2.4 for 문 기본 예제: 숫자 자릿수 구하기</vt:lpstr>
      <vt:lpstr>7.2.5 for 문의 비 권장 형태</vt:lpstr>
      <vt:lpstr>7.2.5 for 문의 비 권장 형태</vt:lpstr>
      <vt:lpstr>7.2.5 for 문의 비 권장 형태</vt:lpstr>
      <vt:lpstr>7.3.1 다중 for 문</vt:lpstr>
      <vt:lpstr>7.3.2 C99 이전 스타일(C89/C90 방식)</vt:lpstr>
      <vt:lpstr>7.3.3 패턴 출력: 별찍기</vt:lpstr>
      <vt:lpstr>7.3.3.2 오른쪽 정렬된 역삼각형 별찍기</vt:lpstr>
      <vt:lpstr>7.4 while 문 기본 구조</vt:lpstr>
      <vt:lpstr>7.4 while 문 기본 구조</vt:lpstr>
      <vt:lpstr>7.5 while 문 예제</vt:lpstr>
      <vt:lpstr>7.6 다중 while 문</vt:lpstr>
      <vt:lpstr>7.6.2 다중 while 문 예제: 행과 열 출력</vt:lpstr>
      <vt:lpstr>7.6.3 다중 while 문 예제: 9X9 table</vt:lpstr>
      <vt:lpstr>7.7 do–while 문</vt:lpstr>
      <vt:lpstr>7.7.2 do–while 문 기본 예제</vt:lpstr>
      <vt:lpstr>7.7.3 do–while 문 기본 예제</vt:lpstr>
      <vt:lpstr>7.8.1 break</vt:lpstr>
      <vt:lpstr>7.8.2 continue</vt:lpstr>
      <vt:lpstr>7.8.3 goto</vt:lpstr>
      <vt:lpstr>7.8.3.1 goto 활용: 에러 처리(Error Handling)</vt:lpstr>
      <vt:lpstr>7.8.3.2 goto 활용: 자원 정리 패턴</vt:lpstr>
      <vt:lpstr>7.8.3.3 goto vs do–while(0) 패턴</vt:lpstr>
      <vt:lpstr>7.8.3.3 제어흐름 do–while(0) 패턴</vt:lpstr>
      <vt:lpstr>7.8.4 return</vt:lpstr>
      <vt:lpstr>학습 정리</vt:lpstr>
      <vt:lpstr>학습 정리</vt:lpstr>
      <vt:lpstr>학습 정리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236</cp:revision>
  <dcterms:created xsi:type="dcterms:W3CDTF">2003-11-30T16:03:20Z</dcterms:created>
  <dcterms:modified xsi:type="dcterms:W3CDTF">2026-04-17T23:11:47Z</dcterms:modified>
</cp:coreProperties>
</file>