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72" r:id="rId2"/>
    <p:sldId id="273" r:id="rId3"/>
    <p:sldId id="304" r:id="rId4"/>
    <p:sldId id="274" r:id="rId5"/>
    <p:sldId id="275" r:id="rId6"/>
    <p:sldId id="276" r:id="rId7"/>
    <p:sldId id="277" r:id="rId8"/>
    <p:sldId id="305" r:id="rId9"/>
    <p:sldId id="279" r:id="rId10"/>
    <p:sldId id="278" r:id="rId11"/>
    <p:sldId id="280" r:id="rId12"/>
    <p:sldId id="306" r:id="rId13"/>
    <p:sldId id="307" r:id="rId14"/>
    <p:sldId id="281" r:id="rId15"/>
    <p:sldId id="308" r:id="rId16"/>
    <p:sldId id="282" r:id="rId17"/>
    <p:sldId id="309" r:id="rId18"/>
    <p:sldId id="284" r:id="rId19"/>
    <p:sldId id="310" r:id="rId20"/>
    <p:sldId id="283" r:id="rId21"/>
    <p:sldId id="311" r:id="rId22"/>
    <p:sldId id="285" r:id="rId23"/>
    <p:sldId id="312" r:id="rId24"/>
    <p:sldId id="286" r:id="rId25"/>
    <p:sldId id="287" r:id="rId26"/>
    <p:sldId id="313" r:id="rId27"/>
    <p:sldId id="288" r:id="rId28"/>
    <p:sldId id="289" r:id="rId29"/>
    <p:sldId id="290" r:id="rId30"/>
    <p:sldId id="291" r:id="rId31"/>
    <p:sldId id="314" r:id="rId32"/>
    <p:sldId id="292" r:id="rId33"/>
    <p:sldId id="315" r:id="rId34"/>
    <p:sldId id="293" r:id="rId35"/>
    <p:sldId id="301" r:id="rId36"/>
    <p:sldId id="316" r:id="rId37"/>
    <p:sldId id="317" r:id="rId38"/>
  </p:sldIdLst>
  <p:sldSz cx="9144000" cy="6858000" type="screen4x3"/>
  <p:notesSz cx="6858000" cy="9144000"/>
  <p:embeddedFontLst>
    <p:embeddedFont>
      <p:font typeface="Adobe 고딕 Std B" panose="020B0800000000000000" pitchFamily="34" charset="-127"/>
      <p:bold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HY견고딕" panose="02030600000101010101" pitchFamily="18" charset="-127"/>
      <p:regular r:id="rId45"/>
    </p:embeddedFont>
    <p:embeddedFont>
      <p:font typeface="가을체" panose="02030600000101010101" pitchFamily="18" charset="-127"/>
      <p:regular r:id="rId4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CCFFFF"/>
    <a:srgbClr val="FFFFCC"/>
    <a:srgbClr val="CCFFCC"/>
    <a:srgbClr val="CC00FF"/>
    <a:srgbClr val="0000FF"/>
    <a:srgbClr val="CC00CC"/>
    <a:srgbClr val="CC0000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06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07. </a:t>
            </a:r>
            <a:r>
              <a:rPr lang="ko-KR" altLang="en-US" dirty="0"/>
              <a:t>제어문</a:t>
            </a:r>
            <a:r>
              <a:rPr lang="en-US" altLang="ko-KR" dirty="0"/>
              <a:t>:</a:t>
            </a:r>
            <a:r>
              <a:rPr lang="ko-KR" altLang="en-US" dirty="0"/>
              <a:t>반복문</a:t>
            </a:r>
            <a:br>
              <a:rPr lang="en-US" altLang="ko-KR" dirty="0"/>
            </a:br>
            <a:r>
              <a:rPr lang="en-US" altLang="ko-KR" sz="2800" dirty="0"/>
              <a:t>(Control</a:t>
            </a:r>
            <a:r>
              <a:rPr lang="ko-KR" altLang="en-US" sz="2800" dirty="0"/>
              <a:t> </a:t>
            </a:r>
            <a:r>
              <a:rPr lang="en-US" altLang="ko-KR" sz="2800" dirty="0"/>
              <a:t>Flow</a:t>
            </a:r>
            <a:r>
              <a:rPr lang="ko-KR" altLang="en-US" sz="2800" dirty="0"/>
              <a:t> </a:t>
            </a:r>
            <a:r>
              <a:rPr lang="en-US" altLang="ko-KR" sz="2800" dirty="0"/>
              <a:t>–</a:t>
            </a:r>
            <a:r>
              <a:rPr lang="ko-KR" altLang="en-US" sz="2800" dirty="0"/>
              <a:t> </a:t>
            </a:r>
            <a:r>
              <a:rPr lang="en-US" altLang="ko-KR" sz="2800" dirty="0"/>
              <a:t>Loop)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7.1 for </a:t>
            </a:r>
            <a:r>
              <a:rPr lang="ko-KR" altLang="en-US" b="0" dirty="0"/>
              <a:t>문 기본 구조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반복문</a:t>
            </a:r>
            <a:r>
              <a:rPr lang="en-US" altLang="ko-KR" sz="2400" dirty="0"/>
              <a:t>: for, while, do-while</a:t>
            </a:r>
          </a:p>
          <a:p>
            <a:pPr lvl="3"/>
            <a:endParaRPr lang="en-US" altLang="ko-KR" sz="1600" dirty="0"/>
          </a:p>
          <a:p>
            <a:r>
              <a:rPr lang="en-US" altLang="ko-KR" sz="2400" dirty="0"/>
              <a:t>for statement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초기식</a:t>
            </a:r>
          </a:p>
          <a:p>
            <a:pPr lvl="1"/>
            <a:r>
              <a:rPr lang="ko-KR" altLang="en-US" sz="2000" dirty="0"/>
              <a:t>반복 변수 초기화</a:t>
            </a:r>
            <a:r>
              <a:rPr lang="en-US" altLang="ko-KR" sz="2000" dirty="0"/>
              <a:t>. </a:t>
            </a:r>
            <a:r>
              <a:rPr lang="ko-KR" altLang="en-US" sz="2000" dirty="0"/>
              <a:t>반복 시작 시 </a:t>
            </a:r>
            <a:r>
              <a:rPr lang="en-US" altLang="ko-KR" sz="2000" dirty="0"/>
              <a:t>1</a:t>
            </a:r>
            <a:r>
              <a:rPr lang="ko-KR" altLang="en-US" sz="2000" dirty="0"/>
              <a:t>회 실행</a:t>
            </a:r>
          </a:p>
          <a:p>
            <a:r>
              <a:rPr lang="ko-KR" altLang="en-US" sz="2400" dirty="0"/>
              <a:t>조건식</a:t>
            </a:r>
          </a:p>
          <a:p>
            <a:pPr lvl="1"/>
            <a:r>
              <a:rPr lang="ko-KR" altLang="en-US" sz="2000" dirty="0"/>
              <a:t>반복 지속 여부 판단</a:t>
            </a:r>
            <a:r>
              <a:rPr lang="en-US" altLang="ko-KR" sz="2000" dirty="0"/>
              <a:t>. </a:t>
            </a:r>
            <a:r>
              <a:rPr lang="ko-KR" altLang="en-US" sz="2000" dirty="0"/>
              <a:t>참 → 반복 실행</a:t>
            </a:r>
            <a:r>
              <a:rPr lang="en-US" altLang="ko-KR" sz="2000" dirty="0"/>
              <a:t>, </a:t>
            </a:r>
            <a:r>
              <a:rPr lang="ko-KR" altLang="en-US" sz="2000" dirty="0"/>
              <a:t>거짓 → 반복 종료</a:t>
            </a:r>
          </a:p>
          <a:p>
            <a:r>
              <a:rPr lang="ko-KR" altLang="en-US" sz="2400" dirty="0"/>
              <a:t>증감식</a:t>
            </a:r>
          </a:p>
          <a:p>
            <a:pPr lvl="1"/>
            <a:r>
              <a:rPr lang="ko-KR" altLang="en-US" sz="2000" dirty="0"/>
              <a:t>반복마다 변수 변화</a:t>
            </a:r>
            <a:r>
              <a:rPr lang="en-US" altLang="ko-KR" sz="2000" dirty="0"/>
              <a:t>. </a:t>
            </a:r>
            <a:r>
              <a:rPr lang="ko-KR" altLang="en-US" sz="2000" dirty="0"/>
              <a:t>다음 반복 준비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64658-2098-C883-633D-DE0B54A4D91E}"/>
              </a:ext>
            </a:extLst>
          </p:cNvPr>
          <p:cNvSpPr txBox="1"/>
          <p:nvPr/>
        </p:nvSpPr>
        <p:spPr>
          <a:xfrm>
            <a:off x="539750" y="2204864"/>
            <a:ext cx="4248274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초기식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증감식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반복 실행할 문장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B783C-2605-946E-38A5-F21F1912E8B4}"/>
              </a:ext>
            </a:extLst>
          </p:cNvPr>
          <p:cNvSpPr txBox="1"/>
          <p:nvPr/>
        </p:nvSpPr>
        <p:spPr>
          <a:xfrm>
            <a:off x="4829456" y="2204864"/>
            <a:ext cx="4071242" cy="1102179"/>
          </a:xfrm>
          <a:prstGeom prst="rect">
            <a:avLst/>
          </a:prstGeom>
          <a:solidFill>
            <a:srgbClr val="CCFFFF"/>
          </a:solidFill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lIns="216000" tIns="180000" rIns="216000" bIns="180000" anchor="ctr" anchorCtr="0">
            <a:spAutoFit/>
          </a:bodyPr>
          <a:lstStyle/>
          <a:p>
            <a:r>
              <a:rPr lang="ko-KR" altLang="en-US" b="1" dirty="0">
                <a:solidFill>
                  <a:srgbClr val="FF00FF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초기화 → 조건 확인</a:t>
            </a:r>
            <a:endParaRPr lang="en-US" altLang="ko-KR" b="1" dirty="0">
              <a:solidFill>
                <a:srgbClr val="FF00FF"/>
              </a:soli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r>
              <a:rPr lang="en-US" altLang="ko-KR" b="1" dirty="0">
                <a:solidFill>
                  <a:srgbClr val="FF00FF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   </a:t>
            </a:r>
            <a:r>
              <a:rPr lang="ko-KR" altLang="en-US" b="1" dirty="0">
                <a:solidFill>
                  <a:srgbClr val="FF00FF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→ 반복 문장 실행 → 증감</a:t>
            </a:r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1948-E4E9-A20F-38C2-61C1D351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465F1-D3E8-7B30-BBB6-CDE749D4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7.1.1 for: </a:t>
            </a:r>
            <a:r>
              <a:rPr lang="ko-KR" altLang="en-US" dirty="0"/>
              <a:t>초기식 생략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E9068-CA52-491C-D394-8E0E3A113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변수 재사용 목적 → 초기식 생략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A47C88-BD77-1E5F-B1D2-1FF857B585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5D59F-C26A-FC71-ED0A-7386058565CF}"/>
              </a:ext>
            </a:extLst>
          </p:cNvPr>
          <p:cNvSpPr txBox="1"/>
          <p:nvPr/>
        </p:nvSpPr>
        <p:spPr>
          <a:xfrm>
            <a:off x="467544" y="1289953"/>
            <a:ext cx="7704856" cy="427809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jobCount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실행해야 할 작업 개수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상황에 따라 결정됨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playCount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반복문 앞에서 선언 및 초기화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초기식 생략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(; playCount &lt; jobCount; ++playCount)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어떤 작업 수행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반복 종료 후 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playCount = %d 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회 실행되었습니다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</a:p>
          <a:p>
            <a:r>
              <a:rPr lang="en-US" altLang="ko-KR" sz="1600" dirty="0">
                <a:solidFill>
                  <a:srgbClr val="50A14F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playCount);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9562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3450-2998-6874-9AAB-2343959C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1D8CB-CD75-DEBB-6D2F-102B4080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7.1.2 for: </a:t>
            </a:r>
            <a:r>
              <a:rPr lang="ko-KR" altLang="en-US" b="0" dirty="0"/>
              <a:t>증감식 생략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6D3DCC-2511-1B50-BD3E-D5A2341C1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 내부에서 직접 증가 또는 감소 수행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B10950-6442-09E3-A02D-495F541694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4A92BC-C0BA-BD9C-4999-5F1A38B663B0}"/>
              </a:ext>
            </a:extLst>
          </p:cNvPr>
          <p:cNvSpPr txBox="1"/>
          <p:nvPr/>
        </p:nvSpPr>
        <p:spPr>
          <a:xfrm>
            <a:off x="539750" y="1844824"/>
            <a:ext cx="7985031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i);</a:t>
            </a:r>
            <a:endParaRPr lang="en-US" altLang="ko-KR" sz="2000" b="0" dirty="0">
              <a:effectLst/>
            </a:endParaRPr>
          </a:p>
          <a:p>
            <a:pPr>
              <a:buNone/>
            </a:pP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 +=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증감식 대신 반복문 내부에서 증가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9132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D3D4-8948-EA7C-AC99-1637F782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51972-C73C-8167-2032-80391236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7.1.3 for: </a:t>
            </a:r>
            <a:r>
              <a:rPr lang="ko-KR" altLang="en-US" b="0" dirty="0"/>
              <a:t>초기식</a:t>
            </a:r>
            <a:r>
              <a:rPr lang="en-US" altLang="ko-KR" b="0" dirty="0"/>
              <a:t>, </a:t>
            </a:r>
            <a:r>
              <a:rPr lang="ko-KR" altLang="en-US" b="0" dirty="0"/>
              <a:t>증감식 생략</a:t>
            </a:r>
            <a:r>
              <a:rPr lang="en-US" altLang="ko-KR" b="0" dirty="0"/>
              <a:t>, </a:t>
            </a:r>
            <a:r>
              <a:rPr lang="ko-KR" altLang="en-US" b="0" dirty="0"/>
              <a:t>조건식만 구현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E25E29-A699-1CC2-7001-3627C3CDD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== while(</a:t>
            </a:r>
            <a:r>
              <a:rPr lang="ko-KR" altLang="en-US" dirty="0"/>
              <a:t>조건식</a:t>
            </a:r>
            <a:r>
              <a:rPr lang="en-US" altLang="ko-KR" dirty="0"/>
              <a:t>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6CDEA8-9657-E6DA-1650-3C041F717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4E509-262D-86E4-E0CB-4C056A5A7EE2}"/>
              </a:ext>
            </a:extLst>
          </p:cNvPr>
          <p:cNvSpPr txBox="1"/>
          <p:nvPr/>
        </p:nvSpPr>
        <p:spPr>
          <a:xfrm>
            <a:off x="564788" y="1484784"/>
            <a:ext cx="7776666" cy="255454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(; i &lt;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)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초기식 없음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증감식 없음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i);</a:t>
            </a:r>
            <a:endParaRPr lang="ko-KR" altLang="en-US" sz="2000" b="0" dirty="0">
              <a:effectLst/>
            </a:endParaRPr>
          </a:p>
          <a:p>
            <a:pPr>
              <a:buNone/>
            </a:pP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++i;       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반복문 내부에서 증가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8542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3EBE-3790-C7E9-EA22-5A63FEE7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936E6-9CB8-8DCA-C0A0-04F9031A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7.1.4 for: </a:t>
            </a:r>
            <a:r>
              <a:rPr lang="ko-KR" altLang="en-US" b="0" dirty="0"/>
              <a:t>모두 생략 </a:t>
            </a:r>
            <a:r>
              <a:rPr lang="en-US" altLang="ko-KR" b="0" dirty="0"/>
              <a:t>(</a:t>
            </a:r>
            <a:r>
              <a:rPr lang="ko-KR" altLang="en-US" b="0" dirty="0"/>
              <a:t>무한 루프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3FE86-9B80-1ADC-9EF1-BDE31256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무한 루프 표현</a:t>
            </a:r>
            <a:endParaRPr lang="en-US" altLang="ko-KR" dirty="0"/>
          </a:p>
          <a:p>
            <a:r>
              <a:rPr lang="en-US" altLang="ko-KR" dirty="0"/>
              <a:t>== while(1)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E74F2E-08F3-95DE-684F-17B690618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3B017-14D1-378D-820F-94E5375E7956}"/>
              </a:ext>
            </a:extLst>
          </p:cNvPr>
          <p:cNvSpPr txBox="1"/>
          <p:nvPr/>
        </p:nvSpPr>
        <p:spPr>
          <a:xfrm>
            <a:off x="568146" y="1844824"/>
            <a:ext cx="7388230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(;;)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반복 실행할 문장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특정 조건 *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직접 탈출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251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3EBE-3790-C7E9-EA22-5A63FEE7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936E6-9CB8-8DCA-C0A0-04F9031A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7.2.1 for </a:t>
            </a:r>
            <a:r>
              <a:rPr lang="ko-KR" altLang="en-US" b="0" dirty="0"/>
              <a:t>문 기본 예제</a:t>
            </a:r>
            <a:r>
              <a:rPr lang="en-US" altLang="ko-KR" b="0" dirty="0"/>
              <a:t>1 (Simple for Loop)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3FE86-9B80-1ADC-9EF1-BDE31256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예</a:t>
            </a:r>
            <a:r>
              <a:rPr lang="en-US" altLang="ko-KR" dirty="0"/>
              <a:t>: [0, 100] </a:t>
            </a:r>
            <a:r>
              <a:rPr lang="ko-KR" altLang="en-US" dirty="0"/>
              <a:t>정수 출력</a:t>
            </a:r>
            <a:r>
              <a:rPr lang="en-US" altLang="ko-KR" dirty="0"/>
              <a:t>&gt;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E74F2E-08F3-95DE-684F-17B690618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5FAD-C4FF-16BC-CC71-13384640B8AE}"/>
              </a:ext>
            </a:extLst>
          </p:cNvPr>
          <p:cNvSpPr txBox="1"/>
          <p:nvPr/>
        </p:nvSpPr>
        <p:spPr>
          <a:xfrm>
            <a:off x="539750" y="1218232"/>
            <a:ext cx="7776666" cy="415498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483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9EBE-B401-04F9-4347-6AF1D0F4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2D806-398E-4BA5-78D0-4F458757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7.2.2 for </a:t>
            </a:r>
            <a:r>
              <a:rPr lang="ko-KR" altLang="en-US" b="0" dirty="0"/>
              <a:t>문 기본 예제</a:t>
            </a:r>
            <a:r>
              <a:rPr lang="en-US" altLang="ko-KR" b="0" dirty="0"/>
              <a:t>: </a:t>
            </a:r>
            <a:r>
              <a:rPr lang="ko-KR" altLang="en-US" b="0" dirty="0"/>
              <a:t>합계 구하기 </a:t>
            </a:r>
            <a:r>
              <a:rPr lang="en-US" altLang="ko-KR" b="0" dirty="0"/>
              <a:t>(Summation)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2B978-A4E3-B9B6-0C52-6BCBB8FD2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예</a:t>
            </a:r>
            <a:r>
              <a:rPr lang="en-US" altLang="ko-KR" dirty="0"/>
              <a:t>: [0, 1000] </a:t>
            </a:r>
            <a:r>
              <a:rPr lang="ko-KR" altLang="en-US" dirty="0"/>
              <a:t>합 구하기</a:t>
            </a:r>
            <a:r>
              <a:rPr lang="en-US" altLang="ko-KR" dirty="0"/>
              <a:t>&gt;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2998B5-2F62-4D01-8C54-08777D4F33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42D6A-5B82-24A4-73D1-032AEFAFEE78}"/>
              </a:ext>
            </a:extLst>
          </p:cNvPr>
          <p:cNvSpPr txBox="1"/>
          <p:nvPr/>
        </p:nvSpPr>
        <p:spPr>
          <a:xfrm>
            <a:off x="539751" y="1412776"/>
            <a:ext cx="8064698" cy="424731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nBegin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nEnd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nBegin; i &lt;= nEnd; ++i)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sum += i;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~ %d 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까지의 합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nBegin, nEnd, sum);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554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EB69-FECE-8BCA-90F3-32B1C1E1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4C8C8-24FF-3EBC-EF64-594184D9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7.2.3 for </a:t>
            </a:r>
            <a:r>
              <a:rPr lang="ko-KR" altLang="en-US" b="0" dirty="0"/>
              <a:t>문 기본 예제</a:t>
            </a:r>
            <a:r>
              <a:rPr lang="en-US" altLang="ko-KR" b="0" dirty="0"/>
              <a:t>: </a:t>
            </a:r>
            <a:r>
              <a:rPr lang="ko-KR" altLang="en-US" b="0" dirty="0"/>
              <a:t>증감 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9966BD-872E-B3AC-0832-DA318BB5A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[0, 100] </a:t>
            </a:r>
            <a:r>
              <a:rPr lang="ko-KR" altLang="en-US" dirty="0"/>
              <a:t>의 정수 중 홀수만 합계 구하기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: [0, 1000] </a:t>
            </a:r>
            <a:r>
              <a:rPr lang="ko-KR" altLang="en-US" dirty="0"/>
              <a:t>의 정수 중 </a:t>
            </a:r>
            <a:r>
              <a:rPr lang="en-US" altLang="ko-KR" dirty="0"/>
              <a:t>7</a:t>
            </a:r>
            <a:r>
              <a:rPr lang="ko-KR" altLang="en-US" dirty="0"/>
              <a:t>의 배수 합계 구하기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10ABCF-D1E6-546D-88E8-A0D71576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FA7E9-217B-7A23-AA80-A76558D4C7D4}"/>
              </a:ext>
            </a:extLst>
          </p:cNvPr>
          <p:cNvSpPr txBox="1"/>
          <p:nvPr/>
        </p:nvSpPr>
        <p:spPr>
          <a:xfrm>
            <a:off x="683568" y="1340768"/>
            <a:ext cx="5575380" cy="175432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홀수만 순차적으로 증가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+=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sum += i;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EE3FCD-A10A-9E61-E333-C2B35FEE1345}"/>
              </a:ext>
            </a:extLst>
          </p:cNvPr>
          <p:cNvSpPr txBox="1"/>
          <p:nvPr/>
        </p:nvSpPr>
        <p:spPr>
          <a:xfrm>
            <a:off x="652805" y="3846969"/>
            <a:ext cx="5575380" cy="175432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7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씩 증가 →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7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의 배수만 처리</a:t>
            </a:r>
            <a:endParaRPr lang="en-US" altLang="ko-KR" sz="1800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+=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sum += i;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0036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3EBE-3790-C7E9-EA22-5A63FEE7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936E6-9CB8-8DCA-C0A0-04F9031A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7.2.4 for </a:t>
            </a:r>
            <a:r>
              <a:rPr lang="ko-KR" altLang="en-US" b="0" dirty="0"/>
              <a:t>문 기본 예제</a:t>
            </a:r>
            <a:r>
              <a:rPr lang="en-US" altLang="ko-KR" b="0" dirty="0"/>
              <a:t>: </a:t>
            </a:r>
            <a:r>
              <a:rPr lang="ko-KR" altLang="en-US" b="0" dirty="0"/>
              <a:t>숫자 자릿수 구하기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3FE86-9B80-1ADC-9EF1-BDE31256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 % 10 → </a:t>
            </a:r>
            <a:r>
              <a:rPr lang="ko-KR" altLang="en-US" sz="2400" dirty="0"/>
              <a:t>마지막 자릿수</a:t>
            </a:r>
            <a:r>
              <a:rPr lang="en-US" altLang="ko-KR" sz="2400" dirty="0"/>
              <a:t>, n /= 10 → </a:t>
            </a:r>
            <a:r>
              <a:rPr lang="ko-KR" altLang="en-US" sz="2400" dirty="0"/>
              <a:t>자릿수 감소</a:t>
            </a:r>
          </a:p>
          <a:p>
            <a:r>
              <a:rPr lang="ko-KR" altLang="en-US" sz="2400" dirty="0"/>
              <a:t>뒤에서부터 출력</a:t>
            </a:r>
            <a:r>
              <a:rPr lang="en-US" altLang="ko-KR" sz="2400" dirty="0"/>
              <a:t>, </a:t>
            </a:r>
            <a:r>
              <a:rPr lang="ko-KR" altLang="en-US" sz="2400" dirty="0"/>
              <a:t>전체 자릿수 계산</a:t>
            </a:r>
          </a:p>
          <a:p>
            <a:r>
              <a:rPr lang="ko-KR" altLang="en-US" sz="2400" dirty="0"/>
              <a:t>초기식 생략</a:t>
            </a:r>
            <a:r>
              <a:rPr lang="en-US" altLang="ko-KR" sz="2400" dirty="0"/>
              <a:t>, </a:t>
            </a:r>
            <a:r>
              <a:rPr lang="ko-KR" altLang="en-US" sz="2400" dirty="0"/>
              <a:t>감산 반복 구조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E74F2E-08F3-95DE-684F-17B690618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52A9A1-2422-F371-E0F5-C28622EF6AE1}"/>
              </a:ext>
            </a:extLst>
          </p:cNvPr>
          <p:cNvSpPr txBox="1"/>
          <p:nvPr/>
        </p:nvSpPr>
        <p:spPr>
          <a:xfrm>
            <a:off x="466653" y="2492896"/>
            <a:ext cx="821069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12345678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상황에 따라 주어진 숫자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digit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자릿수 저장 변수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(; n &gt;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n /=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초기식 생략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n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을 계속 나누면서 감소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 %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가장 뒤 자릿수 출력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++digit;              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자릿수 증가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"\nTotal digits: %d\n"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digit);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총 자리수 출력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91224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FFA64-6B2E-8EBA-7BC2-F5F984B2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C5508-466F-B920-CA55-DF7C6F4F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7.2.5 for </a:t>
            </a:r>
            <a:r>
              <a:rPr lang="ko-KR" altLang="en-US" b="0" dirty="0"/>
              <a:t>문의 비 권장 형태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4199B4-9E78-F3ED-DDC1-894A89957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문법 유연</a:t>
            </a:r>
            <a:endParaRPr lang="en-US" altLang="ko-KR" dirty="0"/>
          </a:p>
          <a:p>
            <a:pPr lvl="1"/>
            <a:r>
              <a:rPr lang="ko-KR" altLang="en-US" dirty="0"/>
              <a:t>다양한 형태 작성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문제점</a:t>
            </a:r>
          </a:p>
          <a:p>
            <a:pPr lvl="1"/>
            <a:r>
              <a:rPr lang="ko-KR" altLang="en-US" dirty="0"/>
              <a:t>가독성 저하</a:t>
            </a:r>
            <a:endParaRPr lang="en-US" altLang="ko-KR" dirty="0"/>
          </a:p>
          <a:p>
            <a:pPr lvl="1"/>
            <a:r>
              <a:rPr lang="ko-KR" altLang="en-US" dirty="0"/>
              <a:t>디버깅 어려움</a:t>
            </a:r>
            <a:endParaRPr lang="en-US" altLang="ko-KR" dirty="0"/>
          </a:p>
          <a:p>
            <a:pPr lvl="1"/>
            <a:r>
              <a:rPr lang="ko-KR" altLang="en-US" dirty="0"/>
              <a:t>협업 시 오해 발생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1AE661-07B0-439A-E8AC-031269A2DE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05327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A64F-2EC6-2281-9E8C-B74F31DC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11427-7ACC-36B9-B490-F0F2EE2B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7.2.5 for </a:t>
            </a:r>
            <a:r>
              <a:rPr lang="ko-KR" altLang="en-US" b="0" dirty="0"/>
              <a:t>문의 비 권장 형태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92866-1DD4-3DB6-98CB-0A22F6BE7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초기식</a:t>
            </a:r>
            <a:r>
              <a:rPr lang="en-US" altLang="ko-KR" sz="2400" dirty="0"/>
              <a:t>·</a:t>
            </a:r>
            <a:r>
              <a:rPr lang="ko-KR" altLang="en-US" sz="2400" dirty="0"/>
              <a:t>증감식에 실행 코드</a:t>
            </a:r>
          </a:p>
          <a:p>
            <a:pPr lvl="1"/>
            <a:r>
              <a:rPr lang="ko-KR" altLang="en-US" sz="2000" dirty="0"/>
              <a:t>설정 </a:t>
            </a:r>
            <a:r>
              <a:rPr lang="en-US" altLang="ko-KR" sz="2000" dirty="0"/>
              <a:t>/ </a:t>
            </a:r>
            <a:r>
              <a:rPr lang="ko-KR" altLang="en-US" sz="2000" dirty="0"/>
              <a:t>검사 영역에 실행 코드 혼합</a:t>
            </a:r>
          </a:p>
          <a:p>
            <a:pPr lvl="1"/>
            <a:r>
              <a:rPr lang="ko-KR" altLang="en-US" sz="2000" dirty="0"/>
              <a:t>가독성 저하</a:t>
            </a:r>
          </a:p>
          <a:p>
            <a:pPr lvl="1"/>
            <a:r>
              <a:rPr lang="ko-KR" altLang="en-US" sz="2000" dirty="0"/>
              <a:t>동작 이해 어려움</a:t>
            </a:r>
          </a:p>
          <a:p>
            <a:endParaRPr lang="ko-KR" altLang="en-US" sz="2400" dirty="0"/>
          </a:p>
          <a:p>
            <a:r>
              <a:rPr lang="ko-KR" altLang="en-US" sz="2400" dirty="0"/>
              <a:t>초기식 다중 변수</a:t>
            </a:r>
          </a:p>
          <a:p>
            <a:pPr lvl="1"/>
            <a:r>
              <a:rPr lang="ko-KR" altLang="en-US" sz="2000" dirty="0"/>
              <a:t>여러 변수 동시 선언 가능</a:t>
            </a:r>
          </a:p>
          <a:p>
            <a:pPr lvl="1"/>
            <a:r>
              <a:rPr lang="ko-KR" altLang="en-US" sz="2000" dirty="0"/>
              <a:t>반복 목적 흐림</a:t>
            </a:r>
          </a:p>
          <a:p>
            <a:pPr lvl="1"/>
            <a:r>
              <a:rPr lang="ko-KR" altLang="en-US" sz="2000" dirty="0"/>
              <a:t>가독성 저하</a:t>
            </a:r>
          </a:p>
          <a:p>
            <a:endParaRPr lang="ko-KR" altLang="en-US" sz="2400" dirty="0"/>
          </a:p>
          <a:p>
            <a:r>
              <a:rPr lang="ko-KR" altLang="en-US" sz="2400" dirty="0"/>
              <a:t>중괄호 생략</a:t>
            </a:r>
          </a:p>
          <a:p>
            <a:pPr lvl="1"/>
            <a:r>
              <a:rPr lang="ko-KR" altLang="en-US" sz="2000" dirty="0"/>
              <a:t>빈 문장 반복 구조</a:t>
            </a:r>
          </a:p>
          <a:p>
            <a:pPr lvl="1"/>
            <a:r>
              <a:rPr lang="ko-KR" altLang="en-US" sz="2000" dirty="0"/>
              <a:t>의도 파악 어려움</a:t>
            </a:r>
          </a:p>
          <a:p>
            <a:pPr lvl="1"/>
            <a:r>
              <a:rPr lang="ko-KR" altLang="en-US" sz="2000" dirty="0"/>
              <a:t>수정 시 오류 위험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D062F8-9411-A589-625A-244089A81D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72359-BB86-6A46-3436-8275E27416B9}"/>
              </a:ext>
            </a:extLst>
          </p:cNvPr>
          <p:cNvSpPr txBox="1"/>
          <p:nvPr/>
        </p:nvSpPr>
        <p:spPr>
          <a:xfrm>
            <a:off x="3792659" y="1725995"/>
            <a:ext cx="4774627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초기식 실행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 &lt;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증감식 값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i), i +=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6052C-6E7B-F6D3-0770-A48A4A82BB86}"/>
              </a:ext>
            </a:extLst>
          </p:cNvPr>
          <p:cNvSpPr txBox="1"/>
          <p:nvPr/>
        </p:nvSpPr>
        <p:spPr>
          <a:xfrm>
            <a:off x="3779912" y="3134682"/>
            <a:ext cx="4787374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nn-NO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nn-NO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j=</a:t>
            </a:r>
            <a:r>
              <a:rPr lang="nn-NO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k=</a:t>
            </a:r>
            <a:r>
              <a:rPr lang="nn-NO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l=</a:t>
            </a:r>
            <a:r>
              <a:rPr lang="nn-NO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m=</a:t>
            </a:r>
            <a:r>
              <a:rPr lang="nn-NO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n=</a:t>
            </a:r>
            <a:r>
              <a:rPr lang="nn-NO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 &lt; </a:t>
            </a:r>
            <a:r>
              <a:rPr lang="nn-NO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nn-NO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++i, ++j, ++k, ++l, ++m, ++n)</a:t>
            </a:r>
            <a:endParaRPr lang="ko-KR" altLang="en-US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2C0073-373B-D95A-A64E-1B7AFDFD59AA}"/>
              </a:ext>
            </a:extLst>
          </p:cNvPr>
          <p:cNvSpPr txBox="1"/>
          <p:nvPr/>
        </p:nvSpPr>
        <p:spPr>
          <a:xfrm>
            <a:off x="3779912" y="4962050"/>
            <a:ext cx="4787374" cy="5847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본문이 없는 완전한 형태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비추천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++i, n += i);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83274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0D5EA-563C-82C3-67C7-CE706237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7371A-58F5-BAC1-E278-8E9F4A3B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7.2.5 for </a:t>
            </a:r>
            <a:r>
              <a:rPr lang="ko-KR" altLang="en-US" b="0" dirty="0"/>
              <a:t>문의 비 권장 형태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DBB22-BCAE-C620-9F7B-C2CB1A46A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한 줄 </a:t>
            </a:r>
            <a:r>
              <a:rPr lang="en-US" altLang="ko-KR" sz="2400" dirty="0"/>
              <a:t>for </a:t>
            </a:r>
            <a:r>
              <a:rPr lang="ko-KR" altLang="en-US" sz="2400" dirty="0"/>
              <a:t>문</a:t>
            </a:r>
          </a:p>
          <a:p>
            <a:pPr lvl="1"/>
            <a:r>
              <a:rPr lang="ko-KR" altLang="en-US" sz="2000" dirty="0"/>
              <a:t>가독성 저하</a:t>
            </a:r>
          </a:p>
          <a:p>
            <a:pPr lvl="1"/>
            <a:r>
              <a:rPr lang="ko-KR" altLang="en-US" sz="2000" dirty="0"/>
              <a:t>디버깅 어려움</a:t>
            </a:r>
          </a:p>
          <a:p>
            <a:pPr lvl="1"/>
            <a:r>
              <a:rPr lang="ko-KR" altLang="en-US" sz="2000" dirty="0"/>
              <a:t>브레이크포인트 설정 불편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r>
              <a:rPr lang="ko-KR" altLang="en-US" sz="2400" dirty="0"/>
              <a:t>한 줄 블록</a:t>
            </a:r>
          </a:p>
          <a:p>
            <a:pPr lvl="1"/>
            <a:r>
              <a:rPr lang="ko-KR" altLang="en-US" sz="2000" dirty="0"/>
              <a:t>컴팩트 코드</a:t>
            </a:r>
          </a:p>
          <a:p>
            <a:pPr lvl="1"/>
            <a:r>
              <a:rPr lang="ko-KR" altLang="en-US" sz="2000" dirty="0"/>
              <a:t>의도 오해 가능</a:t>
            </a:r>
          </a:p>
          <a:p>
            <a:pPr lvl="1"/>
            <a:r>
              <a:rPr lang="ko-KR" altLang="en-US" sz="2000" dirty="0"/>
              <a:t>유지보수 불리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31D2E8-DBA0-6212-0595-C6A8C22719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53E1E-ABC5-CD3B-9AD2-C5D4B4B474D9}"/>
              </a:ext>
            </a:extLst>
          </p:cNvPr>
          <p:cNvSpPr txBox="1"/>
          <p:nvPr/>
        </p:nvSpPr>
        <p:spPr>
          <a:xfrm>
            <a:off x="3779912" y="933540"/>
            <a:ext cx="5040560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40F37-3C82-07A5-E45E-95966E6BEEBA}"/>
              </a:ext>
            </a:extLst>
          </p:cNvPr>
          <p:cNvSpPr txBox="1"/>
          <p:nvPr/>
        </p:nvSpPr>
        <p:spPr>
          <a:xfrm>
            <a:off x="683568" y="5739794"/>
            <a:ext cx="7621221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 {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}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비권장</a:t>
            </a:r>
            <a:endParaRPr lang="ko-KR" alt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F0751-8D28-CB31-6773-2614E7080FA0}"/>
              </a:ext>
            </a:extLst>
          </p:cNvPr>
          <p:cNvSpPr txBox="1"/>
          <p:nvPr/>
        </p:nvSpPr>
        <p:spPr>
          <a:xfrm>
            <a:off x="3779912" y="1796917"/>
            <a:ext cx="5040560" cy="258532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가독성과 디버깅을 고려한 방식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또는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블록을 명시적으로 사용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95200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D8C7-9720-F709-E611-CDF054B9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2871F-F938-AF74-D9CB-31A10167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7.3.1 </a:t>
            </a:r>
            <a:r>
              <a:rPr lang="ko-KR" altLang="en-US" b="0" dirty="0"/>
              <a:t>다중 </a:t>
            </a:r>
            <a:r>
              <a:rPr lang="en-US" altLang="ko-KR" b="0" dirty="0"/>
              <a:t>for </a:t>
            </a:r>
            <a:r>
              <a:rPr lang="ko-KR" altLang="en-US" b="0" dirty="0"/>
              <a:t>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04042A-2ED9-DA37-2F10-60DC7855B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for </a:t>
            </a:r>
            <a:r>
              <a:rPr lang="ko-KR" altLang="en-US" dirty="0"/>
              <a:t>내부에 또 다른 </a:t>
            </a:r>
            <a:r>
              <a:rPr lang="en-US" altLang="ko-KR" dirty="0"/>
              <a:t>for </a:t>
            </a:r>
            <a:r>
              <a:rPr lang="ko-KR" altLang="en-US" dirty="0"/>
              <a:t>포함 구조</a:t>
            </a:r>
            <a:endParaRPr lang="en-US" altLang="ko-KR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1F03A5-9F3B-8C33-C843-1750345460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A8190-AD72-3378-1E6E-A0EF2C7CA9F3}"/>
              </a:ext>
            </a:extLst>
          </p:cNvPr>
          <p:cNvSpPr txBox="1"/>
          <p:nvPr/>
        </p:nvSpPr>
        <p:spPr>
          <a:xfrm>
            <a:off x="539750" y="1900227"/>
            <a:ext cx="8208963" cy="39703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구구단 프로그램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table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table &lt;=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++table)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바깥 반복문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(table)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table);      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각 단 출력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num &lt;=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++num)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안쪽 반복문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곱하는 수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(num)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multi = table * num;         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곱하기 결과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x %d = %d\n"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table, num, multi);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               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각 단 출력 후 줄 구분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00563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99F96-5956-0AA7-E110-27511753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A007D-A129-1A4E-4760-7A13D283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7.3.2 C99 </a:t>
            </a:r>
            <a:r>
              <a:rPr lang="ko-KR" altLang="en-US" b="0" dirty="0"/>
              <a:t>이전 스타일</a:t>
            </a:r>
            <a:r>
              <a:rPr lang="en-US" altLang="ko-KR" b="0" dirty="0"/>
              <a:t>(C89/C90 </a:t>
            </a:r>
            <a:r>
              <a:rPr lang="ko-KR" altLang="en-US" b="0" dirty="0"/>
              <a:t>방식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2756CA-9AAB-272D-763B-DF91B0830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C99 </a:t>
            </a:r>
            <a:r>
              <a:rPr lang="ko-KR" altLang="en-US" dirty="0"/>
              <a:t>이전 표준</a:t>
            </a:r>
            <a:endParaRPr lang="en-US" altLang="ko-KR" dirty="0"/>
          </a:p>
          <a:p>
            <a:pPr lvl="1"/>
            <a:r>
              <a:rPr lang="ko-KR" altLang="en-US" dirty="0"/>
              <a:t>레거시 대응</a:t>
            </a:r>
            <a:endParaRPr lang="en-US" altLang="ko-KR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F66626-8075-C4B9-391E-EA427BB704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90B86-6041-D1CE-7969-949690AF3020}"/>
              </a:ext>
            </a:extLst>
          </p:cNvPr>
          <p:cNvSpPr txBox="1"/>
          <p:nvPr/>
        </p:nvSpPr>
        <p:spPr>
          <a:xfrm>
            <a:off x="543846" y="1641892"/>
            <a:ext cx="8060601" cy="48320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사용할 변수는 미리 선언해 둔다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.*/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table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(table) */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곱하는 수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(numb)*/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multi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곱하기 결과 *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구구단 프로그램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(table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table &lt;=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++table)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바깥 반복문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(table) */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table);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각 단 출력 *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(num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num &lt;=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++num)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안쪽 반복문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곱하는 수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(num) */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multi = table * num;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x %d = %d\n"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table, num, multi);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         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각 단 출력 후 줄 구분 *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22392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C2540-FC90-F567-A84F-5AF92267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39D25-0C26-F48D-3067-7F7F4126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7.3.3 </a:t>
            </a:r>
            <a:r>
              <a:rPr lang="ko-KR" altLang="en-US" b="0" dirty="0"/>
              <a:t>패턴 출력</a:t>
            </a:r>
            <a:r>
              <a:rPr lang="en-US" altLang="ko-KR" b="0" dirty="0"/>
              <a:t>: </a:t>
            </a:r>
            <a:r>
              <a:rPr lang="ko-KR" altLang="en-US" b="0" dirty="0"/>
              <a:t>별찍기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D1B03D-F240-21D0-BC66-68911D3CE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왼쪽 정렬된 직각삼각형 별찍기</a:t>
            </a:r>
            <a:endParaRPr lang="en-US" altLang="ko-KR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2E4DB4-CBB0-8810-878F-812A67FDB9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C1C6C-ABB5-2CF5-125F-E43A8EE1F3D2}"/>
              </a:ext>
            </a:extLst>
          </p:cNvPr>
          <p:cNvSpPr txBox="1"/>
          <p:nvPr/>
        </p:nvSpPr>
        <p:spPr>
          <a:xfrm>
            <a:off x="611560" y="1336119"/>
            <a:ext cx="7560840" cy="353943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maxValStar = 4;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&lt;= maxValStar; ++i)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i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줄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(row)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&lt;= i; ++j)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j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각 줄의 별 개수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(column)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         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한 줄 출력 후 줄바꿈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19662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395A-7F46-D2EA-9EEB-619E6038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EB4A6-DBAC-56A5-0D19-1B90E481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7.3.3.2 </a:t>
            </a:r>
            <a:r>
              <a:rPr lang="ko-KR" altLang="en-US" b="0" dirty="0"/>
              <a:t>오른쪽 정렬된 역삼각형 별찍기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79A139-ADBA-DD7B-2DA7-4B327B9E9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33DFF3-9E67-9252-9137-9F93334297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E191F-FC39-3A7F-FA93-8F981FF16B98}"/>
              </a:ext>
            </a:extLst>
          </p:cNvPr>
          <p:cNvSpPr txBox="1"/>
          <p:nvPr/>
        </p:nvSpPr>
        <p:spPr>
          <a:xfrm>
            <a:off x="179512" y="692150"/>
            <a:ext cx="3956019" cy="209288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ko-KR" altLang="en-US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공백 출력 과정</a:t>
            </a:r>
            <a:b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공백의 개수 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(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최대 별 개수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− (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현재 출력할 별의 수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개행 없이 공백 출력</a:t>
            </a:r>
            <a:b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 = </a:t>
            </a:r>
            <a:r>
              <a:rPr lang="en-US" altLang="ko-KR" sz="1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s &lt; 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공백의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++s)</a:t>
            </a:r>
            <a:b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2. </a:t>
            </a:r>
            <a:r>
              <a:rPr lang="ko-KR" altLang="en-US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별을 출력 과정</a:t>
            </a:r>
            <a:b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별의 개수 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현재 출력할 별의 수</a:t>
            </a:r>
            <a:b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(j = </a:t>
            </a:r>
            <a:r>
              <a:rPr lang="en-US" altLang="ko-KR" sz="1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별의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++j)</a:t>
            </a:r>
            <a:b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3. </a:t>
            </a:r>
            <a:r>
              <a:rPr lang="ko-KR" altLang="en-US" sz="1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줄바꿈 출력</a:t>
            </a:r>
            <a:b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E66BF9-3CA3-5D7A-0C8A-D014A8AD4FAE}"/>
              </a:ext>
            </a:extLst>
          </p:cNvPr>
          <p:cNvSpPr txBox="1"/>
          <p:nvPr/>
        </p:nvSpPr>
        <p:spPr>
          <a:xfrm>
            <a:off x="2336361" y="2785406"/>
            <a:ext cx="6444208" cy="364715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5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05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maxStar = </a:t>
            </a:r>
            <a:r>
              <a:rPr lang="en-US" altLang="ko-KR" sz="105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           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최대 별 개수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maxStar; i &gt;= </a:t>
            </a:r>
            <a:r>
              <a:rPr lang="en-US" altLang="ko-KR" sz="105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--i)    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i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출력할 별의 수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numSpace = maxStar - i;      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공백의 개수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 = </a:t>
            </a:r>
            <a:r>
              <a:rPr lang="en-US" altLang="ko-KR" sz="105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s &lt; numSpace; ++s)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공백 출력 과정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               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공백 출력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05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i; ++j)       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2.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별 출력 과정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i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출력할 별의 수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               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별 출력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                    </a:t>
            </a:r>
            <a:r>
              <a:rPr lang="en-US" altLang="ko-KR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3. </a:t>
            </a:r>
            <a:r>
              <a:rPr lang="ko-KR" altLang="en-US" sz="105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줄 바꿈 출력</a:t>
            </a:r>
            <a:b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391351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EA58-8EA4-52A3-FC22-926A4F80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7F629-AB6C-7A52-4FAA-CD73E329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7.4 while </a:t>
            </a:r>
            <a:r>
              <a:rPr lang="ko-KR" altLang="en-US" b="0" dirty="0"/>
              <a:t>문 기본 구조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BE2690-AD1F-6572-93DC-36EEB4C2F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while </a:t>
            </a:r>
            <a:r>
              <a:rPr lang="ko-KR" altLang="en-US" sz="2400" dirty="0"/>
              <a:t>문</a:t>
            </a:r>
          </a:p>
          <a:p>
            <a:pPr lvl="1"/>
            <a:r>
              <a:rPr lang="ko-KR" altLang="en-US" sz="2000" dirty="0"/>
              <a:t>조건이 참인 동안 반복 실행</a:t>
            </a:r>
          </a:p>
          <a:p>
            <a:pPr lvl="1"/>
            <a:r>
              <a:rPr lang="ko-KR" altLang="en-US" sz="2000" dirty="0"/>
              <a:t>반복 횟수 미정 상황 적합</a:t>
            </a:r>
            <a:endParaRPr lang="en-US" altLang="ko-KR" sz="2000" dirty="0"/>
          </a:p>
          <a:p>
            <a:pPr lvl="3"/>
            <a:endParaRPr lang="en-US" altLang="ko-KR" sz="1400" dirty="0"/>
          </a:p>
          <a:p>
            <a:r>
              <a:rPr lang="ko-KR" altLang="en-US" sz="2400" dirty="0"/>
              <a:t>동작 방식</a:t>
            </a:r>
          </a:p>
          <a:p>
            <a:pPr lvl="1"/>
            <a:r>
              <a:rPr lang="ko-KR" altLang="en-US" sz="2000" dirty="0"/>
              <a:t>조건 검사 → 실행 → 재검사</a:t>
            </a:r>
          </a:p>
          <a:p>
            <a:pPr lvl="1"/>
            <a:r>
              <a:rPr lang="ko-KR" altLang="en-US" sz="2000" dirty="0"/>
              <a:t>조건이 처음부터 거짓 → 실행 안 함</a:t>
            </a:r>
            <a:endParaRPr lang="en-US" altLang="ko-KR" sz="2000" dirty="0"/>
          </a:p>
          <a:p>
            <a:pPr lvl="3"/>
            <a:endParaRPr lang="ko-KR" altLang="en-US" sz="1400" dirty="0"/>
          </a:p>
          <a:p>
            <a:r>
              <a:rPr lang="en-US" altLang="ko-KR" sz="2400" dirty="0"/>
              <a:t>for vs while</a:t>
            </a:r>
          </a:p>
          <a:p>
            <a:pPr lvl="1"/>
            <a:r>
              <a:rPr lang="en-US" altLang="ko-KR" sz="2000" dirty="0"/>
              <a:t>for:</a:t>
            </a:r>
            <a:r>
              <a:rPr lang="ko-KR" altLang="en-US" sz="2000" dirty="0"/>
              <a:t>횟수 기반 반복</a:t>
            </a:r>
          </a:p>
          <a:p>
            <a:pPr lvl="1"/>
            <a:r>
              <a:rPr lang="en-US" altLang="ko-KR" sz="2000" dirty="0"/>
              <a:t>while: </a:t>
            </a:r>
            <a:r>
              <a:rPr lang="ko-KR" altLang="en-US" sz="2000" dirty="0"/>
              <a:t>조건 기반 반복</a:t>
            </a:r>
          </a:p>
          <a:p>
            <a:pPr lvl="3"/>
            <a:endParaRPr lang="ko-KR" altLang="en-US" sz="1400" dirty="0"/>
          </a:p>
          <a:p>
            <a:r>
              <a:rPr lang="en-US" altLang="ko-KR" sz="2400" dirty="0"/>
              <a:t>while </a:t>
            </a:r>
            <a:r>
              <a:rPr lang="ko-KR" altLang="en-US" sz="2400" dirty="0"/>
              <a:t>사용 예</a:t>
            </a:r>
          </a:p>
          <a:p>
            <a:pPr lvl="1"/>
            <a:r>
              <a:rPr lang="ko-KR" altLang="en-US" sz="2000" dirty="0"/>
              <a:t>파일 입력</a:t>
            </a:r>
          </a:p>
          <a:p>
            <a:pPr lvl="1"/>
            <a:r>
              <a:rPr lang="ko-KR" altLang="en-US" sz="2000" dirty="0"/>
              <a:t>네트워크 수신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1485EE-BB87-1A06-60C8-4F7A9A91E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63704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A137D-70FF-22F7-F62A-20859B76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8F277-B449-4897-919B-4665FC07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7.4 while </a:t>
            </a:r>
            <a:r>
              <a:rPr lang="ko-KR" altLang="en-US" b="0" dirty="0"/>
              <a:t>문 기본 구조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1CC493-53C3-FD8E-CB8D-501774FD1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39D711-E204-AD5F-460E-CFA53EBA75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B99F3-966D-F590-43E1-9C37120BB2F5}"/>
              </a:ext>
            </a:extLst>
          </p:cNvPr>
          <p:cNvSpPr txBox="1"/>
          <p:nvPr/>
        </p:nvSpPr>
        <p:spPr>
          <a:xfrm>
            <a:off x="249238" y="692150"/>
            <a:ext cx="3818706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반복 실행할 문장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64FD3-AAA8-94D9-C0F9-C6868E9A955F}"/>
              </a:ext>
            </a:extLst>
          </p:cNvPr>
          <p:cNvSpPr txBox="1"/>
          <p:nvPr/>
        </p:nvSpPr>
        <p:spPr>
          <a:xfrm>
            <a:off x="4358698" y="706717"/>
            <a:ext cx="4390015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(;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반복 실행할 문장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8580A-642E-B6A2-B42E-F4060DFAF8DA}"/>
              </a:ext>
            </a:extLst>
          </p:cNvPr>
          <p:cNvSpPr txBox="1"/>
          <p:nvPr/>
        </p:nvSpPr>
        <p:spPr>
          <a:xfrm>
            <a:off x="249238" y="2348880"/>
            <a:ext cx="7203082" cy="286232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for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문을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while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문으로 변환한 형태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초기식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for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문의 초기식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for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문의 조건식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반복 실행할 문장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증감식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for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문의 증감식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27774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3CAC9-BD2F-D17C-3D85-33AD2EEE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7.5 while </a:t>
            </a:r>
            <a:r>
              <a:rPr lang="ko-KR" altLang="en-US" b="0" dirty="0"/>
              <a:t>문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CC591-22E4-E591-B0CB-120C80330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A4DAB1-BD89-C21C-56C8-5229AAA802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EDC42-05CB-D3A0-B3FD-AC005D0426D4}"/>
              </a:ext>
            </a:extLst>
          </p:cNvPr>
          <p:cNvSpPr txBox="1"/>
          <p:nvPr/>
        </p:nvSpPr>
        <p:spPr>
          <a:xfrm>
            <a:off x="251520" y="715287"/>
            <a:ext cx="7992690" cy="289310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 0~1000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까지의 정수 중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의 배수 합계 구하기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sumSeven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for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문에서 사용한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 i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에서만 접근하도록 블록으로 감쌈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 &lt;=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sumSeven += i;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증감식 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+=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7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씩 증가 →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의 배수만 처리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"1~1000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까지 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의 배수 합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sumSeven);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CB253-3297-7480-8034-248F9566C08C}"/>
              </a:ext>
            </a:extLst>
          </p:cNvPr>
          <p:cNvSpPr txBox="1"/>
          <p:nvPr/>
        </p:nvSpPr>
        <p:spPr>
          <a:xfrm>
            <a:off x="251520" y="3789040"/>
            <a:ext cx="7992690" cy="203132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12345678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상황에 따라 주어진 숫자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digit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자릿수 저장 변수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 &gt;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 %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가장 뒤 자릿수 출력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++digit;          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자릿수 증가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 /=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      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증감식 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"\nTotal digits: %d\n"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digit);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총 자리수 출력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81151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4F6E-78E2-1876-6A99-2B94E466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6C344-12B9-E275-F3DA-3C97057A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7.6 </a:t>
            </a:r>
            <a:r>
              <a:rPr lang="ko-KR" altLang="en-US" b="0" dirty="0"/>
              <a:t>다중 </a:t>
            </a:r>
            <a:r>
              <a:rPr lang="en-US" altLang="ko-KR" b="0" dirty="0"/>
              <a:t>while </a:t>
            </a:r>
            <a:r>
              <a:rPr lang="ko-KR" altLang="en-US" b="0" dirty="0"/>
              <a:t>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D6496E-5E21-F156-6612-7F14E0D3D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다중 </a:t>
            </a:r>
            <a:r>
              <a:rPr lang="en-US" altLang="ko-KR" sz="2400" dirty="0"/>
              <a:t>while </a:t>
            </a:r>
            <a:r>
              <a:rPr lang="ko-KR" altLang="en-US" sz="2400" dirty="0"/>
              <a:t>문</a:t>
            </a:r>
          </a:p>
          <a:p>
            <a:pPr lvl="1"/>
            <a:r>
              <a:rPr lang="en-US" altLang="ko-KR" sz="2000" dirty="0"/>
              <a:t>while </a:t>
            </a:r>
            <a:r>
              <a:rPr lang="ko-KR" altLang="en-US" sz="2000" dirty="0"/>
              <a:t>내부에 또 다른 </a:t>
            </a:r>
            <a:r>
              <a:rPr lang="en-US" altLang="ko-KR" sz="2000" dirty="0"/>
              <a:t>while </a:t>
            </a:r>
            <a:r>
              <a:rPr lang="ko-KR" altLang="en-US" sz="2000" dirty="0"/>
              <a:t>구조</a:t>
            </a:r>
          </a:p>
          <a:p>
            <a:pPr lvl="1"/>
            <a:r>
              <a:rPr lang="ko-KR" altLang="en-US" sz="2000" dirty="0"/>
              <a:t>조건 기반 반복 중첩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활용</a:t>
            </a:r>
          </a:p>
          <a:p>
            <a:pPr lvl="1"/>
            <a:r>
              <a:rPr lang="ko-KR" altLang="en-US" sz="2000" dirty="0"/>
              <a:t>입력 처리</a:t>
            </a:r>
            <a:r>
              <a:rPr lang="en-US" altLang="ko-KR" sz="2000" dirty="0"/>
              <a:t>, </a:t>
            </a:r>
            <a:r>
              <a:rPr lang="ko-KR" altLang="en-US" sz="2000" dirty="0"/>
              <a:t>문자열 탐색</a:t>
            </a:r>
            <a:r>
              <a:rPr lang="en-US" altLang="ko-KR" sz="2000" dirty="0"/>
              <a:t>, </a:t>
            </a:r>
            <a:r>
              <a:rPr lang="ko-KR" altLang="en-US" sz="2000" dirty="0"/>
              <a:t>파일 읽기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주의사항</a:t>
            </a:r>
            <a:endParaRPr lang="en-US" altLang="ko-KR" sz="2400" dirty="0"/>
          </a:p>
          <a:p>
            <a:pPr lvl="1"/>
            <a:r>
              <a:rPr lang="ko-KR" altLang="en-US" sz="2000" dirty="0"/>
              <a:t>조건식 정확히 설정 ← 무한 루프 위험 존재</a:t>
            </a:r>
          </a:p>
          <a:p>
            <a:pPr lvl="1"/>
            <a:r>
              <a:rPr lang="ko-KR" altLang="en-US" sz="2000" dirty="0"/>
              <a:t>반복 변수 반드시 변경</a:t>
            </a:r>
            <a:r>
              <a:rPr lang="en-US" altLang="ko-KR" sz="2000" dirty="0"/>
              <a:t>, </a:t>
            </a:r>
            <a:r>
              <a:rPr lang="ko-KR" altLang="en-US" sz="2000" dirty="0"/>
              <a:t>종료 조건 명확히 정의</a:t>
            </a:r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사용 기준</a:t>
            </a:r>
          </a:p>
          <a:p>
            <a:pPr lvl="1"/>
            <a:r>
              <a:rPr lang="ko-KR" altLang="en-US" sz="2000" dirty="0"/>
              <a:t>반복 횟수 불명확 → </a:t>
            </a:r>
            <a:r>
              <a:rPr lang="en-US" altLang="ko-KR" sz="2000" dirty="0"/>
              <a:t>while</a:t>
            </a:r>
          </a:p>
          <a:p>
            <a:pPr lvl="1"/>
            <a:r>
              <a:rPr lang="ko-KR" altLang="en-US" sz="2000" dirty="0"/>
              <a:t>횟수 명확 → </a:t>
            </a:r>
            <a:r>
              <a:rPr lang="en-US" altLang="ko-KR" sz="2000" dirty="0"/>
              <a:t>for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9A6347-C3B6-B5E1-0A39-1151CAB0E0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37839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AAB5D-B222-A30C-E195-F3362AF6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4F9DB-24A1-51DD-AF75-2D7B1B38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7.6.2 </a:t>
            </a:r>
            <a:r>
              <a:rPr lang="ko-KR" altLang="en-US" b="0" dirty="0"/>
              <a:t>다중 </a:t>
            </a:r>
            <a:r>
              <a:rPr lang="en-US" altLang="ko-KR" b="0" dirty="0"/>
              <a:t>while </a:t>
            </a:r>
            <a:r>
              <a:rPr lang="ko-KR" altLang="en-US" b="0" dirty="0"/>
              <a:t>문 예제</a:t>
            </a:r>
            <a:r>
              <a:rPr lang="en-US" altLang="ko-KR" b="0" dirty="0"/>
              <a:t>: </a:t>
            </a:r>
            <a:r>
              <a:rPr lang="ko-KR" altLang="en-US" b="0" dirty="0"/>
              <a:t>행과 열 출력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DA1DB-0D7B-39E2-114A-CDFFAA81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D1BE1F-DBFF-9DA2-7A3F-314B75948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80425-D0BA-9B06-0E16-D3A8E2F17567}"/>
              </a:ext>
            </a:extLst>
          </p:cNvPr>
          <p:cNvSpPr txBox="1"/>
          <p:nvPr/>
        </p:nvSpPr>
        <p:spPr>
          <a:xfrm>
            <a:off x="289888" y="836712"/>
            <a:ext cx="4426128" cy="501675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rows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cols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(r &lt;= rows)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(c &lt;= cols)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"(%d, %d) 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r, c);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c++;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r++;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16E78-D300-2BDF-982B-F49E1A8C9932}"/>
              </a:ext>
            </a:extLst>
          </p:cNvPr>
          <p:cNvSpPr txBox="1"/>
          <p:nvPr/>
        </p:nvSpPr>
        <p:spPr>
          <a:xfrm>
            <a:off x="4716016" y="4930140"/>
            <a:ext cx="3888432" cy="92333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81397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B76A-8E48-F90E-F0DC-DDADF077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FAEA1-FF34-B445-0DE0-D8465EEE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7.6.3 </a:t>
            </a:r>
            <a:r>
              <a:rPr lang="ko-KR" altLang="en-US" b="0" dirty="0"/>
              <a:t>다중 </a:t>
            </a:r>
            <a:r>
              <a:rPr lang="en-US" altLang="ko-KR" b="0" dirty="0"/>
              <a:t>while </a:t>
            </a:r>
            <a:r>
              <a:rPr lang="ko-KR" altLang="en-US" b="0" dirty="0"/>
              <a:t>문 예제</a:t>
            </a:r>
            <a:r>
              <a:rPr lang="en-US" altLang="ko-KR" b="0" dirty="0"/>
              <a:t>: 9X9 table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073E38-74F5-74DC-E633-88CCC6983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67E4DE-27C7-5311-74D0-35E47D95C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1996E-B751-F293-86A7-65CCEDC5EED5}"/>
              </a:ext>
            </a:extLst>
          </p:cNvPr>
          <p:cNvSpPr txBox="1"/>
          <p:nvPr/>
        </p:nvSpPr>
        <p:spPr>
          <a:xfrm>
            <a:off x="251520" y="673407"/>
            <a:ext cx="8712968" cy="563231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구구단 프로그램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table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(table &lt;=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      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바깥 반복문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(table)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table);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각 단 출력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(num &lt;=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안쪽 반복문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곱하는 수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(num)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multi = table * num;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곱하기 결과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x %d =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table, num, multi);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++num;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        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각 단 출력 후 줄 구분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++table;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93679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B2A9-3069-5952-822B-DD28BA28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D9AFA-AC14-F41B-796D-1358C7FC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7.7 do–while </a:t>
            </a:r>
            <a:r>
              <a:rPr lang="ko-KR" altLang="en-US" b="0" dirty="0"/>
              <a:t>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AC33B4-D43A-01C9-C3B9-05E889E62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do–while </a:t>
            </a:r>
            <a:r>
              <a:rPr lang="ko-KR" altLang="en-US" dirty="0"/>
              <a:t>문</a:t>
            </a:r>
          </a:p>
          <a:p>
            <a:pPr lvl="1"/>
            <a:r>
              <a:rPr lang="ko-KR" altLang="en-US" sz="2000" dirty="0"/>
              <a:t>조건과 관계없이 </a:t>
            </a:r>
            <a:r>
              <a:rPr lang="en-US" altLang="ko-KR" sz="2000" dirty="0"/>
              <a:t>1</a:t>
            </a:r>
            <a:r>
              <a:rPr lang="ko-KR" altLang="en-US" sz="2000" dirty="0"/>
              <a:t>회 실행</a:t>
            </a:r>
            <a:r>
              <a:rPr lang="en-US" altLang="ko-KR" sz="2000" dirty="0"/>
              <a:t>, </a:t>
            </a:r>
            <a:r>
              <a:rPr lang="ko-KR" altLang="en-US" sz="2000" dirty="0"/>
              <a:t>조건이 참인 동안 반복 실행 </a:t>
            </a:r>
            <a:r>
              <a:rPr lang="en-US" altLang="ko-KR" sz="2000" dirty="0"/>
              <a:t>(while)</a:t>
            </a:r>
          </a:p>
          <a:p>
            <a:pPr lvl="1"/>
            <a:endParaRPr lang="ko-KR" altLang="en-US" sz="2000" dirty="0"/>
          </a:p>
          <a:p>
            <a:r>
              <a:rPr lang="ko-KR" altLang="en-US" dirty="0"/>
              <a:t>동작 순서</a:t>
            </a:r>
          </a:p>
          <a:p>
            <a:pPr lvl="1"/>
            <a:r>
              <a:rPr lang="ko-KR" altLang="en-US" sz="2000" dirty="0"/>
              <a:t>실행 → 조건 검사 → 반복 판단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en-US" altLang="ko-KR" dirty="0"/>
              <a:t>while</a:t>
            </a:r>
            <a:r>
              <a:rPr lang="ko-KR" altLang="en-US" dirty="0"/>
              <a:t>과 차이</a:t>
            </a:r>
          </a:p>
          <a:p>
            <a:pPr lvl="1"/>
            <a:r>
              <a:rPr lang="en-US" altLang="ko-KR" sz="2000" dirty="0"/>
              <a:t>while: </a:t>
            </a:r>
            <a:r>
              <a:rPr lang="ko-KR" altLang="en-US" sz="2000" dirty="0"/>
              <a:t>조건 먼저 검사</a:t>
            </a:r>
          </a:p>
          <a:p>
            <a:pPr lvl="1"/>
            <a:r>
              <a:rPr lang="en-US" altLang="ko-KR" sz="2000" dirty="0"/>
              <a:t>do–while: </a:t>
            </a:r>
            <a:r>
              <a:rPr lang="ko-KR" altLang="en-US" sz="2000" dirty="0"/>
              <a:t>실행 후 조건 검사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dirty="0"/>
              <a:t>주의</a:t>
            </a:r>
          </a:p>
          <a:p>
            <a:pPr lvl="1"/>
            <a:r>
              <a:rPr lang="en-US" altLang="ko-KR" sz="2000" dirty="0"/>
              <a:t>while </a:t>
            </a:r>
            <a:r>
              <a:rPr lang="ko-KR" altLang="en-US" sz="2000" dirty="0"/>
              <a:t>끝 세미콜론</a:t>
            </a:r>
            <a:r>
              <a:rPr lang="en-US" altLang="ko-KR" sz="2000" dirty="0"/>
              <a:t>(;) </a:t>
            </a:r>
            <a:r>
              <a:rPr lang="ko-KR" altLang="en-US" sz="2000" dirty="0"/>
              <a:t>필수</a:t>
            </a:r>
            <a:endParaRPr lang="ko-KR" altLang="en-US" sz="3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E59C3A-0225-53FA-6CAA-60A25D24DB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EF74B-B130-D41F-45AC-60EE1989A940}"/>
              </a:ext>
            </a:extLst>
          </p:cNvPr>
          <p:cNvSpPr txBox="1"/>
          <p:nvPr/>
        </p:nvSpPr>
        <p:spPr>
          <a:xfrm>
            <a:off x="4932040" y="2459504"/>
            <a:ext cx="3960440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반복 실행할 문장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2400" b="0" i="0" u="none" strike="noStrike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597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FD08D-369D-68E7-0839-3C7BA9CF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19E0-D703-031D-37A6-7D5BD781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7.7.2 do–while </a:t>
            </a:r>
            <a:r>
              <a:rPr lang="ko-KR" altLang="en-US" b="0" dirty="0"/>
              <a:t>문 기본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76E96-89A8-A3C4-C3A6-8BC36C2A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사용자 입력 확인</a:t>
            </a:r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C8FEB3-8047-E1F2-E968-675F7521C8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B0EC7-D37A-5D25-DB98-7A787257E565}"/>
              </a:ext>
            </a:extLst>
          </p:cNvPr>
          <p:cNvSpPr txBox="1"/>
          <p:nvPr/>
        </p:nvSpPr>
        <p:spPr>
          <a:xfrm>
            <a:off x="539750" y="1268760"/>
            <a:ext cx="8064698" cy="470898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value=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"0 </a:t>
            </a:r>
            <a:r>
              <a:rPr lang="ko-KR" altLang="en-US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이상의 정수를 입력하세요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&amp;value);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&lt;= value);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입력한 값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value);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1904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C104-B4E7-4EA9-E8E7-6C5AA106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2DA8D-1601-F3A0-ACCD-118AEEC3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7.7.3 do–while </a:t>
            </a:r>
            <a:r>
              <a:rPr lang="ko-KR" altLang="en-US" b="0" dirty="0"/>
              <a:t>문 기본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C59DD-44EC-D923-DC54-EA4CEAF45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메뉴 처리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BA2FC2-701F-AC91-D5BB-D2B473A921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7BA6E-4D2B-9DCF-6E72-099DECEFC992}"/>
              </a:ext>
            </a:extLst>
          </p:cNvPr>
          <p:cNvSpPr txBox="1"/>
          <p:nvPr/>
        </p:nvSpPr>
        <p:spPr>
          <a:xfrm>
            <a:off x="539750" y="1268760"/>
            <a:ext cx="6408514" cy="501675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choice=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-999999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"\n=== 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메뉴 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===\n"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"1. 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게임 시작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"2. 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설정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"3. 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종료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번호를 선택하세요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&amp;choice);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(choice !=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프로그램을 종료합니다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11519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D3DA-C944-F76F-0374-A367F530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34532-35D8-1313-78F3-9AD0B7E4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7.8.1 break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A37C63-AB09-77B0-DDDB-7FBB5F20D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break;</a:t>
            </a:r>
          </a:p>
          <a:p>
            <a:pPr lvl="1"/>
            <a:r>
              <a:rPr lang="ko-KR" altLang="en-US" sz="2000" dirty="0"/>
              <a:t>가장 가까운 반복문 또는 </a:t>
            </a:r>
            <a:r>
              <a:rPr lang="en-US" altLang="ko-KR" sz="2000" dirty="0"/>
              <a:t>switch </a:t>
            </a:r>
            <a:r>
              <a:rPr lang="ko-KR" altLang="en-US" sz="2000" dirty="0"/>
              <a:t>즉시 종료</a:t>
            </a:r>
            <a:r>
              <a:rPr lang="en-US" altLang="ko-KR" sz="2000" dirty="0"/>
              <a:t>. </a:t>
            </a:r>
            <a:r>
              <a:rPr lang="ko-KR" altLang="en-US" sz="2000" dirty="0"/>
              <a:t>조건과 무관하게 탈출</a:t>
            </a:r>
          </a:p>
          <a:p>
            <a:pPr lvl="1"/>
            <a:r>
              <a:rPr lang="ko-KR" altLang="en-US" sz="2000" dirty="0"/>
              <a:t>사용 위치</a:t>
            </a:r>
            <a:r>
              <a:rPr lang="en-US" altLang="ko-KR" sz="2000" dirty="0"/>
              <a:t>: switch, for, while, do–while</a:t>
            </a:r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312E7A-7D78-BF77-397B-14E4228FB3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285E6-9B3C-5FDF-D073-1D2040ED5C9D}"/>
              </a:ext>
            </a:extLst>
          </p:cNvPr>
          <p:cNvSpPr txBox="1"/>
          <p:nvPr/>
        </p:nvSpPr>
        <p:spPr>
          <a:xfrm>
            <a:off x="107504" y="1990656"/>
            <a:ext cx="4215259" cy="138499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(i ==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발견 즉시 루프 종료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4A732-BBA2-99A3-7084-39FEA06DB272}"/>
              </a:ext>
            </a:extLst>
          </p:cNvPr>
          <p:cNvSpPr txBox="1"/>
          <p:nvPr/>
        </p:nvSpPr>
        <p:spPr>
          <a:xfrm>
            <a:off x="107504" y="3375651"/>
            <a:ext cx="4215259" cy="224676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choice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"1. 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시작 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설정 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종료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&amp;choice);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(choice ==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메뉴 루프 종료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선택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choice);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프로그램을 종료합니다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9AE59C-5F52-BF19-D905-D13BD0D46A35}"/>
              </a:ext>
            </a:extLst>
          </p:cNvPr>
          <p:cNvSpPr txBox="1"/>
          <p:nvPr/>
        </p:nvSpPr>
        <p:spPr>
          <a:xfrm>
            <a:off x="4716017" y="2204864"/>
            <a:ext cx="4320480" cy="166199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++j)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j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반복문만 종료됨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56946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B9741-5394-ECC6-5E95-57CC750D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7.8.2 continue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69EA77-D007-5EB1-4C14-344211A85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continue </a:t>
            </a:r>
            <a:r>
              <a:rPr lang="ko-KR" altLang="en-US" sz="2400" dirty="0"/>
              <a:t>문</a:t>
            </a:r>
          </a:p>
          <a:p>
            <a:pPr lvl="1"/>
            <a:r>
              <a:rPr lang="ko-KR" altLang="en-US" sz="1800" dirty="0"/>
              <a:t>현재 반복 남은 문장 건너뜀</a:t>
            </a:r>
          </a:p>
          <a:p>
            <a:pPr lvl="1"/>
            <a:r>
              <a:rPr lang="ko-KR" altLang="en-US" sz="1800" dirty="0"/>
              <a:t>다음 반복으로 이동</a:t>
            </a:r>
          </a:p>
          <a:p>
            <a:r>
              <a:rPr lang="ko-KR" altLang="en-US" sz="2400" dirty="0"/>
              <a:t>동작</a:t>
            </a:r>
          </a:p>
          <a:p>
            <a:pPr lvl="1"/>
            <a:r>
              <a:rPr lang="en-US" altLang="ko-KR" sz="1800" dirty="0"/>
              <a:t>for : </a:t>
            </a:r>
            <a:r>
              <a:rPr lang="ko-KR" altLang="en-US" sz="1800" dirty="0"/>
              <a:t>증감식으로 이동</a:t>
            </a:r>
          </a:p>
          <a:p>
            <a:pPr lvl="1"/>
            <a:r>
              <a:rPr lang="en-US" altLang="ko-KR" sz="1800" dirty="0"/>
              <a:t>while / do–while : </a:t>
            </a:r>
            <a:r>
              <a:rPr lang="ko-KR" altLang="en-US" sz="1800" dirty="0"/>
              <a:t>조건 검사로 이동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6011E5-B61C-3DC0-CC24-BDFBADF728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E3048-2DF7-56FD-5100-44C3886428C2}"/>
              </a:ext>
            </a:extLst>
          </p:cNvPr>
          <p:cNvSpPr txBox="1"/>
          <p:nvPr/>
        </p:nvSpPr>
        <p:spPr>
          <a:xfrm>
            <a:off x="611560" y="3356992"/>
            <a:ext cx="7560642" cy="267765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(i %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짝수는 건너뛰기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460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BB73-151F-3B2F-1950-CBF12440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21F20-13CC-0C3E-9669-FA8E35A7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7.8.3 goto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8A09F1-4DFB-01BC-2B84-94F9949B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goto </a:t>
            </a:r>
            <a:r>
              <a:rPr lang="ko-KR" altLang="en-US" dirty="0"/>
              <a:t>문</a:t>
            </a:r>
          </a:p>
          <a:p>
            <a:pPr lvl="1"/>
            <a:r>
              <a:rPr lang="ko-KR" altLang="en-US" dirty="0"/>
              <a:t>지정한 레이블로 즉시 이동</a:t>
            </a:r>
          </a:p>
          <a:p>
            <a:pPr lvl="1"/>
            <a:r>
              <a:rPr lang="ko-KR" altLang="en-US" dirty="0"/>
              <a:t>임의 위치 점프</a:t>
            </a:r>
          </a:p>
          <a:p>
            <a:pPr lvl="1"/>
            <a:r>
              <a:rPr lang="ko-KR" altLang="en-US" dirty="0"/>
              <a:t>구조 흐름 붕괴 위험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사용</a:t>
            </a:r>
          </a:p>
          <a:p>
            <a:pPr lvl="1"/>
            <a:r>
              <a:rPr lang="ko-KR" altLang="en-US" dirty="0"/>
              <a:t>제한적 사용 권장</a:t>
            </a:r>
          </a:p>
          <a:p>
            <a:pPr lvl="1"/>
            <a:r>
              <a:rPr lang="ko-KR" altLang="en-US" dirty="0"/>
              <a:t>흐름 간결화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97C794-1258-DAD6-211D-BBE3296267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0EADA-9FF9-8B7A-38AA-F584F47D1D85}"/>
              </a:ext>
            </a:extLst>
          </p:cNvPr>
          <p:cNvSpPr txBox="1"/>
          <p:nvPr/>
        </p:nvSpPr>
        <p:spPr>
          <a:xfrm>
            <a:off x="5148064" y="980728"/>
            <a:ext cx="3096344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LABEL;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//...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LABEL: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75641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876CA-B0DD-E664-403C-3C5C02A0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F75E8-E4EF-0780-0062-7BEB1445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7.8.3.1 goto </a:t>
            </a:r>
            <a:r>
              <a:rPr lang="ko-KR" altLang="en-US" b="0" dirty="0"/>
              <a:t>활용</a:t>
            </a:r>
            <a:r>
              <a:rPr lang="en-US" altLang="ko-KR" b="0" dirty="0"/>
              <a:t>: </a:t>
            </a:r>
            <a:r>
              <a:rPr lang="ko-KR" altLang="en-US" b="0" dirty="0"/>
              <a:t>에러 처리</a:t>
            </a:r>
            <a:r>
              <a:rPr lang="en-US" altLang="ko-KR" b="0" dirty="0"/>
              <a:t>(Error Handling)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77C66-ADCF-9877-8CA5-25DCCD705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870C97-D9F8-2ECD-8E8D-22A6E51B6D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4A155-F5DF-ACB0-EEAE-8667843D7461}"/>
              </a:ext>
            </a:extLst>
          </p:cNvPr>
          <p:cNvSpPr txBox="1"/>
          <p:nvPr/>
        </p:nvSpPr>
        <p:spPr>
          <a:xfrm>
            <a:off x="251520" y="624145"/>
            <a:ext cx="7740253" cy="618630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choice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-999999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"\n=== 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메뉴 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===\n"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"1. 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게임 시작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"2. 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설정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"3. 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종료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번호를 선택하세요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&amp;choice);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(choice ==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END_NORMAL;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정상 종료 지점으로 이동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(choice &lt;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|| choice &gt;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END_ERROR;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비정상 종료 지점으로 이동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를 선택한 경우 처리 코드가 들어갈 자리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선택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choice);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END_NORMAL: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프로그램을 종료합니다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END_ERROR: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잘못 선택된 메뉴입니다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비정상 종료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95647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FAD7D-4287-5E1B-6646-294894695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52058-DA53-A49C-6771-8EF1B8F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7.8.3.2 goto </a:t>
            </a:r>
            <a:r>
              <a:rPr lang="ko-KR" altLang="en-US" b="0" dirty="0"/>
              <a:t>활용</a:t>
            </a:r>
            <a:r>
              <a:rPr lang="en-US" altLang="ko-KR" b="0" dirty="0"/>
              <a:t>: </a:t>
            </a:r>
            <a:r>
              <a:rPr lang="ko-KR" altLang="en-US" b="0" dirty="0"/>
              <a:t>자원 정리 패턴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F3B96-DB61-3CB0-934B-70B06513D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 </a:t>
            </a:r>
            <a:r>
              <a:rPr lang="ko-KR" altLang="en-US" dirty="0"/>
              <a:t>언어</a:t>
            </a:r>
          </a:p>
          <a:p>
            <a:pPr lvl="1"/>
            <a:r>
              <a:rPr lang="ko-KR" altLang="en-US" sz="2000" dirty="0"/>
              <a:t>예외 처리 없음</a:t>
            </a:r>
          </a:p>
          <a:p>
            <a:pPr lvl="1"/>
            <a:r>
              <a:rPr lang="ko-KR" altLang="en-US" sz="2000" dirty="0"/>
              <a:t>자동 자원 정리 없음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en-US" altLang="ko-KR" dirty="0"/>
              <a:t>goto </a:t>
            </a:r>
            <a:r>
              <a:rPr lang="ko-KR" altLang="en-US" dirty="0"/>
              <a:t>필요 상황</a:t>
            </a:r>
          </a:p>
          <a:p>
            <a:pPr lvl="1"/>
            <a:r>
              <a:rPr lang="ko-KR" altLang="en-US" sz="2000" dirty="0"/>
              <a:t>여러 단계 초기화 과정</a:t>
            </a:r>
          </a:p>
          <a:p>
            <a:pPr lvl="1"/>
            <a:r>
              <a:rPr lang="ko-KR" altLang="en-US" sz="2000" dirty="0"/>
              <a:t>중간 실패 가능</a:t>
            </a:r>
          </a:p>
          <a:p>
            <a:pPr lvl="1"/>
            <a:r>
              <a:rPr lang="ko-KR" altLang="en-US" sz="2000" dirty="0"/>
              <a:t>공통 지점으로 이동</a:t>
            </a:r>
            <a:r>
              <a:rPr lang="en-US" altLang="ko-KR" sz="2000" dirty="0"/>
              <a:t>, </a:t>
            </a:r>
            <a:r>
              <a:rPr lang="ko-KR" altLang="en-US" sz="2000" dirty="0"/>
              <a:t>정리</a:t>
            </a:r>
          </a:p>
          <a:p>
            <a:pPr lvl="1"/>
            <a:r>
              <a:rPr lang="ko-KR" altLang="en-US" sz="2000" dirty="0"/>
              <a:t>중복 코드 제거</a:t>
            </a:r>
          </a:p>
          <a:p>
            <a:pPr lvl="1"/>
            <a:r>
              <a:rPr lang="ko-KR" altLang="en-US" sz="2000" dirty="0"/>
              <a:t>흐름 단순화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BDD873-3D91-D201-1670-61E0A700A4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7C7BB-74C0-4E95-4007-FFFFE5A8E3D3}"/>
              </a:ext>
            </a:extLst>
          </p:cNvPr>
          <p:cNvSpPr txBox="1"/>
          <p:nvPr/>
        </p:nvSpPr>
        <p:spPr>
          <a:xfrm>
            <a:off x="3851920" y="593725"/>
            <a:ext cx="5184576" cy="581697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loadData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filename)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FILE* fp     =  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리소스 초기화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buffer =  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메모리 리소스 초기화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result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-1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실패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0: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성공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 = fopen(filename, 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열기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 == 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CLEAN_UP;  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열기 실패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buffer = 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메모리 할당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 == 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CLEAN_UP;  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메모리 할당 실패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여기서 파일 읽기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처리 등 여러 작업 수행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...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  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return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값 성공으로 변경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CLEAN_UP: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자원 해제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 != 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fclose(fp);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 != 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result;      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결과 반환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59727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39A0-C7F2-4545-4CE7-A4DB25C2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A3D96-CDC6-A135-C4FB-7E822A86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7.8.3.3 </a:t>
            </a:r>
            <a:r>
              <a:rPr lang="en-US" altLang="ko-KR" dirty="0"/>
              <a:t>goto vs do–while(0) </a:t>
            </a:r>
            <a:r>
              <a:rPr lang="ko-KR" altLang="en-US" dirty="0"/>
              <a:t>패턴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736190-F6E5-3BAB-E637-649D7C5F4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42937"/>
            <a:ext cx="8928992" cy="5832475"/>
          </a:xfrm>
        </p:spPr>
        <p:txBody>
          <a:bodyPr/>
          <a:lstStyle/>
          <a:p>
            <a:r>
              <a:rPr lang="en-US" altLang="ko-KR" sz="2400" dirty="0"/>
              <a:t>goto</a:t>
            </a:r>
          </a:p>
          <a:p>
            <a:pPr lvl="1"/>
            <a:r>
              <a:rPr lang="ko-KR" altLang="en-US" sz="2000" dirty="0"/>
              <a:t>레이블로 직접 점프</a:t>
            </a:r>
            <a:r>
              <a:rPr lang="en-US" altLang="ko-KR" sz="2000" dirty="0"/>
              <a:t>, </a:t>
            </a:r>
            <a:r>
              <a:rPr lang="ko-KR" altLang="en-US" sz="2000" dirty="0"/>
              <a:t>여러 종료 지점 구성 가능</a:t>
            </a:r>
          </a:p>
          <a:p>
            <a:pPr lvl="1"/>
            <a:r>
              <a:rPr lang="ko-KR" altLang="en-US" sz="2000" dirty="0"/>
              <a:t>복잡한 분기</a:t>
            </a:r>
            <a:r>
              <a:rPr lang="en-US" altLang="ko-KR" sz="2000" dirty="0"/>
              <a:t>: </a:t>
            </a:r>
            <a:r>
              <a:rPr lang="ko-KR" altLang="en-US" sz="2000" dirty="0"/>
              <a:t>자원 정리</a:t>
            </a:r>
            <a:r>
              <a:rPr lang="en-US" altLang="ko-KR" sz="2000" dirty="0"/>
              <a:t>(cleanup)</a:t>
            </a:r>
            <a:r>
              <a:rPr lang="ko-KR" altLang="en-US" sz="2000" dirty="0"/>
              <a:t>에 유리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en-US" altLang="ko-KR" sz="2400" dirty="0"/>
              <a:t>do–while(0)</a:t>
            </a:r>
          </a:p>
          <a:p>
            <a:pPr lvl="1"/>
            <a:r>
              <a:rPr lang="en-US" altLang="ko-KR" sz="2000" dirty="0"/>
              <a:t>do–while(0): </a:t>
            </a:r>
            <a:r>
              <a:rPr lang="ko-KR" altLang="en-US" sz="2000" dirty="0"/>
              <a:t>단일 블록 내부 제어 </a:t>
            </a:r>
            <a:endParaRPr lang="en-US" altLang="ko-KR" sz="2000" dirty="0"/>
          </a:p>
          <a:p>
            <a:pPr lvl="1"/>
            <a:r>
              <a:rPr lang="en-US" altLang="ko-KR" sz="2000" dirty="0"/>
              <a:t>break</a:t>
            </a:r>
            <a:r>
              <a:rPr lang="ko-KR" altLang="en-US" sz="2000" dirty="0"/>
              <a:t>로 조기 종료</a:t>
            </a:r>
          </a:p>
          <a:p>
            <a:pPr lvl="1"/>
            <a:r>
              <a:rPr lang="ko-KR" altLang="en-US" sz="2000" dirty="0"/>
              <a:t>구조 유지</a:t>
            </a:r>
            <a:r>
              <a:rPr lang="en-US" altLang="ko-KR" sz="2000" dirty="0"/>
              <a:t>: </a:t>
            </a:r>
            <a:r>
              <a:rPr lang="ko-KR" altLang="en-US" sz="2000" dirty="0"/>
              <a:t>가독성 우수</a:t>
            </a:r>
          </a:p>
          <a:p>
            <a:endParaRPr lang="ko-KR" altLang="en-US" sz="2400" dirty="0"/>
          </a:p>
          <a:p>
            <a:r>
              <a:rPr lang="ko-KR" altLang="en-US" sz="2400" dirty="0"/>
              <a:t>선택 기준</a:t>
            </a:r>
          </a:p>
          <a:p>
            <a:pPr lvl="1"/>
            <a:r>
              <a:rPr lang="ko-KR" altLang="en-US" sz="2000" dirty="0"/>
              <a:t>복잡한 정리 </a:t>
            </a:r>
            <a:r>
              <a:rPr lang="en-US" altLang="ko-KR" sz="2000" dirty="0"/>
              <a:t>/ </a:t>
            </a:r>
            <a:r>
              <a:rPr lang="ko-KR" altLang="en-US" sz="2000" dirty="0"/>
              <a:t>다중 분기 → </a:t>
            </a:r>
            <a:r>
              <a:rPr lang="en-US" altLang="ko-KR" sz="2000" dirty="0"/>
              <a:t>goto</a:t>
            </a:r>
          </a:p>
          <a:p>
            <a:pPr lvl="1"/>
            <a:r>
              <a:rPr lang="ko-KR" altLang="en-US" sz="2000" dirty="0"/>
              <a:t>단순 흐름 제어 </a:t>
            </a:r>
            <a:r>
              <a:rPr lang="en-US" altLang="ko-KR" sz="2000" dirty="0"/>
              <a:t>/ </a:t>
            </a:r>
            <a:r>
              <a:rPr lang="ko-KR" altLang="en-US" sz="2000" dirty="0"/>
              <a:t>조기 종료 → </a:t>
            </a:r>
            <a:r>
              <a:rPr lang="en-US" altLang="ko-KR" sz="2000" dirty="0"/>
              <a:t>do–while(0)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D818B2-BE44-9EB2-78C0-91F432AE70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63733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48D5-041A-6889-91F3-12DD4B85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6B589-38C8-0A76-46FE-8059CEED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7.8.3.3 </a:t>
            </a:r>
            <a:r>
              <a:rPr lang="ko-KR" altLang="en-US" b="0" dirty="0"/>
              <a:t>제어흐름</a:t>
            </a:r>
            <a:r>
              <a:rPr lang="en-US" altLang="ko-KR" dirty="0"/>
              <a:t> do–while(0) </a:t>
            </a:r>
            <a:r>
              <a:rPr lang="ko-KR" altLang="en-US" dirty="0"/>
              <a:t>패턴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8D9FE-3ED2-8A5B-FFF3-5D27B559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42937"/>
            <a:ext cx="8928992" cy="5832475"/>
          </a:xfrm>
        </p:spPr>
        <p:txBody>
          <a:bodyPr/>
          <a:lstStyle/>
          <a:p>
            <a:endParaRPr lang="en-US" altLang="ko-KR" sz="200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682CE2-F508-1BB0-DAC4-9675622A64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156A1-2979-5304-F25E-6B5D43B99180}"/>
              </a:ext>
            </a:extLst>
          </p:cNvPr>
          <p:cNvSpPr txBox="1"/>
          <p:nvPr/>
        </p:nvSpPr>
        <p:spPr>
          <a:xfrm>
            <a:off x="179512" y="642937"/>
            <a:ext cx="3960440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여러 조건을 통과한 경우에만 실행되는 코드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157F9-4CA7-FC9F-BD82-34B8DBDD7624}"/>
              </a:ext>
            </a:extLst>
          </p:cNvPr>
          <p:cNvSpPr txBox="1"/>
          <p:nvPr/>
        </p:nvSpPr>
        <p:spPr>
          <a:xfrm>
            <a:off x="4303954" y="620856"/>
            <a:ext cx="4660534" cy="567847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loadData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filename)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FILE* fp     =  </a:t>
            </a:r>
            <a:r>
              <a:rPr lang="en-US" altLang="ko-KR" sz="11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리소스 초기화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buffer =  </a:t>
            </a:r>
            <a:r>
              <a:rPr lang="en-US" altLang="ko-KR" sz="11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메모리 리소스 초기화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result = </a:t>
            </a:r>
            <a:r>
              <a:rPr lang="en-US" altLang="ko-KR" sz="11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-1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실패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0: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성공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fp = fopen(filename, </a:t>
            </a:r>
            <a:r>
              <a:rPr lang="en-US" altLang="ko-KR" sz="11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열기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 == </a:t>
            </a:r>
            <a:r>
              <a:rPr lang="en-US" altLang="ko-KR" sz="11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열기 실패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buffer = (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1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메모리 할당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 == </a:t>
            </a:r>
            <a:r>
              <a:rPr lang="en-US" altLang="ko-KR" sz="11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메모리 할당 실패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여기서 파일 읽기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처리 등 여러 작업 수행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...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endParaRPr lang="ko-KR" altLang="en-US" sz="1100" b="0" dirty="0">
              <a:effectLst/>
            </a:endParaRPr>
          </a:p>
          <a:p>
            <a:pPr>
              <a:buNone/>
            </a:pP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 = </a:t>
            </a:r>
            <a:r>
              <a:rPr lang="en-US" altLang="ko-KR" sz="11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return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값 성공으로 변경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자원 해제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 != </a:t>
            </a:r>
            <a:r>
              <a:rPr lang="en-US" altLang="ko-KR" sz="11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fclose(fp);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 != </a:t>
            </a:r>
            <a:r>
              <a:rPr lang="en-US" altLang="ko-KR" sz="11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(buffer);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result;              </a:t>
            </a:r>
            <a:r>
              <a:rPr lang="en-US" altLang="ko-KR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결과 반환</a:t>
            </a:r>
            <a:br>
              <a:rPr lang="ko-KR" altLang="en-US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02841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4EA8-BC01-EED0-2AB4-860015DF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3506E-543E-2D8E-984F-3F562036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7.8.4 return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0EE48-982C-D5EC-7FCA-C664A5F7F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현재 함수 즉시 종료</a:t>
            </a:r>
            <a:endParaRPr lang="en-US" altLang="ko-KR" sz="2400" dirty="0"/>
          </a:p>
          <a:p>
            <a:r>
              <a:rPr lang="ko-KR" altLang="en-US" sz="2400" dirty="0"/>
              <a:t>결과 값 호출자에게 전달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DB2CD4-E181-4760-2C50-8B03D9377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962E7-A69C-9B80-5BA1-EC03C1DFD16B}"/>
              </a:ext>
            </a:extLst>
          </p:cNvPr>
          <p:cNvSpPr txBox="1"/>
          <p:nvPr/>
        </p:nvSpPr>
        <p:spPr>
          <a:xfrm>
            <a:off x="140916" y="1700808"/>
            <a:ext cx="7527428" cy="181588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(b ==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잘못된 입력 → 조기 종료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/ b;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D65783-5D44-4380-F53C-839C93C95E5A}"/>
              </a:ext>
            </a:extLst>
          </p:cNvPr>
          <p:cNvSpPr txBox="1"/>
          <p:nvPr/>
        </p:nvSpPr>
        <p:spPr>
          <a:xfrm>
            <a:off x="140916" y="3516690"/>
            <a:ext cx="7527428" cy="304698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findIndex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searchRow,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searchCol)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++j)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(i == searchRow &amp;&amp; j == searchCol)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*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j;  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발견 즉시 함수 종료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                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찾지 못한 경우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83167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AF5E-B96B-0B0A-7F37-59BBF9AD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DC79F-D664-4EB3-D842-01BF0DD4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CFB93-0F0E-5AEF-BD21-5EFC7D190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for </a:t>
            </a:r>
            <a:r>
              <a:rPr lang="ko-KR" altLang="en-US" sz="2000" dirty="0"/>
              <a:t>문</a:t>
            </a:r>
          </a:p>
          <a:p>
            <a:pPr lvl="1"/>
            <a:r>
              <a:rPr lang="ko-KR" altLang="en-US" sz="1600" dirty="0"/>
              <a:t>초기식 → 조건식 → 증감식</a:t>
            </a:r>
          </a:p>
          <a:p>
            <a:pPr lvl="1"/>
            <a:r>
              <a:rPr lang="ko-KR" altLang="en-US" sz="1600" dirty="0"/>
              <a:t>반복 횟수 명확한 경우 적합</a:t>
            </a:r>
          </a:p>
          <a:p>
            <a:pPr lvl="1"/>
            <a:r>
              <a:rPr lang="ko-KR" altLang="en-US" sz="1600" dirty="0"/>
              <a:t>다중 </a:t>
            </a:r>
            <a:r>
              <a:rPr lang="en-US" altLang="ko-KR" sz="1600" dirty="0"/>
              <a:t>for → 2</a:t>
            </a:r>
            <a:r>
              <a:rPr lang="ko-KR" altLang="en-US" sz="1600" dirty="0"/>
              <a:t>차원 반복 구조</a:t>
            </a:r>
          </a:p>
          <a:p>
            <a:pPr lvl="1"/>
            <a:r>
              <a:rPr lang="ko-KR" altLang="en-US" sz="1600" dirty="0"/>
              <a:t>가독성 저하 형태 사용 유의</a:t>
            </a:r>
          </a:p>
          <a:p>
            <a:r>
              <a:rPr lang="en-US" altLang="ko-KR" sz="2000" dirty="0"/>
              <a:t>while </a:t>
            </a:r>
            <a:r>
              <a:rPr lang="ko-KR" altLang="en-US" sz="2000" dirty="0"/>
              <a:t>문</a:t>
            </a:r>
          </a:p>
          <a:p>
            <a:pPr lvl="1"/>
            <a:r>
              <a:rPr lang="ko-KR" altLang="en-US" sz="1600" dirty="0"/>
              <a:t>조건 만족 동안 반복</a:t>
            </a:r>
          </a:p>
          <a:p>
            <a:pPr lvl="1"/>
            <a:r>
              <a:rPr lang="ko-KR" altLang="en-US" sz="1600" dirty="0"/>
              <a:t>반복 횟수 불명확 상황 적합</a:t>
            </a:r>
          </a:p>
          <a:p>
            <a:pPr lvl="1"/>
            <a:r>
              <a:rPr lang="ko-KR" altLang="en-US" sz="1600" dirty="0"/>
              <a:t>종료 조건 설계 중요</a:t>
            </a:r>
          </a:p>
          <a:p>
            <a:pPr lvl="1"/>
            <a:r>
              <a:rPr lang="ko-KR" altLang="en-US" sz="1600" dirty="0"/>
              <a:t>무한 루프 주의</a:t>
            </a:r>
          </a:p>
          <a:p>
            <a:r>
              <a:rPr lang="en-US" altLang="ko-KR" sz="2000" dirty="0"/>
              <a:t>do–while </a:t>
            </a:r>
            <a:r>
              <a:rPr lang="ko-KR" altLang="en-US" sz="2000" dirty="0"/>
              <a:t>문</a:t>
            </a:r>
          </a:p>
          <a:p>
            <a:pPr lvl="1"/>
            <a:r>
              <a:rPr lang="ko-KR" altLang="en-US" sz="1600" dirty="0"/>
              <a:t>실행 → 조건 검사</a:t>
            </a:r>
          </a:p>
          <a:p>
            <a:pPr lvl="1"/>
            <a:r>
              <a:rPr lang="ko-KR" altLang="en-US" sz="1600" dirty="0"/>
              <a:t>최소 </a:t>
            </a:r>
            <a:r>
              <a:rPr lang="en-US" altLang="ko-KR" sz="1600" dirty="0"/>
              <a:t>1</a:t>
            </a:r>
            <a:r>
              <a:rPr lang="ko-KR" altLang="en-US" sz="1600" dirty="0"/>
              <a:t>회 실행 보장</a:t>
            </a:r>
          </a:p>
          <a:p>
            <a:r>
              <a:rPr lang="ko-KR" altLang="en-US" sz="2000" dirty="0"/>
              <a:t>흐름 제어문</a:t>
            </a:r>
          </a:p>
          <a:p>
            <a:pPr lvl="1"/>
            <a:r>
              <a:rPr lang="en-US" altLang="ko-KR" sz="1600" dirty="0"/>
              <a:t>break : </a:t>
            </a:r>
            <a:r>
              <a:rPr lang="ko-KR" altLang="en-US" sz="1600" dirty="0"/>
              <a:t>반복문 </a:t>
            </a:r>
            <a:r>
              <a:rPr lang="en-US" altLang="ko-KR" sz="1600" dirty="0"/>
              <a:t>/ switch </a:t>
            </a:r>
            <a:r>
              <a:rPr lang="ko-KR" altLang="en-US" sz="1600" dirty="0"/>
              <a:t>종료</a:t>
            </a:r>
          </a:p>
          <a:p>
            <a:pPr lvl="1"/>
            <a:r>
              <a:rPr lang="en-US" altLang="ko-KR" sz="1600" dirty="0"/>
              <a:t>continue: </a:t>
            </a:r>
            <a:r>
              <a:rPr lang="ko-KR" altLang="en-US" sz="1600" dirty="0"/>
              <a:t>다음 반복으로 이동</a:t>
            </a:r>
          </a:p>
          <a:p>
            <a:pPr lvl="1"/>
            <a:r>
              <a:rPr lang="en-US" altLang="ko-KR" sz="1600" dirty="0"/>
              <a:t>goto:</a:t>
            </a:r>
            <a:r>
              <a:rPr lang="ko-KR" altLang="en-US" sz="1600" dirty="0"/>
              <a:t>레이블로 점프 → 제한적 사용</a:t>
            </a:r>
          </a:p>
          <a:p>
            <a:pPr lvl="1"/>
            <a:r>
              <a:rPr lang="en-US" altLang="ko-KR" sz="1600" dirty="0"/>
              <a:t>return: </a:t>
            </a:r>
            <a:r>
              <a:rPr lang="ko-KR" altLang="en-US" sz="1600" dirty="0"/>
              <a:t>함수 종료 </a:t>
            </a:r>
            <a:r>
              <a:rPr lang="en-US" altLang="ko-KR" sz="1600" dirty="0"/>
              <a:t>+ </a:t>
            </a:r>
            <a:r>
              <a:rPr lang="ko-KR" altLang="en-US" sz="1600" dirty="0"/>
              <a:t>값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9E657D-19DA-7EC1-7C5D-ABEF2882D9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30126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AE7D-77A9-2383-DC85-F4BC9D6E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03428-A4EA-E301-BB53-A7177910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192BEC-893D-F4D5-E852-601F76493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흐름</a:t>
            </a:r>
            <a:r>
              <a:rPr lang="en-US" altLang="ko-KR" dirty="0"/>
              <a:t> </a:t>
            </a:r>
            <a:r>
              <a:rPr lang="ko-KR" altLang="en-US" dirty="0"/>
              <a:t>제어 패턴</a:t>
            </a:r>
          </a:p>
          <a:p>
            <a:pPr lvl="1"/>
            <a:r>
              <a:rPr lang="en-US" altLang="ko-KR" sz="2000" dirty="0"/>
              <a:t>goto</a:t>
            </a:r>
          </a:p>
          <a:p>
            <a:pPr lvl="2"/>
            <a:r>
              <a:rPr lang="en-US" altLang="ko-KR" sz="1600" dirty="0"/>
              <a:t>cleanup, </a:t>
            </a:r>
            <a:r>
              <a:rPr lang="ko-KR" altLang="en-US" sz="1600" dirty="0"/>
              <a:t>에러 처리</a:t>
            </a:r>
          </a:p>
          <a:p>
            <a:pPr lvl="1"/>
            <a:r>
              <a:rPr lang="en-US" altLang="ko-KR" sz="2000" dirty="0"/>
              <a:t>do–while(0)</a:t>
            </a:r>
          </a:p>
          <a:p>
            <a:pPr lvl="2"/>
            <a:r>
              <a:rPr lang="ko-KR" altLang="en-US" sz="1600" dirty="0"/>
              <a:t>블록 단위 조기 종료</a:t>
            </a:r>
          </a:p>
          <a:p>
            <a:endParaRPr lang="ko-KR" altLang="en-US" dirty="0"/>
          </a:p>
          <a:p>
            <a:r>
              <a:rPr lang="ko-KR" altLang="en-US" dirty="0"/>
              <a:t>선택 기준</a:t>
            </a:r>
          </a:p>
          <a:p>
            <a:pPr lvl="1"/>
            <a:r>
              <a:rPr lang="ko-KR" altLang="en-US" sz="2000" dirty="0"/>
              <a:t>횟수 기반 → </a:t>
            </a:r>
            <a:r>
              <a:rPr lang="en-US" altLang="ko-KR" sz="2000" dirty="0"/>
              <a:t>for</a:t>
            </a:r>
          </a:p>
          <a:p>
            <a:pPr lvl="1"/>
            <a:r>
              <a:rPr lang="ko-KR" altLang="en-US" sz="2000" dirty="0"/>
              <a:t>조건 기반 → </a:t>
            </a:r>
            <a:r>
              <a:rPr lang="en-US" altLang="ko-KR" sz="2000" dirty="0"/>
              <a:t>while</a:t>
            </a:r>
          </a:p>
          <a:p>
            <a:pPr lvl="1"/>
            <a:r>
              <a:rPr lang="ko-KR" altLang="en-US" sz="2000" dirty="0"/>
              <a:t>복잡 분기 → </a:t>
            </a:r>
            <a:r>
              <a:rPr lang="en-US" altLang="ko-KR" sz="2000" dirty="0"/>
              <a:t>goto</a:t>
            </a:r>
          </a:p>
          <a:p>
            <a:pPr lvl="1"/>
            <a:r>
              <a:rPr lang="ko-KR" altLang="en-US" sz="2000" dirty="0"/>
              <a:t>단순 흐름 → </a:t>
            </a:r>
            <a:r>
              <a:rPr lang="en-US" altLang="ko-KR" sz="2000" dirty="0"/>
              <a:t>do–while(0)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601226-D6E3-24B0-1B64-7AEE0077C5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733719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7E9A-1934-0517-37B1-BCE0D406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0C27F-21D7-D461-9F63-1EDD6942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DA2B6C-869E-3BE1-C5D8-1668E9265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흐름</a:t>
            </a:r>
            <a:r>
              <a:rPr lang="en-US" altLang="ko-KR" dirty="0"/>
              <a:t> </a:t>
            </a:r>
            <a:r>
              <a:rPr lang="ko-KR" altLang="en-US" dirty="0"/>
              <a:t>제어 패턴</a:t>
            </a:r>
          </a:p>
          <a:p>
            <a:pPr lvl="1"/>
            <a:r>
              <a:rPr lang="en-US" altLang="ko-KR" sz="2000" dirty="0"/>
              <a:t>goto</a:t>
            </a:r>
          </a:p>
          <a:p>
            <a:pPr lvl="2"/>
            <a:r>
              <a:rPr lang="en-US" altLang="ko-KR" sz="1600" dirty="0"/>
              <a:t>cleanup, </a:t>
            </a:r>
            <a:r>
              <a:rPr lang="ko-KR" altLang="en-US" sz="1600" dirty="0"/>
              <a:t>에러 처리</a:t>
            </a:r>
          </a:p>
          <a:p>
            <a:pPr lvl="1"/>
            <a:r>
              <a:rPr lang="en-US" altLang="ko-KR" sz="2000" dirty="0"/>
              <a:t>do–while(0)</a:t>
            </a:r>
          </a:p>
          <a:p>
            <a:pPr lvl="2"/>
            <a:r>
              <a:rPr lang="ko-KR" altLang="en-US" sz="1600" dirty="0"/>
              <a:t>블록 단위 조기 종료</a:t>
            </a:r>
          </a:p>
          <a:p>
            <a:endParaRPr lang="ko-KR" altLang="en-US" dirty="0"/>
          </a:p>
          <a:p>
            <a:r>
              <a:rPr lang="ko-KR" altLang="en-US" dirty="0"/>
              <a:t>선택 기준</a:t>
            </a:r>
          </a:p>
          <a:p>
            <a:pPr lvl="1"/>
            <a:r>
              <a:rPr lang="ko-KR" altLang="en-US" sz="2000" dirty="0"/>
              <a:t>횟수 기반 → </a:t>
            </a:r>
            <a:r>
              <a:rPr lang="en-US" altLang="ko-KR" sz="2000" dirty="0"/>
              <a:t>for</a:t>
            </a:r>
          </a:p>
          <a:p>
            <a:pPr lvl="1"/>
            <a:r>
              <a:rPr lang="ko-KR" altLang="en-US" sz="2000" dirty="0"/>
              <a:t>조건 기반 → </a:t>
            </a:r>
            <a:r>
              <a:rPr lang="en-US" altLang="ko-KR" sz="2000" dirty="0"/>
              <a:t>while</a:t>
            </a:r>
          </a:p>
          <a:p>
            <a:pPr lvl="1"/>
            <a:r>
              <a:rPr lang="ko-KR" altLang="en-US" sz="2000" dirty="0"/>
              <a:t>복잡 분기 → </a:t>
            </a:r>
            <a:r>
              <a:rPr lang="en-US" altLang="ko-KR" sz="2000" dirty="0"/>
              <a:t>goto</a:t>
            </a:r>
          </a:p>
          <a:p>
            <a:pPr lvl="1"/>
            <a:r>
              <a:rPr lang="ko-KR" altLang="en-US" sz="2000" dirty="0"/>
              <a:t>단순 흐름 → </a:t>
            </a:r>
            <a:r>
              <a:rPr lang="en-US" altLang="ko-KR" sz="2000" dirty="0"/>
              <a:t>do–while(0)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BA0EEE-2F39-62A1-F20C-D4F0583232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4155246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4901</TotalTime>
  <Words>4392</Words>
  <Application>Microsoft Office PowerPoint</Application>
  <PresentationFormat>화면 슬라이드 쇼(4:3)</PresentationFormat>
  <Paragraphs>322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Wingdings</vt:lpstr>
      <vt:lpstr>Consolas</vt:lpstr>
      <vt:lpstr>굴림</vt:lpstr>
      <vt:lpstr>HY견고딕</vt:lpstr>
      <vt:lpstr>가을체</vt:lpstr>
      <vt:lpstr>Arial</vt:lpstr>
      <vt:lpstr>Adobe 고딕 Std B</vt:lpstr>
      <vt:lpstr>기본 디자인</vt:lpstr>
      <vt:lpstr>07. 제어문:반복문 (Control Flow – Loop)</vt:lpstr>
      <vt:lpstr>7.1 for 문 기본 구조</vt:lpstr>
      <vt:lpstr>7.1.1 for: 초기식 생략</vt:lpstr>
      <vt:lpstr>7.1.2 for: 증감식 생략</vt:lpstr>
      <vt:lpstr>7.1.3 for: 초기식, 증감식 생략, 조건식만 구현</vt:lpstr>
      <vt:lpstr>7.1.4 for: 모두 생략 (무한 루프)</vt:lpstr>
      <vt:lpstr>7.2.1 for 문 기본 예제1 (Simple for Loop)</vt:lpstr>
      <vt:lpstr>7.2.2 for 문 기본 예제: 합계 구하기 (Summation)</vt:lpstr>
      <vt:lpstr>7.2.3 for 문 기본 예제: 증감 식</vt:lpstr>
      <vt:lpstr>7.2.4 for 문 기본 예제: 숫자 자릿수 구하기</vt:lpstr>
      <vt:lpstr>7.2.5 for 문의 비 권장 형태</vt:lpstr>
      <vt:lpstr>7.2.5 for 문의 비 권장 형태</vt:lpstr>
      <vt:lpstr>7.2.5 for 문의 비 권장 형태</vt:lpstr>
      <vt:lpstr>7.3.1 다중 for 문</vt:lpstr>
      <vt:lpstr>7.3.2 C99 이전 스타일(C89/C90 방식)</vt:lpstr>
      <vt:lpstr>7.3.3 패턴 출력: 별찍기</vt:lpstr>
      <vt:lpstr>7.3.3.2 오른쪽 정렬된 역삼각형 별찍기</vt:lpstr>
      <vt:lpstr>7.4 while 문 기본 구조</vt:lpstr>
      <vt:lpstr>7.4 while 문 기본 구조</vt:lpstr>
      <vt:lpstr>7.5 while 문 예제</vt:lpstr>
      <vt:lpstr>7.6 다중 while 문</vt:lpstr>
      <vt:lpstr>7.6.2 다중 while 문 예제: 행과 열 출력</vt:lpstr>
      <vt:lpstr>7.6.3 다중 while 문 예제: 9X9 table</vt:lpstr>
      <vt:lpstr>7.7 do–while 문</vt:lpstr>
      <vt:lpstr>7.7.2 do–while 문 기본 예제</vt:lpstr>
      <vt:lpstr>7.7.3 do–while 문 기본 예제</vt:lpstr>
      <vt:lpstr>7.8.1 break</vt:lpstr>
      <vt:lpstr>7.8.2 continue</vt:lpstr>
      <vt:lpstr>7.8.3 goto</vt:lpstr>
      <vt:lpstr>7.8.3.1 goto 활용: 에러 처리(Error Handling)</vt:lpstr>
      <vt:lpstr>7.8.3.2 goto 활용: 자원 정리 패턴</vt:lpstr>
      <vt:lpstr>7.8.3.3 goto vs do–while(0) 패턴</vt:lpstr>
      <vt:lpstr>7.8.3.3 제어흐름 do–while(0) 패턴</vt:lpstr>
      <vt:lpstr>7.8.4 return</vt:lpstr>
      <vt:lpstr>학습 정리</vt:lpstr>
      <vt:lpstr>학습 정리</vt:lpstr>
      <vt:lpstr>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233</cp:revision>
  <dcterms:created xsi:type="dcterms:W3CDTF">2003-11-30T16:03:20Z</dcterms:created>
  <dcterms:modified xsi:type="dcterms:W3CDTF">2026-04-08T11:22:07Z</dcterms:modified>
</cp:coreProperties>
</file>