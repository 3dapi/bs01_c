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328" r:id="rId2"/>
    <p:sldId id="329" r:id="rId3"/>
    <p:sldId id="351" r:id="rId4"/>
    <p:sldId id="352" r:id="rId5"/>
    <p:sldId id="353" r:id="rId6"/>
    <p:sldId id="354" r:id="rId7"/>
    <p:sldId id="330" r:id="rId8"/>
    <p:sldId id="331" r:id="rId9"/>
    <p:sldId id="355" r:id="rId10"/>
    <p:sldId id="332" r:id="rId11"/>
    <p:sldId id="357" r:id="rId12"/>
    <p:sldId id="358" r:id="rId13"/>
    <p:sldId id="359" r:id="rId14"/>
    <p:sldId id="333" r:id="rId15"/>
    <p:sldId id="360" r:id="rId16"/>
    <p:sldId id="350" r:id="rId17"/>
  </p:sldIdLst>
  <p:sldSz cx="9144000" cy="6858000" type="screen4x3"/>
  <p:notesSz cx="6858000" cy="9144000"/>
  <p:embeddedFontLst>
    <p:embeddedFont>
      <p:font typeface="HY견고딕" panose="02030600000101010101" pitchFamily="18" charset="-127"/>
      <p:regular r:id="rId19"/>
    </p:embeddedFont>
    <p:embeddedFont>
      <p:font typeface="가을체" panose="02030600000101010101" pitchFamily="18" charset="-127"/>
      <p:regular r:id="rId20"/>
    </p:embeddedFont>
    <p:embeddedFont>
      <p:font typeface="나눔바른고딕" panose="020B0603020101020101" pitchFamily="50" charset="-127"/>
      <p:regular r:id="rId21"/>
      <p:bold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FF"/>
    <a:srgbClr val="CC00FF"/>
    <a:srgbClr val="FF9900"/>
    <a:srgbClr val="CC00CC"/>
    <a:srgbClr val="FF0000"/>
    <a:srgbClr val="FF00FF"/>
    <a:srgbClr val="CCFF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002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18. </a:t>
            </a:r>
            <a:r>
              <a:rPr lang="ko-KR" altLang="en-US" dirty="0"/>
              <a:t>디버깅과 오류 추적</a:t>
            </a:r>
            <a:br>
              <a:rPr lang="en-US" altLang="ko-KR" dirty="0"/>
            </a:br>
            <a:r>
              <a:rPr lang="en-US" altLang="ko-KR" sz="2800" dirty="0"/>
              <a:t>(Debugging and Trace Error)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621D30-1502-5C58-113B-56A2BA5020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18.1 </a:t>
            </a:r>
            <a:r>
              <a:rPr lang="ko-KR" altLang="en-US" dirty="0"/>
              <a:t>컴파일 오류</a:t>
            </a:r>
            <a:r>
              <a:rPr lang="en-US" altLang="ko-KR" dirty="0"/>
              <a:t>, </a:t>
            </a:r>
            <a:r>
              <a:rPr lang="ko-KR" altLang="en-US" dirty="0"/>
              <a:t>링크 오류</a:t>
            </a:r>
            <a:r>
              <a:rPr lang="en-US" altLang="ko-KR" dirty="0"/>
              <a:t>, </a:t>
            </a:r>
            <a:r>
              <a:rPr lang="ko-KR" altLang="en-US" dirty="0"/>
              <a:t>런타임 오류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오류 발생 단계</a:t>
            </a:r>
            <a:endParaRPr lang="en-US" altLang="ko-KR" sz="2400" dirty="0"/>
          </a:p>
          <a:p>
            <a:pPr lvl="1"/>
            <a:r>
              <a:rPr lang="ko-KR" altLang="en-US" dirty="0"/>
              <a:t>전처리 오류</a:t>
            </a:r>
            <a:endParaRPr lang="en-US" altLang="ko-KR" dirty="0"/>
          </a:p>
          <a:p>
            <a:pPr lvl="1"/>
            <a:r>
              <a:rPr lang="ko-KR" altLang="en-US" dirty="0"/>
              <a:t>컴파일 오류</a:t>
            </a:r>
            <a:endParaRPr lang="en-US" altLang="ko-KR" dirty="0"/>
          </a:p>
          <a:p>
            <a:pPr lvl="1"/>
            <a:r>
              <a:rPr lang="ko-KR" altLang="en-US" dirty="0"/>
              <a:t>링크 오류</a:t>
            </a:r>
            <a:endParaRPr lang="en-US" altLang="ko-KR" dirty="0"/>
          </a:p>
          <a:p>
            <a:pPr lvl="1"/>
            <a:r>
              <a:rPr lang="ko-KR" altLang="en-US" dirty="0"/>
              <a:t>런타임 오류</a:t>
            </a:r>
            <a:endParaRPr lang="en-US" altLang="ko-KR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→ 단계별 원인 분석 필요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961857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0A8BE-CA00-FCB0-ECFE-A32DF188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18.1 </a:t>
            </a:r>
            <a:r>
              <a:rPr lang="ko-KR" altLang="en-US" dirty="0"/>
              <a:t>전처리 오류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42D979-7158-BF64-3C56-365D4AAB8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include </a:t>
            </a:r>
            <a:r>
              <a:rPr lang="ko-KR" altLang="en-US" dirty="0"/>
              <a:t>구조 문제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매크로 확장</a:t>
            </a:r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→ </a:t>
            </a:r>
            <a:r>
              <a:rPr lang="ko-KR" altLang="en-US" dirty="0"/>
              <a:t>잘못된 코드 생성 → 이후 컴파일 단계에서 오류 발생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5FC60C-962A-B43B-B1DE-F3F4A70AF3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74A95-7F87-726D-38C7-060E7DB5AF9F}"/>
              </a:ext>
            </a:extLst>
          </p:cNvPr>
          <p:cNvSpPr txBox="1"/>
          <p:nvPr/>
        </p:nvSpPr>
        <p:spPr>
          <a:xfrm>
            <a:off x="971600" y="2638891"/>
            <a:ext cx="4572000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SIZE 100;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arr[SIZE];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전처리 후</a:t>
            </a:r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;];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9677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C7BA-D9EA-9F8E-A362-1D2B52AEC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B57DB-9813-B042-4EF1-8CDD397D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18.1 </a:t>
            </a:r>
            <a:r>
              <a:rPr lang="ko-KR" altLang="en-US" dirty="0"/>
              <a:t>컴파일 오류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F7AE78-34E6-728E-E20F-92A04E8FE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문법 또는 타입 오류</a:t>
            </a:r>
          </a:p>
          <a:p>
            <a:pPr lvl="1"/>
            <a:r>
              <a:rPr lang="ko-KR" altLang="en-US" dirty="0"/>
              <a:t>타입 불일치</a:t>
            </a:r>
          </a:p>
          <a:p>
            <a:pPr lvl="1"/>
            <a:r>
              <a:rPr lang="ko-KR" altLang="en-US" dirty="0"/>
              <a:t>세미콜론 누락</a:t>
            </a:r>
          </a:p>
          <a:p>
            <a:pPr lvl="1"/>
            <a:r>
              <a:rPr lang="ko-KR" altLang="en-US" dirty="0"/>
              <a:t>미 선언 식별자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→ 실행 파일 생성 실패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0D05E8-72D0-C2DA-B0E7-AF4EDC23C4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0F2DC7-48FE-0D32-ED97-46F860E60778}"/>
              </a:ext>
            </a:extLst>
          </p:cNvPr>
          <p:cNvSpPr txBox="1"/>
          <p:nvPr/>
        </p:nvSpPr>
        <p:spPr>
          <a:xfrm>
            <a:off x="4716016" y="908720"/>
            <a:ext cx="3707655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74251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B59FE-6CF1-78A2-5037-236DC358D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FA3C0-0900-2981-B483-3FCB9716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18.1 </a:t>
            </a:r>
            <a:r>
              <a:rPr lang="ko-KR" altLang="en-US" dirty="0"/>
              <a:t>링크 오류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20E22C-E684-2B3F-AB4C-7AA99DC5E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심볼 결합 실패</a:t>
            </a:r>
          </a:p>
          <a:p>
            <a:r>
              <a:rPr lang="ko-KR" altLang="en-US" dirty="0"/>
              <a:t>선언만 있고 정의 없음</a:t>
            </a:r>
          </a:p>
          <a:p>
            <a:endParaRPr lang="ko-KR" altLang="en-US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→ </a:t>
            </a:r>
            <a:r>
              <a:rPr lang="ko-KR" altLang="en-US" dirty="0"/>
              <a:t>실행 파일 생성 실패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6B1E38-BC41-E68B-AB4B-31DE93C138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75CC6-7EEB-A1E5-4677-7D18EE732038}"/>
              </a:ext>
            </a:extLst>
          </p:cNvPr>
          <p:cNvSpPr txBox="1"/>
          <p:nvPr/>
        </p:nvSpPr>
        <p:spPr>
          <a:xfrm>
            <a:off x="1187624" y="1844824"/>
            <a:ext cx="5796136" cy="369331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b);  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선언만 있음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g_value;     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extern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선언만 있음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add(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오류 예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unresolved external symbol add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또는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multiple definition of value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69414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E6B44-A3EA-B730-1E04-8D3C2613C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D00160-63C3-64C7-A38B-F7F6109E4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18.1 </a:t>
            </a:r>
            <a:r>
              <a:rPr lang="ko-KR" altLang="en-US" dirty="0"/>
              <a:t>런타임 오류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59E1C0-8DDD-B52D-1A2B-BFAE38920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 중 발생</a:t>
            </a:r>
          </a:p>
          <a:p>
            <a:pPr lvl="1"/>
            <a:r>
              <a:rPr lang="ko-KR" altLang="en-US" dirty="0"/>
              <a:t>빌드는 성공</a:t>
            </a:r>
          </a:p>
          <a:p>
            <a:pPr lvl="1"/>
            <a:r>
              <a:rPr lang="ko-KR" altLang="en-US" dirty="0"/>
              <a:t>실행 중 비정상 동작</a:t>
            </a:r>
            <a:endParaRPr lang="en-US" altLang="ko-KR" dirty="0"/>
          </a:p>
          <a:p>
            <a:pPr lvl="1"/>
            <a:r>
              <a:rPr lang="ko-KR" altLang="en-US" dirty="0"/>
              <a:t>추적이 가장 어려움</a:t>
            </a:r>
            <a:endParaRPr lang="en-US" altLang="ko-KR" dirty="0"/>
          </a:p>
          <a:p>
            <a:pPr lvl="1"/>
            <a:r>
              <a:rPr lang="ko-KR" altLang="en-US" dirty="0"/>
              <a:t>특징</a:t>
            </a:r>
          </a:p>
          <a:p>
            <a:pPr lvl="2"/>
            <a:r>
              <a:rPr lang="ko-KR" altLang="en-US" dirty="0"/>
              <a:t>정의되지 않은 동작</a:t>
            </a:r>
          </a:p>
          <a:p>
            <a:pPr lvl="2"/>
            <a:r>
              <a:rPr lang="ko-KR" altLang="en-US" dirty="0"/>
              <a:t>즉시 오류가 아닐 수 있음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NULL </a:t>
            </a:r>
            <a:r>
              <a:rPr lang="ko-KR" altLang="en-US" dirty="0"/>
              <a:t>포인터 접근</a:t>
            </a:r>
            <a:r>
              <a:rPr lang="en-US" altLang="ko-KR" dirty="0"/>
              <a:t>, </a:t>
            </a:r>
            <a:r>
              <a:rPr lang="ko-KR" altLang="en-US" dirty="0"/>
              <a:t>배열 범위 초과</a:t>
            </a:r>
            <a:br>
              <a:rPr lang="en-US" altLang="ko-KR" dirty="0"/>
            </a:br>
            <a:r>
              <a:rPr lang="en-US" altLang="ko-KR" dirty="0"/>
              <a:t>, </a:t>
            </a:r>
            <a:r>
              <a:rPr lang="ko-KR" altLang="en-US" dirty="0"/>
              <a:t>해제 후 접근</a:t>
            </a:r>
            <a:endParaRPr lang="en-US" altLang="ko-KR" dirty="0"/>
          </a:p>
          <a:p>
            <a:pPr lvl="1"/>
            <a:r>
              <a:rPr lang="ko-KR" altLang="en-US" dirty="0"/>
              <a:t>타입 불일치 → 잘못된 메모리 해석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DF89D5-AF43-5045-F855-53723BF842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F3E4B-4B70-2BFA-0935-460271D85497}"/>
              </a:ext>
            </a:extLst>
          </p:cNvPr>
          <p:cNvSpPr txBox="1"/>
          <p:nvPr/>
        </p:nvSpPr>
        <p:spPr>
          <a:xfrm>
            <a:off x="5580112" y="833670"/>
            <a:ext cx="3384376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sv-SE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v-SE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 = </a:t>
            </a:r>
            <a:r>
              <a:rPr lang="sv-SE" altLang="ko-KR" sz="20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sv-SE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sv-SE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sv-SE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*p = </a:t>
            </a:r>
            <a:r>
              <a:rPr lang="sv-SE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sv-SE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56F15-225E-D00D-3881-99C925C17470}"/>
              </a:ext>
            </a:extLst>
          </p:cNvPr>
          <p:cNvSpPr txBox="1"/>
          <p:nvPr/>
        </p:nvSpPr>
        <p:spPr>
          <a:xfrm>
            <a:off x="5580112" y="1725530"/>
            <a:ext cx="3384376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sv-SE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v-SE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sv-SE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v-SE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sv-SE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sv-SE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</a:t>
            </a:r>
            <a:r>
              <a:rPr lang="sv-SE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v-SE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sv-SE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sv-SE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415D0-50FE-6530-F71E-49E732D84447}"/>
              </a:ext>
            </a:extLst>
          </p:cNvPr>
          <p:cNvSpPr txBox="1"/>
          <p:nvPr/>
        </p:nvSpPr>
        <p:spPr>
          <a:xfrm>
            <a:off x="5580112" y="2604866"/>
            <a:ext cx="3384376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*p =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68D2D8-042E-6C51-FE70-05D44A07C9ED}"/>
              </a:ext>
            </a:extLst>
          </p:cNvPr>
          <p:cNvSpPr txBox="1"/>
          <p:nvPr/>
        </p:nvSpPr>
        <p:spPr>
          <a:xfrm>
            <a:off x="5580112" y="3484202"/>
            <a:ext cx="3384376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6040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18.2 printf </a:t>
            </a:r>
            <a:r>
              <a:rPr lang="ko-KR" altLang="en-US" dirty="0"/>
              <a:t>디버깅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값 출력으로 흐름 확인</a:t>
            </a:r>
          </a:p>
          <a:p>
            <a:r>
              <a:rPr lang="ko-KR" altLang="en-US" dirty="0"/>
              <a:t>용도</a:t>
            </a:r>
          </a:p>
          <a:p>
            <a:pPr lvl="1"/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ko-KR" altLang="en-US" dirty="0"/>
              <a:t>분기</a:t>
            </a:r>
            <a:r>
              <a:rPr lang="en-US" altLang="ko-KR" dirty="0"/>
              <a:t>, </a:t>
            </a:r>
            <a:r>
              <a:rPr lang="ko-KR" altLang="en-US" dirty="0"/>
              <a:t>실행 흐름 추적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디버그 전용 로그</a:t>
            </a:r>
            <a:endParaRPr lang="en-US" altLang="ko-KR" dirty="0"/>
          </a:p>
          <a:p>
            <a:pPr lvl="1"/>
            <a:r>
              <a:rPr lang="en-US" altLang="ko-KR" dirty="0"/>
              <a:t>Release </a:t>
            </a:r>
            <a:r>
              <a:rPr lang="ko-KR" altLang="en-US" dirty="0"/>
              <a:t>에서는 제거됨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CD4DFA-9CA3-8A96-AC99-A34C3186E7A6}"/>
              </a:ext>
            </a:extLst>
          </p:cNvPr>
          <p:cNvSpPr txBox="1"/>
          <p:nvPr/>
        </p:nvSpPr>
        <p:spPr>
          <a:xfrm>
            <a:off x="467469" y="3789040"/>
            <a:ext cx="8209062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#ifdef _DEBUG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LOG(msg) printf(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"[DEBUG] %s\n"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, msg)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#else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LOG(msg)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#endif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900814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18.3 </a:t>
            </a:r>
            <a:r>
              <a:rPr lang="ko-KR" altLang="en-US" dirty="0"/>
              <a:t>가변 인자 로그 시스템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가변 인자</a:t>
            </a:r>
            <a:endParaRPr lang="en-US" altLang="ko-KR" dirty="0"/>
          </a:p>
          <a:p>
            <a:pPr lvl="1"/>
            <a:r>
              <a:rPr lang="en-US" altLang="ko-KR" dirty="0"/>
              <a:t>va_list, va_start, vprintf, va_end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92969-74C8-4166-3CEA-E2DD6FC14FBF}"/>
              </a:ext>
            </a:extLst>
          </p:cNvPr>
          <p:cNvSpPr txBox="1"/>
          <p:nvPr/>
        </p:nvSpPr>
        <p:spPr>
          <a:xfrm>
            <a:off x="827584" y="1764645"/>
            <a:ext cx="7704856" cy="440120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기본 구조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&lt;stdarg.h&gt;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log_print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fmt, ...)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va_list args;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va_start(args, fmt);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(fmt, args);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va_end(args);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사용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log_print(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"value = %d, name = %s\n"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"test"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56310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659AB-0092-8129-1AFF-8ACF1C3F8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35B1C-0558-FBCE-A81C-1550550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18.3 </a:t>
            </a:r>
            <a:r>
              <a:rPr lang="ko-KR" altLang="en-US" dirty="0"/>
              <a:t>위치 정보 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F0CA54-6050-7683-602C-94F8AA01C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__FILE__, __LINE__, __func__ → </a:t>
            </a:r>
            <a:r>
              <a:rPr lang="ko-KR" altLang="en-US" sz="2400" dirty="0"/>
              <a:t>로그에 위치 정보 자동 포함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FB729C-E73A-B495-2718-3CCE84FD1B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D2568-826F-BF04-CDDC-813F217D670C}"/>
              </a:ext>
            </a:extLst>
          </p:cNvPr>
          <p:cNvSpPr txBox="1"/>
          <p:nvPr/>
        </p:nvSpPr>
        <p:spPr>
          <a:xfrm>
            <a:off x="539750" y="1236602"/>
            <a:ext cx="7920880" cy="470898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위치 정보 자동 포함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LOG(fmt, ...) \</a:t>
            </a:r>
            <a:b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    log_internal(__FILE__, __LINE__, </a:t>
            </a:r>
            <a:r>
              <a:rPr lang="en-US" altLang="ko-KR" sz="2000" b="1" dirty="0">
                <a:solidFill>
                  <a:srgbClr val="4078F2"/>
                </a:solidFill>
                <a:latin typeface="Consolas" panose="020B0609020204030204" pitchFamily="49" charset="0"/>
              </a:rPr>
              <a:t>\</a:t>
            </a:r>
          </a:p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                 __func__, fmt, __VA_ARGS__)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log_internal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file,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line,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func,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fmt, ...)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"[%s:%d:%s] 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file, line, func);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va_list args;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va_start(args, fmt);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(fmt, args);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va_end(args);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22820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18.4 </a:t>
            </a:r>
            <a:r>
              <a:rPr lang="ko-KR" altLang="en-US" dirty="0"/>
              <a:t>디버거 사용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디버거</a:t>
            </a:r>
          </a:p>
          <a:p>
            <a:pPr lvl="1"/>
            <a:r>
              <a:rPr lang="ko-KR" altLang="en-US" dirty="0"/>
              <a:t>프로그램 실행 제어 도구</a:t>
            </a:r>
          </a:p>
          <a:p>
            <a:pPr lvl="1"/>
            <a:r>
              <a:rPr lang="ko-KR" altLang="en-US" dirty="0"/>
              <a:t>실행 위치 확인</a:t>
            </a:r>
          </a:p>
          <a:p>
            <a:pPr lvl="1"/>
            <a:r>
              <a:rPr lang="ko-KR" altLang="en-US" dirty="0"/>
              <a:t>변수 상태 확인</a:t>
            </a:r>
          </a:p>
          <a:p>
            <a:pPr lvl="1"/>
            <a:r>
              <a:rPr lang="ko-KR" altLang="en-US" dirty="0"/>
              <a:t>상태 기반 분석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MSVC </a:t>
            </a:r>
            <a:r>
              <a:rPr lang="ko-KR" altLang="en-US" dirty="0"/>
              <a:t>디버거</a:t>
            </a:r>
            <a:endParaRPr lang="en-US" altLang="ko-KR" dirty="0"/>
          </a:p>
          <a:p>
            <a:pPr lvl="1"/>
            <a:r>
              <a:rPr lang="ko-KR" altLang="en-US" dirty="0"/>
              <a:t>디버깅 시작</a:t>
            </a:r>
            <a:endParaRPr lang="en-US" altLang="ko-KR" dirty="0"/>
          </a:p>
          <a:p>
            <a:pPr lvl="1"/>
            <a:r>
              <a:rPr lang="en-US" altLang="ko-KR" dirty="0"/>
              <a:t>Breakpoint / Data</a:t>
            </a:r>
            <a:r>
              <a:rPr lang="ko-KR" altLang="en-US" dirty="0"/>
              <a:t> </a:t>
            </a:r>
            <a:r>
              <a:rPr lang="en-US" altLang="ko-KR" dirty="0"/>
              <a:t>Breakpoint</a:t>
            </a:r>
            <a:r>
              <a:rPr lang="ko-KR" altLang="en-US" dirty="0"/>
              <a:t> 설정</a:t>
            </a:r>
            <a:endParaRPr lang="en-US" altLang="ko-KR" dirty="0"/>
          </a:p>
          <a:p>
            <a:pPr lvl="1"/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into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Step over /Step out</a:t>
            </a:r>
          </a:p>
          <a:p>
            <a:pPr lvl="1"/>
            <a:r>
              <a:rPr lang="en-US" altLang="ko-KR" dirty="0"/>
              <a:t>Call stack / Watch / Memory </a:t>
            </a:r>
            <a:r>
              <a:rPr lang="ko-KR" altLang="en-US" dirty="0"/>
              <a:t>창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295685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EA56A-2DFC-860C-D62A-C090FC3FC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BD901-913E-4844-60D1-B94B9DC2F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18.4 </a:t>
            </a:r>
            <a:r>
              <a:rPr lang="ko-KR" altLang="en-US" dirty="0"/>
              <a:t>디버깅 시작 </a:t>
            </a:r>
            <a:r>
              <a:rPr lang="en-US" altLang="ko-KR" dirty="0"/>
              <a:t>/ Breakpoint</a:t>
            </a:r>
            <a:r>
              <a:rPr lang="ko-KR" altLang="en-US" dirty="0"/>
              <a:t> </a:t>
            </a:r>
            <a:r>
              <a:rPr lang="en-US" altLang="ko-KR" dirty="0"/>
              <a:t>/ Step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D44051-2EDE-9489-28FF-D908415AE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디버깅 시작</a:t>
            </a:r>
          </a:p>
          <a:p>
            <a:pPr lvl="1"/>
            <a:r>
              <a:rPr lang="en-US" altLang="ko-KR" dirty="0"/>
              <a:t>F5 → </a:t>
            </a:r>
            <a:r>
              <a:rPr lang="ko-KR" altLang="en-US" dirty="0"/>
              <a:t>실행</a:t>
            </a:r>
          </a:p>
          <a:p>
            <a:pPr lvl="1"/>
            <a:r>
              <a:rPr lang="en-US" altLang="ko-KR" dirty="0"/>
              <a:t>Shift+F5 → </a:t>
            </a:r>
            <a:r>
              <a:rPr lang="ko-KR" altLang="en-US" dirty="0"/>
              <a:t>종료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en-US" altLang="ko-KR" dirty="0"/>
              <a:t>Break point</a:t>
            </a:r>
            <a:endParaRPr lang="ko-KR" altLang="en-US" dirty="0"/>
          </a:p>
          <a:p>
            <a:pPr lvl="1"/>
            <a:r>
              <a:rPr lang="ko-KR" altLang="en-US" dirty="0"/>
              <a:t>코드 실행 중지 지점</a:t>
            </a:r>
            <a:endParaRPr lang="en-US" altLang="ko-KR" dirty="0"/>
          </a:p>
          <a:p>
            <a:pPr lvl="1"/>
            <a:r>
              <a:rPr lang="ko-KR" altLang="en-US" dirty="0"/>
              <a:t>설정 </a:t>
            </a:r>
            <a:r>
              <a:rPr lang="en-US" altLang="ko-KR" dirty="0"/>
              <a:t>/ </a:t>
            </a:r>
            <a:r>
              <a:rPr lang="ko-KR" altLang="en-US" dirty="0"/>
              <a:t>해제  </a:t>
            </a:r>
            <a:r>
              <a:rPr lang="en-US" altLang="ko-KR" dirty="0"/>
              <a:t>F9 </a:t>
            </a:r>
            <a:r>
              <a:rPr lang="ko-KR" altLang="en-US" dirty="0"/>
              <a:t>토글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Step </a:t>
            </a:r>
            <a:r>
              <a:rPr lang="ko-KR" altLang="en-US" dirty="0"/>
              <a:t>실행</a:t>
            </a:r>
          </a:p>
          <a:p>
            <a:pPr lvl="1"/>
            <a:r>
              <a:rPr lang="en-US" altLang="ko-KR" dirty="0"/>
              <a:t>F11 → Step Into</a:t>
            </a:r>
          </a:p>
          <a:p>
            <a:pPr lvl="1"/>
            <a:r>
              <a:rPr lang="en-US" altLang="ko-KR" dirty="0"/>
              <a:t>F10 → Step Over</a:t>
            </a:r>
          </a:p>
          <a:p>
            <a:pPr lvl="1"/>
            <a:r>
              <a:rPr lang="en-US" altLang="ko-KR" dirty="0"/>
              <a:t>Shift+F11 → Step Out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3D5021-DCA7-FA58-4596-1FF8FCC6C4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D4E292-705F-7591-7E6F-74C2460E2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1" y="1017574"/>
            <a:ext cx="3699529" cy="85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BF4D344-47B4-126E-27C4-EE4545ACE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19" y="3356992"/>
            <a:ext cx="5177081" cy="53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6E75853-AFAC-512D-CCEA-B6392FB98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118" y="5239312"/>
            <a:ext cx="3293482" cy="86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835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A25DE-AC23-95B4-3326-81052A584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9AC4C-34D3-23B1-1DA2-304C97EDC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18.4 </a:t>
            </a:r>
            <a:r>
              <a:rPr lang="ko-KR" altLang="en-US" dirty="0"/>
              <a:t>디버깅 윈도우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7D8E08-3A5E-B60E-A017-3FC1A88D9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호출 스택 </a:t>
            </a:r>
            <a:r>
              <a:rPr lang="en-US" altLang="ko-KR" dirty="0"/>
              <a:t>(Call</a:t>
            </a:r>
            <a:r>
              <a:rPr lang="ko-KR" altLang="en-US" dirty="0"/>
              <a:t> </a:t>
            </a:r>
            <a:r>
              <a:rPr lang="en-US" altLang="ko-KR" dirty="0"/>
              <a:t>stack)</a:t>
            </a:r>
            <a:endParaRPr lang="ko-KR" altLang="en-US" dirty="0"/>
          </a:p>
          <a:p>
            <a:pPr lvl="1"/>
            <a:r>
              <a:rPr lang="ko-KR" altLang="en-US" dirty="0"/>
              <a:t>함수 호출 흐름 확인</a:t>
            </a:r>
          </a:p>
          <a:p>
            <a:pPr lvl="1"/>
            <a:r>
              <a:rPr lang="ko-KR" altLang="en-US" dirty="0"/>
              <a:t>호출 경로 분석</a:t>
            </a:r>
          </a:p>
          <a:p>
            <a:pPr lvl="1"/>
            <a:r>
              <a:rPr lang="ko-KR" altLang="en-US" dirty="0"/>
              <a:t>의도된 흐름 검증</a:t>
            </a:r>
            <a:endParaRPr lang="en-US" altLang="ko-KR" dirty="0"/>
          </a:p>
          <a:p>
            <a:pPr lvl="3"/>
            <a:endParaRPr lang="ko-KR" altLang="en-US" dirty="0"/>
          </a:p>
          <a:p>
            <a:r>
              <a:rPr lang="ko-KR" altLang="en-US" dirty="0"/>
              <a:t>조사식 </a:t>
            </a:r>
            <a:r>
              <a:rPr lang="en-US" altLang="ko-KR" dirty="0"/>
              <a:t>(Watch)</a:t>
            </a:r>
            <a:endParaRPr lang="ko-KR" altLang="en-US" dirty="0"/>
          </a:p>
          <a:p>
            <a:pPr lvl="1"/>
            <a:r>
              <a:rPr lang="ko-KR" altLang="en-US" dirty="0"/>
              <a:t>변수 값 실시간 확인</a:t>
            </a:r>
          </a:p>
          <a:p>
            <a:pPr lvl="1"/>
            <a:r>
              <a:rPr lang="ko-KR" altLang="en-US" dirty="0"/>
              <a:t>표현식 등록 가능</a:t>
            </a:r>
          </a:p>
          <a:p>
            <a:pPr lvl="1"/>
            <a:r>
              <a:rPr lang="ko-KR" altLang="en-US" dirty="0"/>
              <a:t>값 변경 가능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메모리</a:t>
            </a:r>
            <a:endParaRPr lang="en-US" altLang="ko-KR" dirty="0"/>
          </a:p>
          <a:p>
            <a:pPr lvl="1"/>
            <a:r>
              <a:rPr lang="ko-KR" altLang="en-US" dirty="0"/>
              <a:t>메모리 직접 확인</a:t>
            </a:r>
          </a:p>
          <a:p>
            <a:pPr lvl="1"/>
            <a:r>
              <a:rPr lang="en-US" altLang="ko-KR" dirty="0"/>
              <a:t>HEX </a:t>
            </a:r>
            <a:r>
              <a:rPr lang="ko-KR" altLang="en-US" dirty="0"/>
              <a:t>형태 표시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2AAF1C-90D9-BF01-6068-6858D7ED19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46CDC0A-642F-C214-52E9-69D8987AA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010454"/>
            <a:ext cx="478155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12EF1108-0FCF-8731-A23D-77ECEA305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847975"/>
            <a:ext cx="2171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EDA2FA95-9E8F-BB34-9F07-419C227E3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5095473"/>
            <a:ext cx="48387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730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1178E-034F-AD1E-A3C9-069B045E9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3390E-5527-E397-8279-954DDD1E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18.4 </a:t>
            </a:r>
            <a:r>
              <a:rPr lang="ko-KR" altLang="en-US" dirty="0"/>
              <a:t>디버깅 윈도우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95729-726B-8045-69EE-A095321A3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Disassembly</a:t>
            </a:r>
          </a:p>
          <a:p>
            <a:pPr lvl="1"/>
            <a:r>
              <a:rPr lang="ko-KR" altLang="en-US" dirty="0"/>
              <a:t>어셈블리 코드 확인</a:t>
            </a:r>
          </a:p>
          <a:p>
            <a:pPr lvl="1"/>
            <a:r>
              <a:rPr lang="ko-KR" altLang="en-US" dirty="0"/>
              <a:t>크래시 위치 확인</a:t>
            </a:r>
            <a:endParaRPr lang="en-US" altLang="ko-KR" dirty="0"/>
          </a:p>
          <a:p>
            <a:pPr lvl="3"/>
            <a:endParaRPr lang="ko-KR" altLang="en-US" dirty="0"/>
          </a:p>
          <a:p>
            <a:r>
              <a:rPr lang="ko-KR" altLang="en-US" dirty="0"/>
              <a:t>데이터 중단점</a:t>
            </a:r>
          </a:p>
          <a:p>
            <a:pPr lvl="1"/>
            <a:r>
              <a:rPr lang="ko-KR" altLang="en-US" dirty="0"/>
              <a:t>변수 값 변경 시 중단</a:t>
            </a:r>
          </a:p>
          <a:p>
            <a:pPr lvl="1"/>
            <a:r>
              <a:rPr lang="ko-KR" altLang="en-US" dirty="0"/>
              <a:t>값 변경 위치 추적</a:t>
            </a:r>
          </a:p>
          <a:p>
            <a:pPr lvl="1"/>
            <a:r>
              <a:rPr lang="ko-KR" altLang="en-US" dirty="0"/>
              <a:t>원인 분석에 효과적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81B199-EF84-72FA-11BE-BFB806D3AA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7F5BD6B-D8FD-BD7E-6A18-E6F045ADE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144" y="790776"/>
            <a:ext cx="468630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5486D89C-84D9-F025-BD17-45FAFF444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144" y="2206022"/>
            <a:ext cx="4629150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707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18.5 Windows </a:t>
            </a:r>
            <a:r>
              <a:rPr lang="ko-KR" altLang="en-US" dirty="0"/>
              <a:t>메모리 디버깅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CRT Debug Heap</a:t>
            </a:r>
          </a:p>
          <a:p>
            <a:pPr lvl="1"/>
            <a:r>
              <a:rPr lang="ko-KR" altLang="en-US" dirty="0"/>
              <a:t>메모리 누수 추적</a:t>
            </a:r>
          </a:p>
          <a:p>
            <a:pPr lvl="1"/>
            <a:r>
              <a:rPr lang="en-US" altLang="ko-KR" dirty="0"/>
              <a:t>Debug </a:t>
            </a:r>
            <a:r>
              <a:rPr lang="ko-KR" altLang="en-US" dirty="0"/>
              <a:t>빌드에서만 동작</a:t>
            </a:r>
          </a:p>
          <a:p>
            <a:pPr lvl="1"/>
            <a:r>
              <a:rPr lang="ko-KR" altLang="en-US" dirty="0"/>
              <a:t>자동 리포트 가능</a:t>
            </a:r>
            <a:endParaRPr lang="en-US" altLang="ko-KR" dirty="0"/>
          </a:p>
          <a:p>
            <a:pPr lvl="2"/>
            <a:endParaRPr lang="en-US" altLang="ko-KR" sz="1800" dirty="0"/>
          </a:p>
          <a:p>
            <a:r>
              <a:rPr lang="ko-KR" altLang="en-US" dirty="0"/>
              <a:t>누수 검사</a:t>
            </a:r>
          </a:p>
          <a:p>
            <a:pPr lvl="1"/>
            <a:r>
              <a:rPr lang="en-US" altLang="ko-KR" dirty="0"/>
              <a:t>_CrtSetDbgFlag</a:t>
            </a:r>
          </a:p>
          <a:p>
            <a:pPr lvl="1"/>
            <a:r>
              <a:rPr lang="ko-KR" altLang="en-US" dirty="0"/>
              <a:t>할당 추적</a:t>
            </a:r>
          </a:p>
          <a:p>
            <a:pPr lvl="1"/>
            <a:r>
              <a:rPr lang="ko-KR" altLang="en-US" dirty="0"/>
              <a:t>종료 시 누수 출력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F49AC78-30D6-CEAD-8DA0-59E38513606F}"/>
              </a:ext>
            </a:extLst>
          </p:cNvPr>
          <p:cNvSpPr txBox="1">
            <a:spLocks/>
          </p:cNvSpPr>
          <p:nvPr/>
        </p:nvSpPr>
        <p:spPr bwMode="auto">
          <a:xfrm>
            <a:off x="4427984" y="728663"/>
            <a:ext cx="4608512" cy="4860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누수 덤프</a:t>
            </a:r>
          </a:p>
          <a:p>
            <a:pPr lvl="1"/>
            <a:r>
              <a:rPr lang="en-US" altLang="ko-KR" dirty="0"/>
              <a:t>_CrtDumpMemoryLeaks()</a:t>
            </a:r>
          </a:p>
          <a:p>
            <a:pPr lvl="1"/>
            <a:r>
              <a:rPr lang="ko-KR" altLang="en-US" dirty="0"/>
              <a:t>특정 시점 검사 가능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sz="1800" dirty="0"/>
          </a:p>
          <a:p>
            <a:r>
              <a:rPr lang="en-US" altLang="ko-KR" dirty="0"/>
              <a:t>BreakAlloc</a:t>
            </a:r>
          </a:p>
          <a:p>
            <a:pPr lvl="1"/>
            <a:r>
              <a:rPr lang="en-US" altLang="ko-KR" dirty="0"/>
              <a:t>_CrtSetBreakAlloc</a:t>
            </a:r>
          </a:p>
          <a:p>
            <a:pPr lvl="1"/>
            <a:r>
              <a:rPr lang="ko-KR" altLang="en-US" dirty="0"/>
              <a:t>특정 할당 시점 중단</a:t>
            </a:r>
            <a:br>
              <a:rPr lang="en-US" altLang="ko-KR" dirty="0"/>
            </a:br>
            <a:r>
              <a:rPr lang="ko-KR" altLang="en-US" dirty="0"/>
              <a:t>→ 누수 위치 추적</a:t>
            </a:r>
          </a:p>
        </p:txBody>
      </p:sp>
    </p:spTree>
    <p:extLst>
      <p:ext uri="{BB962C8B-B14F-4D97-AF65-F5344CB8AC3E}">
        <p14:creationId xmlns:p14="http://schemas.microsoft.com/office/powerpoint/2010/main" val="1971926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64FBB-B534-1AB1-AED7-6C3357942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18.5 Windows </a:t>
            </a:r>
            <a:r>
              <a:rPr lang="ko-KR" altLang="en-US" dirty="0"/>
              <a:t>메모리 디버깅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EC1D02-C642-DAD1-C04D-EC38C7AC0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헤더 포함 순서 </a:t>
            </a:r>
            <a:r>
              <a:rPr lang="en-US" altLang="ko-KR" sz="2000" dirty="0"/>
              <a:t>(</a:t>
            </a:r>
            <a:r>
              <a:rPr lang="ko-KR" altLang="en-US" sz="2000" dirty="0"/>
              <a:t>매우 중요</a:t>
            </a:r>
            <a:r>
              <a:rPr lang="en-US" altLang="ko-KR" sz="2000" dirty="0"/>
              <a:t>)</a:t>
            </a:r>
          </a:p>
          <a:p>
            <a:pPr lvl="4"/>
            <a:endParaRPr lang="en-US" altLang="ko-KR" sz="800" dirty="0"/>
          </a:p>
          <a:p>
            <a:pPr lvl="4"/>
            <a:endParaRPr lang="en-US" altLang="ko-KR" sz="800" dirty="0"/>
          </a:p>
          <a:p>
            <a:pPr lvl="6"/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sz="2000" dirty="0"/>
              <a:t>종료 시 자동 누수 리포트 활성화</a:t>
            </a:r>
            <a:endParaRPr lang="en-US" altLang="ko-KR" sz="2000" dirty="0"/>
          </a:p>
          <a:p>
            <a:pPr lvl="2"/>
            <a:endParaRPr lang="en-US" altLang="ko-KR" sz="1200" dirty="0"/>
          </a:p>
          <a:p>
            <a:pPr lvl="2"/>
            <a:endParaRPr lang="en-US" altLang="ko-KR" sz="12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2000" dirty="0"/>
              <a:t>할당 번호로 누수 추적하기 </a:t>
            </a:r>
            <a:r>
              <a:rPr lang="en-US" altLang="ko-KR" sz="2000" dirty="0"/>
              <a:t>(_CrtSetBreakAlloc)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446997-12BC-0B26-4FF5-F25C87918B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75101-DD17-8FBB-39A5-7D8F1DC284F9}"/>
              </a:ext>
            </a:extLst>
          </p:cNvPr>
          <p:cNvSpPr txBox="1"/>
          <p:nvPr/>
        </p:nvSpPr>
        <p:spPr>
          <a:xfrm>
            <a:off x="622349" y="1124744"/>
            <a:ext cx="6568046" cy="73866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_CRTDBG_MAP_ALLOC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&lt;crtdbg.h&gt;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ko-KR" altLang="en-U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A2FE96-3EDA-6EB4-3BAD-46F289CBB798}"/>
              </a:ext>
            </a:extLst>
          </p:cNvPr>
          <p:cNvSpPr txBox="1"/>
          <p:nvPr/>
        </p:nvSpPr>
        <p:spPr>
          <a:xfrm>
            <a:off x="626878" y="2440519"/>
            <a:ext cx="6568046" cy="116955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flags = _CrtSetDbgFlag(_CRTDBG_REPORT_FLAG);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flags |= _CRTDBG_ALLOC_MEM_DF;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메모리 할당 추적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flags |= _CRTDBG_LEAK_CHECK_DF;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종료 시 자동 누수 검사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_CrtSetDbgFlag(flags);</a:t>
            </a:r>
            <a:endParaRPr lang="ko-KR" alt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9E605E-3364-B7FD-D363-588DFDD01C82}"/>
              </a:ext>
            </a:extLst>
          </p:cNvPr>
          <p:cNvSpPr txBox="1"/>
          <p:nvPr/>
        </p:nvSpPr>
        <p:spPr>
          <a:xfrm>
            <a:off x="611560" y="4368915"/>
            <a:ext cx="6568046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Detected memory leaks!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12345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normal block at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0x0000021F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...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 번호를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_CrtSetBreakAlloc()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에 지정하면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해당 메모리가 할당되는 순간 디버거가 자동으로 멈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춤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예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누수 리포트에서 검출된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{12345}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를 지정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_CrtSetBreakAlloc(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12345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53484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4D57A-C2AD-4174-8F39-B782528D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E48F27-9E86-4515-8F36-0C9DBA35C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디버깅 단계 구분</a:t>
            </a:r>
          </a:p>
          <a:p>
            <a:pPr lvl="1"/>
            <a:r>
              <a:rPr lang="ko-KR" altLang="en-US" dirty="0"/>
              <a:t>전처리 </a:t>
            </a:r>
            <a:r>
              <a:rPr lang="en-US" altLang="ko-KR" dirty="0"/>
              <a:t>/ </a:t>
            </a:r>
            <a:r>
              <a:rPr lang="ko-KR" altLang="en-US" dirty="0"/>
              <a:t>컴파일 </a:t>
            </a:r>
            <a:r>
              <a:rPr lang="en-US" altLang="ko-KR" dirty="0"/>
              <a:t>/ </a:t>
            </a:r>
            <a:r>
              <a:rPr lang="ko-KR" altLang="en-US" dirty="0"/>
              <a:t>링크 </a:t>
            </a:r>
            <a:r>
              <a:rPr lang="en-US" altLang="ko-KR" dirty="0"/>
              <a:t>/ </a:t>
            </a:r>
            <a:r>
              <a:rPr lang="ko-KR" altLang="en-US" dirty="0"/>
              <a:t>실행</a:t>
            </a:r>
          </a:p>
          <a:p>
            <a:endParaRPr lang="en-US" altLang="ko-KR" dirty="0"/>
          </a:p>
          <a:p>
            <a:r>
              <a:rPr lang="ko-KR" altLang="en-US" dirty="0"/>
              <a:t>디버깅 로그 출력</a:t>
            </a:r>
            <a:r>
              <a:rPr lang="en-US" altLang="ko-KR" dirty="0"/>
              <a:t>, </a:t>
            </a:r>
            <a:r>
              <a:rPr lang="ko-KR" altLang="en-US" dirty="0"/>
              <a:t>디버거 활용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메모리 문제 중요→ 상태를 이해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5F3902-A9F9-405D-85D7-E8D9B57FD5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68806568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2400" b="0" i="0" u="none" strike="noStrike" dirty="0">
            <a:solidFill>
              <a:srgbClr val="4078F2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7972</TotalTime>
  <Words>1049</Words>
  <Application>Microsoft Office PowerPoint</Application>
  <PresentationFormat>화면 슬라이드 쇼(4:3)</PresentationFormat>
  <Paragraphs>182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나눔바른고딕</vt:lpstr>
      <vt:lpstr>Wingdings</vt:lpstr>
      <vt:lpstr>가을체</vt:lpstr>
      <vt:lpstr>Consolas</vt:lpstr>
      <vt:lpstr>굴림</vt:lpstr>
      <vt:lpstr>HY견고딕</vt:lpstr>
      <vt:lpstr>Arial</vt:lpstr>
      <vt:lpstr>기본 디자인</vt:lpstr>
      <vt:lpstr>18. 디버깅과 오류 추적 (Debugging and Trace Error)</vt:lpstr>
      <vt:lpstr>18.1 컴파일 오류, 링크 오류, 런타임 오류</vt:lpstr>
      <vt:lpstr>18.1 전처리 오류</vt:lpstr>
      <vt:lpstr>18.1 컴파일 오류</vt:lpstr>
      <vt:lpstr>18.1 링크 오류</vt:lpstr>
      <vt:lpstr>18.1 런타임 오류</vt:lpstr>
      <vt:lpstr>18.2 printf 디버깅</vt:lpstr>
      <vt:lpstr>18.3 가변 인자 로그 시스템 만들기</vt:lpstr>
      <vt:lpstr>18.3 위치 정보 로그</vt:lpstr>
      <vt:lpstr>18.4 디버거 사용 기초</vt:lpstr>
      <vt:lpstr>18.4 디버깅 시작 / Breakpoint / Step</vt:lpstr>
      <vt:lpstr>18.4 디버깅 윈도우</vt:lpstr>
      <vt:lpstr>18.4 디버깅 윈도우</vt:lpstr>
      <vt:lpstr>18.5 Windows 메모리 디버깅 기초</vt:lpstr>
      <vt:lpstr>18.5 Windows 메모리 디버깅 기초</vt:lpstr>
      <vt:lpstr>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280</cp:revision>
  <dcterms:created xsi:type="dcterms:W3CDTF">2003-11-30T16:03:20Z</dcterms:created>
  <dcterms:modified xsi:type="dcterms:W3CDTF">2026-04-17T17:28:30Z</dcterms:modified>
</cp:coreProperties>
</file>