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272" r:id="rId2"/>
    <p:sldId id="273" r:id="rId3"/>
    <p:sldId id="311" r:id="rId4"/>
    <p:sldId id="309" r:id="rId5"/>
    <p:sldId id="304" r:id="rId6"/>
    <p:sldId id="305" r:id="rId7"/>
    <p:sldId id="308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3" r:id="rId18"/>
    <p:sldId id="321" r:id="rId19"/>
    <p:sldId id="322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6" r:id="rId32"/>
    <p:sldId id="337" r:id="rId33"/>
    <p:sldId id="338" r:id="rId34"/>
    <p:sldId id="339" r:id="rId35"/>
    <p:sldId id="34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8" r:id="rId45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47"/>
      <p:bold r:id="rId48"/>
      <p:italic r:id="rId49"/>
      <p:boldItalic r:id="rId50"/>
    </p:embeddedFont>
    <p:embeddedFont>
      <p:font typeface="HY견고딕" panose="02030600000101010101" pitchFamily="18" charset="-127"/>
      <p:regular r:id="rId51"/>
    </p:embeddedFont>
    <p:embeddedFont>
      <p:font typeface="가을체" panose="02030600000101010101" pitchFamily="18" charset="-127"/>
      <p:regular r:id="rId52"/>
    </p:embeddedFont>
    <p:embeddedFont>
      <p:font typeface="나눔바른고딕" panose="020B0603020101020101" pitchFamily="50" charset="-127"/>
      <p:regular r:id="rId53"/>
      <p:bold r:id="rId54"/>
    </p:embeddedFont>
    <p:embeddedFont>
      <p:font typeface="맑은 고딕" panose="020B0503020000020004" pitchFamily="50" charset="-127"/>
      <p:regular r:id="rId55"/>
      <p:bold r:id="rId5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FF0000"/>
    <a:srgbClr val="0000FF"/>
    <a:srgbClr val="0099FF"/>
    <a:srgbClr val="FF9900"/>
    <a:srgbClr val="FF00FF"/>
    <a:srgbClr val="CCFFFF"/>
    <a:srgbClr val="FFFFCC"/>
    <a:srgbClr val="CCFFCC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110" d="100"/>
          <a:sy n="110" d="100"/>
        </p:scale>
        <p:origin x="2286" y="47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/>
            </a:lvl1pPr>
            <a:lvl2pPr>
              <a:buSzPct val="60000"/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08. </a:t>
            </a:r>
            <a:r>
              <a:rPr lang="ko-KR" altLang="en-US" dirty="0"/>
              <a:t>배열과 문자열</a:t>
            </a:r>
            <a:br>
              <a:rPr lang="en-US" altLang="ko-KR" dirty="0"/>
            </a:br>
            <a:r>
              <a:rPr lang="en-US" altLang="ko-KR" sz="2800" dirty="0"/>
              <a:t>(Array</a:t>
            </a:r>
            <a:r>
              <a:rPr lang="ko-KR" altLang="en-US" sz="2800" dirty="0"/>
              <a:t> </a:t>
            </a:r>
            <a:r>
              <a:rPr lang="en-US" altLang="ko-KR" sz="2800" dirty="0"/>
              <a:t>–</a:t>
            </a:r>
            <a:r>
              <a:rPr lang="ko-KR" altLang="en-US" sz="2800" dirty="0"/>
              <a:t> </a:t>
            </a:r>
            <a:r>
              <a:rPr lang="en-US" altLang="ko-KR" sz="2800" dirty="0"/>
              <a:t>String)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08. </a:t>
            </a:r>
            <a:r>
              <a:rPr lang="ko-KR" altLang="en-US" dirty="0"/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배열</a:t>
            </a:r>
            <a:r>
              <a:rPr lang="en-US" altLang="ko-KR" sz="2400" dirty="0"/>
              <a:t>(Array)</a:t>
            </a:r>
          </a:p>
          <a:p>
            <a:pPr lvl="1"/>
            <a:r>
              <a:rPr lang="ko-KR" altLang="en-US" sz="2000" dirty="0"/>
              <a:t>같은 타입 데이터를 연속된 메모리 공간에 저장하는 구조</a:t>
            </a:r>
            <a:endParaRPr lang="en-US" altLang="ko-KR" sz="2000" dirty="0"/>
          </a:p>
          <a:p>
            <a:pPr lvl="1"/>
            <a:r>
              <a:rPr lang="ko-KR" altLang="en-US" sz="2000" dirty="0"/>
              <a:t>인덱스로 직접 접근</a:t>
            </a:r>
            <a:r>
              <a:rPr lang="en-US" altLang="ko-KR" sz="2000" dirty="0"/>
              <a:t>(random</a:t>
            </a:r>
            <a:r>
              <a:rPr lang="ko-KR" altLang="en-US" sz="2000" dirty="0"/>
              <a:t> </a:t>
            </a:r>
            <a:r>
              <a:rPr lang="en-US" altLang="ko-KR" sz="2000" dirty="0"/>
              <a:t>access)</a:t>
            </a:r>
            <a:br>
              <a:rPr lang="en-US" altLang="ko-KR" sz="2000" dirty="0"/>
            </a:br>
            <a:r>
              <a:rPr lang="ko-KR" altLang="en-US" sz="2000" dirty="0"/>
              <a:t>접근 속도 일정 → </a:t>
            </a:r>
            <a:r>
              <a:rPr lang="en-US" altLang="ko-KR" sz="2000" dirty="0"/>
              <a:t>O(1). </a:t>
            </a:r>
            <a:r>
              <a:rPr lang="ko-KR" altLang="en-US" sz="2000" dirty="0"/>
              <a:t>가장 빠른 접근 자료 구조</a:t>
            </a:r>
            <a:endParaRPr lang="en-US" altLang="ko-KR" sz="2000" dirty="0"/>
          </a:p>
          <a:p>
            <a:pPr lvl="1"/>
            <a:r>
              <a:rPr lang="en-US" altLang="ko-KR" sz="2000" dirty="0"/>
              <a:t>sizeof </a:t>
            </a:r>
            <a:r>
              <a:rPr lang="ko-KR" altLang="en-US" sz="2000" dirty="0"/>
              <a:t>→ 배열 전체 크기 확인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특징</a:t>
            </a:r>
          </a:p>
          <a:p>
            <a:pPr lvl="1"/>
            <a:r>
              <a:rPr lang="ko-KR" altLang="en-US" sz="2000" dirty="0"/>
              <a:t>크기</a:t>
            </a:r>
            <a:r>
              <a:rPr lang="en-US" altLang="ko-KR" sz="2000" dirty="0"/>
              <a:t>: </a:t>
            </a:r>
            <a:r>
              <a:rPr lang="ko-KR" altLang="en-US" sz="2000" dirty="0"/>
              <a:t>컴파일 시점에 결정 → 실행 중 변경 불가</a:t>
            </a:r>
          </a:p>
          <a:p>
            <a:pPr lvl="1"/>
            <a:r>
              <a:rPr lang="ko-KR" altLang="en-US" sz="2000" dirty="0"/>
              <a:t>지역 배열 → 스택 크기 제한</a:t>
            </a:r>
          </a:p>
          <a:p>
            <a:pPr lvl="1"/>
            <a:r>
              <a:rPr lang="ko-KR" altLang="en-US" sz="2000" dirty="0"/>
              <a:t>전역</a:t>
            </a:r>
            <a:r>
              <a:rPr lang="en-US" altLang="ko-KR" sz="2000" dirty="0"/>
              <a:t>/static → </a:t>
            </a:r>
            <a:r>
              <a:rPr lang="ko-KR" altLang="en-US" sz="2000" dirty="0"/>
              <a:t>정적 영역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0FFC-5AD0-417F-1492-E2C8AAB2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D25E0-F5D5-4D7E-44D5-66D7F981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08. </a:t>
            </a:r>
            <a:r>
              <a:rPr lang="ko-KR" altLang="en-US" dirty="0"/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6F0AD4-3E8A-C231-CDCE-9141ACB1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동적 메모리와 비교</a:t>
            </a:r>
            <a:br>
              <a:rPr lang="ko-KR" altLang="en-US" sz="2400" dirty="0"/>
            </a:b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2E5985-9DCD-70FF-1924-D23E0D3208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1901DF7-412A-E57E-3CC1-A0C2FD753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14702"/>
              </p:ext>
            </p:extLst>
          </p:nvPr>
        </p:nvGraphicFramePr>
        <p:xfrm>
          <a:off x="755576" y="1397708"/>
          <a:ext cx="7056783" cy="4062583"/>
        </p:xfrm>
        <a:graphic>
          <a:graphicData uri="http://schemas.openxmlformats.org/drawingml/2006/table">
            <a:tbl>
              <a:tblPr/>
              <a:tblGrid>
                <a:gridCol w="1326877">
                  <a:extLst>
                    <a:ext uri="{9D8B030D-6E8A-4147-A177-3AD203B41FA5}">
                      <a16:colId xmlns:a16="http://schemas.microsoft.com/office/drawing/2014/main" val="446761693"/>
                    </a:ext>
                  </a:extLst>
                </a:gridCol>
                <a:gridCol w="1990316">
                  <a:extLst>
                    <a:ext uri="{9D8B030D-6E8A-4147-A177-3AD203B41FA5}">
                      <a16:colId xmlns:a16="http://schemas.microsoft.com/office/drawing/2014/main" val="2173614189"/>
                    </a:ext>
                  </a:extLst>
                </a:gridCol>
                <a:gridCol w="3739590">
                  <a:extLst>
                    <a:ext uri="{9D8B030D-6E8A-4147-A177-3AD203B41FA5}">
                      <a16:colId xmlns:a16="http://schemas.microsoft.com/office/drawing/2014/main" val="1441881615"/>
                    </a:ext>
                  </a:extLst>
                </a:gridCol>
              </a:tblGrid>
              <a:tr h="58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정적 배열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동적 메모리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226986"/>
                  </a:ext>
                </a:extLst>
              </a:tr>
              <a:tr h="5803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크기 결정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컴파일 시 결정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실행 중 결정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222278"/>
                  </a:ext>
                </a:extLst>
              </a:tr>
              <a:tr h="5803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메모리 위치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스택 </a:t>
                      </a:r>
                      <a:r>
                        <a:rPr lang="en-US" alt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/ 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정적 영역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힙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21426"/>
                  </a:ext>
                </a:extLst>
              </a:tr>
              <a:tr h="5803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메모리 구조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연속된 메모리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연속된 메모리 블록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07338"/>
                  </a:ext>
                </a:extLst>
              </a:tr>
              <a:tr h="5803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메모리 관리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직접 관리</a:t>
                      </a:r>
                      <a:r>
                        <a:rPr lang="en-US" alt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할당</a:t>
                      </a:r>
                      <a:r>
                        <a:rPr lang="en-US" alt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해제 필수</a:t>
                      </a:r>
                      <a:r>
                        <a:rPr lang="en-US" alt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703196"/>
                  </a:ext>
                </a:extLst>
              </a:tr>
              <a:tr h="5803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단편화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없음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발생 가능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803093"/>
                  </a:ext>
                </a:extLst>
              </a:tr>
              <a:tr h="58036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크기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고정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변경 가능</a:t>
                      </a:r>
                      <a:endParaRPr lang="ko-KR" altLang="en-US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44000" marR="36000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787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59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C8B2-E2C6-43E5-3756-94597320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651C1-D9D8-EF13-B63D-DBB16551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08. </a:t>
            </a:r>
            <a:r>
              <a:rPr lang="ko-KR" altLang="en-US" dirty="0"/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5ADD8-7509-7422-A6CE-5D315BE3E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원소 주소 계산</a:t>
            </a:r>
            <a:endParaRPr lang="en-US" altLang="ko-KR" sz="2400" dirty="0"/>
          </a:p>
          <a:p>
            <a:pPr lvl="1"/>
            <a:r>
              <a:rPr lang="ko-KR" altLang="en-US" sz="2000" dirty="0"/>
              <a:t>원소 주소 </a:t>
            </a:r>
            <a:r>
              <a:rPr lang="en-US" altLang="ko-KR" sz="2000" dirty="0"/>
              <a:t>= </a:t>
            </a:r>
            <a:r>
              <a:rPr lang="ko-KR" altLang="en-US" sz="2000" dirty="0"/>
              <a:t>배열</a:t>
            </a:r>
            <a:r>
              <a:rPr lang="en-US" altLang="ko-KR" sz="2000" dirty="0"/>
              <a:t>_</a:t>
            </a:r>
            <a:r>
              <a:rPr lang="ko-KR" altLang="en-US" sz="2000" dirty="0"/>
              <a:t>이름 </a:t>
            </a:r>
            <a:r>
              <a:rPr lang="en-US" altLang="ko-KR" sz="2000" dirty="0"/>
              <a:t>+ </a:t>
            </a:r>
            <a:r>
              <a:rPr lang="ko-KR" altLang="en-US" sz="2000" dirty="0"/>
              <a:t>인덱스</a:t>
            </a:r>
            <a:endParaRPr lang="en-US" altLang="ko-KR" sz="2000" dirty="0"/>
          </a:p>
          <a:p>
            <a:pPr lvl="1"/>
            <a:r>
              <a:rPr lang="ko-KR" altLang="en-US" sz="2000" dirty="0"/>
              <a:t>바이트 관점</a:t>
            </a:r>
            <a:r>
              <a:rPr lang="en-US" altLang="ko-KR" sz="2000" dirty="0"/>
              <a:t>: </a:t>
            </a:r>
            <a:r>
              <a:rPr lang="ko-KR" altLang="en-US" sz="2000" dirty="0"/>
              <a:t>주소 </a:t>
            </a:r>
            <a:r>
              <a:rPr lang="en-US" altLang="ko-KR" sz="2000" dirty="0"/>
              <a:t>= </a:t>
            </a:r>
            <a:r>
              <a:rPr lang="ko-KR" altLang="en-US" sz="2000" dirty="0"/>
              <a:t>시작주소 </a:t>
            </a:r>
            <a:r>
              <a:rPr lang="en-US" altLang="ko-KR" sz="2000" dirty="0"/>
              <a:t>+ (</a:t>
            </a:r>
            <a:r>
              <a:rPr lang="ko-KR" altLang="en-US" sz="2000" dirty="0"/>
              <a:t>인덱스 </a:t>
            </a:r>
            <a:r>
              <a:rPr lang="en-US" altLang="ko-KR" sz="2000" dirty="0"/>
              <a:t>* sizeof(</a:t>
            </a:r>
            <a:r>
              <a:rPr lang="ko-KR" altLang="en-US" sz="2000" dirty="0"/>
              <a:t>자료형</a:t>
            </a:r>
            <a:r>
              <a:rPr lang="en-US" altLang="ko-KR" sz="2000" dirty="0"/>
              <a:t>))</a:t>
            </a:r>
          </a:p>
          <a:p>
            <a:pPr marL="457200" lvl="1" indent="0">
              <a:buNone/>
            </a:pPr>
            <a:r>
              <a:rPr lang="en-US" altLang="ko-KR" sz="2000" dirty="0"/>
              <a:t>	</a:t>
            </a:r>
            <a:r>
              <a:rPr lang="ko-KR" altLang="en-US" sz="2000" dirty="0"/>
              <a:t>포인터 연산에서는 자료형 크기가 자동으로 반영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C5B02-CFE6-9AAC-9B2D-F81BA8E08D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F665E-743D-AD01-63AA-F04668747F6F}"/>
              </a:ext>
            </a:extLst>
          </p:cNvPr>
          <p:cNvSpPr txBox="1"/>
          <p:nvPr/>
        </p:nvSpPr>
        <p:spPr>
          <a:xfrm>
            <a:off x="683568" y="2708920"/>
            <a:ext cx="7488634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번지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바이트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┌────────┬────────┬────────┬────────┐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│ arr[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└────────┴────────┴────────┴────────┘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주소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1004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1008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1012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계산 방식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arr[index] = base + (index *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84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1948-E4E9-A20F-38C2-61C1D351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465F1-D3E8-7B30-BBB6-CDE749D4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8.1 1</a:t>
            </a:r>
            <a:r>
              <a:rPr lang="ko-KR" altLang="en-US" dirty="0"/>
              <a:t>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E9068-CA52-491C-D394-8E0E3A113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</a:t>
            </a:r>
            <a:r>
              <a:rPr lang="ko-KR" altLang="en-US" sz="2400" dirty="0"/>
              <a:t>차원 배열</a:t>
            </a:r>
            <a:endParaRPr lang="en-US" altLang="ko-KR" sz="2400" dirty="0"/>
          </a:p>
          <a:p>
            <a:pPr lvl="1"/>
            <a:r>
              <a:rPr lang="ko-KR" altLang="en-US" sz="2000" dirty="0"/>
              <a:t>배열의 가장 기본적인 형태</a:t>
            </a:r>
            <a:endParaRPr lang="en-US" altLang="ko-KR" sz="2000" dirty="0"/>
          </a:p>
          <a:p>
            <a:pPr lvl="1"/>
            <a:r>
              <a:rPr lang="ko-KR" altLang="en-US" sz="2000" dirty="0"/>
              <a:t>동일 자료형 데이터</a:t>
            </a:r>
            <a:r>
              <a:rPr lang="en-US" altLang="ko-KR" sz="2000" dirty="0"/>
              <a:t>. </a:t>
            </a:r>
            <a:r>
              <a:rPr lang="ko-KR" altLang="en-US" sz="2000" dirty="0"/>
              <a:t>연속된 메모리 공간 저장 구조</a:t>
            </a:r>
            <a:endParaRPr lang="en-US" altLang="ko-KR" sz="2000" dirty="0"/>
          </a:p>
          <a:p>
            <a:pPr lvl="1"/>
            <a:r>
              <a:rPr lang="ko-KR" altLang="en-US" sz="2000" dirty="0"/>
              <a:t>하나의 이름으로 다수 값 관리</a:t>
            </a:r>
            <a:r>
              <a:rPr lang="en-US" altLang="ko-KR" sz="2000" dirty="0"/>
              <a:t>. </a:t>
            </a:r>
            <a:r>
              <a:rPr lang="ko-KR" altLang="en-US" sz="2000" dirty="0"/>
              <a:t>반복문과 결합 시 활용성 증가</a:t>
            </a:r>
          </a:p>
          <a:p>
            <a:pPr lvl="3"/>
            <a:endParaRPr lang="ko-KR" altLang="en-US" sz="1400" dirty="0"/>
          </a:p>
          <a:p>
            <a:r>
              <a:rPr lang="en-US" altLang="ko-KR" sz="2400" dirty="0"/>
              <a:t>1</a:t>
            </a:r>
            <a:r>
              <a:rPr lang="ko-KR" altLang="en-US" sz="2400" dirty="0"/>
              <a:t>차원 배열 선언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pPr lvl="1"/>
            <a:r>
              <a:rPr lang="ko-KR" altLang="en-US" sz="2000" dirty="0"/>
              <a:t>자료형</a:t>
            </a:r>
            <a:r>
              <a:rPr lang="en-US" altLang="ko-KR" sz="2000" dirty="0"/>
              <a:t>: </a:t>
            </a:r>
            <a:r>
              <a:rPr lang="ko-KR" altLang="en-US" sz="2000" dirty="0"/>
              <a:t>저장 데이터 타입</a:t>
            </a:r>
            <a:endParaRPr lang="en-US" altLang="ko-KR" sz="2000" dirty="0"/>
          </a:p>
          <a:p>
            <a:pPr lvl="1"/>
            <a:r>
              <a:rPr lang="ko-KR" altLang="en-US" sz="2000" dirty="0"/>
              <a:t>배열</a:t>
            </a:r>
            <a:r>
              <a:rPr lang="en-US" altLang="ko-KR" sz="2000" dirty="0"/>
              <a:t>_</a:t>
            </a:r>
            <a:r>
              <a:rPr lang="ko-KR" altLang="en-US" sz="2000" dirty="0"/>
              <a:t>이름</a:t>
            </a:r>
            <a:r>
              <a:rPr lang="en-US" altLang="ko-KR" sz="2000" dirty="0"/>
              <a:t>: </a:t>
            </a:r>
            <a:r>
              <a:rPr lang="ko-KR" altLang="en-US" sz="2000" dirty="0"/>
              <a:t>식별자</a:t>
            </a:r>
            <a:r>
              <a:rPr lang="en-US" altLang="ko-KR" sz="2000" dirty="0"/>
              <a:t>, </a:t>
            </a:r>
            <a:r>
              <a:rPr lang="ko-KR" altLang="en-US" sz="2000" dirty="0"/>
              <a:t>대부분 배열 시작 주소 ↔  </a:t>
            </a:r>
            <a:r>
              <a:rPr lang="en-US" altLang="ko-KR" sz="2000" dirty="0">
                <a:solidFill>
                  <a:srgbClr val="0000FF"/>
                </a:solidFill>
                <a:latin typeface="Consolas" panose="020B0609020204030204" pitchFamily="49" charset="0"/>
              </a:rPr>
              <a:t>&amp;arrayVal[0];</a:t>
            </a:r>
          </a:p>
          <a:p>
            <a:pPr lvl="1"/>
            <a:r>
              <a:rPr lang="en-US" altLang="ko-KR" sz="2000" dirty="0"/>
              <a:t>size : </a:t>
            </a:r>
            <a:r>
              <a:rPr lang="ko-KR" altLang="en-US" sz="2000" dirty="0"/>
              <a:t>배열 원소</a:t>
            </a:r>
            <a:r>
              <a:rPr lang="en-US" altLang="ko-KR" sz="2000" dirty="0"/>
              <a:t>(element) </a:t>
            </a:r>
            <a:r>
              <a:rPr lang="ko-KR" altLang="en-US" sz="2000" dirty="0"/>
              <a:t>개수</a:t>
            </a:r>
            <a:r>
              <a:rPr lang="en-US" altLang="ko-KR" sz="2000" dirty="0"/>
              <a:t>, </a:t>
            </a:r>
            <a:r>
              <a:rPr lang="ko-KR" altLang="en-US" sz="2000" dirty="0"/>
              <a:t>컴파일 시점에 결정되는 상수 표현식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A47C88-BD77-1E5F-B1D2-1FF857B585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F72674-856F-49E6-129B-FB42EA4B1B5A}"/>
              </a:ext>
            </a:extLst>
          </p:cNvPr>
          <p:cNvSpPr txBox="1"/>
          <p:nvPr/>
        </p:nvSpPr>
        <p:spPr>
          <a:xfrm>
            <a:off x="827812" y="3068960"/>
            <a:ext cx="5688632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anchor="ctr" anchorCtr="1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자료형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배열요소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개수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상수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];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5FB7F-A4C5-2DEA-AE0A-36E8F03D3BD4}"/>
              </a:ext>
            </a:extLst>
          </p:cNvPr>
          <p:cNvSpPr txBox="1"/>
          <p:nvPr/>
        </p:nvSpPr>
        <p:spPr>
          <a:xfrm>
            <a:off x="859542" y="5301208"/>
            <a:ext cx="4072726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anchor="ctr" anchorCtr="1">
            <a:spAutoFit/>
          </a:bodyPr>
          <a:lstStyle/>
          <a:p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</a:rPr>
              <a:t>↔ 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</a:rPr>
              <a:t>&amp;arrayVal[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</a:rPr>
              <a:t>];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62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06E7-9F2D-321E-7B90-03A24A97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42DC0-0F87-2D1B-509D-79BE31B5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8.1 1</a:t>
            </a:r>
            <a:r>
              <a:rPr lang="ko-KR" altLang="en-US" dirty="0"/>
              <a:t>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C37A7-C06E-7268-D862-A1CD508D7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배열 접근</a:t>
            </a:r>
            <a:endParaRPr lang="en-US" altLang="ko-KR" sz="2400" dirty="0"/>
          </a:p>
          <a:p>
            <a:pPr lvl="1"/>
            <a:r>
              <a:rPr lang="ko-KR" altLang="en-US" sz="2000" dirty="0"/>
              <a:t>원소 접근 유효 인덱스</a:t>
            </a:r>
            <a:r>
              <a:rPr lang="en-US" altLang="ko-KR" sz="2000" dirty="0"/>
              <a:t>: 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rgbClr val="0000FF"/>
                </a:solidFill>
              </a:rPr>
              <a:t>[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en-US" altLang="ko-KR" sz="2000" dirty="0">
                <a:solidFill>
                  <a:srgbClr val="0000FF"/>
                </a:solidFill>
              </a:rPr>
              <a:t>, </a:t>
            </a:r>
            <a:r>
              <a:rPr lang="ko-KR" altLang="en-US" sz="2000" dirty="0">
                <a:solidFill>
                  <a:srgbClr val="0000FF"/>
                </a:solidFill>
              </a:rPr>
              <a:t>크기 </a:t>
            </a:r>
            <a:r>
              <a:rPr lang="en-US" altLang="ko-KR" sz="2000" dirty="0">
                <a:solidFill>
                  <a:srgbClr val="0000FF"/>
                </a:solidFill>
              </a:rPr>
              <a:t>-</a:t>
            </a:r>
            <a:r>
              <a:rPr lang="en-US" altLang="ko-KR" sz="2000" dirty="0">
                <a:solidFill>
                  <a:srgbClr val="FF0000"/>
                </a:solidFill>
              </a:rPr>
              <a:t>1</a:t>
            </a:r>
            <a:r>
              <a:rPr lang="en-US" altLang="ko-KR" sz="2000" dirty="0">
                <a:solidFill>
                  <a:srgbClr val="0000FF"/>
                </a:solidFill>
              </a:rPr>
              <a:t>]</a:t>
            </a:r>
          </a:p>
          <a:p>
            <a:endParaRPr lang="en-US" altLang="ko-KR" sz="2400" dirty="0">
              <a:solidFill>
                <a:srgbClr val="0000FF"/>
              </a:solidFill>
            </a:endParaRPr>
          </a:p>
          <a:p>
            <a:endParaRPr lang="en-US" altLang="ko-KR" sz="2400" dirty="0">
              <a:solidFill>
                <a:srgbClr val="0000FF"/>
              </a:solidFill>
            </a:endParaRPr>
          </a:p>
          <a:p>
            <a:endParaRPr lang="en-US" altLang="ko-KR" sz="2400" dirty="0">
              <a:solidFill>
                <a:srgbClr val="0000FF"/>
              </a:solidFill>
            </a:endParaRPr>
          </a:p>
          <a:p>
            <a:endParaRPr lang="en-US" altLang="ko-KR" sz="2400" dirty="0">
              <a:solidFill>
                <a:srgbClr val="0000FF"/>
              </a:solidFill>
            </a:endParaRPr>
          </a:p>
          <a:p>
            <a:r>
              <a:rPr lang="ko-KR" altLang="en-US" sz="2400" dirty="0"/>
              <a:t>범위를 벗어난 접근</a:t>
            </a:r>
            <a:r>
              <a:rPr lang="en-US" altLang="ko-KR" sz="2400" dirty="0"/>
              <a:t>(Undefined Behavior)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FB9BC9-D37A-25BB-923E-ABFF41934A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9FDDE-93B1-1482-858C-972F417B3CA5}"/>
              </a:ext>
            </a:extLst>
          </p:cNvPr>
          <p:cNvSpPr txBox="1"/>
          <p:nvPr/>
        </p:nvSpPr>
        <p:spPr>
          <a:xfrm>
            <a:off x="827584" y="1844824"/>
            <a:ext cx="7128594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1" i="0" u="none" strike="noStrike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배열과</a:t>
            </a:r>
            <a:r>
              <a:rPr lang="en-US" altLang="ko-KR" sz="2400" b="1" i="0" u="none" strike="noStrike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2400" b="1" i="0" u="none" strike="noStrike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동등한</a:t>
            </a:r>
            <a:r>
              <a:rPr lang="en-US" altLang="ko-KR" sz="2400" b="1" i="0" u="none" strike="noStrike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2400" b="1" i="0" u="none" strike="noStrike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자료형 </a:t>
            </a:r>
            <a:r>
              <a:rPr lang="en-US" altLang="ko-KR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value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ko-KR" altLang="en-US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배열</a:t>
            </a:r>
            <a:r>
              <a:rPr lang="en-US" altLang="ko-KR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i="0" u="none" strike="noStrike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인덱스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];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2D219-2AD6-021F-72FC-233B8BFE9FC4}"/>
              </a:ext>
            </a:extLst>
          </p:cNvPr>
          <p:cNvSpPr txBox="1"/>
          <p:nvPr/>
        </p:nvSpPr>
        <p:spPr>
          <a:xfrm>
            <a:off x="827584" y="2402173"/>
            <a:ext cx="4572000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배열</a:t>
            </a:r>
            <a:r>
              <a:rPr lang="en-US" altLang="ko-KR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i="0" u="none" strike="noStrike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인덱스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 = </a:t>
            </a:r>
            <a:r>
              <a:rPr lang="ko-KR" altLang="en-US" sz="2400" b="1" i="0" u="none" strike="noStrike" dirty="0">
                <a:solidFill>
                  <a:srgbClr val="00206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값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EB07F-0CC0-4923-9D22-DA05649601BA}"/>
              </a:ext>
            </a:extLst>
          </p:cNvPr>
          <p:cNvSpPr txBox="1"/>
          <p:nvPr/>
        </p:nvSpPr>
        <p:spPr>
          <a:xfrm>
            <a:off x="852316" y="4008685"/>
            <a:ext cx="7200800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정상 영역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      ┌────────┬────────┬────────┬────────┐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      │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    └────────┴────────┴────────┴────────┘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┌────────┬────────┬────────┬────────┬────────┬────────┐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  </a:t>
            </a:r>
            <a:r>
              <a:rPr lang="en-US" altLang="ko-KR" sz="16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???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│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  </a:t>
            </a:r>
            <a:r>
              <a:rPr lang="en-US" altLang="ko-KR" sz="16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???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│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└────────┴────────┴────────┴────────┴────────┴────────┘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↑                                            ↑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잘못된 접근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                          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잘못된 접근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7B101-A20A-FA2E-C4EC-1B4692DC00F3}"/>
              </a:ext>
            </a:extLst>
          </p:cNvPr>
          <p:cNvSpPr txBox="1"/>
          <p:nvPr/>
        </p:nvSpPr>
        <p:spPr>
          <a:xfrm>
            <a:off x="6228184" y="3510173"/>
            <a:ext cx="2664296" cy="861774"/>
          </a:xfrm>
          <a:prstGeom prst="rect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rgbClr val="FF0000"/>
                </a:solidFill>
              </a:rPr>
              <a:t>버퍼 오버플로</a:t>
            </a:r>
            <a:endParaRPr lang="en-US" altLang="ko-KR" sz="18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배열 범위 초과 보안 취약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배열 경계</a:t>
            </a:r>
            <a:r>
              <a:rPr lang="en-US" altLang="ko-KR" sz="1600" b="1" dirty="0">
                <a:solidFill>
                  <a:srgbClr val="FF0000"/>
                </a:solidFill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범위 검증 필수</a:t>
            </a:r>
            <a:endParaRPr lang="en-US" altLang="ko-KR" sz="1800" b="1" dirty="0">
              <a:solidFill>
                <a:srgbClr val="FF0000"/>
              </a:solidFill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67FB19F2-3077-F9D1-1F9E-F9FAC669B757}"/>
              </a:ext>
            </a:extLst>
          </p:cNvPr>
          <p:cNvSpPr/>
          <p:nvPr/>
        </p:nvSpPr>
        <p:spPr bwMode="auto">
          <a:xfrm rot="891076">
            <a:off x="6563286" y="4526621"/>
            <a:ext cx="443379" cy="550260"/>
          </a:xfrm>
          <a:prstGeom prst="down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03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6DD78-D63F-12B6-D6AF-5E8582C7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65739-DE8C-8C74-C278-EACB12C0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8.1.2 1</a:t>
            </a:r>
            <a:r>
              <a:rPr lang="ko-KR" altLang="en-US" dirty="0"/>
              <a:t>차원 배열 선언과 동시에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31821A-683F-DFD3-D27C-C518A0BFD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배열 선언 </a:t>
            </a:r>
            <a:r>
              <a:rPr lang="en-US" altLang="ko-KR" sz="2400" dirty="0"/>
              <a:t>+ </a:t>
            </a:r>
            <a:r>
              <a:rPr lang="ko-KR" altLang="en-US" sz="2400" dirty="0"/>
              <a:t>초기화 동시 가능</a:t>
            </a:r>
            <a:endParaRPr lang="en-US" altLang="ko-KR" sz="2400" dirty="0"/>
          </a:p>
          <a:p>
            <a:endParaRPr lang="en-US" altLang="ko-KR" sz="2400" dirty="0"/>
          </a:p>
          <a:p>
            <a:pPr lvl="3"/>
            <a:endParaRPr lang="en-US" altLang="ko-KR" sz="1400" dirty="0"/>
          </a:p>
          <a:p>
            <a:pPr lvl="3"/>
            <a:endParaRPr lang="en-US" altLang="ko-KR" sz="1400" dirty="0"/>
          </a:p>
          <a:p>
            <a:pPr lvl="3"/>
            <a:endParaRPr lang="en-US" altLang="ko-KR" sz="1400" dirty="0"/>
          </a:p>
          <a:p>
            <a:pPr lvl="3"/>
            <a:endParaRPr lang="en-US" altLang="ko-KR" sz="1400" dirty="0"/>
          </a:p>
          <a:p>
            <a:r>
              <a:rPr lang="ko-KR" altLang="en-US" sz="2400" dirty="0"/>
              <a:t>지정한 값으로 원소 초기화</a:t>
            </a:r>
            <a:r>
              <a:rPr lang="en-US" altLang="ko-KR" sz="2400" dirty="0"/>
              <a:t>. </a:t>
            </a:r>
            <a:r>
              <a:rPr lang="ko-KR" altLang="en-US" sz="2400" dirty="0"/>
              <a:t>나머지는 </a:t>
            </a:r>
            <a:r>
              <a:rPr lang="en-US" altLang="ko-KR" sz="2400" dirty="0"/>
              <a:t>0</a:t>
            </a:r>
            <a:r>
              <a:rPr lang="ko-KR" altLang="en-US" sz="2400" dirty="0"/>
              <a:t> 으로 자동 초기화</a:t>
            </a:r>
            <a:endParaRPr lang="en-US" altLang="ko-KR" sz="2400" dirty="0"/>
          </a:p>
          <a:p>
            <a:pPr lvl="3"/>
            <a:endParaRPr lang="en-US" altLang="ko-KR" sz="1400" dirty="0"/>
          </a:p>
          <a:p>
            <a:pPr lvl="3"/>
            <a:endParaRPr lang="en-US" altLang="ko-KR" sz="1400" dirty="0"/>
          </a:p>
          <a:p>
            <a:endParaRPr lang="en-US" altLang="ko-KR" sz="24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배열 초기화 →모든 요소 </a:t>
            </a:r>
            <a:r>
              <a:rPr lang="en-US" altLang="ko-KR" sz="2400" dirty="0"/>
              <a:t>0 </a:t>
            </a:r>
            <a:r>
              <a:rPr lang="ko-KR" altLang="en-US" sz="2400" dirty="0"/>
              <a:t>초기화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배열 크기 없이 배열 선언 초기화</a:t>
            </a:r>
            <a:endParaRPr lang="en-US" altLang="ko-KR" sz="2400" dirty="0"/>
          </a:p>
          <a:p>
            <a:pPr lvl="1"/>
            <a:r>
              <a:rPr lang="ko-KR" altLang="en-US" sz="2000" dirty="0"/>
              <a:t>원소 개수</a:t>
            </a:r>
            <a:r>
              <a:rPr lang="en-US" altLang="ko-KR" sz="2000" dirty="0"/>
              <a:t>: </a:t>
            </a:r>
            <a:r>
              <a:rPr lang="ko-KR" altLang="en-US" sz="2000" dirty="0"/>
              <a:t>초기화 하고 있는 원소 개수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7899DF-A46D-C297-0DD3-1FD402C9EF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1DD9B-FAD9-80CE-9386-8666FECBC976}"/>
              </a:ext>
            </a:extLst>
          </p:cNvPr>
          <p:cNvSpPr txBox="1"/>
          <p:nvPr/>
        </p:nvSpPr>
        <p:spPr>
          <a:xfrm>
            <a:off x="539750" y="1207782"/>
            <a:ext cx="7704658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altLang="ko-KR" sz="1800" dirty="0">
                <a:solidFill>
                  <a:srgbClr val="383A42"/>
                </a:solidFill>
                <a:latin typeface="Consolas" panose="020B0609020204030204" pitchFamily="49" charset="0"/>
              </a:rPr>
              <a:t> // 32</a:t>
            </a:r>
            <a:r>
              <a:rPr lang="ko-KR" altLang="en-US" sz="1800" dirty="0">
                <a:solidFill>
                  <a:srgbClr val="383A42"/>
                </a:solidFill>
                <a:latin typeface="Consolas" panose="020B0609020204030204" pitchFamily="49" charset="0"/>
              </a:rPr>
              <a:t>개 원소 중 </a:t>
            </a:r>
            <a:r>
              <a:rPr lang="en-US" altLang="ko-KR" sz="1800" dirty="0">
                <a:solidFill>
                  <a:srgbClr val="383A42"/>
                </a:solidFill>
                <a:latin typeface="Consolas" panose="020B0609020204030204" pitchFamily="49" charset="0"/>
              </a:rPr>
              <a:t>4</a:t>
            </a:r>
            <a:r>
              <a:rPr lang="ko-KR" altLang="en-US" sz="1800" dirty="0">
                <a:solidFill>
                  <a:srgbClr val="383A42"/>
                </a:solidFill>
                <a:latin typeface="Consolas" panose="020B0609020204030204" pitchFamily="49" charset="0"/>
              </a:rPr>
              <a:t>개만 초기화</a:t>
            </a:r>
            <a:endParaRPr lang="ko-KR" alt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D3A57-3D0D-B9AD-3DE9-DD2393A9CA12}"/>
              </a:ext>
            </a:extLst>
          </p:cNvPr>
          <p:cNvSpPr txBox="1"/>
          <p:nvPr/>
        </p:nvSpPr>
        <p:spPr>
          <a:xfrm>
            <a:off x="539750" y="3119021"/>
            <a:ext cx="6463780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sv-SE" altLang="ko-KR" sz="20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arr[0] = 10, arr[1] = 20, arr[2] = 30, arr[3] = 40,</a:t>
            </a:r>
          </a:p>
          <a:p>
            <a:r>
              <a:rPr lang="sv-SE" altLang="ko-KR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arr[4] ~ arr[31] = 0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52C23F-588D-2E90-48B8-D7A16A383A8D}"/>
              </a:ext>
            </a:extLst>
          </p:cNvPr>
          <p:cNvSpPr txBox="1"/>
          <p:nvPr/>
        </p:nvSpPr>
        <p:spPr>
          <a:xfrm>
            <a:off x="539750" y="4885621"/>
            <a:ext cx="4572000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9CD13-E650-6D88-B75C-7B9757ED5A3C}"/>
              </a:ext>
            </a:extLst>
          </p:cNvPr>
          <p:cNvSpPr txBox="1"/>
          <p:nvPr/>
        </p:nvSpPr>
        <p:spPr>
          <a:xfrm>
            <a:off x="539750" y="1577114"/>
            <a:ext cx="7704658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arr[] = {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 // 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원소 개수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5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5387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7550E-FA73-A5BD-E0DF-68F9267C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8.1.3 1</a:t>
            </a:r>
            <a:r>
              <a:rPr lang="ko-KR" altLang="en-US" dirty="0"/>
              <a:t>차원 배열의 크기와 원소의 개수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C7A69C-A878-EB72-9696-0B45260EC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B49F1B-C36D-3618-FD92-CE9A5F5F20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FA83E-B58E-9797-F618-0A7FBC2AA96A}"/>
              </a:ext>
            </a:extLst>
          </p:cNvPr>
          <p:cNvSpPr txBox="1"/>
          <p:nvPr/>
        </p:nvSpPr>
        <p:spPr>
          <a:xfrm>
            <a:off x="395535" y="851530"/>
            <a:ext cx="8353177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 원소 크기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 전체 크기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 요소 개수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 전체 크기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 원소 크기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73A6A-32C8-2313-C1FC-ADF92173D9B1}"/>
              </a:ext>
            </a:extLst>
          </p:cNvPr>
          <p:cNvSpPr txBox="1"/>
          <p:nvPr/>
        </p:nvSpPr>
        <p:spPr>
          <a:xfrm>
            <a:off x="395535" y="3133358"/>
            <a:ext cx="8353177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(arr);    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512 (int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바이트 가정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 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4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바이트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arr_number =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 /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128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2654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C099-0432-AECA-6B12-69287277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0DFF4-1AE9-C9E7-4B66-0C148301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8.1.4 1</a:t>
            </a:r>
            <a:r>
              <a:rPr lang="ko-KR" altLang="en-US" dirty="0"/>
              <a:t>차원 배열 접근 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741A81-3BBD-C9D2-C510-940F10528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0EF6A7-24D8-5026-444E-5EC2B3C4C9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6B0E1-4B2D-4C85-AD19-CFFC6FE30CDF}"/>
              </a:ext>
            </a:extLst>
          </p:cNvPr>
          <p:cNvSpPr txBox="1"/>
          <p:nvPr/>
        </p:nvSpPr>
        <p:spPr>
          <a:xfrm>
            <a:off x="534025" y="723696"/>
            <a:ext cx="7998416" cy="569386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원소를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으로 초기화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arr_number =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 /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배열에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부터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까지 값 저장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arr_number; ++i)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arr[i] = i +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합계 계산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arr_number; ++i)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sum += arr[i];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평균 계산    및 출력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average = 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)sum / arr_number;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평균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%.4f\n"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average);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0099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C660B-1F67-369F-3D57-C50034A8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0FD91-7C58-8DB6-9101-B564BD92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8.1.5 1</a:t>
            </a:r>
            <a:r>
              <a:rPr lang="ko-KR" altLang="en-US" dirty="0"/>
              <a:t>차원 배열의 최대값 </a:t>
            </a:r>
            <a:r>
              <a:rPr lang="en-US" altLang="ko-KR" dirty="0"/>
              <a:t>/ </a:t>
            </a:r>
            <a:r>
              <a:rPr lang="ko-KR" altLang="en-US" dirty="0"/>
              <a:t>최소값 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9BAF9C-F34F-A933-A3EF-CAEEB0E57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351BC0-7B41-7066-F350-F12BBB87DD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C431D-62BD-1BF7-AE9C-A2164661343F}"/>
              </a:ext>
            </a:extLst>
          </p:cNvPr>
          <p:cNvSpPr txBox="1"/>
          <p:nvPr/>
        </p:nvSpPr>
        <p:spPr>
          <a:xfrm>
            <a:off x="33892" y="541265"/>
            <a:ext cx="5387216" cy="32483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tIns="36000" bIns="72000">
            <a:spAutoFit/>
          </a:bodyPr>
          <a:lstStyle/>
          <a:p>
            <a:pPr rtl="0">
              <a:buNone/>
            </a:pP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&lt;stdlib.h&gt;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&lt;time.h&gt;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1200" b="0" dirty="0">
              <a:effectLst/>
            </a:endParaRPr>
          </a:p>
          <a:p>
            <a:pPr rtl="0">
              <a:buNone/>
            </a:pP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srand((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)time(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ko-KR" sz="1200" b="0" dirty="0">
              <a:effectLst/>
            </a:endParaRPr>
          </a:p>
          <a:p>
            <a:pPr>
              <a:buNone/>
            </a:pPr>
            <a:br>
              <a:rPr lang="en-US" altLang="ko-KR" sz="1200" b="0" dirty="0">
                <a:effectLst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선언 및 초기화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arr_count =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 /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altLang="ko-KR" sz="1200" b="0" dirty="0">
              <a:effectLst/>
            </a:endParaRPr>
          </a:p>
          <a:p>
            <a:pPr rtl="0">
              <a:buNone/>
            </a:pP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난수로 배열 채우기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[0,999]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arr_count; ++i)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altLang="ko-KR" sz="1200" b="0" dirty="0">
              <a:effectLst/>
            </a:endParaRPr>
          </a:p>
          <a:p>
            <a:pPr rtl="0">
              <a:buNone/>
            </a:pP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arr[i] = rand() %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9DFCB-6B54-1DE9-2CE1-DA8C5A22E46B}"/>
              </a:ext>
            </a:extLst>
          </p:cNvPr>
          <p:cNvSpPr txBox="1"/>
          <p:nvPr/>
        </p:nvSpPr>
        <p:spPr>
          <a:xfrm>
            <a:off x="3894071" y="3091583"/>
            <a:ext cx="5184576" cy="343304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tIns="36000" bIns="72000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...</a:t>
            </a:r>
          </a:p>
          <a:p>
            <a:r>
              <a:rPr lang="en-US" altLang="ko-KR" sz="1200" b="1" dirty="0">
                <a:solidFill>
                  <a:srgbClr val="A626A4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maxVal = arr[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 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최대값 저장 변수 초기화</a:t>
            </a:r>
            <a:endParaRPr lang="ko-KR" altLang="en-US" sz="1200" b="1" dirty="0">
              <a:effectLst/>
            </a:endParaRPr>
          </a:p>
          <a:p>
            <a:pPr rtl="0">
              <a:buNone/>
            </a:pP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minVal = arr[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 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최소값 저장 변수 초기화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arr_count; ++i)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altLang="ko-KR" sz="1200" b="1" dirty="0">
              <a:effectLst/>
            </a:endParaRPr>
          </a:p>
          <a:p>
            <a:pPr rtl="0">
              <a:buNone/>
            </a:pP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원소 값이 최대값 보다 크면 저장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(arr[i] &gt; maxVal)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maxVal = arr[i];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1" dirty="0">
              <a:effectLst/>
            </a:endParaRPr>
          </a:p>
          <a:p>
            <a:pPr>
              <a:buNone/>
            </a:pP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원소 값이 최소값 보다 작으면 저장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(arr[i] &lt; minVal)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minVal = arr[i];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최대값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maxVal);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최소값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minVal);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883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9BF57-BF32-1220-BCC0-740D8EA0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8.1.6 1</a:t>
            </a:r>
            <a:r>
              <a:rPr lang="ko-KR" altLang="en-US" dirty="0"/>
              <a:t>차원 배열 접근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3B8B13-4D11-35D8-E5D0-BB478A470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양수</a:t>
            </a:r>
            <a:r>
              <a:rPr lang="en-US" altLang="ko-KR" sz="2400" dirty="0"/>
              <a:t>, </a:t>
            </a:r>
            <a:r>
              <a:rPr lang="ko-KR" altLang="en-US" sz="2400" dirty="0"/>
              <a:t>음수</a:t>
            </a:r>
            <a:r>
              <a:rPr lang="en-US" altLang="ko-KR" sz="2400" dirty="0"/>
              <a:t>, </a:t>
            </a:r>
            <a:r>
              <a:rPr lang="ko-KR" altLang="en-US" sz="2400" dirty="0"/>
              <a:t>짝수</a:t>
            </a:r>
            <a:r>
              <a:rPr lang="en-US" altLang="ko-KR" sz="2400" dirty="0"/>
              <a:t>/</a:t>
            </a:r>
            <a:r>
              <a:rPr lang="ko-KR" altLang="en-US" sz="2400" dirty="0"/>
              <a:t>홀수 카운트</a:t>
            </a:r>
            <a:endParaRPr lang="en-US" altLang="ko-KR" sz="2400" dirty="0"/>
          </a:p>
          <a:p>
            <a:pPr lvl="1"/>
            <a:r>
              <a:rPr lang="ko-KR" altLang="en-US" sz="2000" dirty="0"/>
              <a:t>난수 </a:t>
            </a:r>
            <a:r>
              <a:rPr lang="en-US" altLang="ko-KR" sz="2000" dirty="0"/>
              <a:t>[-5000, 5000]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F91084-8FD3-55DE-BDE3-08D7B842BC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F8C97-A1C1-5A82-B04A-91ED81FC9A13}"/>
              </a:ext>
            </a:extLst>
          </p:cNvPr>
          <p:cNvSpPr txBox="1"/>
          <p:nvPr/>
        </p:nvSpPr>
        <p:spPr>
          <a:xfrm>
            <a:off x="190300" y="1628800"/>
            <a:ext cx="3820899" cy="212365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srand((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)time(</a:t>
            </a:r>
            <a:r>
              <a:rPr lang="en-US" altLang="ko-KR" sz="12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선언 및 초기화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arr_count =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(arr)/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난수로 배열 채우기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[-5000, 5000]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arr_count; ++i)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arr[i] = -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(rand() % (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10000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D82A5-B05A-1743-9763-630D7E356EB0}"/>
              </a:ext>
            </a:extLst>
          </p:cNvPr>
          <p:cNvSpPr txBox="1"/>
          <p:nvPr/>
        </p:nvSpPr>
        <p:spPr>
          <a:xfrm>
            <a:off x="4000410" y="2348880"/>
            <a:ext cx="4813884" cy="415498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positive_count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양수 개수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negative_count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음수 개수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even_count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짝수 개수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odd_count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홀수 개수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arr_count; ++i)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(arr[i] &gt;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   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과 비교 양수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++positive_count;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(arr[i] &lt;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과 비교 음수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++negative_count;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(arr[i] %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나머지 연산자로 짝수 확인</a:t>
            </a:r>
            <a:b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++even_count;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++odd_count;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양수 개수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positive_count);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음수 개수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negative_count);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짝수 개수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even_count);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홀수 개수</a:t>
            </a:r>
            <a:r>
              <a:rPr lang="en-US" altLang="ko-KR" sz="12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odd_count);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8117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14A94-D163-C564-A54B-94FA622B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8.1.7 1</a:t>
            </a:r>
            <a:r>
              <a:rPr lang="ko-KR" altLang="en-US" dirty="0"/>
              <a:t>차원 배열 역순 출력</a:t>
            </a:r>
            <a:r>
              <a:rPr lang="en-US" altLang="ko-KR" dirty="0"/>
              <a:t>(Reverse)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8BADF-36A7-E794-5DCA-087605E9F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배열 역순</a:t>
            </a:r>
            <a:endParaRPr lang="en-US" altLang="ko-KR" dirty="0"/>
          </a:p>
          <a:p>
            <a:pPr lvl="1"/>
            <a:r>
              <a:rPr lang="ko-KR" altLang="en-US" dirty="0"/>
              <a:t>시작</a:t>
            </a:r>
            <a:r>
              <a:rPr lang="en-US" altLang="ko-KR" dirty="0"/>
              <a:t>: (N - 1), </a:t>
            </a:r>
            <a:r>
              <a:rPr lang="ko-KR" altLang="en-US" dirty="0"/>
              <a:t>종료</a:t>
            </a:r>
            <a:r>
              <a:rPr lang="en-US" altLang="ko-KR" dirty="0"/>
              <a:t>: 0, </a:t>
            </a:r>
            <a:r>
              <a:rPr lang="ko-KR" altLang="en-US" dirty="0"/>
              <a:t>방향</a:t>
            </a:r>
            <a:r>
              <a:rPr lang="en-US" altLang="ko-KR" dirty="0"/>
              <a:t>: </a:t>
            </a:r>
            <a:r>
              <a:rPr lang="ko-KR" altLang="en-US" dirty="0"/>
              <a:t>감소</a:t>
            </a:r>
            <a:r>
              <a:rPr lang="en-US" altLang="ko-KR" dirty="0"/>
              <a:t>(--)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EE9C34-8C49-D240-02A8-970997AC67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E32C3-1477-8F61-7B2F-A9BE8979C6CD}"/>
              </a:ext>
            </a:extLst>
          </p:cNvPr>
          <p:cNvSpPr txBox="1"/>
          <p:nvPr/>
        </p:nvSpPr>
        <p:spPr>
          <a:xfrm>
            <a:off x="683568" y="2073584"/>
            <a:ext cx="6984776" cy="39703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arr_count =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 /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배열에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부터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까지 값 저장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arr_count; ++i)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arr[i] = i +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배열을 역순으로 출력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arr_count -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&gt;=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--i)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arr[i]);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48219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934D-ECF5-77D6-1559-D3119AFB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8ACD8-CCB0-AC6C-F056-FF45CD33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8.1.8 1</a:t>
            </a:r>
            <a:r>
              <a:rPr lang="ko-KR" altLang="en-US" dirty="0"/>
              <a:t>차원 배열 복사</a:t>
            </a:r>
            <a:r>
              <a:rPr lang="en-US" altLang="ko-KR" dirty="0"/>
              <a:t>(Copy)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7C280-CB5C-5F5E-F550-ABE68D698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배열 복사</a:t>
            </a:r>
            <a:endParaRPr lang="en-US" altLang="ko-KR" sz="2400" dirty="0"/>
          </a:p>
          <a:p>
            <a:pPr lvl="1"/>
            <a:r>
              <a:rPr lang="ko-KR" altLang="en-US" sz="2000" dirty="0"/>
              <a:t>배열 이름 </a:t>
            </a:r>
            <a:r>
              <a:rPr lang="en-US" altLang="ko-KR" sz="2000" dirty="0"/>
              <a:t>= </a:t>
            </a:r>
            <a:r>
              <a:rPr lang="ko-KR" altLang="en-US" sz="2000" dirty="0"/>
              <a:t>배열 이름</a:t>
            </a:r>
            <a:r>
              <a:rPr lang="en-US" altLang="ko-KR" sz="2000" dirty="0"/>
              <a:t>;</a:t>
            </a:r>
            <a:r>
              <a:rPr lang="ko-KR" altLang="en-US" sz="2000" dirty="0"/>
              <a:t> → 복사 불가 </a:t>
            </a:r>
            <a:r>
              <a:rPr lang="en-US" altLang="ko-KR" sz="2000" dirty="0"/>
              <a:t>(</a:t>
            </a:r>
            <a:r>
              <a:rPr lang="ko-KR" altLang="en-US" sz="2000" dirty="0"/>
              <a:t>배열 이름 → 주소 개념</a:t>
            </a:r>
            <a:r>
              <a:rPr lang="en-US" altLang="ko-KR" sz="2000" dirty="0"/>
              <a:t>)</a:t>
            </a:r>
          </a:p>
          <a:p>
            <a:pPr lvl="2"/>
            <a:r>
              <a:rPr lang="ko-KR" altLang="en-US" sz="1600" dirty="0"/>
              <a:t>배열 전체 복사 문법 없음</a:t>
            </a:r>
            <a:endParaRPr lang="en-US" altLang="ko-KR" sz="1600" dirty="0"/>
          </a:p>
          <a:p>
            <a:pPr lvl="2"/>
            <a:r>
              <a:rPr lang="ko-KR" altLang="en-US" sz="1600" dirty="0"/>
              <a:t>요소 단위 복사 필요 → 반복 구조 사용</a:t>
            </a:r>
          </a:p>
          <a:p>
            <a:pPr lvl="1"/>
            <a:r>
              <a:rPr lang="ko-KR" altLang="en-US" sz="2000" dirty="0"/>
              <a:t>순방향 </a:t>
            </a:r>
            <a:r>
              <a:rPr lang="en-US" altLang="ko-KR" sz="2000" dirty="0"/>
              <a:t>/ </a:t>
            </a:r>
            <a:r>
              <a:rPr lang="ko-KR" altLang="en-US" sz="2000" dirty="0"/>
              <a:t>역순 복사 가능</a:t>
            </a:r>
            <a:r>
              <a:rPr lang="en-US" altLang="ko-KR" sz="2000" dirty="0"/>
              <a:t>: </a:t>
            </a:r>
            <a:endParaRPr lang="ko-KR" altLang="en-US" sz="2000" dirty="0"/>
          </a:p>
          <a:p>
            <a:pPr lvl="2"/>
            <a:r>
              <a:rPr lang="ko-KR" altLang="en-US" sz="1600" dirty="0"/>
              <a:t>데이터 덮어쓰기 방지 → 역순 복사 사용</a:t>
            </a:r>
          </a:p>
          <a:p>
            <a:pPr lvl="1"/>
            <a:r>
              <a:rPr lang="ko-KR" altLang="en-US" sz="2000" dirty="0"/>
              <a:t>결과</a:t>
            </a:r>
            <a:r>
              <a:rPr lang="en-US" altLang="ko-KR" sz="2000" dirty="0"/>
              <a:t>: </a:t>
            </a:r>
            <a:r>
              <a:rPr lang="ko-KR" altLang="en-US" sz="2000" dirty="0"/>
              <a:t>값 동일 </a:t>
            </a:r>
            <a:r>
              <a:rPr lang="en-US" altLang="ko-KR" sz="2000" dirty="0"/>
              <a:t>/ </a:t>
            </a:r>
            <a:r>
              <a:rPr lang="ko-KR" altLang="en-US" sz="2000" dirty="0"/>
              <a:t>메모리 독립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88FAD-B6E4-39FD-0DBD-0A7863E22E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E890D-3956-2585-6E14-FA5ED049DFAE}"/>
              </a:ext>
            </a:extLst>
          </p:cNvPr>
          <p:cNvSpPr txBox="1"/>
          <p:nvPr/>
        </p:nvSpPr>
        <p:spPr>
          <a:xfrm>
            <a:off x="683568" y="3181330"/>
            <a:ext cx="6620492" cy="341632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올바른 복사 방법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원소를 하나씩 복사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arr_count; ++i)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dst[i] = src[i];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뒤에서부터 복사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 while(--i)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은 표현이 간결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index = arr_count;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(--index &gt;=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dst[index] = src[index];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77578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14D64-C5BB-CDE0-CA69-F68F08D2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8.1.9 1</a:t>
            </a:r>
            <a:r>
              <a:rPr lang="ko-KR" altLang="en-US" dirty="0"/>
              <a:t>차원 배열 원소의 값 교환</a:t>
            </a:r>
            <a:r>
              <a:rPr lang="en-US" altLang="ko-KR" dirty="0"/>
              <a:t>(Swap)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69FD34-7466-604B-A8B0-4ACFABAB4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배열 원소 교환</a:t>
            </a:r>
            <a:endParaRPr lang="en-US" altLang="ko-KR" dirty="0"/>
          </a:p>
          <a:p>
            <a:pPr lvl="1"/>
            <a:r>
              <a:rPr lang="ko-KR" altLang="en-US" dirty="0"/>
              <a:t>두 값 직접 교환 불가 → 임시 변수 필요</a:t>
            </a:r>
          </a:p>
          <a:p>
            <a:pPr lvl="2"/>
            <a:r>
              <a:rPr lang="ko-KR" altLang="en-US" dirty="0"/>
              <a:t>값 이동 과정</a:t>
            </a:r>
            <a:r>
              <a:rPr lang="en-US" altLang="ko-KR" dirty="0"/>
              <a:t>: A → temp, B → A, temp → B</a:t>
            </a:r>
          </a:p>
          <a:p>
            <a:pPr lvl="2"/>
            <a:r>
              <a:rPr lang="ko-KR" altLang="en-US" dirty="0"/>
              <a:t>특정 인덱스 두 위치 선택 → 값 교환</a:t>
            </a:r>
          </a:p>
          <a:p>
            <a:pPr lvl="1"/>
            <a:r>
              <a:rPr lang="ko-KR" altLang="en-US" dirty="0"/>
              <a:t>정렬 알고리즘 기본 동작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210CE4-51BF-C86A-E56C-BB524F57F3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34B54-397B-3265-E242-DA7715BC6701}"/>
              </a:ext>
            </a:extLst>
          </p:cNvPr>
          <p:cNvSpPr txBox="1"/>
          <p:nvPr/>
        </p:nvSpPr>
        <p:spPr>
          <a:xfrm>
            <a:off x="899592" y="3068960"/>
            <a:ext cx="7560840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값 교환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(Swap)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temp = arr[a];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arr[a] = arr[b];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arr[b] = temp;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006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D89A-05E9-54B8-0A19-81B48878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69B11-45BF-0DFA-F37D-C1DF42A9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8.1.10 1</a:t>
            </a:r>
            <a:r>
              <a:rPr lang="ko-KR" altLang="en-US" dirty="0"/>
              <a:t>차원 배열 정렬</a:t>
            </a:r>
            <a:r>
              <a:rPr lang="en-US" altLang="ko-KR" dirty="0"/>
              <a:t>(Bubble Sort)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12929C-1505-08A8-C471-4BDCD535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Bubble Sort</a:t>
            </a:r>
          </a:p>
          <a:p>
            <a:pPr lvl="1"/>
            <a:r>
              <a:rPr lang="ko-KR" altLang="en-US" sz="1800" dirty="0"/>
              <a:t>인접한 두 원소 비교 → 순서 어긋남 → 자리 교환</a:t>
            </a:r>
          </a:p>
          <a:p>
            <a:pPr lvl="1"/>
            <a:r>
              <a:rPr lang="ko-KR" altLang="en-US" sz="1800" dirty="0"/>
              <a:t>반복 수행 → 큰 값 오른쪽 이동</a:t>
            </a:r>
            <a:r>
              <a:rPr lang="en-US" altLang="ko-KR" sz="1800" dirty="0"/>
              <a:t>: </a:t>
            </a:r>
            <a:r>
              <a:rPr lang="ko-KR" altLang="en-US" sz="1800" dirty="0"/>
              <a:t>거품처럼 위로 이동 → </a:t>
            </a:r>
            <a:r>
              <a:rPr lang="en-US" altLang="ko-KR" sz="1800" dirty="0"/>
              <a:t>Bubble Sort</a:t>
            </a:r>
            <a:endParaRPr lang="ko-KR" altLang="en-US" sz="1800" dirty="0"/>
          </a:p>
          <a:p>
            <a:pPr lvl="1"/>
            <a:r>
              <a:rPr lang="ko-KR" altLang="en-US" sz="1800" dirty="0"/>
              <a:t>단순 구조</a:t>
            </a:r>
          </a:p>
          <a:p>
            <a:pPr lvl="2"/>
            <a:r>
              <a:rPr lang="ko-KR" altLang="en-US" sz="1400" dirty="0"/>
              <a:t>성능 낮음 → 교육용</a:t>
            </a:r>
            <a:endParaRPr lang="en-US" altLang="ko-KR" sz="1400" dirty="0"/>
          </a:p>
          <a:p>
            <a:pPr lvl="2"/>
            <a:r>
              <a:rPr lang="ko-KR" altLang="en-US" sz="1400" dirty="0"/>
              <a:t>기본 개념 정렬된 자료 </a:t>
            </a:r>
            <a:r>
              <a:rPr lang="en-US" altLang="ko-KR" sz="1400" dirty="0"/>
              <a:t>O(n). </a:t>
            </a:r>
            <a:r>
              <a:rPr lang="ko-KR" altLang="en-US" sz="1400" dirty="0"/>
              <a:t>정렬되지 않은 자료 </a:t>
            </a:r>
            <a:r>
              <a:rPr lang="en-US" altLang="ko-KR" sz="1400" dirty="0"/>
              <a:t>O(n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)</a:t>
            </a:r>
            <a:endParaRPr lang="ko-KR" altLang="en-US" sz="1800" dirty="0"/>
          </a:p>
          <a:p>
            <a:r>
              <a:rPr lang="ko-KR" altLang="en-US" sz="2000" dirty="0"/>
              <a:t>동작 흐름</a:t>
            </a:r>
          </a:p>
          <a:p>
            <a:pPr lvl="1"/>
            <a:r>
              <a:rPr lang="ko-KR" altLang="en-US" sz="1800" dirty="0"/>
              <a:t>한 번 반복 → 가장 큰 값 맨 뒤 이동</a:t>
            </a:r>
          </a:p>
          <a:p>
            <a:pPr lvl="1"/>
            <a:r>
              <a:rPr lang="ko-KR" altLang="en-US" sz="1800" dirty="0"/>
              <a:t>반복 횟수 증가 → 정렬 범위 감소</a:t>
            </a:r>
          </a:p>
          <a:p>
            <a:pPr lvl="1"/>
            <a:r>
              <a:rPr lang="ko-KR" altLang="en-US" sz="1800" dirty="0"/>
              <a:t>전체 반복 → 오름차순 정렬 완료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B53835-03F6-AE39-AD61-90C0F29F4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D9FB5-6E3F-CE52-B537-1C53AE6E9B21}"/>
              </a:ext>
            </a:extLst>
          </p:cNvPr>
          <p:cNvSpPr txBox="1"/>
          <p:nvPr/>
        </p:nvSpPr>
        <p:spPr>
          <a:xfrm>
            <a:off x="611560" y="4201028"/>
            <a:ext cx="7020780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버블 정렬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pass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pass &lt; arr_count -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++pass)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 -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- pass; ++i)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(arr[i] &gt; arr[i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temp = arr[i];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arr[i] = arr[i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arr[i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temp;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21764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639F-AB41-6C14-964F-7097A6D3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542E6-AB86-34D4-2D1D-412ADE1E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8.1.10 1</a:t>
            </a:r>
            <a:r>
              <a:rPr lang="ko-KR" altLang="en-US" dirty="0"/>
              <a:t>차원 배열 정렬</a:t>
            </a:r>
            <a:r>
              <a:rPr lang="en-US" altLang="ko-KR" dirty="0"/>
              <a:t>(Bubble Sort)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3AE7A-4564-4DD1-6597-BAA8DF874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Bubble Sort</a:t>
            </a:r>
          </a:p>
          <a:p>
            <a:pPr lvl="1"/>
            <a:r>
              <a:rPr lang="ko-KR" altLang="en-US" sz="1800" dirty="0"/>
              <a:t>인접한 두 원소 비교 → 순서 어긋남 → 자리 교환</a:t>
            </a:r>
          </a:p>
          <a:p>
            <a:pPr lvl="1"/>
            <a:r>
              <a:rPr lang="ko-KR" altLang="en-US" sz="1800" dirty="0"/>
              <a:t>반복 수행 → 큰 값 오른쪽 이동</a:t>
            </a:r>
            <a:r>
              <a:rPr lang="en-US" altLang="ko-KR" sz="1800" dirty="0"/>
              <a:t>: </a:t>
            </a:r>
            <a:r>
              <a:rPr lang="ko-KR" altLang="en-US" sz="1800" dirty="0"/>
              <a:t>거품처럼 위로 이동 → </a:t>
            </a:r>
            <a:r>
              <a:rPr lang="en-US" altLang="ko-KR" sz="1800" dirty="0"/>
              <a:t>Bubble Sort</a:t>
            </a:r>
            <a:endParaRPr lang="ko-KR" altLang="en-US" sz="1800" dirty="0"/>
          </a:p>
          <a:p>
            <a:pPr lvl="1"/>
            <a:r>
              <a:rPr lang="ko-KR" altLang="en-US" sz="1800" dirty="0"/>
              <a:t>단순 구조</a:t>
            </a:r>
          </a:p>
          <a:p>
            <a:pPr lvl="2"/>
            <a:r>
              <a:rPr lang="ko-KR" altLang="en-US" sz="1400" dirty="0"/>
              <a:t>성능 낮음 → 교육용</a:t>
            </a:r>
            <a:endParaRPr lang="en-US" altLang="ko-KR" sz="1400" dirty="0"/>
          </a:p>
          <a:p>
            <a:pPr lvl="2"/>
            <a:r>
              <a:rPr lang="ko-KR" altLang="en-US" sz="1400" dirty="0"/>
              <a:t>기본 개념 정렬된 자료 </a:t>
            </a:r>
            <a:r>
              <a:rPr lang="en-US" altLang="ko-KR" sz="1400" dirty="0"/>
              <a:t>O(n). </a:t>
            </a:r>
            <a:r>
              <a:rPr lang="ko-KR" altLang="en-US" sz="1400" dirty="0"/>
              <a:t>정렬되지 않은 자료 </a:t>
            </a:r>
            <a:r>
              <a:rPr lang="en-US" altLang="ko-KR" sz="1400" dirty="0"/>
              <a:t>O(n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)</a:t>
            </a:r>
            <a:endParaRPr lang="ko-KR" altLang="en-US" sz="1800" dirty="0"/>
          </a:p>
          <a:p>
            <a:r>
              <a:rPr lang="ko-KR" altLang="en-US" sz="2000" dirty="0"/>
              <a:t>동작 흐름</a:t>
            </a:r>
          </a:p>
          <a:p>
            <a:pPr lvl="1"/>
            <a:r>
              <a:rPr lang="ko-KR" altLang="en-US" sz="1800" dirty="0"/>
              <a:t>한 번 반복 → 가장 큰 값 맨 뒤 이동</a:t>
            </a:r>
          </a:p>
          <a:p>
            <a:pPr lvl="1"/>
            <a:r>
              <a:rPr lang="ko-KR" altLang="en-US" sz="1800" dirty="0"/>
              <a:t>반복 횟수 증가 → 정렬 범위 감소</a:t>
            </a:r>
          </a:p>
          <a:p>
            <a:pPr lvl="1"/>
            <a:r>
              <a:rPr lang="ko-KR" altLang="en-US" sz="1800" dirty="0"/>
              <a:t>전체 반복 → 오름차순 정렬 완료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0866A1-4C97-0C3D-9528-F2DEF614E6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61972-3683-F217-0130-F3DFD0DD3246}"/>
              </a:ext>
            </a:extLst>
          </p:cNvPr>
          <p:cNvSpPr txBox="1"/>
          <p:nvPr/>
        </p:nvSpPr>
        <p:spPr>
          <a:xfrm>
            <a:off x="611560" y="4201028"/>
            <a:ext cx="7020780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버블 정렬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pass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pass &lt; arr_count -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++pass)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 -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- pass; ++i)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(arr[i] &gt; arr[i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temp = arr[i];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arr[i] = arr[i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arr[i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temp;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74004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8DD0-EC09-C5CA-9B05-882F76AA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A10E31-B207-1065-CEA3-F26C6A66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8.1.10 1</a:t>
            </a:r>
            <a:r>
              <a:rPr lang="ko-KR" altLang="en-US" dirty="0"/>
              <a:t>차원 배열 접근 </a:t>
            </a:r>
            <a:r>
              <a:rPr lang="en-US" altLang="ko-KR" dirty="0"/>
              <a:t>– </a:t>
            </a:r>
            <a:r>
              <a:rPr lang="ko-KR" altLang="en-US" dirty="0"/>
              <a:t>버블 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29AAC-CE93-C35B-EF21-C6DD12776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ko-KR" altLang="en-US" sz="15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5D88F-C40E-6AC5-D6F2-75B379F79E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2F9866-FE74-8593-F4FA-FDD665E16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92150"/>
            <a:ext cx="835273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단계    </a:t>
            </a:r>
            <a:r>
              <a:rPr lang="en-US" altLang="ko-KR" sz="1600" b="1" dirty="0">
                <a:solidFill>
                  <a:srgbClr val="FFC000"/>
                </a:solidFill>
                <a:latin typeface="Consolas" panose="020B0609020204030204" pitchFamily="49" charset="0"/>
              </a:rPr>
              <a:t>swap:</a:t>
            </a:r>
            <a:r>
              <a:rPr lang="ko-KR" altLang="en-US" sz="1600" b="1" dirty="0">
                <a:solidFill>
                  <a:srgbClr val="FFC000"/>
                </a:solidFill>
                <a:latin typeface="Consolas" panose="020B0609020204030204" pitchFamily="49" charset="0"/>
              </a:rPr>
              <a:t> 노랑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b="1" dirty="0">
                <a:solidFill>
                  <a:srgbClr val="CC00CC"/>
                </a:solidFill>
                <a:latin typeface="Consolas" panose="020B0609020204030204" pitchFamily="49" charset="0"/>
              </a:rPr>
              <a:t>이번 단계 확정</a:t>
            </a:r>
            <a:r>
              <a:rPr lang="en-US" altLang="ko-KR" sz="1600" b="1" dirty="0">
                <a:solidFill>
                  <a:srgbClr val="CC00CC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600" b="1" dirty="0">
                <a:solidFill>
                  <a:srgbClr val="CC00CC"/>
                </a:solidFill>
                <a:latin typeface="Consolas" panose="020B0609020204030204" pitchFamily="49" charset="0"/>
              </a:rPr>
              <a:t>마젠타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b="1" dirty="0">
                <a:solidFill>
                  <a:srgbClr val="0099FF"/>
                </a:solidFill>
                <a:latin typeface="Consolas" panose="020B0609020204030204" pitchFamily="49" charset="0"/>
              </a:rPr>
              <a:t>정렬 완료</a:t>
            </a:r>
            <a:r>
              <a:rPr lang="en-US" altLang="ko-KR" sz="1600" b="1" dirty="0">
                <a:solidFill>
                  <a:srgbClr val="0099FF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600" b="1" dirty="0">
                <a:solidFill>
                  <a:srgbClr val="0099FF"/>
                </a:solidFill>
                <a:latin typeface="Consolas" panose="020B0609020204030204" pitchFamily="49" charset="0"/>
              </a:rPr>
              <a:t>하늘색</a:t>
            </a:r>
            <a:endParaRPr lang="en-US" altLang="ko-KR" sz="1600" b="1" dirty="0">
              <a:solidFill>
                <a:srgbClr val="0099FF"/>
              </a:solidFill>
              <a:latin typeface="Consolas" panose="020B0609020204030204" pitchFamily="49" charset="0"/>
            </a:endParaRPr>
          </a:p>
          <a:p>
            <a:endParaRPr lang="en-US" altLang="ko-KR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altLang="ko-KR" b="1" dirty="0">
                <a:latin typeface="Consolas" panose="020B0609020204030204" pitchFamily="49" charset="0"/>
              </a:rPr>
              <a:t>    9   4   7   1   5  10   2   7   6   4</a:t>
            </a:r>
          </a:p>
          <a:p>
            <a:endParaRPr lang="en-US" altLang="ko-KR" sz="1200" b="1" dirty="0"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latin typeface="Consolas" panose="020B0609020204030204" pitchFamily="49" charset="0"/>
              </a:rPr>
              <a:t> 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5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9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6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b="1" dirty="0">
                <a:latin typeface="Consolas" panose="020B0609020204030204" pitchFamily="49" charset="0"/>
              </a:rPr>
              <a:t>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10</a:t>
            </a:r>
          </a:p>
          <a:p>
            <a:endParaRPr lang="en-US" altLang="ko-KR" sz="1200" b="1" dirty="0"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altLang="ko-KR" b="1" dirty="0">
                <a:latin typeface="Consolas" panose="020B0609020204030204" pitchFamily="49" charset="0"/>
              </a:rPr>
              <a:t> 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4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1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5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7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2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7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6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4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9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10</a:t>
            </a:r>
            <a:endParaRPr lang="en-US" altLang="ko-KR" b="1" dirty="0">
              <a:latin typeface="Consolas" panose="020B0609020204030204" pitchFamily="49" charset="0"/>
            </a:endParaRPr>
          </a:p>
          <a:p>
            <a:endParaRPr lang="en-US" altLang="ko-KR" sz="1200" b="1" dirty="0"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3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1   4   5   2   7   6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   4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9  10</a:t>
            </a:r>
            <a:endParaRPr lang="en-US" altLang="ko-KR" b="1" dirty="0">
              <a:latin typeface="Consolas" panose="020B0609020204030204" pitchFamily="49" charset="0"/>
            </a:endParaRPr>
          </a:p>
          <a:p>
            <a:endParaRPr lang="en-US" altLang="ko-KR" sz="1200" b="1" dirty="0"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4</a:t>
            </a:r>
            <a:r>
              <a:rPr lang="en-US" altLang="ko-KR" b="1" dirty="0">
                <a:latin typeface="Consolas" panose="020B0609020204030204" pitchFamily="49" charset="0"/>
              </a:rPr>
              <a:t>    1   4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   2   5   6   4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7   9  10</a:t>
            </a:r>
            <a:endParaRPr lang="en-US" altLang="ko-KR" b="1" dirty="0">
              <a:latin typeface="Consolas" panose="020B0609020204030204" pitchFamily="49" charset="0"/>
            </a:endParaRPr>
          </a:p>
          <a:p>
            <a:endParaRPr lang="en-US" altLang="ko-KR" sz="1200" b="1" dirty="0"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5</a:t>
            </a:r>
            <a:r>
              <a:rPr lang="en-US" altLang="ko-KR" b="1" dirty="0">
                <a:latin typeface="Consolas" panose="020B0609020204030204" pitchFamily="49" charset="0"/>
              </a:rPr>
              <a:t>    1   2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   4 </a:t>
            </a:r>
            <a:r>
              <a:rPr lang="en-US" altLang="ko-KR" b="1" dirty="0">
                <a:latin typeface="Consolas" panose="020B0609020204030204" pitchFamily="49" charset="0"/>
              </a:rPr>
              <a:t>  5   4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6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7   7   9  10</a:t>
            </a:r>
            <a:endParaRPr lang="en-US" altLang="ko-KR" b="1" dirty="0">
              <a:latin typeface="Consolas" panose="020B0609020204030204" pitchFamily="49" charset="0"/>
            </a:endParaRPr>
          </a:p>
          <a:p>
            <a:endParaRPr lang="en-US" altLang="ko-KR" sz="1200" b="1" dirty="0"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6</a:t>
            </a:r>
            <a:r>
              <a:rPr lang="en-US" altLang="ko-KR" b="1" dirty="0">
                <a:latin typeface="Consolas" panose="020B0609020204030204" pitchFamily="49" charset="0"/>
              </a:rPr>
              <a:t>    1   2   4  </a:t>
            </a:r>
            <a:r>
              <a:rPr lang="en-US" altLang="ko-KR" b="1" dirty="0">
                <a:solidFill>
                  <a:srgbClr val="FFC000"/>
                </a:solidFill>
                <a:latin typeface="Consolas" panose="020B0609020204030204" pitchFamily="49" charset="0"/>
              </a:rPr>
              <a:t> 4 </a:t>
            </a:r>
            <a:r>
              <a:rPr lang="en-US" altLang="ko-KR" b="1" dirty="0">
                <a:latin typeface="Consolas" panose="020B0609020204030204" pitchFamily="49" charset="0"/>
              </a:rPr>
              <a:t>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5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6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7   7   9  10</a:t>
            </a:r>
            <a:endParaRPr lang="en-US" altLang="ko-KR" b="1" dirty="0">
              <a:latin typeface="Consolas" panose="020B0609020204030204" pitchFamily="49" charset="0"/>
            </a:endParaRPr>
          </a:p>
          <a:p>
            <a:endParaRPr lang="en-US" altLang="ko-KR" sz="1200" b="1" dirty="0"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latin typeface="Consolas" panose="020B0609020204030204" pitchFamily="49" charset="0"/>
              </a:rPr>
              <a:t>    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1   2   4   4   5   6   7   7   9  10</a:t>
            </a:r>
          </a:p>
        </p:txBody>
      </p:sp>
    </p:spTree>
    <p:extLst>
      <p:ext uri="{BB962C8B-B14F-4D97-AF65-F5344CB8AC3E}">
        <p14:creationId xmlns:p14="http://schemas.microsoft.com/office/powerpoint/2010/main" val="291086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AAE9-B77A-A926-6231-3B78F6FA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D43D9-DBF9-1B04-A70F-4F1EC7CC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8.1.11 1</a:t>
            </a:r>
            <a:r>
              <a:rPr lang="ko-KR" altLang="en-US" dirty="0"/>
              <a:t>차원 배열 접근 </a:t>
            </a:r>
            <a:r>
              <a:rPr lang="en-US" altLang="ko-KR" dirty="0"/>
              <a:t>– </a:t>
            </a:r>
            <a:r>
              <a:rPr lang="ko-KR" altLang="en-US" dirty="0"/>
              <a:t>삽입 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21D8D-943E-2180-8243-354D957FD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Insertion Sort</a:t>
            </a:r>
          </a:p>
          <a:p>
            <a:pPr lvl="1"/>
            <a:r>
              <a:rPr lang="ko-KR" altLang="en-US" sz="2000" dirty="0"/>
              <a:t>왼쪽 구간 → 항상 정렬 상태 유지</a:t>
            </a:r>
          </a:p>
          <a:p>
            <a:pPr lvl="1"/>
            <a:r>
              <a:rPr lang="en-US" altLang="ko-KR" sz="2000" dirty="0"/>
              <a:t>index 1</a:t>
            </a:r>
            <a:r>
              <a:rPr lang="ko-KR" altLang="en-US" sz="2000" dirty="0"/>
              <a:t>부터 시작</a:t>
            </a:r>
            <a:r>
              <a:rPr lang="en-US" altLang="ko-KR" sz="2000" dirty="0"/>
              <a:t>, </a:t>
            </a:r>
            <a:r>
              <a:rPr lang="ko-KR" altLang="en-US" sz="2000" dirty="0"/>
              <a:t>현재 값</a:t>
            </a:r>
            <a:r>
              <a:rPr lang="en-US" altLang="ko-KR" sz="2000" dirty="0"/>
              <a:t>(key)</a:t>
            </a:r>
            <a:r>
              <a:rPr lang="ko-KR" altLang="en-US" sz="2000" dirty="0"/>
              <a:t>을 왼쪽과 비교</a:t>
            </a:r>
          </a:p>
          <a:p>
            <a:pPr lvl="1"/>
            <a:r>
              <a:rPr lang="en-US" altLang="ko-KR" sz="2000" dirty="0"/>
              <a:t>key</a:t>
            </a:r>
            <a:r>
              <a:rPr lang="ko-KR" altLang="en-US" sz="2000" dirty="0"/>
              <a:t>보다 큰 값 → 오른쪽으로 이동</a:t>
            </a:r>
          </a:p>
          <a:p>
            <a:pPr lvl="1"/>
            <a:r>
              <a:rPr lang="ko-KR" altLang="en-US" sz="2000" dirty="0"/>
              <a:t>반복 후 빈 위치에 </a:t>
            </a:r>
            <a:r>
              <a:rPr lang="en-US" altLang="ko-KR" sz="2000" dirty="0"/>
              <a:t>key </a:t>
            </a:r>
            <a:r>
              <a:rPr lang="ko-KR" altLang="en-US" sz="2000" dirty="0"/>
              <a:t>삽입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성능</a:t>
            </a:r>
          </a:p>
          <a:p>
            <a:pPr lvl="1"/>
            <a:r>
              <a:rPr lang="ko-KR" altLang="en-US" sz="2000" dirty="0"/>
              <a:t>이미 정렬된 경우 → </a:t>
            </a:r>
            <a:r>
              <a:rPr lang="en-US" altLang="ko-KR" sz="2000" dirty="0"/>
              <a:t>O(n)</a:t>
            </a:r>
          </a:p>
          <a:p>
            <a:pPr lvl="1"/>
            <a:r>
              <a:rPr lang="ko-KR" altLang="en-US" sz="2000" dirty="0"/>
              <a:t>일반 경우 → </a:t>
            </a:r>
            <a:r>
              <a:rPr lang="en-US" altLang="ko-KR" sz="2000" dirty="0"/>
              <a:t>O(n²)</a:t>
            </a:r>
            <a:endParaRPr lang="ko-KR" altLang="en-US" sz="15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EB0F-BD40-E786-7285-1B75834F85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CAC66-5144-5931-8B9A-A539AF857FE0}"/>
              </a:ext>
            </a:extLst>
          </p:cNvPr>
          <p:cNvSpPr txBox="1"/>
          <p:nvPr/>
        </p:nvSpPr>
        <p:spPr>
          <a:xfrm>
            <a:off x="3826425" y="2985195"/>
            <a:ext cx="5231342" cy="366254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arr_count; ++i)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key = arr[i];  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새로 삽입할 값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j = i -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key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보다 큰 값들을 한 칸씩 오른쪽으로 이동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 ;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&lt;= j &amp;&amp; key &lt; arr[j]; --j)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arr[j +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arr[j];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비어 있는 위치에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key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삽입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arr[j +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key;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87919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413D-47E4-1EB0-562F-AC40A918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6C64-632D-3F7B-04B9-E2790B97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8.1.11 1</a:t>
            </a:r>
            <a:r>
              <a:rPr lang="ko-KR" altLang="en-US" dirty="0"/>
              <a:t>차원 배열 접근 </a:t>
            </a:r>
            <a:r>
              <a:rPr lang="en-US" altLang="ko-KR" dirty="0"/>
              <a:t>– </a:t>
            </a:r>
            <a:r>
              <a:rPr lang="ko-KR" altLang="en-US" dirty="0"/>
              <a:t>삽입 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D934-BFF1-D42C-388F-B072725FC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ko-KR" altLang="en-US" sz="15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77AC92-4551-9A9D-5C20-0E32C87201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70D041-E47C-64FB-86F0-F75DE4DB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92150"/>
            <a:ext cx="835273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단계  </a:t>
            </a:r>
            <a:r>
              <a:rPr lang="en-US" altLang="ko-KR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key:</a:t>
            </a:r>
            <a:r>
              <a:rPr lang="ko-KR" alt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붉은색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b="1" dirty="0">
                <a:solidFill>
                  <a:srgbClr val="CC00CC"/>
                </a:solidFill>
                <a:latin typeface="Consolas" panose="020B0609020204030204" pitchFamily="49" charset="0"/>
              </a:rPr>
              <a:t>이번 단계 확정</a:t>
            </a:r>
            <a:r>
              <a:rPr lang="en-US" altLang="ko-KR" sz="1600" b="1" dirty="0">
                <a:solidFill>
                  <a:srgbClr val="CC00CC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600" b="1" dirty="0">
                <a:solidFill>
                  <a:srgbClr val="CC00CC"/>
                </a:solidFill>
                <a:latin typeface="Consolas" panose="020B0609020204030204" pitchFamily="49" charset="0"/>
              </a:rPr>
              <a:t>마젠타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b="1" dirty="0">
                <a:solidFill>
                  <a:srgbClr val="0099FF"/>
                </a:solidFill>
                <a:latin typeface="Consolas" panose="020B0609020204030204" pitchFamily="49" charset="0"/>
              </a:rPr>
              <a:t>정렬 완료</a:t>
            </a:r>
            <a:r>
              <a:rPr lang="en-US" altLang="ko-KR" sz="1600" b="1" dirty="0">
                <a:solidFill>
                  <a:srgbClr val="0099FF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600" b="1" dirty="0">
                <a:solidFill>
                  <a:srgbClr val="0099FF"/>
                </a:solidFill>
                <a:latin typeface="Consolas" panose="020B0609020204030204" pitchFamily="49" charset="0"/>
              </a:rPr>
              <a:t>하늘색</a:t>
            </a:r>
            <a:endParaRPr lang="en-US" altLang="ko-KR" sz="1600" b="1" dirty="0">
              <a:solidFill>
                <a:srgbClr val="0099FF"/>
              </a:solidFill>
              <a:latin typeface="Consolas" panose="020B0609020204030204" pitchFamily="49" charset="0"/>
            </a:endParaRPr>
          </a:p>
          <a:p>
            <a:endParaRPr lang="en-US" altLang="ko-KR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0</a:t>
            </a:r>
            <a:r>
              <a:rPr lang="en-US" altLang="ko-KR" b="1" dirty="0">
                <a:latin typeface="Consolas" panose="020B0609020204030204" pitchFamily="49" charset="0"/>
              </a:rPr>
              <a:t>    9   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b="1" dirty="0">
                <a:latin typeface="Consolas" panose="020B0609020204030204" pitchFamily="49" charset="0"/>
              </a:rPr>
              <a:t>   7   1   5  10   2   7   6   4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1</a:t>
            </a:r>
            <a:r>
              <a:rPr lang="en-US" altLang="ko-KR" b="1" dirty="0">
                <a:latin typeface="Consolas" panose="020B0609020204030204" pitchFamily="49" charset="0"/>
              </a:rPr>
              <a:t> 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4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9   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latin typeface="Consolas" panose="020B0609020204030204" pitchFamily="49" charset="0"/>
              </a:rPr>
              <a:t>   1   5  10   2   7   6   4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2</a:t>
            </a:r>
            <a:r>
              <a:rPr lang="en-US" altLang="ko-KR" b="1" dirty="0">
                <a:latin typeface="Consolas" panose="020B0609020204030204" pitchFamily="49" charset="0"/>
              </a:rPr>
              <a:t>    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4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9   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latin typeface="Consolas" panose="020B0609020204030204" pitchFamily="49" charset="0"/>
              </a:rPr>
              <a:t>   5  10   2   7   6   4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3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1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onsolas" panose="020B0609020204030204" pitchFamily="49" charset="0"/>
                <a:ea typeface="굴림" panose="020B0600000101010101" pitchFamily="50" charset="-127"/>
                <a:cs typeface="+mn-cs"/>
              </a:rPr>
              <a:t>   4   7   9   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5</a:t>
            </a:r>
            <a:r>
              <a:rPr lang="en-US" altLang="ko-KR" b="1" dirty="0">
                <a:latin typeface="Consolas" panose="020B0609020204030204" pitchFamily="49" charset="0"/>
              </a:rPr>
              <a:t>  10   2   7   6   4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4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 1   4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5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7   9  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10</a:t>
            </a:r>
            <a:r>
              <a:rPr lang="en-US" altLang="ko-KR" b="1" dirty="0">
                <a:latin typeface="Consolas" panose="020B0609020204030204" pitchFamily="49" charset="0"/>
              </a:rPr>
              <a:t>   2   7   6   4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5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 1   4   5   7   9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10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b="1" dirty="0">
                <a:latin typeface="Consolas" panose="020B0609020204030204" pitchFamily="49" charset="0"/>
              </a:rPr>
              <a:t>   7   6   4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6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 1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2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4   5   7   9  10   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latin typeface="Consolas" panose="020B0609020204030204" pitchFamily="49" charset="0"/>
              </a:rPr>
              <a:t>   6   4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7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 1   2   4   5   7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7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9  10   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6</a:t>
            </a:r>
            <a:r>
              <a:rPr lang="en-US" altLang="ko-KR" b="1" dirty="0">
                <a:latin typeface="Consolas" panose="020B0609020204030204" pitchFamily="49" charset="0"/>
              </a:rPr>
              <a:t>   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8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 1   2   4   5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6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7   7   9  10   </a:t>
            </a:r>
            <a:r>
              <a:rPr lang="en-US" altLang="ko-KR" b="1" dirty="0">
                <a:latin typeface="Consolas" panose="020B0609020204030204" pitchFamily="49" charset="0"/>
              </a:rPr>
              <a:t>  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</a:rPr>
              <a:t>4</a:t>
            </a:r>
          </a:p>
          <a:p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9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 1   2   4   </a:t>
            </a:r>
            <a:r>
              <a:rPr lang="en-US" altLang="ko-KR" b="1" dirty="0">
                <a:solidFill>
                  <a:srgbClr val="CC00CC"/>
                </a:solidFill>
                <a:latin typeface="Consolas" panose="020B0609020204030204" pitchFamily="49" charset="0"/>
              </a:rPr>
              <a:t>4</a:t>
            </a:r>
            <a:r>
              <a:rPr lang="en-US" altLang="ko-KR" b="1" dirty="0">
                <a:solidFill>
                  <a:srgbClr val="0099FF"/>
                </a:solidFill>
                <a:latin typeface="Consolas" panose="020B0609020204030204" pitchFamily="49" charset="0"/>
              </a:rPr>
              <a:t>   5   6   7   7   9  10</a:t>
            </a:r>
          </a:p>
        </p:txBody>
      </p:sp>
    </p:spTree>
    <p:extLst>
      <p:ext uri="{BB962C8B-B14F-4D97-AF65-F5344CB8AC3E}">
        <p14:creationId xmlns:p14="http://schemas.microsoft.com/office/powerpoint/2010/main" val="2546343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0425F-829A-A3E7-1EA7-174E428C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8.2  </a:t>
            </a:r>
            <a:r>
              <a:rPr lang="ko-KR" altLang="en-US" dirty="0"/>
              <a:t>다차원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7C8D1-AF40-13DE-79FC-E8704D0F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다차원 배열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차원 이상 배열</a:t>
            </a:r>
            <a:r>
              <a:rPr lang="en-US" altLang="ko-KR" dirty="0"/>
              <a:t>. </a:t>
            </a:r>
            <a:r>
              <a:rPr lang="ko-KR" altLang="en-US" dirty="0"/>
              <a:t>가장 많이 사용 → </a:t>
            </a:r>
            <a:r>
              <a:rPr lang="en-US" altLang="ko-KR" dirty="0"/>
              <a:t>2</a:t>
            </a:r>
            <a:r>
              <a:rPr lang="ko-KR" altLang="en-US" dirty="0"/>
              <a:t>차원</a:t>
            </a:r>
          </a:p>
          <a:p>
            <a:pPr lvl="1"/>
            <a:r>
              <a:rPr lang="en-US" altLang="ko-KR" dirty="0"/>
              <a:t>n</a:t>
            </a:r>
            <a:r>
              <a:rPr lang="ko-KR" altLang="en-US" dirty="0"/>
              <a:t>차원 → 인덱스 계산 통해 </a:t>
            </a:r>
            <a:r>
              <a:rPr lang="en-US" altLang="ko-KR" dirty="0"/>
              <a:t>1</a:t>
            </a:r>
            <a:r>
              <a:rPr lang="ko-KR" altLang="en-US" dirty="0"/>
              <a:t>차원으로 선형화 가능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선언 형식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원소 접근</a:t>
            </a:r>
          </a:p>
          <a:p>
            <a:pPr lvl="1"/>
            <a:r>
              <a:rPr lang="ko-KR" altLang="en-US" dirty="0"/>
              <a:t>각 차원 인덱스 순서대로 접근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D41E40-FB66-105B-AAB0-7DB34AA1A4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C4881-85E7-4697-60A4-9695C0021EFE}"/>
              </a:ext>
            </a:extLst>
          </p:cNvPr>
          <p:cNvSpPr txBox="1"/>
          <p:nvPr/>
        </p:nvSpPr>
        <p:spPr>
          <a:xfrm>
            <a:off x="539750" y="3140968"/>
            <a:ext cx="7992690" cy="52322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자료형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0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배열</a:t>
            </a:r>
            <a:r>
              <a:rPr lang="en-US" altLang="ko-KR" sz="20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]...[n</a:t>
            </a:r>
            <a:r>
              <a:rPr lang="ko-KR" altLang="en-US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5952D-4656-332E-63D2-4EBF7EF70FB8}"/>
              </a:ext>
            </a:extLst>
          </p:cNvPr>
          <p:cNvSpPr txBox="1"/>
          <p:nvPr/>
        </p:nvSpPr>
        <p:spPr>
          <a:xfrm>
            <a:off x="611560" y="4725144"/>
            <a:ext cx="8317432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원소 주소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(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(...(((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×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  ×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  ×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... 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  × n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n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크기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81267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F105-7A27-3D31-271C-28BBBFF3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35E66-CDEE-B079-5341-0B392E39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8.2  </a:t>
            </a:r>
            <a:r>
              <a:rPr lang="ko-KR" altLang="en-US" dirty="0"/>
              <a:t>다차원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7681A-1332-2A52-9603-C688EB951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메모리 구조</a:t>
            </a:r>
          </a:p>
          <a:p>
            <a:pPr lvl="1"/>
            <a:r>
              <a:rPr lang="ko-KR" altLang="en-US" sz="2000" dirty="0"/>
              <a:t>물리 메모리 → </a:t>
            </a:r>
            <a:r>
              <a:rPr lang="en-US" altLang="ko-KR" sz="2000" dirty="0"/>
              <a:t>1</a:t>
            </a:r>
            <a:r>
              <a:rPr lang="ko-KR" altLang="en-US" sz="2000" dirty="0"/>
              <a:t>차원 연속 공간</a:t>
            </a:r>
          </a:p>
          <a:p>
            <a:pPr lvl="1"/>
            <a:r>
              <a:rPr lang="en-US" altLang="ko-KR" sz="2000" dirty="0"/>
              <a:t>C </a:t>
            </a:r>
            <a:r>
              <a:rPr lang="ko-KR" altLang="en-US" sz="2000" dirty="0"/>
              <a:t>배열 → </a:t>
            </a:r>
            <a:r>
              <a:rPr lang="en-US" altLang="ko-KR" sz="2000" dirty="0"/>
              <a:t>row-major order</a:t>
            </a:r>
          </a:p>
          <a:p>
            <a:pPr lvl="1"/>
            <a:r>
              <a:rPr lang="ko-KR" altLang="en-US" sz="2000" dirty="0"/>
              <a:t>마지막 차원 인덱스가 가장 빠르게 증가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주소 계산</a:t>
            </a:r>
          </a:p>
          <a:p>
            <a:pPr lvl="1"/>
            <a:r>
              <a:rPr lang="ko-KR" altLang="en-US" sz="2000" dirty="0"/>
              <a:t>배열 이름 → </a:t>
            </a:r>
            <a:r>
              <a:rPr lang="en-US" altLang="ko-KR" sz="2000" dirty="0"/>
              <a:t>0</a:t>
            </a:r>
            <a:r>
              <a:rPr lang="ko-KR" altLang="en-US" sz="2000" dirty="0"/>
              <a:t>번째 원소 주소로 변환 </a:t>
            </a:r>
            <a:r>
              <a:rPr lang="en-US" altLang="ko-KR" sz="2000" dirty="0"/>
              <a:t>(array-to-pointer decay)</a:t>
            </a:r>
          </a:p>
          <a:p>
            <a:pPr lvl="1"/>
            <a:r>
              <a:rPr lang="ko-KR" altLang="en-US" sz="2000" dirty="0"/>
              <a:t>다차원 인덱스 → </a:t>
            </a:r>
            <a:r>
              <a:rPr lang="en-US" altLang="ko-KR" sz="2000" dirty="0"/>
              <a:t>1</a:t>
            </a:r>
            <a:r>
              <a:rPr lang="ko-KR" altLang="en-US" sz="2000" dirty="0"/>
              <a:t>차원 인덱스로 환산</a:t>
            </a:r>
          </a:p>
          <a:p>
            <a:pPr lvl="1"/>
            <a:r>
              <a:rPr lang="ko-KR" altLang="en-US" sz="2000" dirty="0"/>
              <a:t>선형 인덱스 </a:t>
            </a:r>
            <a:r>
              <a:rPr lang="en-US" altLang="ko-KR" sz="2000" dirty="0"/>
              <a:t>= ((((i1 * D2 + i2) * D3 + i3) ...) * Dn + in)</a:t>
            </a:r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1</a:t>
            </a:r>
            <a:r>
              <a:rPr lang="ko-KR" altLang="en-US" sz="2400" dirty="0"/>
              <a:t>차원 변환</a:t>
            </a:r>
          </a:p>
          <a:p>
            <a:pPr lvl="1"/>
            <a:r>
              <a:rPr lang="ko-KR" altLang="en-US" sz="2000" dirty="0"/>
              <a:t>동일한 인덱스 계산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065EB3-FD48-8613-5CB9-17DCB7A6E0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23830-6207-C94D-53E1-0E8BC92AAAA7}"/>
              </a:ext>
            </a:extLst>
          </p:cNvPr>
          <p:cNvSpPr txBox="1"/>
          <p:nvPr/>
        </p:nvSpPr>
        <p:spPr>
          <a:xfrm>
            <a:off x="971601" y="5661248"/>
            <a:ext cx="7416824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자료형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배열</a:t>
            </a:r>
            <a:r>
              <a:rPr lang="en-US" altLang="ko-KR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 *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 *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altLang="ko-KR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ko-KR" altLang="en-US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차원</a:t>
            </a:r>
            <a:r>
              <a:rPr lang="en-US" altLang="ko-KR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20189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29DC1-0C28-567A-92CA-8EFF73A9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8.2.1 2</a:t>
            </a:r>
            <a:r>
              <a:rPr lang="ko-KR" altLang="en-US" dirty="0"/>
              <a:t>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84960-0085-7FE6-D2BB-A2FDFDA68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배열</a:t>
            </a:r>
          </a:p>
          <a:p>
            <a:pPr lvl="1"/>
            <a:r>
              <a:rPr lang="ko-KR" altLang="en-US" dirty="0"/>
              <a:t>가장 많이 사용되는 형태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차원 메모리에 펼쳐 저장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ko-KR" altLang="en-US" dirty="0"/>
              <a:t>선언 </a:t>
            </a:r>
            <a:r>
              <a:rPr lang="en-US" altLang="ko-KR" dirty="0"/>
              <a:t>+ </a:t>
            </a:r>
            <a:r>
              <a:rPr lang="ko-KR" altLang="en-US" dirty="0"/>
              <a:t>구조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F6CFE6-0790-DCA3-35D9-4CE9911609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61768-14EF-FA6D-3E53-DB1D0DCFB5ED}"/>
              </a:ext>
            </a:extLst>
          </p:cNvPr>
          <p:cNvSpPr txBox="1"/>
          <p:nvPr/>
        </p:nvSpPr>
        <p:spPr>
          <a:xfrm>
            <a:off x="611560" y="3125595"/>
            <a:ext cx="7488832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배열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행의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열의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31C8A-DD76-85A3-2254-C7F006130279}"/>
              </a:ext>
            </a:extLst>
          </p:cNvPr>
          <p:cNvSpPr txBox="1"/>
          <p:nvPr/>
        </p:nvSpPr>
        <p:spPr>
          <a:xfrm>
            <a:off x="611560" y="3717032"/>
            <a:ext cx="7488832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 배열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열의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</a:t>
            </a:r>
          </a:p>
          <a:p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각 행의 초기값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각 행의 초기값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 ...</a:t>
            </a:r>
          </a:p>
          <a:p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17622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DF48-2FE3-DCC4-1D8C-CB978BB9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82D3-C1F1-A7BE-83DA-18C306C2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8.2.1 2</a:t>
            </a:r>
            <a:r>
              <a:rPr lang="ko-KR" altLang="en-US" dirty="0"/>
              <a:t>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CFB9B-239F-3E70-9C8B-91036DCBA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메모리 배치 </a:t>
            </a:r>
            <a:r>
              <a:rPr lang="en-US" altLang="ko-KR" sz="2400" dirty="0"/>
              <a:t>(row-major)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논리 구조 </a:t>
            </a:r>
            <a:r>
              <a:rPr lang="en-US" altLang="ko-KR" sz="2400" dirty="0"/>
              <a:t>(2D)</a:t>
            </a:r>
            <a:r>
              <a:rPr lang="ko-KR" altLang="en-US" sz="2400" dirty="0"/>
              <a:t>와 실제 메모리 </a:t>
            </a:r>
            <a:r>
              <a:rPr lang="en-US" altLang="ko-KR" sz="2400" dirty="0"/>
              <a:t>(1D): </a:t>
            </a:r>
            <a:r>
              <a:rPr lang="ko-KR" altLang="en-US" sz="2400" dirty="0">
                <a:solidFill>
                  <a:srgbClr val="CC00CC"/>
                </a:solidFill>
              </a:rPr>
              <a:t>행 기준 </a:t>
            </a:r>
            <a:r>
              <a:rPr lang="ko-KR" altLang="en-US" sz="2400" dirty="0"/>
              <a:t>연속 저장</a:t>
            </a:r>
            <a:endParaRPr lang="en-US" altLang="ko-KR" sz="24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39E125-AD43-20BB-E1D6-B0F96B3132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352D7-1EED-7207-4748-9824A0654B4E}"/>
              </a:ext>
            </a:extLst>
          </p:cNvPr>
          <p:cNvSpPr txBox="1"/>
          <p:nvPr/>
        </p:nvSpPr>
        <p:spPr>
          <a:xfrm>
            <a:off x="346836" y="1412125"/>
            <a:ext cx="1872208" cy="369332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CB62C-4811-174A-D44A-26DC14A0E955}"/>
              </a:ext>
            </a:extLst>
          </p:cNvPr>
          <p:cNvSpPr txBox="1"/>
          <p:nvPr/>
        </p:nvSpPr>
        <p:spPr>
          <a:xfrm>
            <a:off x="2915816" y="1246631"/>
            <a:ext cx="6048672" cy="923330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], 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]</a:t>
            </a:r>
            <a:endParaRPr lang="ko-KR" altLang="en-US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42A16B-E79B-C024-BC61-7E14A5E148AF}"/>
              </a:ext>
            </a:extLst>
          </p:cNvPr>
          <p:cNvSpPr txBox="1"/>
          <p:nvPr/>
        </p:nvSpPr>
        <p:spPr>
          <a:xfrm>
            <a:off x="323528" y="3419554"/>
            <a:ext cx="482453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논리 구조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┌────────┬────────┬────────┬────────┐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├────────┼────────┼────────┼────────┤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├────────┼────────┼────────┼────────┤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 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│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└────────┴────────┴────────┴────────┘</a:t>
            </a:r>
            <a:endParaRPr lang="ko-KR" alt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680476-9D7B-15F1-C264-8F1203075B57}"/>
              </a:ext>
            </a:extLst>
          </p:cNvPr>
          <p:cNvSpPr txBox="1"/>
          <p:nvPr/>
        </p:nvSpPr>
        <p:spPr>
          <a:xfrm>
            <a:off x="1727684" y="5510699"/>
            <a:ext cx="730830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실제 메모리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┌────┬────┬────┬────┬────┬────┬────┬────┬────┬────┬────┐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ko-KR" sz="18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02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03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...│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└────┴────┴────┴────┴────┴────┴────┴────┴────┴────┴────┘</a:t>
            </a:r>
            <a:endParaRPr lang="ko-KR" altLang="en-US" sz="1800" b="1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EBABA9B-DF91-2C29-0CCE-8B3CCF3A7BEC}"/>
              </a:ext>
            </a:extLst>
          </p:cNvPr>
          <p:cNvSpPr/>
          <p:nvPr/>
        </p:nvSpPr>
        <p:spPr bwMode="auto">
          <a:xfrm>
            <a:off x="5508104" y="4320530"/>
            <a:ext cx="720080" cy="764654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D8D2AB79-0336-F723-D453-473C21B08E28}"/>
              </a:ext>
            </a:extLst>
          </p:cNvPr>
          <p:cNvSpPr/>
          <p:nvPr/>
        </p:nvSpPr>
        <p:spPr bwMode="auto">
          <a:xfrm>
            <a:off x="2320568" y="1412125"/>
            <a:ext cx="432048" cy="401799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68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CAB17-F535-E941-4075-21B84ED0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8.2.1 2</a:t>
            </a:r>
            <a:r>
              <a:rPr lang="ko-KR" altLang="en-US" dirty="0"/>
              <a:t>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4519D9-D5F2-84A5-4316-2BD7EA2F9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행</a:t>
            </a:r>
            <a:r>
              <a:rPr lang="en-US" altLang="ko-KR" sz="2000" dirty="0"/>
              <a:t>/</a:t>
            </a:r>
            <a:r>
              <a:rPr lang="ko-KR" altLang="en-US" sz="2000" dirty="0"/>
              <a:t>열 개수 계산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전체 </a:t>
            </a:r>
            <a:r>
              <a:rPr lang="en-US" altLang="ko-KR" sz="2000" dirty="0"/>
              <a:t>0 </a:t>
            </a:r>
            <a:r>
              <a:rPr lang="ko-KR" altLang="en-US" sz="2000" dirty="0"/>
              <a:t>초기화 </a:t>
            </a:r>
            <a:r>
              <a:rPr lang="en-US" altLang="ko-KR" sz="2000" dirty="0"/>
              <a:t>(zero initialization)</a:t>
            </a:r>
          </a:p>
          <a:p>
            <a:pPr lvl="1"/>
            <a:endParaRPr lang="en-US" altLang="ko-KR" sz="1800" dirty="0"/>
          </a:p>
          <a:p>
            <a:endParaRPr lang="en-US" altLang="ko-KR" sz="2000" dirty="0"/>
          </a:p>
          <a:p>
            <a:r>
              <a:rPr lang="en-US" altLang="ko-KR" sz="2000" dirty="0"/>
              <a:t>1</a:t>
            </a:r>
            <a:r>
              <a:rPr lang="ko-KR" altLang="en-US" sz="2000" dirty="0"/>
              <a:t>차원 나열 초기화</a:t>
            </a:r>
            <a:r>
              <a:rPr lang="en-US" altLang="ko-KR" sz="2000" dirty="0"/>
              <a:t> : </a:t>
            </a:r>
            <a:r>
              <a:rPr lang="ko-KR" altLang="en-US" sz="2000" dirty="0"/>
              <a:t>부족한 값 → </a:t>
            </a:r>
            <a:r>
              <a:rPr lang="en-US" altLang="ko-KR" sz="2000" dirty="0"/>
              <a:t>0 (zero initialization)</a:t>
            </a:r>
            <a:endParaRPr lang="ko-KR" altLang="en-US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ko-KR" altLang="en-US" sz="2000" dirty="0"/>
          </a:p>
          <a:p>
            <a:r>
              <a:rPr lang="ko-KR" altLang="en-US" sz="2000" dirty="0"/>
              <a:t>행</a:t>
            </a:r>
            <a:r>
              <a:rPr lang="en-US" altLang="ko-KR" sz="2000" dirty="0"/>
              <a:t>(row) </a:t>
            </a:r>
            <a:r>
              <a:rPr lang="ko-KR" altLang="en-US" sz="2000" dirty="0"/>
              <a:t>단위 초기화</a:t>
            </a:r>
            <a:r>
              <a:rPr lang="en-US" altLang="ko-KR" sz="2000" dirty="0"/>
              <a:t>: </a:t>
            </a:r>
            <a:r>
              <a:rPr lang="ko-KR" altLang="en-US" sz="2000" dirty="0"/>
              <a:t>부족한 값 → </a:t>
            </a:r>
            <a:r>
              <a:rPr lang="en-US" altLang="ko-KR" sz="2000" dirty="0"/>
              <a:t>0 (zero initialization)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26C7A4-2911-263D-153E-FBA65BC97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89E6D-CCC1-CF0D-FB8C-44B0C39207B9}"/>
              </a:ext>
            </a:extLst>
          </p:cNvPr>
          <p:cNvSpPr txBox="1"/>
          <p:nvPr/>
        </p:nvSpPr>
        <p:spPr>
          <a:xfrm>
            <a:off x="467544" y="1215415"/>
            <a:ext cx="799269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row_count =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   ) /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  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행 개수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col_count =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 /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열 개수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505C9-B73D-7518-FE51-22C9CB0DF61C}"/>
              </a:ext>
            </a:extLst>
          </p:cNvPr>
          <p:cNvSpPr txBox="1"/>
          <p:nvPr/>
        </p:nvSpPr>
        <p:spPr>
          <a:xfrm>
            <a:off x="467544" y="2564904"/>
            <a:ext cx="2988233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arr2d[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A7A4E-8105-E90B-24A2-EA91A53ED708}"/>
              </a:ext>
            </a:extLst>
          </p:cNvPr>
          <p:cNvSpPr txBox="1"/>
          <p:nvPr/>
        </p:nvSpPr>
        <p:spPr>
          <a:xfrm>
            <a:off x="467544" y="3828920"/>
            <a:ext cx="4823929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arr2d[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A1263-E911-9B19-2C04-9B27DF3E4CA9}"/>
              </a:ext>
            </a:extLst>
          </p:cNvPr>
          <p:cNvSpPr txBox="1"/>
          <p:nvPr/>
        </p:nvSpPr>
        <p:spPr>
          <a:xfrm>
            <a:off x="6118150" y="3551921"/>
            <a:ext cx="1694210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24D911-F3FD-0DE9-1A93-3816FF456015}"/>
              </a:ext>
            </a:extLst>
          </p:cNvPr>
          <p:cNvSpPr txBox="1"/>
          <p:nvPr/>
        </p:nvSpPr>
        <p:spPr>
          <a:xfrm>
            <a:off x="468715" y="4991478"/>
            <a:ext cx="2160239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arr2d[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</a:t>
            </a: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{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B8C8CE-1CBA-03B3-3392-FEC7BDBDD81A}"/>
              </a:ext>
            </a:extLst>
          </p:cNvPr>
          <p:cNvSpPr txBox="1"/>
          <p:nvPr/>
        </p:nvSpPr>
        <p:spPr>
          <a:xfrm>
            <a:off x="3626515" y="5274562"/>
            <a:ext cx="1737573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00D17157-124F-83D5-D5B8-0DF4CC2310E3}"/>
              </a:ext>
            </a:extLst>
          </p:cNvPr>
          <p:cNvSpPr/>
          <p:nvPr/>
        </p:nvSpPr>
        <p:spPr bwMode="auto">
          <a:xfrm>
            <a:off x="5519529" y="3828920"/>
            <a:ext cx="432048" cy="401799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2749463E-F94E-AA19-D113-F5A2AB5D9655}"/>
              </a:ext>
            </a:extLst>
          </p:cNvPr>
          <p:cNvSpPr/>
          <p:nvPr/>
        </p:nvSpPr>
        <p:spPr bwMode="auto">
          <a:xfrm>
            <a:off x="2859636" y="5535328"/>
            <a:ext cx="432048" cy="401799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3845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1F4B4-939E-A40D-6091-5C9996A0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8.2.1 2</a:t>
            </a:r>
            <a:r>
              <a:rPr lang="ko-KR" altLang="en-US" dirty="0"/>
              <a:t>차원 배열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E5A5EF-0802-E54D-F01E-13709714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i, j </a:t>
            </a:r>
            <a:r>
              <a:rPr lang="ko-KR" altLang="en-US" sz="2400" dirty="0"/>
              <a:t>사용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x, y </a:t>
            </a:r>
            <a:r>
              <a:rPr lang="ko-KR" altLang="en-US" sz="2400" dirty="0"/>
              <a:t>사용</a:t>
            </a:r>
            <a:endParaRPr lang="en-US" altLang="ko-KR" sz="2400" dirty="0"/>
          </a:p>
          <a:p>
            <a:pPr lvl="1"/>
            <a:r>
              <a:rPr lang="en-US" altLang="ko-KR" sz="2000" dirty="0"/>
              <a:t>arr[y][x] → y: </a:t>
            </a:r>
            <a:r>
              <a:rPr lang="ko-KR" altLang="en-US" sz="2000" dirty="0"/>
              <a:t>행</a:t>
            </a:r>
            <a:r>
              <a:rPr lang="en-US" altLang="ko-KR" sz="2000" dirty="0"/>
              <a:t>, x: </a:t>
            </a:r>
            <a:r>
              <a:rPr lang="ko-KR" altLang="en-US" sz="2000" dirty="0"/>
              <a:t>열</a:t>
            </a:r>
          </a:p>
          <a:p>
            <a:pPr lvl="1"/>
            <a:r>
              <a:rPr lang="ko-KR" altLang="en-US" sz="2000" dirty="0"/>
              <a:t>메모리 → </a:t>
            </a:r>
            <a:r>
              <a:rPr lang="en-US" altLang="ko-KR" sz="2000" dirty="0"/>
              <a:t>1</a:t>
            </a:r>
            <a:r>
              <a:rPr lang="ko-KR" altLang="en-US" sz="2000" dirty="0"/>
              <a:t>차원 </a:t>
            </a:r>
            <a:r>
              <a:rPr lang="en-US" altLang="ko-KR" sz="2000" dirty="0"/>
              <a:t>(row-major): ex) image</a:t>
            </a:r>
          </a:p>
          <a:p>
            <a:pPr lvl="1"/>
            <a:r>
              <a:rPr lang="ko-KR" altLang="en-US" sz="2000" dirty="0"/>
              <a:t>좌표 기반 접근 → 직관적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E4135F-C3F1-0144-221C-B1187B14C2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10183-83FA-62E8-FD95-4EED376542B9}"/>
              </a:ext>
            </a:extLst>
          </p:cNvPr>
          <p:cNvSpPr txBox="1"/>
          <p:nvPr/>
        </p:nvSpPr>
        <p:spPr>
          <a:xfrm>
            <a:off x="1871700" y="764704"/>
            <a:ext cx="5400600" cy="1754326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row_count; ++i)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j &lt; col_count; ++j)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"%3d "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arr[</a:t>
            </a:r>
            <a:r>
              <a:rPr lang="en-US" altLang="ko-KR" b="1" i="0" u="none" strike="noStrike" dirty="0">
                <a:solidFill>
                  <a:srgbClr val="CC00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b="1" i="0" u="none" strike="noStrike" dirty="0">
                <a:solidFill>
                  <a:srgbClr val="CC00CC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endParaRPr lang="ko-KR" alt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9EDD0-04E5-69F5-E8E0-08D15EE00D1E}"/>
              </a:ext>
            </a:extLst>
          </p:cNvPr>
          <p:cNvSpPr txBox="1"/>
          <p:nvPr/>
        </p:nvSpPr>
        <p:spPr>
          <a:xfrm>
            <a:off x="1871700" y="4509120"/>
            <a:ext cx="5400600" cy="1754326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 row_count; ++</a:t>
            </a:r>
            <a:r>
              <a:rPr lang="en-US" altLang="ko-KR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 col_count; ++</a:t>
            </a:r>
            <a:r>
              <a:rPr lang="en-US" altLang="ko-KR" sz="18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"%3d "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arr[</a:t>
            </a:r>
            <a:r>
              <a:rPr lang="en-US" altLang="ko-KR" b="1" i="0" u="none" strike="noStrike" dirty="0">
                <a:solidFill>
                  <a:srgbClr val="CC00CC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b="1" i="0" u="none" strike="noStrike" dirty="0">
                <a:solidFill>
                  <a:srgbClr val="CC00CC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70053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C1BE9-628A-FAE9-D4AE-62E43E86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8.2.2 2</a:t>
            </a:r>
            <a:r>
              <a:rPr lang="ko-KR" altLang="en-US" dirty="0"/>
              <a:t>차원 배열 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E2D0D-091F-0F31-7B6E-2BB88004C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최대값 </a:t>
            </a:r>
            <a:r>
              <a:rPr lang="en-US" altLang="ko-KR" dirty="0"/>
              <a:t>/ </a:t>
            </a:r>
            <a:r>
              <a:rPr lang="ko-KR" altLang="en-US" dirty="0"/>
              <a:t>최소값 </a:t>
            </a:r>
            <a:r>
              <a:rPr lang="en-US" altLang="ko-KR" dirty="0"/>
              <a:t>/ </a:t>
            </a:r>
            <a:r>
              <a:rPr lang="ko-KR" altLang="en-US" dirty="0"/>
              <a:t>양수 </a:t>
            </a:r>
            <a:r>
              <a:rPr lang="en-US" altLang="ko-KR" dirty="0"/>
              <a:t>/ </a:t>
            </a:r>
            <a:r>
              <a:rPr lang="ko-KR" altLang="en-US" dirty="0"/>
              <a:t>음수 </a:t>
            </a:r>
            <a:r>
              <a:rPr lang="en-US" altLang="ko-KR" dirty="0"/>
              <a:t>/ </a:t>
            </a:r>
            <a:r>
              <a:rPr lang="ko-KR" altLang="en-US" dirty="0"/>
              <a:t>짝수 </a:t>
            </a:r>
            <a:r>
              <a:rPr lang="en-US" altLang="ko-KR" dirty="0"/>
              <a:t>/ </a:t>
            </a:r>
            <a:r>
              <a:rPr lang="ko-KR" altLang="en-US" dirty="0"/>
              <a:t>홀수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5E25E3-2DB5-75F3-58B5-1EBC9069B4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25003-E7A3-9CFD-35BC-2802357F1E22}"/>
              </a:ext>
            </a:extLst>
          </p:cNvPr>
          <p:cNvSpPr txBox="1"/>
          <p:nvPr/>
        </p:nvSpPr>
        <p:spPr>
          <a:xfrm>
            <a:off x="827584" y="1484784"/>
            <a:ext cx="6696744" cy="440120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(value &gt; maxVal)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maxVal = value;    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최대값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(value &lt; minVal)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minVal = value;    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최소값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양수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음수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(value &gt;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++positive;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(value &lt;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++negative;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짝수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홀수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(value %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)? ++even: ++odd;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1631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CCF7-95B3-C939-0229-CBD92739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A99B3-3B3F-6969-5230-7161D12A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8.2.3 2</a:t>
            </a:r>
            <a:r>
              <a:rPr lang="ko-KR" altLang="en-US" dirty="0"/>
              <a:t>차원 배열 ↔ </a:t>
            </a:r>
            <a:r>
              <a:rPr lang="en-US" altLang="ko-KR" dirty="0"/>
              <a:t>1</a:t>
            </a:r>
            <a:r>
              <a:rPr lang="ko-KR" altLang="en-US" dirty="0"/>
              <a:t>차원 배열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F66F1C-7D94-6973-263C-0AE033BE3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변환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차원 배열 ↔ </a:t>
            </a:r>
            <a:r>
              <a:rPr lang="en-US" altLang="ko-KR" dirty="0"/>
              <a:t>1</a:t>
            </a:r>
            <a:r>
              <a:rPr lang="ko-KR" altLang="en-US" dirty="0"/>
              <a:t>차원 배열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차원 배열 → </a:t>
            </a:r>
            <a:r>
              <a:rPr lang="en-US" altLang="ko-KR" dirty="0"/>
              <a:t>1</a:t>
            </a:r>
            <a:r>
              <a:rPr lang="ko-KR" altLang="en-US" dirty="0"/>
              <a:t>차원 연속 메모리 </a:t>
            </a:r>
            <a:r>
              <a:rPr lang="en-US" altLang="ko-KR" dirty="0"/>
              <a:t>(row-major)</a:t>
            </a:r>
          </a:p>
          <a:p>
            <a:pPr lvl="1"/>
            <a:r>
              <a:rPr lang="ko-KR" altLang="en-US" dirty="0"/>
              <a:t>행 단위 저장 → 기준</a:t>
            </a:r>
            <a:r>
              <a:rPr lang="en-US" altLang="ko-KR" dirty="0"/>
              <a:t>: </a:t>
            </a:r>
            <a:r>
              <a:rPr lang="ko-KR" altLang="en-US" dirty="0"/>
              <a:t>열 개수</a:t>
            </a:r>
          </a:p>
          <a:p>
            <a:pPr lvl="2"/>
            <a:r>
              <a:rPr lang="en-US" altLang="ko-KR" dirty="0"/>
              <a:t>index = i * col + j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2D → 1D</a:t>
            </a:r>
          </a:p>
          <a:p>
            <a:pPr lvl="1"/>
            <a:r>
              <a:rPr lang="en-US" altLang="ko-KR" dirty="0">
                <a:solidFill>
                  <a:srgbClr val="0099FF"/>
                </a:solidFill>
              </a:rPr>
              <a:t>index1d = (</a:t>
            </a:r>
            <a:r>
              <a:rPr lang="ko-KR" altLang="en-US" dirty="0">
                <a:solidFill>
                  <a:srgbClr val="0099FF"/>
                </a:solidFill>
              </a:rPr>
              <a:t>행 인덱스 </a:t>
            </a:r>
            <a:r>
              <a:rPr lang="en-US" altLang="ko-KR" dirty="0">
                <a:solidFill>
                  <a:srgbClr val="0099FF"/>
                </a:solidFill>
              </a:rPr>
              <a:t>× </a:t>
            </a:r>
            <a:r>
              <a:rPr lang="ko-KR" altLang="en-US" dirty="0">
                <a:solidFill>
                  <a:srgbClr val="0099FF"/>
                </a:solidFill>
              </a:rPr>
              <a:t>열 개수</a:t>
            </a:r>
            <a:r>
              <a:rPr lang="en-US" altLang="ko-KR" dirty="0">
                <a:solidFill>
                  <a:srgbClr val="0099FF"/>
                </a:solidFill>
              </a:rPr>
              <a:t>) + </a:t>
            </a:r>
            <a:r>
              <a:rPr lang="ko-KR" altLang="en-US" dirty="0">
                <a:solidFill>
                  <a:srgbClr val="0099FF"/>
                </a:solidFill>
              </a:rPr>
              <a:t>열 인덱스</a:t>
            </a:r>
          </a:p>
          <a:p>
            <a:pPr lvl="1"/>
            <a:r>
              <a:rPr lang="en-US" altLang="ko-KR" dirty="0"/>
              <a:t>arr1d[i * col + j]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1D → 2D</a:t>
            </a:r>
          </a:p>
          <a:p>
            <a:pPr lvl="1"/>
            <a:r>
              <a:rPr lang="ko-KR" altLang="en-US" dirty="0">
                <a:solidFill>
                  <a:srgbClr val="0099FF"/>
                </a:solidFill>
              </a:rPr>
              <a:t>행 인덱스 </a:t>
            </a:r>
            <a:r>
              <a:rPr lang="en-US" altLang="ko-KR" dirty="0">
                <a:solidFill>
                  <a:srgbClr val="0099FF"/>
                </a:solidFill>
              </a:rPr>
              <a:t>= index  /  </a:t>
            </a:r>
            <a:r>
              <a:rPr lang="ko-KR" altLang="en-US" dirty="0">
                <a:solidFill>
                  <a:srgbClr val="0099FF"/>
                </a:solidFill>
              </a:rPr>
              <a:t>열 개수</a:t>
            </a:r>
          </a:p>
          <a:p>
            <a:pPr lvl="1"/>
            <a:r>
              <a:rPr lang="ko-KR" altLang="en-US" dirty="0">
                <a:solidFill>
                  <a:srgbClr val="0099FF"/>
                </a:solidFill>
              </a:rPr>
              <a:t>열 인덱스 </a:t>
            </a:r>
            <a:r>
              <a:rPr lang="en-US" altLang="ko-KR" dirty="0">
                <a:solidFill>
                  <a:srgbClr val="0099FF"/>
                </a:solidFill>
              </a:rPr>
              <a:t>= index  %  </a:t>
            </a:r>
            <a:r>
              <a:rPr lang="ko-KR" altLang="en-US" dirty="0">
                <a:solidFill>
                  <a:srgbClr val="0099FF"/>
                </a:solidFill>
              </a:rPr>
              <a:t>열 개수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466CD8-7AE0-BAA6-9B4C-B04B951B97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33090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41CDF-E715-17E0-FAE4-B2348E43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8.2.4 2</a:t>
            </a:r>
            <a:r>
              <a:rPr lang="ko-KR" altLang="en-US" dirty="0"/>
              <a:t>차원 배열 행과 열 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74DD4-36B3-F1AC-BCB4-A0A95381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행렬 전치 </a:t>
            </a:r>
            <a:r>
              <a:rPr lang="en-US" altLang="ko-KR" dirty="0"/>
              <a:t>(Transpose)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3B28E2-C914-916C-531E-93183DF82C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87365-925D-5B94-B17E-3EF4C5B0DAF5}"/>
              </a:ext>
            </a:extLst>
          </p:cNvPr>
          <p:cNvSpPr txBox="1"/>
          <p:nvPr/>
        </p:nvSpPr>
        <p:spPr>
          <a:xfrm>
            <a:off x="683568" y="1484784"/>
            <a:ext cx="7272808" cy="646331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3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M[i][j] → M[j][i]</a:t>
            </a:r>
            <a:endParaRPr lang="ko-KR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547DE-4BAB-A514-4FA7-46CE158D4F39}"/>
              </a:ext>
            </a:extLst>
          </p:cNvPr>
          <p:cNvSpPr txBox="1"/>
          <p:nvPr/>
        </p:nvSpPr>
        <p:spPr>
          <a:xfrm>
            <a:off x="683568" y="2769890"/>
            <a:ext cx="7272808" cy="3539430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전치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(Transpose)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r &lt; row_count; ++r)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c &lt; col_count; ++c)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result[c][r] = arr2d[r][c]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56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79ED-136E-3A4D-1E3A-C76A9351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0E10A-2B39-1E9C-F18B-41E36160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8.2.5 3</a:t>
            </a:r>
            <a:r>
              <a:rPr lang="ko-KR" altLang="en-US" dirty="0"/>
              <a:t>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80B2C8-4411-F34D-28E9-35BDC8C99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면</a:t>
            </a:r>
            <a:r>
              <a:rPr lang="en-US" altLang="ko-KR" sz="2400" dirty="0"/>
              <a:t>(layer, page) – </a:t>
            </a:r>
            <a:r>
              <a:rPr lang="ko-KR" altLang="en-US" sz="2400" dirty="0"/>
              <a:t>행</a:t>
            </a:r>
            <a:r>
              <a:rPr lang="en-US" altLang="ko-KR" sz="2400" dirty="0"/>
              <a:t>(row) – </a:t>
            </a:r>
            <a:r>
              <a:rPr lang="ko-KR" altLang="en-US" sz="2400" dirty="0"/>
              <a:t>열</a:t>
            </a:r>
            <a:r>
              <a:rPr lang="en-US" altLang="ko-KR" sz="2400" dirty="0"/>
              <a:t>(column) </a:t>
            </a:r>
            <a:r>
              <a:rPr lang="ko-KR" altLang="en-US" sz="2400" dirty="0"/>
              <a:t>구조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1</a:t>
            </a:r>
            <a:r>
              <a:rPr lang="ko-KR" altLang="en-US" sz="2400" dirty="0"/>
              <a:t>차원 연속 메모리</a:t>
            </a:r>
            <a:r>
              <a:rPr lang="en-US" altLang="ko-KR" sz="2400" dirty="0"/>
              <a:t>(row-major order)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4980DF-09F9-78F5-17B4-8DCBF9D44A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37A30-8336-9160-1EAE-360A732315D7}"/>
              </a:ext>
            </a:extLst>
          </p:cNvPr>
          <p:cNvSpPr txBox="1"/>
          <p:nvPr/>
        </p:nvSpPr>
        <p:spPr>
          <a:xfrm>
            <a:off x="532295" y="1484784"/>
            <a:ext cx="7272808" cy="46166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자료형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4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배열</a:t>
            </a:r>
            <a:r>
              <a:rPr lang="en-US" altLang="ko-KR" sz="24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400" b="1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en-US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면</a:t>
            </a:r>
            <a:r>
              <a:rPr lang="en-US" altLang="ko-KR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ko-KR" altLang="en-US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행</a:t>
            </a:r>
            <a:r>
              <a:rPr lang="en-US" altLang="ko-KR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ko-KR" altLang="en-US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열</a:t>
            </a:r>
            <a:r>
              <a:rPr lang="en-US" altLang="ko-KR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400" b="1" i="0" u="none" strike="noStrike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개수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7D524-5A03-4B48-0631-85E24D5B4C2C}"/>
              </a:ext>
            </a:extLst>
          </p:cNvPr>
          <p:cNvSpPr txBox="1"/>
          <p:nvPr/>
        </p:nvSpPr>
        <p:spPr>
          <a:xfrm>
            <a:off x="532295" y="3360559"/>
            <a:ext cx="4176266" cy="46166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7063387-E1B8-4FD3-2AD6-07FC6D76F7D4}"/>
              </a:ext>
            </a:extLst>
          </p:cNvPr>
          <p:cNvSpPr/>
          <p:nvPr/>
        </p:nvSpPr>
        <p:spPr bwMode="auto">
          <a:xfrm>
            <a:off x="5133352" y="3325397"/>
            <a:ext cx="542217" cy="565979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E175D-4888-7515-2C24-557160A34408}"/>
              </a:ext>
            </a:extLst>
          </p:cNvPr>
          <p:cNvSpPr txBox="1"/>
          <p:nvPr/>
        </p:nvSpPr>
        <p:spPr>
          <a:xfrm>
            <a:off x="1113900" y="4304974"/>
            <a:ext cx="7348445" cy="1938992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20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20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20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20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20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arr[</a:t>
            </a:r>
            <a:r>
              <a:rPr lang="en-US" altLang="ko-KR" sz="20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arr[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28465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BC74-263F-809A-3EEB-8097E4EC0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69E7C-40E3-D084-26FD-DD6DEB1A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8.2.5 3</a:t>
            </a:r>
            <a:r>
              <a:rPr lang="ko-KR" altLang="en-US" dirty="0"/>
              <a:t>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F00D32-D3F5-C35D-085B-310FEBA13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3D → 1D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ex)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B2D293-59C7-537E-67FE-805D8C080F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4F740-F104-D9C0-5831-60CCE94B1C5E}"/>
              </a:ext>
            </a:extLst>
          </p:cNvPr>
          <p:cNvSpPr txBox="1"/>
          <p:nvPr/>
        </p:nvSpPr>
        <p:spPr>
          <a:xfrm>
            <a:off x="395536" y="1268760"/>
            <a:ext cx="7272808" cy="707886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 ((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면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×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행 개수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행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2000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×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열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개수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열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510F7-6512-0555-02C9-C29911B4FCB7}"/>
              </a:ext>
            </a:extLst>
          </p:cNvPr>
          <p:cNvSpPr txBox="1"/>
          <p:nvPr/>
        </p:nvSpPr>
        <p:spPr>
          <a:xfrm>
            <a:off x="705355" y="2996952"/>
            <a:ext cx="6962989" cy="3046988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l &lt; layer_count; ++l)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r &lt; row_count; ++r)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c &lt; col_count; ++c)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arr[l][r][c]...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7669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50560-6035-7550-DC4B-F0584439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2F492-9689-1C42-AFBF-EE9DCF8D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</a:t>
            </a:r>
            <a:r>
              <a:rPr lang="ko-KR" altLang="en-US" dirty="0"/>
              <a:t>문자열 리터럴과 </a:t>
            </a:r>
            <a:r>
              <a:rPr lang="en-US" altLang="ko-KR" dirty="0"/>
              <a:t>char </a:t>
            </a:r>
            <a:r>
              <a:rPr lang="ko-KR" altLang="en-US" dirty="0"/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5843A-6088-AF8C-C104-1312E3D22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문자열 리터럴</a:t>
            </a:r>
            <a:r>
              <a:rPr lang="en-US" altLang="ko-KR" sz="2400" dirty="0"/>
              <a:t>(String)</a:t>
            </a:r>
          </a:p>
          <a:p>
            <a:pPr lvl="1"/>
            <a:r>
              <a:rPr lang="ko-KR" altLang="en-US" sz="2000" dirty="0"/>
              <a:t>문자열 </a:t>
            </a:r>
            <a:r>
              <a:rPr lang="en-US" altLang="ko-KR" sz="2000" dirty="0"/>
              <a:t>= char </a:t>
            </a:r>
            <a:r>
              <a:rPr lang="ko-KR" altLang="en-US" sz="2000" dirty="0"/>
              <a:t>배열</a:t>
            </a:r>
            <a:endParaRPr lang="en-US" altLang="ko-KR" sz="2000" dirty="0"/>
          </a:p>
          <a:p>
            <a:pPr lvl="1"/>
            <a:r>
              <a:rPr lang="ko-KR" altLang="en-US" sz="2000" dirty="0"/>
              <a:t>문자열 끝 → 널 문자 </a:t>
            </a:r>
            <a:r>
              <a:rPr lang="en-US" altLang="ko-KR" sz="2000" dirty="0">
                <a:solidFill>
                  <a:srgbClr val="FFC000"/>
                </a:solidFill>
              </a:rPr>
              <a:t>'</a:t>
            </a:r>
            <a:r>
              <a:rPr lang="en-US" altLang="ko-KR" sz="2000" dirty="0">
                <a:solidFill>
                  <a:srgbClr val="FFC000"/>
                </a:solidFill>
                <a:latin typeface="Consolas" panose="020B0609020204030204" pitchFamily="49" charset="0"/>
              </a:rPr>
              <a:t>\0</a:t>
            </a:r>
            <a:r>
              <a:rPr lang="en-US" altLang="ko-KR" sz="2000" dirty="0">
                <a:solidFill>
                  <a:srgbClr val="FFC000"/>
                </a:solidFill>
              </a:rPr>
              <a:t>'  </a:t>
            </a:r>
            <a:r>
              <a:rPr lang="ko-KR" altLang="en-US" sz="2000" dirty="0"/>
              <a:t>← 값 </a:t>
            </a:r>
            <a:r>
              <a:rPr lang="en-US" altLang="ko-KR" sz="2000" dirty="0">
                <a:solidFill>
                  <a:srgbClr val="C00000"/>
                </a:solidFill>
              </a:rPr>
              <a:t>0</a:t>
            </a:r>
          </a:p>
          <a:p>
            <a:pPr lvl="1"/>
            <a:endParaRPr lang="en-US" altLang="ko-KR" sz="2000" dirty="0">
              <a:solidFill>
                <a:srgbClr val="C00000"/>
              </a:solidFill>
            </a:endParaRPr>
          </a:p>
          <a:p>
            <a:pPr lvl="1"/>
            <a:endParaRPr lang="en-US" altLang="ko-KR" sz="2000" dirty="0">
              <a:solidFill>
                <a:srgbClr val="C00000"/>
              </a:solidFill>
            </a:endParaRPr>
          </a:p>
          <a:p>
            <a:pPr lvl="1"/>
            <a:endParaRPr lang="en-US" altLang="ko-KR" sz="2000" dirty="0">
              <a:solidFill>
                <a:srgbClr val="C00000"/>
              </a:solidFill>
            </a:endParaRPr>
          </a:p>
          <a:p>
            <a:pPr lvl="1"/>
            <a:endParaRPr lang="en-US" altLang="ko-KR" sz="2000" dirty="0">
              <a:solidFill>
                <a:srgbClr val="C00000"/>
              </a:solidFill>
            </a:endParaRPr>
          </a:p>
          <a:p>
            <a:pPr lvl="1"/>
            <a:endParaRPr lang="en-US" altLang="ko-KR" sz="2000" dirty="0">
              <a:solidFill>
                <a:srgbClr val="C00000"/>
              </a:solidFill>
            </a:endParaRPr>
          </a:p>
          <a:p>
            <a:r>
              <a:rPr lang="en-US" altLang="ko-KR" sz="2400" dirty="0"/>
              <a:t>Not</a:t>
            </a:r>
            <a:r>
              <a:rPr lang="ko-KR" altLang="en-US" sz="2400" dirty="0"/>
              <a:t> </a:t>
            </a:r>
            <a:r>
              <a:rPr lang="en-US" altLang="ko-KR" sz="2400" dirty="0"/>
              <a:t>null-terminated string</a:t>
            </a:r>
          </a:p>
          <a:p>
            <a:pPr lvl="1"/>
            <a:r>
              <a:rPr lang="ko-KR" altLang="en-US" sz="2000" dirty="0"/>
              <a:t>배열 끝에 널문자 없는 </a:t>
            </a:r>
            <a:r>
              <a:rPr lang="en-US" altLang="ko-KR" sz="2000" dirty="0"/>
              <a:t>char </a:t>
            </a:r>
            <a:r>
              <a:rPr lang="ko-KR" altLang="en-US" sz="2000" dirty="0"/>
              <a:t>배열</a:t>
            </a:r>
            <a:endParaRPr lang="en-US" altLang="ko-KR" sz="2000" dirty="0"/>
          </a:p>
          <a:p>
            <a:pPr lvl="1"/>
            <a:r>
              <a:rPr lang="ko-KR" altLang="en-US" sz="2000" dirty="0"/>
              <a:t>문자열 아님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D91F73-9D6E-3B5C-FC7C-A986F86DBD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D0867-F2D4-A4EC-C693-A166E94A519A}"/>
              </a:ext>
            </a:extLst>
          </p:cNvPr>
          <p:cNvSpPr txBox="1"/>
          <p:nvPr/>
        </p:nvSpPr>
        <p:spPr>
          <a:xfrm>
            <a:off x="1043608" y="1916832"/>
            <a:ext cx="5112568" cy="46166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it-IT" altLang="ko-KR" sz="24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'H', 'e', 'l', 'l', 'o',</a:t>
            </a:r>
            <a:r>
              <a:rPr lang="it-IT" altLang="ko-KR" sz="2400" b="1" i="0" u="none" strike="noStrike" dirty="0">
                <a:solidFill>
                  <a:srgbClr val="FF9900"/>
                </a:solidFill>
                <a:effectLst/>
                <a:latin typeface="Consolas" panose="020B0609020204030204" pitchFamily="49" charset="0"/>
              </a:rPr>
              <a:t> '\0'</a:t>
            </a:r>
            <a:endParaRPr lang="ko-KR" altLang="en-US" b="1" dirty="0">
              <a:solidFill>
                <a:srgbClr val="FF99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2486ABA-AD57-CFD9-9E9B-D3D827E741CC}"/>
              </a:ext>
            </a:extLst>
          </p:cNvPr>
          <p:cNvGrpSpPr/>
          <p:nvPr/>
        </p:nvGrpSpPr>
        <p:grpSpPr>
          <a:xfrm>
            <a:off x="1043608" y="2492896"/>
            <a:ext cx="6624736" cy="923330"/>
            <a:chOff x="1043608" y="2676600"/>
            <a:chExt cx="6624736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6BF1AA-2016-E748-D9CB-2B7D8175385E}"/>
                </a:ext>
              </a:extLst>
            </p:cNvPr>
            <p:cNvSpPr txBox="1"/>
            <p:nvPr/>
          </p:nvSpPr>
          <p:spPr>
            <a:xfrm>
              <a:off x="1043608" y="2676600"/>
              <a:ext cx="1711474" cy="461665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sysDot"/>
            </a:ln>
          </p:spPr>
          <p:txBody>
            <a:bodyPr wrap="square">
              <a:spAutoFit/>
            </a:bodyPr>
            <a:lstStyle/>
            <a:p>
              <a:r>
                <a:rPr lang="en-US" altLang="ko-KR" b="1" i="0" u="none" strike="noStrike" dirty="0">
                  <a:solidFill>
                    <a:schemeClr val="bg1">
                      <a:lumMod val="50000"/>
                    </a:schemeClr>
                  </a:solidFill>
                  <a:effectLst/>
                  <a:latin typeface="Consolas" panose="020B0609020204030204" pitchFamily="49" charset="0"/>
                </a:rPr>
                <a:t>"Hello</a:t>
              </a:r>
              <a:r>
                <a:rPr lang="en-US" altLang="ko-KR" b="1" i="0" u="none" strike="noStrike" dirty="0">
                  <a:solidFill>
                    <a:srgbClr val="FF9900"/>
                  </a:solidFill>
                  <a:effectLst/>
                  <a:latin typeface="Consolas" panose="020B0609020204030204" pitchFamily="49" charset="0"/>
                </a:rPr>
                <a:t>\0</a:t>
              </a:r>
              <a:r>
                <a:rPr lang="en-US" altLang="ko-KR" b="1" i="0" u="none" strike="noStrike" dirty="0">
                  <a:solidFill>
                    <a:schemeClr val="bg1">
                      <a:lumMod val="50000"/>
                    </a:schemeClr>
                  </a:solidFill>
                  <a:effectLst/>
                  <a:latin typeface="Consolas" panose="020B0609020204030204" pitchFamily="49" charset="0"/>
                </a:rPr>
                <a:t>"</a:t>
              </a:r>
              <a:endParaRPr lang="ko-KR" alt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D990B5-33C5-4DDF-4124-85000AD024D6}"/>
                </a:ext>
              </a:extLst>
            </p:cNvPr>
            <p:cNvSpPr txBox="1"/>
            <p:nvPr/>
          </p:nvSpPr>
          <p:spPr>
            <a:xfrm>
              <a:off x="1547664" y="3138265"/>
              <a:ext cx="6120680" cy="461665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prstDash val="sysDot"/>
            </a:ln>
          </p:spPr>
          <p:txBody>
            <a:bodyPr wrap="square">
              <a:spAutoFit/>
            </a:bodyPr>
            <a:lstStyle/>
            <a:p>
              <a:r>
                <a:rPr lang="it-IT" altLang="ko-KR" b="1" i="0" u="none" strike="noStrike" dirty="0">
                  <a:solidFill>
                    <a:schemeClr val="bg1">
                      <a:lumMod val="50000"/>
                    </a:schemeClr>
                  </a:solidFill>
                  <a:effectLst/>
                  <a:latin typeface="Consolas" panose="020B0609020204030204" pitchFamily="49" charset="0"/>
                </a:rPr>
                <a:t>'H', 'e', 'l', 'l', 'o', </a:t>
              </a:r>
              <a:r>
                <a:rPr lang="it-IT" altLang="ko-KR" b="1" i="0" u="none" strike="noStrike" dirty="0">
                  <a:solidFill>
                    <a:srgbClr val="FF9900"/>
                  </a:solidFill>
                  <a:effectLst/>
                  <a:latin typeface="Consolas" panose="020B0609020204030204" pitchFamily="49" charset="0"/>
                </a:rPr>
                <a:t>'\0'</a:t>
              </a:r>
              <a:r>
                <a:rPr lang="it-IT" altLang="ko-KR" b="1" i="0" u="none" strike="noStrike" dirty="0">
                  <a:solidFill>
                    <a:srgbClr val="383A42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it-IT" altLang="ko-KR" b="1" i="0" u="none" strike="noStrike" dirty="0">
                  <a:solidFill>
                    <a:srgbClr val="FF9900"/>
                  </a:solidFill>
                  <a:effectLst/>
                  <a:latin typeface="Consolas" panose="020B0609020204030204" pitchFamily="49" charset="0"/>
                </a:rPr>
                <a:t>'\0'</a:t>
              </a:r>
              <a:endParaRPr lang="ko-KR" altLang="en-US" b="1" dirty="0">
                <a:solidFill>
                  <a:srgbClr val="FF99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35FB4845-D563-04E0-FE44-7024A866F1DD}"/>
                </a:ext>
              </a:extLst>
            </p:cNvPr>
            <p:cNvSpPr/>
            <p:nvPr/>
          </p:nvSpPr>
          <p:spPr bwMode="auto">
            <a:xfrm>
              <a:off x="2843808" y="2676600"/>
              <a:ext cx="403592" cy="402978"/>
            </a:xfrm>
            <a:prstGeom prst="rightArrow">
              <a:avLst/>
            </a:prstGeom>
            <a:solidFill>
              <a:srgbClr val="FFFF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D69482C-CE17-AC52-A8D9-65613454985F}"/>
              </a:ext>
            </a:extLst>
          </p:cNvPr>
          <p:cNvSpPr txBox="1"/>
          <p:nvPr/>
        </p:nvSpPr>
        <p:spPr>
          <a:xfrm>
            <a:off x="739402" y="4927452"/>
            <a:ext cx="6856934" cy="400110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charArray[] = {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endParaRPr lang="ko-KR" altLang="en-US" sz="2000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C9DC802-5EA4-0950-398B-FD1646652452}"/>
              </a:ext>
            </a:extLst>
          </p:cNvPr>
          <p:cNvSpPr/>
          <p:nvPr/>
        </p:nvSpPr>
        <p:spPr bwMode="auto">
          <a:xfrm>
            <a:off x="640016" y="5560567"/>
            <a:ext cx="403592" cy="402978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42A063-F828-D304-7E36-EAE1E2E2DD26}"/>
              </a:ext>
            </a:extLst>
          </p:cNvPr>
          <p:cNvSpPr txBox="1"/>
          <p:nvPr/>
        </p:nvSpPr>
        <p:spPr>
          <a:xfrm>
            <a:off x="1259632" y="5466097"/>
            <a:ext cx="4968552" cy="400110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1" i="0" u="none" strike="noStrike" dirty="0">
                <a:solidFill>
                  <a:srgbClr val="FF9900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0EA80-08AC-5B6C-23C4-B9F814FE2DFE}"/>
              </a:ext>
            </a:extLst>
          </p:cNvPr>
          <p:cNvSpPr txBox="1"/>
          <p:nvPr/>
        </p:nvSpPr>
        <p:spPr>
          <a:xfrm>
            <a:off x="1259632" y="5939232"/>
            <a:ext cx="4968552" cy="400110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48673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CF54-4005-0FB1-6E43-011FE660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C8C39-721C-21F0-8C4C-6AD28777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</a:t>
            </a:r>
            <a:r>
              <a:rPr lang="ko-KR" altLang="en-US" dirty="0"/>
              <a:t>문자열 리터럴과 </a:t>
            </a:r>
            <a:r>
              <a:rPr lang="en-US" altLang="ko-KR" dirty="0"/>
              <a:t>char </a:t>
            </a:r>
            <a:r>
              <a:rPr lang="ko-KR" altLang="en-US" dirty="0"/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1051E-0CD5-316A-051D-2097AD150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sizeof (</a:t>
            </a:r>
            <a:r>
              <a:rPr lang="ko-KR" altLang="en-US" sz="2400" dirty="0"/>
              <a:t>문자열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문자 수 </a:t>
            </a:r>
            <a:r>
              <a:rPr lang="en-US" altLang="ko-KR" sz="2000" dirty="0"/>
              <a:t>+ 1 (</a:t>
            </a:r>
            <a:r>
              <a:rPr lang="ko-KR" altLang="en-US" sz="2000" dirty="0"/>
              <a:t>널문자</a:t>
            </a:r>
            <a:r>
              <a:rPr lang="en-US" altLang="ko-KR" sz="2000" dirty="0"/>
              <a:t>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1DB770-AC9B-0BB6-3D3D-6782A2F26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D94B0F-F9CD-CCF7-2FD5-D3D2BA1B7384}"/>
              </a:ext>
            </a:extLst>
          </p:cNvPr>
          <p:cNvSpPr txBox="1"/>
          <p:nvPr/>
        </p:nvSpPr>
        <p:spPr>
          <a:xfrm>
            <a:off x="390758" y="1628800"/>
            <a:ext cx="8353426" cy="4278094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리터럴 → 자동으로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'\0'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포함</a:t>
            </a:r>
            <a:endParaRPr lang="en-US" altLang="ko-KR" sz="1600" b="1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내부</a:t>
            </a:r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: 'H','e','l','l','o','\0' → 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총 </a:t>
            </a:r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바이트</a:t>
            </a:r>
            <a:br>
              <a:rPr lang="ko-KR" altLang="en-US" sz="1600" b="1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myStr1[] =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리터럴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명시적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'\0'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추가</a:t>
            </a:r>
            <a:endParaRPr lang="en-US" altLang="ko-KR" sz="1600" b="1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내부</a:t>
            </a:r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: 'H','e','l','l','o','\0','\0' → 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총 </a:t>
            </a:r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7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바이트</a:t>
            </a:r>
            <a:endParaRPr lang="en-US" altLang="ko-KR" sz="1600" b="1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문자열 리터럴 자체에 이미 </a:t>
            </a:r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'\0'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이 있기 때문에 하나 더 추가됨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myStr2[] =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"Hello\0"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포인터 → 문자열 리터럴을 가리킴</a:t>
            </a:r>
            <a:endParaRPr lang="en-US" altLang="ko-KR" sz="1600" b="1" i="1" u="none" strike="noStrike" dirty="0"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포인터 변수 자체는 문자열 크기가 아니라 주소 크기를 가짐</a:t>
            </a:r>
            <a:br>
              <a:rPr lang="ko-KR" altLang="en-US" sz="1600" b="1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myStr3 =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"array(\"Hello\")   : %zu\n"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(myStr1));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6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"array(\"Hello\\0\") : %zu\n"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(myStr2));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7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"pointer(\"Hello\") : %zu\n"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(myStr3));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8 (64bit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기준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"literal(\"Hello\") : %zu\n"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6 ('\0'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포함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96763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87066-74F6-1F87-B4A9-8F4B1D38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E6489-CD88-43CC-2716-68ACF49A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</a:t>
            </a:r>
            <a:r>
              <a:rPr lang="ko-KR" altLang="en-US" dirty="0"/>
              <a:t>문자열 리터럴과 </a:t>
            </a:r>
            <a:r>
              <a:rPr lang="en-US" altLang="ko-KR" dirty="0"/>
              <a:t>char </a:t>
            </a:r>
            <a:r>
              <a:rPr lang="ko-KR" altLang="en-US" dirty="0"/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044A77-FD3B-55E8-B59C-620B7BF14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문자열</a:t>
            </a:r>
            <a:r>
              <a:rPr lang="en-US" altLang="ko-KR" sz="2400" dirty="0"/>
              <a:t> </a:t>
            </a:r>
            <a:r>
              <a:rPr lang="ko-KR" altLang="en-US" sz="2400" dirty="0"/>
              <a:t>특징과 장점</a:t>
            </a:r>
            <a:endParaRPr lang="en-US" altLang="ko-KR" sz="2400" dirty="0"/>
          </a:p>
          <a:p>
            <a:pPr lvl="1"/>
            <a:r>
              <a:rPr lang="ko-KR" altLang="en-US" sz="2000" dirty="0"/>
              <a:t>배열 크기 자동 계산</a:t>
            </a:r>
          </a:p>
          <a:p>
            <a:pPr lvl="1"/>
            <a:r>
              <a:rPr lang="ko-KR" altLang="en-US" sz="2000" dirty="0"/>
              <a:t>널 문자 </a:t>
            </a:r>
            <a:r>
              <a:rPr lang="en-US" altLang="ko-KR" sz="2000" dirty="0">
                <a:solidFill>
                  <a:srgbClr val="FFC000"/>
                </a:solidFill>
              </a:rPr>
              <a:t>'</a:t>
            </a:r>
            <a:r>
              <a:rPr lang="en-US" altLang="ko-KR" sz="2000" dirty="0">
                <a:solidFill>
                  <a:srgbClr val="FFC000"/>
                </a:solidFill>
                <a:latin typeface="Consolas" panose="020B0609020204030204" pitchFamily="49" charset="0"/>
              </a:rPr>
              <a:t>\0</a:t>
            </a:r>
            <a:r>
              <a:rPr lang="en-US" altLang="ko-KR" sz="2000" dirty="0">
                <a:solidFill>
                  <a:srgbClr val="FFC000"/>
                </a:solidFill>
              </a:rPr>
              <a:t>'</a:t>
            </a:r>
            <a:r>
              <a:rPr lang="en-US" altLang="ko-KR" sz="2000" dirty="0"/>
              <a:t> </a:t>
            </a:r>
            <a:r>
              <a:rPr lang="ko-KR" altLang="en-US" sz="2000" dirty="0"/>
              <a:t>자동 추가</a:t>
            </a:r>
          </a:p>
          <a:p>
            <a:pPr lvl="1"/>
            <a:r>
              <a:rPr lang="en-US" altLang="ko-KR" sz="2000" dirty="0">
                <a:solidFill>
                  <a:srgbClr val="FFC000"/>
                </a:solidFill>
              </a:rPr>
              <a:t>'</a:t>
            </a:r>
            <a:r>
              <a:rPr lang="en-US" altLang="ko-KR" sz="2000" dirty="0">
                <a:solidFill>
                  <a:srgbClr val="FFC000"/>
                </a:solidFill>
                <a:latin typeface="Consolas" panose="020B0609020204030204" pitchFamily="49" charset="0"/>
              </a:rPr>
              <a:t>\0</a:t>
            </a:r>
            <a:r>
              <a:rPr lang="en-US" altLang="ko-KR" sz="2000" dirty="0">
                <a:solidFill>
                  <a:srgbClr val="FFC000"/>
                </a:solidFill>
              </a:rPr>
              <a:t>'</a:t>
            </a:r>
            <a:r>
              <a:rPr lang="en-US" altLang="ko-KR" sz="2000" dirty="0"/>
              <a:t> </a:t>
            </a:r>
            <a:r>
              <a:rPr lang="ko-KR" altLang="en-US" sz="2000" dirty="0"/>
              <a:t>기준으로 처리</a:t>
            </a:r>
          </a:p>
          <a:p>
            <a:pPr lvl="1"/>
            <a:r>
              <a:rPr lang="ko-KR" altLang="en-US" sz="2000" dirty="0"/>
              <a:t>문자열 함수 사용 가능 </a:t>
            </a:r>
            <a:r>
              <a:rPr lang="en-US" altLang="ko-KR" sz="2000" dirty="0"/>
              <a:t>(</a:t>
            </a:r>
            <a:r>
              <a:rPr lang="en-US" altLang="ko-KR" sz="2000" dirty="0">
                <a:solidFill>
                  <a:srgbClr val="0000FF"/>
                </a:solidFill>
              </a:rPr>
              <a:t>strcpy</a:t>
            </a:r>
            <a:r>
              <a:rPr lang="en-US" altLang="ko-KR" sz="2000" dirty="0"/>
              <a:t>, </a:t>
            </a:r>
            <a:r>
              <a:rPr lang="en-US" altLang="ko-KR" sz="2000" dirty="0">
                <a:solidFill>
                  <a:srgbClr val="0000FF"/>
                </a:solidFill>
              </a:rPr>
              <a:t>strcmp</a:t>
            </a:r>
            <a:r>
              <a:rPr lang="en-US" altLang="ko-KR" sz="2000" dirty="0"/>
              <a:t>, </a:t>
            </a:r>
            <a:r>
              <a:rPr lang="en-US" altLang="ko-KR" sz="2000" dirty="0">
                <a:solidFill>
                  <a:srgbClr val="0000FF"/>
                </a:solidFill>
              </a:rPr>
              <a:t>strlen</a:t>
            </a:r>
            <a:r>
              <a:rPr lang="en-US" altLang="ko-KR" sz="2000" dirty="0"/>
              <a:t>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문자열 리터럴 → 읽기 전용</a:t>
            </a:r>
          </a:p>
          <a:p>
            <a:pPr lvl="1"/>
            <a:r>
              <a:rPr lang="en-US" altLang="ko-KR" sz="2000" dirty="0"/>
              <a:t>char </a:t>
            </a:r>
            <a:r>
              <a:rPr lang="ko-KR" altLang="en-US" sz="2000" dirty="0"/>
              <a:t>배열 → 수정 가능</a:t>
            </a:r>
          </a:p>
          <a:p>
            <a:pPr lvl="1"/>
            <a:r>
              <a:rPr lang="ko-KR" altLang="en-US" sz="2000" dirty="0"/>
              <a:t>널 문자 없으면 문자열 아님 → </a:t>
            </a:r>
            <a:r>
              <a:rPr lang="en-US" altLang="ko-KR" sz="2000" dirty="0"/>
              <a:t>char </a:t>
            </a:r>
            <a:r>
              <a:rPr lang="ko-KR" altLang="en-US" sz="2000" dirty="0"/>
              <a:t>배열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16803A-9C68-E83B-D262-1E8D48E4AC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83871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F4304-47E7-1793-0C7F-59E4F0D4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61DBD-01C6-5B35-FB1C-461E7989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8.3.1 </a:t>
            </a:r>
            <a:r>
              <a:rPr lang="ko-KR" altLang="en-US" dirty="0"/>
              <a:t>함수에서 배열 인수 전달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F088A-81C3-7576-B45B-9AFC423DE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배열 전달 시</a:t>
            </a:r>
            <a:endParaRPr lang="en-US" altLang="ko-KR" sz="2400" dirty="0"/>
          </a:p>
          <a:p>
            <a:pPr lvl="1"/>
            <a:r>
              <a:rPr lang="ko-KR" altLang="en-US" sz="2000" dirty="0"/>
              <a:t>포인터로 변환 </a:t>
            </a:r>
            <a:r>
              <a:rPr lang="en-US" altLang="ko-KR" sz="2000" dirty="0"/>
              <a:t>(Array-to-pointer conversion, array-to-pointer decay)</a:t>
            </a:r>
          </a:p>
          <a:p>
            <a:pPr lvl="2"/>
            <a:r>
              <a:rPr lang="ko-KR" altLang="en-US" sz="1600" dirty="0"/>
              <a:t>배열 전체 복사 ❌</a:t>
            </a:r>
          </a:p>
          <a:p>
            <a:pPr lvl="2"/>
            <a:r>
              <a:rPr lang="ko-KR" altLang="en-US" sz="1600" dirty="0"/>
              <a:t>주소 전달 ⭕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2000" dirty="0"/>
              <a:t>	Ex) int arr[] → int*, char byteArray[] → char* byteArray</a:t>
            </a:r>
          </a:p>
          <a:p>
            <a:pPr lvl="2"/>
            <a:endParaRPr lang="en-US" altLang="ko-KR" sz="1600" dirty="0"/>
          </a:p>
          <a:p>
            <a:pPr lvl="1"/>
            <a:r>
              <a:rPr lang="en-US" altLang="ko-KR" sz="2000" dirty="0"/>
              <a:t>sizeof(arr) → </a:t>
            </a:r>
            <a:r>
              <a:rPr lang="ko-KR" altLang="en-US" sz="2000" dirty="0"/>
              <a:t>배열 크기 아닌</a:t>
            </a:r>
            <a:r>
              <a:rPr lang="en-US" altLang="ko-KR" sz="2000" dirty="0"/>
              <a:t> </a:t>
            </a:r>
            <a:r>
              <a:rPr lang="ko-KR" altLang="en-US" sz="2000" dirty="0"/>
              <a:t>포인터 변수의 크기</a:t>
            </a:r>
            <a:endParaRPr lang="en-US" altLang="ko-KR" sz="2000" dirty="0"/>
          </a:p>
          <a:p>
            <a:pPr lvl="1"/>
            <a:r>
              <a:rPr lang="ko-KR" altLang="en-US" sz="2000" dirty="0"/>
              <a:t>배열 크기</a:t>
            </a:r>
            <a:r>
              <a:rPr lang="en-US" altLang="ko-KR" sz="2000" dirty="0"/>
              <a:t> → </a:t>
            </a:r>
            <a:r>
              <a:rPr lang="ko-KR" altLang="en-US" sz="2000" dirty="0"/>
              <a:t>별도 전달 필요</a:t>
            </a:r>
            <a:endParaRPr lang="en-US" altLang="ko-KR" sz="1600" dirty="0"/>
          </a:p>
          <a:p>
            <a:pPr lvl="1"/>
            <a:r>
              <a:rPr lang="ko-KR" altLang="en-US" sz="2000" dirty="0"/>
              <a:t>배열 매개변수</a:t>
            </a:r>
            <a:r>
              <a:rPr lang="en-US" altLang="ko-KR" sz="2000" dirty="0"/>
              <a:t>([]) → </a:t>
            </a:r>
            <a:r>
              <a:rPr lang="ko-KR" altLang="en-US" sz="2000" dirty="0"/>
              <a:t>포인터</a:t>
            </a:r>
            <a:r>
              <a:rPr lang="en-US" altLang="ko-KR" sz="2000" dirty="0"/>
              <a:t>(*)</a:t>
            </a:r>
            <a:r>
              <a:rPr lang="ko-KR" altLang="en-US" sz="2000" dirty="0"/>
              <a:t>로 변환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EA13D4-3BBF-76BF-62E0-7D867068A3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BB44A-9FAD-117B-3C78-CBEF243D3509}"/>
              </a:ext>
            </a:extLst>
          </p:cNvPr>
          <p:cNvSpPr txBox="1"/>
          <p:nvPr/>
        </p:nvSpPr>
        <p:spPr>
          <a:xfrm>
            <a:off x="539750" y="4221088"/>
            <a:ext cx="6624538" cy="2185214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ModifyArray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arr[], </a:t>
            </a:r>
            <a:r>
              <a:rPr lang="en-US" altLang="ko-KR" sz="2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size; ++i)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arr[i] = arr[i] *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11412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4A708-B869-6947-4D40-534847CE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2D6FB-DB77-5DB9-80B0-B443A725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8.3.1 </a:t>
            </a:r>
            <a:r>
              <a:rPr lang="ko-KR" altLang="en-US" dirty="0"/>
              <a:t>함수에서 배열 인수 전달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739387-3216-6C02-F369-B52C7D4FE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함수의 인수</a:t>
            </a:r>
            <a:endParaRPr lang="en-US" altLang="ko-KR" dirty="0"/>
          </a:p>
          <a:p>
            <a:pPr lvl="1"/>
            <a:r>
              <a:rPr lang="ko-KR" altLang="en-US" dirty="0"/>
              <a:t>배열은 포인터로 변환되어 전달</a:t>
            </a:r>
            <a:br>
              <a:rPr lang="en-US" altLang="ko-KR" dirty="0"/>
            </a:br>
            <a:r>
              <a:rPr lang="en-US" altLang="ko-KR" dirty="0"/>
              <a:t>(array-to-pointer conversion) </a:t>
            </a:r>
          </a:p>
          <a:p>
            <a:pPr lvl="1"/>
            <a:r>
              <a:rPr lang="ko-KR" altLang="en-US" dirty="0"/>
              <a:t>전달 시 </a:t>
            </a:r>
            <a:r>
              <a:rPr lang="en-US" altLang="ko-KR" dirty="0">
                <a:solidFill>
                  <a:srgbClr val="FF0000"/>
                </a:solidFill>
              </a:rPr>
              <a:t>0-</a:t>
            </a:r>
            <a:r>
              <a:rPr lang="ko-KR" altLang="en-US" dirty="0">
                <a:solidFill>
                  <a:srgbClr val="FF0000"/>
                </a:solidFill>
              </a:rPr>
              <a:t>요소의 주소</a:t>
            </a:r>
            <a:r>
              <a:rPr lang="en-US" altLang="ko-KR" dirty="0">
                <a:solidFill>
                  <a:srgbClr val="FF0000"/>
                </a:solidFill>
              </a:rPr>
              <a:t>(&amp;arr[0])</a:t>
            </a:r>
            <a:r>
              <a:rPr lang="ko-KR" altLang="en-US" dirty="0"/>
              <a:t>로 변환 </a:t>
            </a:r>
          </a:p>
          <a:p>
            <a:pPr lvl="1"/>
            <a:r>
              <a:rPr lang="ko-KR" altLang="en-US" dirty="0"/>
              <a:t>포인터로 전달되므로 배열의 크기 정보는 전달 안됨</a:t>
            </a:r>
            <a:endParaRPr lang="en-US" altLang="ko-KR" sz="28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CE6F61-1430-15BC-5CF5-7A9FCF97A1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50AF4-4679-BE59-ED48-7213D8B757AD}"/>
              </a:ext>
            </a:extLst>
          </p:cNvPr>
          <p:cNvSpPr txBox="1"/>
          <p:nvPr/>
        </p:nvSpPr>
        <p:spPr>
          <a:xfrm>
            <a:off x="256359" y="3321305"/>
            <a:ext cx="4987324" cy="58477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3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arr[]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22AD9-54D0-5E0B-9909-2203B44A8519}"/>
              </a:ext>
            </a:extLst>
          </p:cNvPr>
          <p:cNvSpPr txBox="1"/>
          <p:nvPr/>
        </p:nvSpPr>
        <p:spPr>
          <a:xfrm>
            <a:off x="256359" y="4077072"/>
            <a:ext cx="8631282" cy="58477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3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arr[10000]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// 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배열크기 정보는 전달 안됨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DDB66-21F1-F65D-7263-ED72C2F24E42}"/>
              </a:ext>
            </a:extLst>
          </p:cNvPr>
          <p:cNvSpPr txBox="1"/>
          <p:nvPr/>
        </p:nvSpPr>
        <p:spPr>
          <a:xfrm>
            <a:off x="256359" y="4832838"/>
            <a:ext cx="4987324" cy="58477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3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32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59149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DE060-4B3D-7629-52D2-2AE3A51E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8.3.2 printf, scanf "%s" </a:t>
            </a:r>
            <a:r>
              <a:rPr lang="ko-KR" altLang="en-US" dirty="0"/>
              <a:t>이해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0A403-E490-9DC9-EEA4-5F8A42922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printf %s</a:t>
            </a:r>
          </a:p>
          <a:p>
            <a:pPr lvl="1"/>
            <a:r>
              <a:rPr lang="ko-KR" altLang="en-US" sz="2000" dirty="0"/>
              <a:t>문자열 처리</a:t>
            </a:r>
          </a:p>
          <a:p>
            <a:pPr lvl="1"/>
            <a:r>
              <a:rPr lang="ko-KR" altLang="en-US" sz="2000" dirty="0"/>
              <a:t>출력</a:t>
            </a:r>
            <a:endParaRPr lang="en-US" altLang="ko-KR" sz="2000" dirty="0"/>
          </a:p>
          <a:p>
            <a:pPr lvl="2"/>
            <a:r>
              <a:rPr lang="ko-KR" altLang="en-US" sz="1600" dirty="0"/>
              <a:t>시작 주소부터 </a:t>
            </a:r>
            <a:r>
              <a:rPr lang="en-US" altLang="ko-KR" sz="1600" dirty="0">
                <a:solidFill>
                  <a:srgbClr val="CC00CC"/>
                </a:solidFill>
              </a:rPr>
              <a:t>'</a:t>
            </a:r>
            <a:r>
              <a:rPr lang="en-US" altLang="ko-KR" sz="1600" dirty="0">
                <a:solidFill>
                  <a:srgbClr val="CC00CC"/>
                </a:solidFill>
                <a:latin typeface="Consolas" panose="020B0609020204030204" pitchFamily="49" charset="0"/>
              </a:rPr>
              <a:t>\0</a:t>
            </a:r>
            <a:r>
              <a:rPr lang="en-US" altLang="ko-KR" sz="1600" dirty="0">
                <a:solidFill>
                  <a:srgbClr val="CC00CC"/>
                </a:solidFill>
              </a:rPr>
              <a:t>'</a:t>
            </a:r>
            <a:r>
              <a:rPr lang="en-US" altLang="ko-KR" sz="1600" dirty="0"/>
              <a:t> </a:t>
            </a:r>
            <a:r>
              <a:rPr lang="ko-KR" altLang="en-US" sz="1600" dirty="0"/>
              <a:t>까지 출력</a:t>
            </a:r>
          </a:p>
          <a:p>
            <a:pPr lvl="1"/>
            <a:r>
              <a:rPr lang="ko-KR" altLang="en-US" sz="2000" dirty="0"/>
              <a:t>입력</a:t>
            </a:r>
            <a:endParaRPr lang="en-US" altLang="ko-KR" sz="2000" dirty="0"/>
          </a:p>
          <a:p>
            <a:pPr lvl="2"/>
            <a:r>
              <a:rPr lang="ko-KR" altLang="en-US" sz="1600" dirty="0"/>
              <a:t>공백 전까지 읽음</a:t>
            </a:r>
          </a:p>
          <a:p>
            <a:pPr lvl="2"/>
            <a:r>
              <a:rPr lang="ko-KR" altLang="en-US" sz="1600" dirty="0"/>
              <a:t>마지막에 </a:t>
            </a:r>
            <a:r>
              <a:rPr lang="en-US" altLang="ko-KR" sz="1600" dirty="0">
                <a:solidFill>
                  <a:srgbClr val="CC00CC"/>
                </a:solidFill>
              </a:rPr>
              <a:t>'</a:t>
            </a:r>
            <a:r>
              <a:rPr lang="en-US" altLang="ko-KR" sz="1600" dirty="0">
                <a:solidFill>
                  <a:srgbClr val="CC00CC"/>
                </a:solidFill>
                <a:latin typeface="Consolas" panose="020B0609020204030204" pitchFamily="49" charset="0"/>
              </a:rPr>
              <a:t>\0</a:t>
            </a:r>
            <a:r>
              <a:rPr lang="en-US" altLang="ko-KR" sz="1600" dirty="0">
                <a:solidFill>
                  <a:srgbClr val="CC00CC"/>
                </a:solidFill>
              </a:rPr>
              <a:t>' </a:t>
            </a:r>
            <a:r>
              <a:rPr lang="ko-KR" altLang="en-US" sz="1600" dirty="0"/>
              <a:t>자동 추가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scanf %s</a:t>
            </a:r>
            <a:endParaRPr lang="ko-KR" altLang="en-US" sz="2400" dirty="0"/>
          </a:p>
          <a:p>
            <a:pPr lvl="1"/>
            <a:r>
              <a:rPr lang="ko-KR" altLang="en-US" sz="2000" dirty="0"/>
              <a:t>입력 → 버퍼 → 배열로 복사</a:t>
            </a:r>
          </a:p>
          <a:p>
            <a:pPr lvl="1"/>
            <a:r>
              <a:rPr lang="ko-KR" altLang="en-US" sz="2000" dirty="0"/>
              <a:t>공백</a:t>
            </a:r>
            <a:r>
              <a:rPr lang="en-US" altLang="ko-KR" sz="2000" dirty="0"/>
              <a:t>(</a:t>
            </a:r>
            <a:r>
              <a:rPr lang="ko-KR" altLang="en-US" sz="2000" dirty="0"/>
              <a:t>스페이스</a:t>
            </a:r>
            <a:r>
              <a:rPr lang="en-US" altLang="ko-KR" sz="2000" dirty="0"/>
              <a:t>, </a:t>
            </a:r>
            <a:r>
              <a:rPr lang="ko-KR" altLang="en-US" sz="2000" dirty="0"/>
              <a:t>탭</a:t>
            </a:r>
            <a:r>
              <a:rPr lang="en-US" altLang="ko-KR" sz="2000" dirty="0"/>
              <a:t>, </a:t>
            </a:r>
            <a:r>
              <a:rPr lang="ko-KR" altLang="en-US" sz="2000" dirty="0"/>
              <a:t>엔터</a:t>
            </a:r>
            <a:r>
              <a:rPr lang="en-US" altLang="ko-KR" sz="2000" dirty="0"/>
              <a:t>)</a:t>
            </a:r>
            <a:r>
              <a:rPr lang="ko-KR" altLang="en-US" sz="2000" dirty="0"/>
              <a:t>에서 종료</a:t>
            </a:r>
          </a:p>
          <a:p>
            <a:pPr lvl="1"/>
            <a:r>
              <a:rPr lang="ko-KR" altLang="en-US" sz="2000" dirty="0"/>
              <a:t>문자열 형태로 저장 </a:t>
            </a:r>
            <a:r>
              <a:rPr lang="en-US" altLang="ko-KR" sz="2000" dirty="0"/>
              <a:t>(</a:t>
            </a:r>
            <a:r>
              <a:rPr lang="en-US" altLang="ko-KR" sz="2000" dirty="0">
                <a:solidFill>
                  <a:srgbClr val="CC00CC"/>
                </a:solidFill>
              </a:rPr>
              <a:t>'</a:t>
            </a:r>
            <a:r>
              <a:rPr lang="en-US" altLang="ko-KR" sz="2000" dirty="0">
                <a:solidFill>
                  <a:srgbClr val="CC00CC"/>
                </a:solidFill>
                <a:latin typeface="Consolas" panose="020B0609020204030204" pitchFamily="49" charset="0"/>
              </a:rPr>
              <a:t>\0</a:t>
            </a:r>
            <a:r>
              <a:rPr lang="en-US" altLang="ko-KR" sz="2000" dirty="0">
                <a:solidFill>
                  <a:srgbClr val="CC00CC"/>
                </a:solidFill>
              </a:rPr>
              <a:t>'</a:t>
            </a:r>
            <a:r>
              <a:rPr lang="en-US" altLang="ko-KR" sz="2000" dirty="0"/>
              <a:t> </a:t>
            </a:r>
            <a:r>
              <a:rPr lang="ko-KR" altLang="en-US" sz="2000" dirty="0"/>
              <a:t>포함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주의 사항</a:t>
            </a:r>
            <a:endParaRPr lang="en-US" altLang="ko-KR" sz="2000" dirty="0"/>
          </a:p>
          <a:p>
            <a:pPr lvl="2"/>
            <a:r>
              <a:rPr lang="ko-KR" altLang="en-US" sz="1600" dirty="0"/>
              <a:t>배열 크기 초과 시 메모리 침범</a:t>
            </a:r>
          </a:p>
          <a:p>
            <a:pPr lvl="2"/>
            <a:r>
              <a:rPr lang="ko-KR" altLang="en-US" sz="1600" dirty="0"/>
              <a:t>입력 길이 제한 필요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656DBB-6814-7173-7219-5E9F5252BC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69891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04EF-EDBF-34A0-8BD7-CC963203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39A78-3FD1-E9C3-1F92-F55F79AC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8.3.2 myScanf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CA5541-45BE-266B-59ED-A7F3D6794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목적</a:t>
            </a:r>
          </a:p>
          <a:p>
            <a:pPr lvl="1"/>
            <a:r>
              <a:rPr lang="ko-KR" altLang="en-US" sz="2000" dirty="0"/>
              <a:t>안전한 문자열 입력 </a:t>
            </a:r>
            <a:r>
              <a:rPr lang="en-US" altLang="ko-KR" sz="2000" dirty="0"/>
              <a:t>(</a:t>
            </a:r>
            <a:r>
              <a:rPr lang="ko-KR" altLang="en-US" sz="2000" dirty="0"/>
              <a:t>크기 제어</a:t>
            </a:r>
            <a:r>
              <a:rPr lang="en-US" altLang="ko-KR" sz="2000" dirty="0"/>
              <a:t>, </a:t>
            </a:r>
            <a:r>
              <a:rPr lang="ko-KR" altLang="en-US" sz="2000" dirty="0"/>
              <a:t>버퍼 정리</a:t>
            </a:r>
            <a:r>
              <a:rPr lang="en-US" altLang="ko-KR" sz="2000" dirty="0"/>
              <a:t>)</a:t>
            </a:r>
            <a:endParaRPr lang="en-US" altLang="ko-KR" sz="1600" dirty="0"/>
          </a:p>
          <a:p>
            <a:r>
              <a:rPr lang="ko-KR" altLang="en-US" sz="2400" dirty="0"/>
              <a:t>동작</a:t>
            </a:r>
          </a:p>
          <a:p>
            <a:pPr lvl="1"/>
            <a:r>
              <a:rPr lang="en-US" altLang="ko-KR" dirty="0">
                <a:solidFill>
                  <a:srgbClr val="7030A0"/>
                </a:solidFill>
              </a:rPr>
              <a:t>getchar</a:t>
            </a:r>
            <a:r>
              <a:rPr lang="ko-KR" altLang="en-US" sz="2000" dirty="0"/>
              <a:t>로 한 글자씩 입력</a:t>
            </a:r>
            <a:r>
              <a:rPr lang="en-US" altLang="ko-KR" sz="2000" dirty="0"/>
              <a:t>, </a:t>
            </a:r>
            <a:r>
              <a:rPr lang="ko-KR" altLang="en-US" sz="2000" dirty="0"/>
              <a:t>줄바꿈까지 읽어 입력 버퍼 비움</a:t>
            </a:r>
          </a:p>
          <a:p>
            <a:pPr lvl="1"/>
            <a:r>
              <a:rPr lang="ko-KR" altLang="en-US" sz="2000" dirty="0"/>
              <a:t>버퍼 크기 초과 방지</a:t>
            </a:r>
            <a:r>
              <a:rPr lang="en-US" altLang="ko-KR" sz="2000" dirty="0"/>
              <a:t>, '</a:t>
            </a:r>
            <a:r>
              <a:rPr lang="en-US" altLang="ko-KR" sz="2000" dirty="0">
                <a:latin typeface="Consolas" panose="020B0609020204030204" pitchFamily="49" charset="0"/>
              </a:rPr>
              <a:t>\0</a:t>
            </a:r>
            <a:r>
              <a:rPr lang="en-US" altLang="ko-KR" sz="2000" dirty="0"/>
              <a:t>' </a:t>
            </a:r>
            <a:r>
              <a:rPr lang="ko-KR" altLang="en-US" sz="2000" dirty="0"/>
              <a:t>직접 추가 → 문자열 종료 보장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08A81C-E7F0-C481-7953-B193822753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59A92-1273-BC4A-EDA1-39AB0CB34C1C}"/>
              </a:ext>
            </a:extLst>
          </p:cNvPr>
          <p:cNvSpPr txBox="1"/>
          <p:nvPr/>
        </p:nvSpPr>
        <p:spPr>
          <a:xfrm>
            <a:off x="683568" y="2772996"/>
            <a:ext cx="7704856" cy="3970318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myScanf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buf[],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bufsize)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read_count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읽은 문자 개수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index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마지막에 널문자 추가하기 위해 밖으로 뺌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한 글자씩 읽어서 배열에 저장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;(ch = getchar()) !=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ch != EOF; ++index)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overflow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 방지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.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마지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막 한 칸은 널 문자용으로 남겨 둠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(index &lt; bufsize -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버퍼 크기 전까지만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buf[index] = 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)ch;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++read_count;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buf[read_count] =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    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문자열 종료 보장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  <a:br>
              <a:rPr lang="ko-KR" altLang="en-US" sz="1400" b="1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read_count;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         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읽은 문자를 반환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067423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98C6-7BEF-799D-7C2C-F3B8E088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88BC6-9A4E-1C74-F616-6411CEBB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8.3.3 </a:t>
            </a:r>
            <a:r>
              <a:rPr lang="ko-KR" altLang="en-US" dirty="0"/>
              <a:t>문자열 길이 </a:t>
            </a:r>
            <a:r>
              <a:rPr lang="en-US" altLang="ko-KR" dirty="0"/>
              <a:t>– myStrLen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4CB5-BCB9-4C8F-70D7-00ABCF250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문자열 끝 → </a:t>
            </a:r>
            <a:r>
              <a:rPr lang="en-US" altLang="ko-KR" sz="2400" dirty="0"/>
              <a:t>'</a:t>
            </a:r>
            <a:r>
              <a:rPr lang="en-US" altLang="ko-KR" sz="2400" dirty="0">
                <a:latin typeface="Consolas" panose="020B0609020204030204" pitchFamily="49" charset="0"/>
              </a:rPr>
              <a:t>\0</a:t>
            </a:r>
            <a:r>
              <a:rPr lang="en-US" altLang="ko-KR" sz="2400" dirty="0"/>
              <a:t>'</a:t>
            </a:r>
          </a:p>
          <a:p>
            <a:r>
              <a:rPr lang="ko-KR" altLang="en-US" sz="2400" dirty="0"/>
              <a:t>문자열 길이 → </a:t>
            </a:r>
            <a:r>
              <a:rPr lang="en-US" altLang="ko-KR" sz="2400" dirty="0"/>
              <a:t>'</a:t>
            </a:r>
            <a:r>
              <a:rPr lang="en-US" altLang="ko-KR" sz="2400" dirty="0">
                <a:latin typeface="Consolas" panose="020B0609020204030204" pitchFamily="49" charset="0"/>
              </a:rPr>
              <a:t>\0</a:t>
            </a:r>
            <a:r>
              <a:rPr lang="en-US" altLang="ko-KR" sz="2400" dirty="0"/>
              <a:t>' </a:t>
            </a:r>
            <a:r>
              <a:rPr lang="ko-KR" altLang="en-US" sz="2400" dirty="0"/>
              <a:t>이전까지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3C651F-6B71-8385-E595-B40DCE5117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FAF9B-190A-E4EB-82E7-9FAAED97640A}"/>
              </a:ext>
            </a:extLst>
          </p:cNvPr>
          <p:cNvSpPr txBox="1"/>
          <p:nvPr/>
        </p:nvSpPr>
        <p:spPr>
          <a:xfrm>
            <a:off x="539750" y="1861568"/>
            <a:ext cx="7128594" cy="4278094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myStrLen(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str[])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str)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널 포인터면 길이는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0.</a:t>
            </a:r>
            <a:endParaRPr lang="ko-KR" altLang="en-US" sz="2000" b="0" dirty="0">
              <a:effectLst/>
            </a:endParaRPr>
          </a:p>
          <a:p>
            <a:pPr>
              <a:buNone/>
            </a:pP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len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널문자 전까지가 문자열의 길이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3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(str[len] != </a:t>
            </a:r>
            <a:r>
              <a:rPr lang="en-US" altLang="ko-KR" sz="3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++len;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len;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57507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AB45-5BBC-D997-3987-FBE56A8FF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13EFC-99FB-614F-9AD2-27A43714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8.3.4 </a:t>
            </a:r>
            <a:r>
              <a:rPr lang="ko-KR" altLang="en-US" dirty="0"/>
              <a:t>문자열 복사하기 </a:t>
            </a:r>
            <a:r>
              <a:rPr lang="en-US" altLang="ko-KR" dirty="0"/>
              <a:t>– myStrCpy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85783-F4BB-268A-3A73-567E1B96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문자열 끝 → </a:t>
            </a:r>
            <a:r>
              <a:rPr lang="en-US" altLang="ko-KR" sz="2400" dirty="0"/>
              <a:t>'</a:t>
            </a:r>
            <a:r>
              <a:rPr lang="en-US" altLang="ko-KR" sz="2400" dirty="0">
                <a:latin typeface="Consolas" panose="020B0609020204030204" pitchFamily="49" charset="0"/>
              </a:rPr>
              <a:t>\0</a:t>
            </a:r>
            <a:r>
              <a:rPr lang="en-US" altLang="ko-KR" sz="2400" dirty="0"/>
              <a:t>'</a:t>
            </a:r>
          </a:p>
          <a:p>
            <a:r>
              <a:rPr lang="ko-KR" altLang="en-US" sz="2400" dirty="0"/>
              <a:t>문자열 길이 → </a:t>
            </a:r>
            <a:r>
              <a:rPr lang="en-US" altLang="ko-KR" sz="2400" dirty="0"/>
              <a:t>'</a:t>
            </a:r>
            <a:r>
              <a:rPr lang="en-US" altLang="ko-KR" sz="2400" dirty="0">
                <a:latin typeface="Consolas" panose="020B0609020204030204" pitchFamily="49" charset="0"/>
              </a:rPr>
              <a:t>\0</a:t>
            </a:r>
            <a:r>
              <a:rPr lang="en-US" altLang="ko-KR" sz="2400" dirty="0"/>
              <a:t>' </a:t>
            </a:r>
            <a:r>
              <a:rPr lang="ko-KR" altLang="en-US" sz="2400" dirty="0"/>
              <a:t>이전까지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211DE7-6BC0-26E8-91C2-7FB661E701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8BB81-769A-8F83-C3DD-68226736CF0A}"/>
              </a:ext>
            </a:extLst>
          </p:cNvPr>
          <p:cNvSpPr txBox="1"/>
          <p:nvPr/>
        </p:nvSpPr>
        <p:spPr>
          <a:xfrm>
            <a:off x="539750" y="1700808"/>
            <a:ext cx="8064500" cy="3600986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myStrCpy(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dst[],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dest_size,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src[])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dest_size)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크기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이면 복사할 수 없으므로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반환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600" b="0" dirty="0">
              <a:effectLst/>
            </a:endParaRPr>
          </a:p>
          <a:p>
            <a:pPr>
              <a:buNone/>
            </a:pP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n=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--dest_size;       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널문자 저장 공간을 위해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감소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(;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src[n] &amp;&amp;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&lt;dest_size; ++n, --dest_size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dst[n] = src[n];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dst[n] = 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dirty="0">
                <a:solidFill>
                  <a:srgbClr val="383A42"/>
                </a:solidFill>
                <a:latin typeface="Consolas" panose="020B0609020204030204" pitchFamily="49" charset="0"/>
              </a:rPr>
              <a:t>      </a:t>
            </a:r>
            <a:r>
              <a:rPr lang="en-US" altLang="ko-KR" sz="16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i="1" dirty="0">
                <a:solidFill>
                  <a:srgbClr val="A0A1A7"/>
                </a:solidFill>
                <a:latin typeface="Consolas" panose="020B0609020204030204" pitchFamily="49" charset="0"/>
              </a:rPr>
              <a:t>널문자 저장</a:t>
            </a:r>
            <a:r>
              <a:rPr lang="en-US" altLang="ko-KR" sz="1600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81586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7ECEC-D045-6784-AE3C-A7A67C1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8.3.5 </a:t>
            </a:r>
            <a:r>
              <a:rPr lang="ko-KR" altLang="en-US" dirty="0"/>
              <a:t>문자열 비교하기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C20E99-AB30-FD19-7648-30D3F9C1D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문자열 비교</a:t>
            </a:r>
            <a:endParaRPr lang="en-US" altLang="ko-KR" sz="2400" dirty="0"/>
          </a:p>
          <a:p>
            <a:pPr lvl="1"/>
            <a:r>
              <a:rPr lang="ko-KR" altLang="en-US" sz="2000" dirty="0"/>
              <a:t>앞에서부터 문자 비교</a:t>
            </a:r>
          </a:p>
          <a:p>
            <a:pPr lvl="1"/>
            <a:r>
              <a:rPr lang="ko-KR" altLang="en-US" sz="2000" dirty="0"/>
              <a:t>다른 순간 크기 결정</a:t>
            </a:r>
          </a:p>
          <a:p>
            <a:pPr lvl="1"/>
            <a:r>
              <a:rPr lang="ko-KR" altLang="en-US" sz="2000" dirty="0"/>
              <a:t>끝까지 같으면 길이 비교</a:t>
            </a:r>
            <a:endParaRPr lang="en-US" altLang="ko-KR" sz="2000" dirty="0"/>
          </a:p>
          <a:p>
            <a:r>
              <a:rPr lang="ko-KR" altLang="en-US" sz="2400" dirty="0"/>
              <a:t>반환 규칙</a:t>
            </a:r>
          </a:p>
          <a:p>
            <a:pPr lvl="1"/>
            <a:r>
              <a:rPr lang="en-US" altLang="ko-KR" sz="2000" dirty="0"/>
              <a:t>s1 &gt; s2 → +1</a:t>
            </a:r>
          </a:p>
          <a:p>
            <a:pPr lvl="1"/>
            <a:r>
              <a:rPr lang="en-US" altLang="ko-KR" sz="2000" dirty="0"/>
              <a:t>s1 == s2 → 0</a:t>
            </a:r>
          </a:p>
          <a:p>
            <a:pPr lvl="1"/>
            <a:r>
              <a:rPr lang="en-US" altLang="ko-KR" sz="2000" dirty="0"/>
              <a:t>s1 &lt; s2 → -1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BCC903-8FFB-AE86-AC7E-EB922D8358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15C909-9725-EA20-9A9D-DE8DD00CEC3B}"/>
              </a:ext>
            </a:extLst>
          </p:cNvPr>
          <p:cNvSpPr txBox="1"/>
          <p:nvPr/>
        </p:nvSpPr>
        <p:spPr>
          <a:xfrm>
            <a:off x="3489946" y="2277308"/>
            <a:ext cx="5544616" cy="4247317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myStrCmp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s1[],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s2[])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(;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s1[i] !=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s2[i] !=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(s1[i] != s2[i])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(s1[i] &gt; s2[i])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(s1[i] == s2[i])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(s1[i] &gt; s2[i])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13922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404A-9DAE-6FBF-163E-2D3DE574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839ED-343F-94A6-BB70-2DB62831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8.3.6 </a:t>
            </a:r>
            <a:r>
              <a:rPr lang="ko-KR" altLang="en-US" dirty="0"/>
              <a:t>문자열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EE7830-A76A-C048-6EE1-E23B04EE2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문자열 함수</a:t>
            </a:r>
            <a:endParaRPr lang="en-US" altLang="ko-KR" sz="2400" dirty="0"/>
          </a:p>
          <a:p>
            <a:pPr lvl="1"/>
            <a:r>
              <a:rPr lang="en-US" altLang="ko-KR" sz="1800" dirty="0"/>
              <a:t>&lt;string.h&gt; </a:t>
            </a:r>
            <a:r>
              <a:rPr lang="ko-KR" altLang="en-US" sz="1800" dirty="0"/>
              <a:t>제공 함수 → </a:t>
            </a:r>
            <a:r>
              <a:rPr lang="en-US" altLang="ko-KR" sz="1800" dirty="0">
                <a:solidFill>
                  <a:srgbClr val="7030A0"/>
                </a:solidFill>
              </a:rPr>
              <a:t>strlen</a:t>
            </a:r>
            <a:r>
              <a:rPr lang="en-US" altLang="ko-KR" sz="1800" dirty="0"/>
              <a:t>, </a:t>
            </a:r>
            <a:r>
              <a:rPr lang="en-US" altLang="ko-KR" sz="1800" dirty="0">
                <a:solidFill>
                  <a:srgbClr val="7030A0"/>
                </a:solidFill>
              </a:rPr>
              <a:t>strcpy</a:t>
            </a:r>
            <a:r>
              <a:rPr lang="en-US" altLang="ko-KR" sz="1800" dirty="0"/>
              <a:t>, </a:t>
            </a:r>
            <a:r>
              <a:rPr lang="en-US" altLang="ko-KR" sz="1800" dirty="0">
                <a:solidFill>
                  <a:srgbClr val="7030A0"/>
                </a:solidFill>
              </a:rPr>
              <a:t>strcmp</a:t>
            </a:r>
          </a:p>
          <a:p>
            <a:endParaRPr lang="en-US" altLang="ko-KR" sz="2400" dirty="0"/>
          </a:p>
          <a:p>
            <a:r>
              <a:rPr lang="ko-KR" altLang="en-US" sz="2400" dirty="0"/>
              <a:t>문자열 구조</a:t>
            </a:r>
          </a:p>
          <a:p>
            <a:pPr lvl="1"/>
            <a:r>
              <a:rPr lang="ko-KR" altLang="en-US" sz="1800" dirty="0"/>
              <a:t>문자 배열</a:t>
            </a:r>
            <a:r>
              <a:rPr lang="en-US" altLang="ko-KR" sz="1800" dirty="0"/>
              <a:t>, </a:t>
            </a:r>
            <a:r>
              <a:rPr lang="ko-KR" altLang="en-US" sz="1800" dirty="0"/>
              <a:t>마지막 → </a:t>
            </a:r>
            <a:r>
              <a:rPr lang="en-US" altLang="ko-KR" sz="1800" dirty="0"/>
              <a:t>'</a:t>
            </a:r>
            <a:r>
              <a:rPr lang="en-US" altLang="ko-KR" sz="1800" dirty="0">
                <a:latin typeface="Consolas" panose="020B0609020204030204" pitchFamily="49" charset="0"/>
              </a:rPr>
              <a:t>\0</a:t>
            </a:r>
            <a:r>
              <a:rPr lang="en-US" altLang="ko-KR" sz="1800" dirty="0"/>
              <a:t>'</a:t>
            </a:r>
          </a:p>
          <a:p>
            <a:endParaRPr lang="en-US" altLang="ko-KR" sz="2400" dirty="0"/>
          </a:p>
          <a:p>
            <a:r>
              <a:rPr lang="ko-KR" altLang="en-US" sz="2400" dirty="0"/>
              <a:t>처리 방식</a:t>
            </a:r>
          </a:p>
          <a:p>
            <a:pPr lvl="1"/>
            <a:r>
              <a:rPr lang="ko-KR" altLang="en-US" sz="1800" dirty="0"/>
              <a:t>앞에서부터 순차 접근</a:t>
            </a:r>
          </a:p>
          <a:p>
            <a:pPr lvl="1"/>
            <a:r>
              <a:rPr lang="en-US" altLang="ko-KR" sz="1800" dirty="0"/>
              <a:t>'</a:t>
            </a:r>
            <a:r>
              <a:rPr lang="en-US" altLang="ko-KR" sz="1800" dirty="0">
                <a:latin typeface="Consolas" panose="020B0609020204030204" pitchFamily="49" charset="0"/>
              </a:rPr>
              <a:t>\0</a:t>
            </a:r>
            <a:r>
              <a:rPr lang="en-US" altLang="ko-KR" sz="1800" dirty="0"/>
              <a:t>' </a:t>
            </a:r>
            <a:r>
              <a:rPr lang="ko-KR" altLang="en-US" sz="1800" dirty="0"/>
              <a:t>까지 반복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18CA71-E5E4-FD3D-7DE1-C059FEB0BC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51392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F0719-8DC5-BA7B-BEC9-BA8EEEF5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47027E-C1CA-0494-436B-071A19CA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84593"/>
            <a:ext cx="8928992" cy="5832475"/>
          </a:xfrm>
        </p:spPr>
        <p:txBody>
          <a:bodyPr/>
          <a:lstStyle/>
          <a:p>
            <a:r>
              <a:rPr lang="ko-KR" altLang="en-US" sz="2000" dirty="0"/>
              <a:t>배열</a:t>
            </a:r>
          </a:p>
          <a:p>
            <a:pPr lvl="1"/>
            <a:r>
              <a:rPr lang="ko-KR" altLang="en-US" sz="1600" dirty="0"/>
              <a:t>동일한 타입의 연속된 메모리 공간</a:t>
            </a:r>
          </a:p>
          <a:p>
            <a:pPr lvl="1"/>
            <a:r>
              <a:rPr lang="ko-KR" altLang="en-US" sz="1600" dirty="0"/>
              <a:t>배열 이름 → </a:t>
            </a:r>
            <a:r>
              <a:rPr lang="en-US" altLang="ko-KR" sz="1600" dirty="0"/>
              <a:t>0 </a:t>
            </a:r>
            <a:r>
              <a:rPr lang="ko-KR" altLang="en-US" sz="1600" dirty="0"/>
              <a:t>번째 원소의 주소</a:t>
            </a:r>
            <a:r>
              <a:rPr lang="en-US" altLang="ko-KR" sz="1600" dirty="0"/>
              <a:t>, </a:t>
            </a:r>
            <a:r>
              <a:rPr lang="ko-KR" altLang="en-US" sz="1600" dirty="0"/>
              <a:t>배열 원소 → 배열이름</a:t>
            </a:r>
            <a:r>
              <a:rPr lang="en-US" altLang="ko-KR" sz="1600" dirty="0"/>
              <a:t>[</a:t>
            </a:r>
            <a:r>
              <a:rPr lang="ko-KR" altLang="en-US" sz="1600" dirty="0"/>
              <a:t>인덱스</a:t>
            </a:r>
            <a:r>
              <a:rPr lang="en-US" altLang="ko-KR" sz="1600" dirty="0"/>
              <a:t>]</a:t>
            </a:r>
          </a:p>
          <a:p>
            <a:pPr lvl="1"/>
            <a:r>
              <a:rPr lang="en-US" altLang="ko-KR" sz="1600" dirty="0"/>
              <a:t>Index </a:t>
            </a:r>
            <a:r>
              <a:rPr lang="ko-KR" altLang="en-US" sz="1600" dirty="0"/>
              <a:t>기반 접근 → </a:t>
            </a:r>
            <a:r>
              <a:rPr lang="en-US" altLang="ko-KR" sz="1600" dirty="0"/>
              <a:t>O(1) </a:t>
            </a:r>
            <a:r>
              <a:rPr lang="ko-KR" altLang="en-US" sz="1600" dirty="0"/>
              <a:t>시간</a:t>
            </a:r>
          </a:p>
          <a:p>
            <a:pPr lvl="1"/>
            <a:r>
              <a:rPr lang="ko-KR" altLang="en-US" sz="1600" dirty="0"/>
              <a:t>크기</a:t>
            </a:r>
            <a:r>
              <a:rPr lang="en-US" altLang="ko-KR" sz="1600" dirty="0"/>
              <a:t>: </a:t>
            </a:r>
            <a:r>
              <a:rPr lang="ko-KR" altLang="en-US" sz="1600" dirty="0"/>
              <a:t>컴파일 시점에서 결정</a:t>
            </a:r>
            <a:r>
              <a:rPr lang="en-US" altLang="ko-KR" sz="1600" dirty="0"/>
              <a:t>, </a:t>
            </a:r>
            <a:r>
              <a:rPr lang="ko-KR" altLang="en-US" sz="1600" dirty="0"/>
              <a:t>범위 초과 → </a:t>
            </a:r>
            <a:r>
              <a:rPr lang="en-US" altLang="ko-KR" sz="1600" dirty="0"/>
              <a:t>UB</a:t>
            </a:r>
          </a:p>
          <a:p>
            <a:pPr lvl="1"/>
            <a:r>
              <a:rPr lang="ko-KR" altLang="en-US" sz="1600" dirty="0"/>
              <a:t>배열 → 포인터로 변환 </a:t>
            </a:r>
            <a:r>
              <a:rPr lang="en-US" altLang="ko-KR" sz="1600" dirty="0"/>
              <a:t>(array-to-pointer decay)</a:t>
            </a:r>
          </a:p>
          <a:p>
            <a:pPr lvl="1"/>
            <a:r>
              <a:rPr lang="en-US" altLang="ko-KR" sz="1600" dirty="0"/>
              <a:t>2</a:t>
            </a:r>
            <a:r>
              <a:rPr lang="ko-KR" altLang="en-US" sz="1600" dirty="0"/>
              <a:t>차원</a:t>
            </a:r>
            <a:r>
              <a:rPr lang="en-US" altLang="ko-KR" sz="1600" dirty="0"/>
              <a:t>, 3</a:t>
            </a:r>
            <a:r>
              <a:rPr lang="ko-KR" altLang="en-US" sz="1600" dirty="0"/>
              <a:t>차원</a:t>
            </a:r>
            <a:r>
              <a:rPr lang="en-US" altLang="ko-KR" sz="1600" dirty="0"/>
              <a:t>, n</a:t>
            </a:r>
            <a:r>
              <a:rPr lang="ko-KR" altLang="en-US" sz="1600" dirty="0"/>
              <a:t>차원 → </a:t>
            </a:r>
            <a:r>
              <a:rPr lang="en-US" altLang="ko-KR" sz="1600" dirty="0"/>
              <a:t>1</a:t>
            </a:r>
            <a:r>
              <a:rPr lang="ko-KR" altLang="en-US" sz="1600" dirty="0"/>
              <a:t>차원 메모리로 변환 가능</a:t>
            </a:r>
          </a:p>
          <a:p>
            <a:pPr lvl="1"/>
            <a:r>
              <a:rPr lang="ko-KR" altLang="en-US" sz="1600" dirty="0"/>
              <a:t>저장 방식</a:t>
            </a:r>
            <a:r>
              <a:rPr lang="en-US" altLang="ko-KR" sz="1600" dirty="0"/>
              <a:t>: row-major order</a:t>
            </a:r>
          </a:p>
          <a:p>
            <a:pPr lvl="1"/>
            <a:endParaRPr lang="en-US" altLang="ko-KR" sz="1600" dirty="0"/>
          </a:p>
          <a:p>
            <a:r>
              <a:rPr lang="ko-KR" altLang="en-US" sz="2000" dirty="0"/>
              <a:t>문자열</a:t>
            </a:r>
          </a:p>
          <a:p>
            <a:pPr lvl="1"/>
            <a:r>
              <a:rPr lang="ko-KR" altLang="en-US" sz="1600" dirty="0"/>
              <a:t>문자열 </a:t>
            </a:r>
            <a:r>
              <a:rPr lang="en-US" altLang="ko-KR" sz="1600" dirty="0"/>
              <a:t>= '</a:t>
            </a:r>
            <a:r>
              <a:rPr lang="en-US" altLang="ko-KR" sz="1600" dirty="0">
                <a:latin typeface="Consolas" panose="020B0609020204030204" pitchFamily="49" charset="0"/>
              </a:rPr>
              <a:t>\0</a:t>
            </a:r>
            <a:r>
              <a:rPr lang="en-US" altLang="ko-KR" sz="1600" dirty="0"/>
              <a:t>' </a:t>
            </a:r>
            <a:r>
              <a:rPr lang="ko-KR" altLang="en-US" sz="1600" dirty="0"/>
              <a:t>로 끝나는 </a:t>
            </a:r>
            <a:r>
              <a:rPr lang="en-US" altLang="ko-KR" sz="1600" dirty="0"/>
              <a:t>char </a:t>
            </a:r>
            <a:r>
              <a:rPr lang="ko-KR" altLang="en-US" sz="1600" dirty="0"/>
              <a:t>배열</a:t>
            </a:r>
          </a:p>
          <a:p>
            <a:pPr lvl="1"/>
            <a:r>
              <a:rPr lang="ko-KR" altLang="en-US" sz="1600" dirty="0"/>
              <a:t>리터럴 → 자동 </a:t>
            </a:r>
            <a:r>
              <a:rPr lang="en-US" altLang="ko-KR" sz="1600" dirty="0"/>
              <a:t>'</a:t>
            </a:r>
            <a:r>
              <a:rPr lang="en-US" altLang="ko-KR" sz="1600" dirty="0">
                <a:latin typeface="Consolas" panose="020B0609020204030204" pitchFamily="49" charset="0"/>
              </a:rPr>
              <a:t>\0</a:t>
            </a:r>
            <a:r>
              <a:rPr lang="en-US" altLang="ko-KR" sz="1600" dirty="0"/>
              <a:t>' </a:t>
            </a:r>
            <a:r>
              <a:rPr lang="ko-KR" altLang="en-US" sz="1600" dirty="0"/>
              <a:t>추가</a:t>
            </a:r>
          </a:p>
          <a:p>
            <a:pPr lvl="1"/>
            <a:r>
              <a:rPr lang="en-US" altLang="ko-KR" sz="1600" dirty="0"/>
              <a:t>sizeof → '</a:t>
            </a:r>
            <a:r>
              <a:rPr lang="en-US" altLang="ko-KR" sz="1600" dirty="0">
                <a:latin typeface="Consolas" panose="020B0609020204030204" pitchFamily="49" charset="0"/>
              </a:rPr>
              <a:t>\0</a:t>
            </a:r>
            <a:r>
              <a:rPr lang="en-US" altLang="ko-KR" sz="1600" dirty="0"/>
              <a:t>' </a:t>
            </a:r>
            <a:r>
              <a:rPr lang="ko-KR" altLang="en-US" sz="1600" dirty="0"/>
              <a:t>포함</a:t>
            </a:r>
          </a:p>
          <a:p>
            <a:pPr lvl="1"/>
            <a:r>
              <a:rPr lang="ko-KR" altLang="en-US" sz="1600" dirty="0"/>
              <a:t>문자열 처리 </a:t>
            </a:r>
            <a:r>
              <a:rPr lang="en-US" altLang="ko-KR" sz="1600" dirty="0"/>
              <a:t>= </a:t>
            </a:r>
            <a:r>
              <a:rPr lang="ko-KR" altLang="en-US" sz="1600" dirty="0"/>
              <a:t>순차 탐색</a:t>
            </a:r>
          </a:p>
          <a:p>
            <a:pPr lvl="1"/>
            <a:r>
              <a:rPr lang="en-US" altLang="ko-KR" sz="1600" dirty="0"/>
              <a:t>'</a:t>
            </a:r>
            <a:r>
              <a:rPr lang="en-US" altLang="ko-KR" sz="1600" dirty="0">
                <a:latin typeface="Consolas" panose="020B0609020204030204" pitchFamily="49" charset="0"/>
              </a:rPr>
              <a:t>\0</a:t>
            </a:r>
            <a:r>
              <a:rPr lang="en-US" altLang="ko-KR" sz="1600" dirty="0"/>
              <a:t>' </a:t>
            </a:r>
            <a:r>
              <a:rPr lang="ko-KR" altLang="en-US" sz="1600" dirty="0"/>
              <a:t>까지 반복</a:t>
            </a:r>
          </a:p>
          <a:p>
            <a:pPr lvl="1"/>
            <a:r>
              <a:rPr lang="en-US" altLang="ko-KR" sz="1600" dirty="0"/>
              <a:t>printf("%s") → '</a:t>
            </a:r>
            <a:r>
              <a:rPr lang="en-US" altLang="ko-KR" sz="1600" dirty="0">
                <a:latin typeface="Consolas" panose="020B0609020204030204" pitchFamily="49" charset="0"/>
              </a:rPr>
              <a:t>\0</a:t>
            </a:r>
            <a:r>
              <a:rPr lang="en-US" altLang="ko-KR" sz="1600" dirty="0"/>
              <a:t>' </a:t>
            </a:r>
            <a:r>
              <a:rPr lang="ko-KR" altLang="en-US" sz="1600" dirty="0"/>
              <a:t>까지 출력</a:t>
            </a:r>
          </a:p>
          <a:p>
            <a:pPr lvl="1"/>
            <a:r>
              <a:rPr lang="en-US" altLang="ko-KR" sz="1600" dirty="0"/>
              <a:t>scanf("%s") → '</a:t>
            </a:r>
            <a:r>
              <a:rPr lang="en-US" altLang="ko-KR" sz="1600" dirty="0">
                <a:latin typeface="Consolas" panose="020B0609020204030204" pitchFamily="49" charset="0"/>
              </a:rPr>
              <a:t>\0</a:t>
            </a:r>
            <a:r>
              <a:rPr lang="en-US" altLang="ko-KR" sz="1600" dirty="0"/>
              <a:t>' </a:t>
            </a:r>
            <a:r>
              <a:rPr lang="ko-KR" altLang="en-US" sz="1600" dirty="0"/>
              <a:t>자동 추가</a:t>
            </a:r>
          </a:p>
          <a:p>
            <a:pPr lvl="1"/>
            <a:r>
              <a:rPr lang="ko-KR" altLang="en-US" sz="1600" dirty="0"/>
              <a:t>입력 시 배열 크기 초과 주의</a:t>
            </a:r>
            <a:endParaRPr lang="en-US" altLang="ko-KR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4441E9-DFD3-433E-0B48-AE9EFB1C76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222772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ADB10-A28D-2A75-9A5D-151A1AFB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및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4EFC6-62D5-CD53-4990-6FF61B951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과제 </a:t>
            </a:r>
            <a:r>
              <a:rPr lang="en-US" altLang="ko-KR" sz="2000" dirty="0"/>
              <a:t>1: </a:t>
            </a:r>
            <a:r>
              <a:rPr lang="ko-KR" altLang="en-US" sz="2000" dirty="0"/>
              <a:t>삽입 정렬</a:t>
            </a:r>
          </a:p>
          <a:p>
            <a:pPr lvl="1"/>
            <a:r>
              <a:rPr lang="ko-KR" altLang="en-US" sz="1800" dirty="0"/>
              <a:t>정수 배열 </a:t>
            </a:r>
            <a:r>
              <a:rPr lang="en-US" altLang="ko-KR" sz="1800" dirty="0"/>
              <a:t>100</a:t>
            </a:r>
            <a:r>
              <a:rPr lang="ko-KR" altLang="en-US" sz="1800" dirty="0"/>
              <a:t>개 </a:t>
            </a:r>
            <a:r>
              <a:rPr lang="en-US" altLang="ko-KR" sz="1800" dirty="0"/>
              <a:t>(1000~9999 </a:t>
            </a:r>
            <a:r>
              <a:rPr lang="ko-KR" altLang="en-US" sz="1800" dirty="0"/>
              <a:t>난수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dirty="0"/>
              <a:t>오름차순 </a:t>
            </a:r>
            <a:r>
              <a:rPr lang="en-US" altLang="ko-KR" sz="1800" dirty="0"/>
              <a:t>/ </a:t>
            </a:r>
            <a:r>
              <a:rPr lang="ko-KR" altLang="en-US" sz="1800" dirty="0"/>
              <a:t>내림차순 선택 </a:t>
            </a:r>
            <a:r>
              <a:rPr lang="en-US" altLang="ko-KR" sz="1800" dirty="0"/>
              <a:t>('a', 'd')</a:t>
            </a:r>
          </a:p>
          <a:p>
            <a:pPr lvl="1"/>
            <a:r>
              <a:rPr lang="ko-KR" altLang="en-US" sz="1800" dirty="0"/>
              <a:t>하나의 함수에서 처리</a:t>
            </a:r>
          </a:p>
          <a:p>
            <a:pPr lvl="1"/>
            <a:r>
              <a:rPr lang="ko-KR" altLang="en-US" sz="1800" dirty="0"/>
              <a:t>정렬 전 </a:t>
            </a:r>
            <a:r>
              <a:rPr lang="en-US" altLang="ko-KR" sz="1800" dirty="0"/>
              <a:t>/ </a:t>
            </a:r>
            <a:r>
              <a:rPr lang="ko-KR" altLang="en-US" sz="1800" dirty="0"/>
              <a:t>후 출력</a:t>
            </a:r>
          </a:p>
          <a:p>
            <a:pPr lvl="1"/>
            <a:r>
              <a:rPr lang="ko-KR" altLang="en-US" sz="1800" dirty="0"/>
              <a:t>잘못된 입력 → 재입력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과제 </a:t>
            </a:r>
            <a:r>
              <a:rPr lang="en-US" altLang="ko-KR" sz="2000" dirty="0"/>
              <a:t>2: </a:t>
            </a:r>
            <a:r>
              <a:rPr lang="ko-KR" altLang="en-US" sz="2000" dirty="0"/>
              <a:t>선택 정렬</a:t>
            </a:r>
          </a:p>
          <a:p>
            <a:pPr lvl="1"/>
            <a:r>
              <a:rPr lang="ko-KR" altLang="en-US" sz="1800" dirty="0"/>
              <a:t>동일 조건</a:t>
            </a:r>
          </a:p>
          <a:p>
            <a:pPr lvl="1"/>
            <a:r>
              <a:rPr lang="ko-KR" altLang="en-US" sz="1800" dirty="0"/>
              <a:t>최소</a:t>
            </a:r>
            <a:r>
              <a:rPr lang="en-US" altLang="ko-KR" sz="1800" dirty="0"/>
              <a:t>/</a:t>
            </a:r>
            <a:r>
              <a:rPr lang="ko-KR" altLang="en-US" sz="1800" dirty="0"/>
              <a:t>최대 선택 → 교환 방식</a:t>
            </a:r>
          </a:p>
          <a:p>
            <a:pPr lvl="1"/>
            <a:r>
              <a:rPr lang="ko-KR" altLang="en-US" sz="1800" dirty="0"/>
              <a:t>오름차순 </a:t>
            </a:r>
            <a:r>
              <a:rPr lang="en-US" altLang="ko-KR" sz="1800" dirty="0"/>
              <a:t>/ </a:t>
            </a:r>
            <a:r>
              <a:rPr lang="ko-KR" altLang="en-US" sz="1800" dirty="0"/>
              <a:t>내림차순 처리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r>
              <a:rPr lang="ko-KR" altLang="en-US" sz="2400" dirty="0"/>
              <a:t>과제 </a:t>
            </a:r>
            <a:r>
              <a:rPr lang="en-US" altLang="ko-KR" sz="2400" dirty="0"/>
              <a:t>3: </a:t>
            </a:r>
            <a:r>
              <a:rPr lang="ko-KR" altLang="en-US" sz="2400" dirty="0"/>
              <a:t>지형 출력</a:t>
            </a:r>
          </a:p>
          <a:p>
            <a:pPr lvl="1"/>
            <a:r>
              <a:rPr lang="en-US" altLang="ko-KR" sz="1800" dirty="0"/>
              <a:t>32×32 </a:t>
            </a:r>
            <a:r>
              <a:rPr lang="ko-KR" altLang="en-US" sz="1800" dirty="0"/>
              <a:t>배열 </a:t>
            </a:r>
            <a:r>
              <a:rPr lang="en-US" altLang="ko-KR" sz="1800" dirty="0"/>
              <a:t>(0 / 1)</a:t>
            </a:r>
          </a:p>
          <a:p>
            <a:pPr lvl="1"/>
            <a:r>
              <a:rPr lang="ko-KR" altLang="en-US" sz="1800" dirty="0"/>
              <a:t>이중 </a:t>
            </a:r>
            <a:r>
              <a:rPr lang="en-US" altLang="ko-KR" sz="1800" dirty="0"/>
              <a:t>for</a:t>
            </a:r>
            <a:r>
              <a:rPr lang="ko-KR" altLang="en-US" sz="1800" dirty="0"/>
              <a:t>문 사용</a:t>
            </a:r>
          </a:p>
          <a:p>
            <a:pPr lvl="2"/>
            <a:r>
              <a:rPr lang="en-US" altLang="ko-KR" sz="1400" dirty="0"/>
              <a:t>1 → '#'</a:t>
            </a:r>
          </a:p>
          <a:p>
            <a:pPr lvl="2"/>
            <a:r>
              <a:rPr lang="en-US" altLang="ko-KR" sz="1400" dirty="0"/>
              <a:t>0 → </a:t>
            </a:r>
            <a:r>
              <a:rPr lang="ko-KR" altLang="en-US" sz="1400" dirty="0"/>
              <a:t>공백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4F25C7-2AF1-8186-08E8-A4DD715FFC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4661333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5729-90F0-8C03-6CBB-71C52556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8A6E1-0E78-63A7-2B0F-DB96F1AB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및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EC6617-E104-E19E-1676-2645B1F12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과제 </a:t>
            </a:r>
            <a:r>
              <a:rPr lang="en-US" altLang="ko-KR" sz="2400" dirty="0"/>
              <a:t>4: </a:t>
            </a:r>
            <a:r>
              <a:rPr lang="ko-KR" altLang="en-US" sz="2400" dirty="0"/>
              <a:t>아이콘</a:t>
            </a:r>
            <a:endParaRPr lang="ko-KR" altLang="en-US" dirty="0"/>
          </a:p>
          <a:p>
            <a:pPr lvl="1"/>
            <a:r>
              <a:rPr lang="en-US" altLang="ko-KR" sz="2000" dirty="0"/>
              <a:t>16×16 → 1</a:t>
            </a:r>
            <a:r>
              <a:rPr lang="ko-KR" altLang="en-US" sz="2000" dirty="0"/>
              <a:t>차원 배열</a:t>
            </a:r>
          </a:p>
          <a:p>
            <a:pPr lvl="1"/>
            <a:r>
              <a:rPr lang="ko-KR" altLang="en-US" sz="2000" dirty="0"/>
              <a:t>출력 시 </a:t>
            </a:r>
            <a:r>
              <a:rPr lang="en-US" altLang="ko-KR" sz="2000" dirty="0"/>
              <a:t>2</a:t>
            </a:r>
            <a:r>
              <a:rPr lang="ko-KR" altLang="en-US" sz="2000" dirty="0"/>
              <a:t>차원 형태로 변환</a:t>
            </a:r>
          </a:p>
          <a:p>
            <a:pPr lvl="1"/>
            <a:r>
              <a:rPr lang="en-US" altLang="ko-KR" sz="2000" dirty="0"/>
              <a:t>index = row * 16 + col</a:t>
            </a:r>
          </a:p>
          <a:p>
            <a:pPr lvl="1"/>
            <a:r>
              <a:rPr lang="ko-KR" altLang="en-US" sz="2000" dirty="0"/>
              <a:t>아이콘 </a:t>
            </a:r>
            <a:r>
              <a:rPr lang="en-US" altLang="ko-KR" sz="2000" dirty="0"/>
              <a:t>3</a:t>
            </a:r>
            <a:r>
              <a:rPr lang="ko-KR" altLang="en-US" sz="2000" dirty="0"/>
              <a:t>개 이상 출력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과제 </a:t>
            </a:r>
            <a:r>
              <a:rPr lang="en-US" altLang="ko-KR" sz="2400" dirty="0"/>
              <a:t>5: </a:t>
            </a:r>
            <a:r>
              <a:rPr lang="ko-KR" altLang="en-US" sz="2400" dirty="0"/>
              <a:t>문자열 배열</a:t>
            </a:r>
            <a:r>
              <a:rPr lang="en-US" altLang="ko-KR" sz="2400" dirty="0"/>
              <a:t>/</a:t>
            </a:r>
            <a:r>
              <a:rPr lang="ko-KR" altLang="en-US" sz="2400" dirty="0"/>
              <a:t>숫자 배열 출력</a:t>
            </a:r>
            <a:endParaRPr lang="ko-KR" altLang="en-US" dirty="0"/>
          </a:p>
          <a:p>
            <a:pPr lvl="1"/>
            <a:r>
              <a:rPr lang="ko-KR" altLang="en-US" sz="2000" dirty="0"/>
              <a:t>배열 </a:t>
            </a:r>
            <a:r>
              <a:rPr lang="en-US" altLang="ko-KR" sz="2000" dirty="0"/>
              <a:t>4</a:t>
            </a:r>
            <a:r>
              <a:rPr lang="ko-KR" altLang="en-US" sz="2000" dirty="0"/>
              <a:t>개</a:t>
            </a:r>
          </a:p>
          <a:p>
            <a:pPr lvl="2"/>
            <a:r>
              <a:rPr lang="ko-KR" altLang="en-US" sz="1600" dirty="0"/>
              <a:t>이름</a:t>
            </a:r>
            <a:r>
              <a:rPr lang="en-US" altLang="ko-KR" sz="1600" dirty="0"/>
              <a:t>: </a:t>
            </a:r>
            <a:r>
              <a:rPr lang="ko-KR" altLang="en-US" sz="1600" dirty="0"/>
              <a:t>문자열</a:t>
            </a:r>
          </a:p>
          <a:p>
            <a:pPr lvl="2"/>
            <a:r>
              <a:rPr lang="ko-KR" altLang="en-US" sz="1600" dirty="0"/>
              <a:t>점수</a:t>
            </a:r>
            <a:r>
              <a:rPr lang="en-US" altLang="ko-KR" sz="1600" dirty="0"/>
              <a:t>: </a:t>
            </a:r>
            <a:r>
              <a:rPr lang="ko-KR" altLang="en-US" sz="1600" dirty="0"/>
              <a:t>정수</a:t>
            </a:r>
          </a:p>
          <a:p>
            <a:pPr lvl="2"/>
            <a:r>
              <a:rPr lang="en-US" altLang="ko-KR" sz="1600" dirty="0"/>
              <a:t>HP: </a:t>
            </a:r>
            <a:r>
              <a:rPr lang="ko-KR" altLang="en-US" sz="1600" dirty="0"/>
              <a:t>실수</a:t>
            </a:r>
            <a:endParaRPr lang="en-US" altLang="ko-KR" sz="12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길이</a:t>
            </a:r>
            <a:r>
              <a:rPr lang="en-US" altLang="ko-KR" sz="2000" dirty="0"/>
              <a:t>: 5</a:t>
            </a:r>
          </a:p>
          <a:p>
            <a:pPr lvl="1"/>
            <a:r>
              <a:rPr lang="en-US" altLang="ko-KR" sz="2000" dirty="0"/>
              <a:t>while</a:t>
            </a:r>
            <a:r>
              <a:rPr lang="ko-KR" altLang="en-US" sz="2000" dirty="0"/>
              <a:t>문 사용 출력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49C443-9B43-8F93-D2B9-AA04F13352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0286097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6278</TotalTime>
  <Words>5824</Words>
  <Application>Microsoft Office PowerPoint</Application>
  <PresentationFormat>화면 슬라이드 쇼(4:3)</PresentationFormat>
  <Paragraphs>554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3" baseType="lpstr">
      <vt:lpstr>Arial</vt:lpstr>
      <vt:lpstr>HY견고딕</vt:lpstr>
      <vt:lpstr>굴림</vt:lpstr>
      <vt:lpstr>맑은 고딕</vt:lpstr>
      <vt:lpstr>Consolas</vt:lpstr>
      <vt:lpstr>가을체</vt:lpstr>
      <vt:lpstr>나눔바른고딕</vt:lpstr>
      <vt:lpstr>Wingdings</vt:lpstr>
      <vt:lpstr>기본 디자인</vt:lpstr>
      <vt:lpstr>08. 배열과 문자열 (Array – String)</vt:lpstr>
      <vt:lpstr>08. 배열</vt:lpstr>
      <vt:lpstr>08. 배열</vt:lpstr>
      <vt:lpstr>08. 배열</vt:lpstr>
      <vt:lpstr>8.1 1차원 배열</vt:lpstr>
      <vt:lpstr>8.1 1차원 배열</vt:lpstr>
      <vt:lpstr>8.1.2 1차원 배열 선언과 동시에 초기화</vt:lpstr>
      <vt:lpstr>8.1.3 1차원 배열의 크기와 원소의 개수</vt:lpstr>
      <vt:lpstr>8.1.4 1차원 배열 접근  예제</vt:lpstr>
      <vt:lpstr>8.1.5 1차원 배열의 최대값 / 최소값 찾기</vt:lpstr>
      <vt:lpstr>8.1.6 1차원 배열 접근</vt:lpstr>
      <vt:lpstr>8.1.7 1차원 배열 역순 출력(Reverse)</vt:lpstr>
      <vt:lpstr>8.1.8 1차원 배열 복사(Copy)</vt:lpstr>
      <vt:lpstr>8.1.9 1차원 배열 원소의 값 교환(Swap)</vt:lpstr>
      <vt:lpstr>8.1.10 1차원 배열 정렬(Bubble Sort)</vt:lpstr>
      <vt:lpstr>8.1.10 1차원 배열 정렬(Bubble Sort)</vt:lpstr>
      <vt:lpstr>8.1.10 1차원 배열 접근 – 버블 정렬</vt:lpstr>
      <vt:lpstr>8.1.11 1차원 배열 접근 – 삽입 정렬</vt:lpstr>
      <vt:lpstr>8.1.11 1차원 배열 접근 – 삽입 정렬</vt:lpstr>
      <vt:lpstr>8.2  다차원 배열</vt:lpstr>
      <vt:lpstr>8.2  다차원 배열</vt:lpstr>
      <vt:lpstr>8.2.1 2차원 배열</vt:lpstr>
      <vt:lpstr>8.2.1 2차원 배열</vt:lpstr>
      <vt:lpstr>8.2.1 2차원 배열</vt:lpstr>
      <vt:lpstr>8.2.1 2차원 배열 출력</vt:lpstr>
      <vt:lpstr>8.2.2 2차원 배열 응용</vt:lpstr>
      <vt:lpstr>8.2.3 2차원 배열 ↔ 1차원 배열 변환</vt:lpstr>
      <vt:lpstr>8.2.4 2차원 배열 행과 열 전치</vt:lpstr>
      <vt:lpstr>8.2.5 3차원 배열</vt:lpstr>
      <vt:lpstr>8.2.5 3차원 배열</vt:lpstr>
      <vt:lpstr>8.3 문자열 리터럴과 char 배열</vt:lpstr>
      <vt:lpstr>8.3 문자열 리터럴과 char 배열</vt:lpstr>
      <vt:lpstr>8.3 문자열 리터럴과 char 배열</vt:lpstr>
      <vt:lpstr>8.3.1 함수에서 배열 인수 전달</vt:lpstr>
      <vt:lpstr>8.3.1 함수에서 배열 인수 전달</vt:lpstr>
      <vt:lpstr>8.3.2 printf, scanf "%s" 이해</vt:lpstr>
      <vt:lpstr>8.3.2 myScanf</vt:lpstr>
      <vt:lpstr>8.3.3 문자열 길이 – myStrLen</vt:lpstr>
      <vt:lpstr>8.3.4 문자열 복사하기 – myStrCpy</vt:lpstr>
      <vt:lpstr>8.3.5 문자열 비교하기</vt:lpstr>
      <vt:lpstr>8.3.6 문자열 함수</vt:lpstr>
      <vt:lpstr>6. 학습 정리</vt:lpstr>
      <vt:lpstr>실습 및 과제</vt:lpstr>
      <vt:lpstr>실습 및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256</cp:revision>
  <dcterms:created xsi:type="dcterms:W3CDTF">2003-11-30T16:03:20Z</dcterms:created>
  <dcterms:modified xsi:type="dcterms:W3CDTF">2026-04-17T23:05:01Z</dcterms:modified>
</cp:coreProperties>
</file>