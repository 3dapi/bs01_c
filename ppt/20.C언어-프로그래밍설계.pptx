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0"/>
  </p:notesMasterIdLst>
  <p:sldIdLst>
    <p:sldId id="328" r:id="rId2"/>
    <p:sldId id="329" r:id="rId3"/>
    <p:sldId id="330" r:id="rId4"/>
    <p:sldId id="331" r:id="rId5"/>
    <p:sldId id="332" r:id="rId6"/>
    <p:sldId id="333" r:id="rId7"/>
    <p:sldId id="334" r:id="rId8"/>
    <p:sldId id="335" r:id="rId9"/>
  </p:sldIdLst>
  <p:sldSz cx="9144000" cy="6858000" type="screen4x3"/>
  <p:notesSz cx="6858000" cy="9144000"/>
  <p:embeddedFontLst>
    <p:embeddedFont>
      <p:font typeface="HY견고딕" panose="02030600000101010101" pitchFamily="18" charset="-127"/>
      <p:regular r:id="rId11"/>
    </p:embeddedFont>
    <p:embeddedFont>
      <p:font typeface="가을체" panose="02030600000101010101" pitchFamily="18" charset="-127"/>
      <p:regular r:id="rId12"/>
    </p:embeddedFont>
    <p:embeddedFont>
      <p:font typeface="나눔바른고딕" panose="020B0603020101020101" pitchFamily="50" charset="-127"/>
      <p:regular r:id="rId13"/>
      <p:bold r:id="rId14"/>
    </p:embeddedFont>
  </p:embeddedFontLst>
  <p:defaultTextStyle>
    <a:defPPr>
      <a:defRPr lang="ko-KR"/>
    </a:defPPr>
    <a:lvl1pPr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6pPr>
    <a:lvl7pPr marL="27432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7pPr>
    <a:lvl8pPr marL="32004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8pPr>
    <a:lvl9pPr marL="3657600" algn="l" defTabSz="914400" rtl="0" eaLnBrk="1" latinLnBrk="1" hangingPunct="1">
      <a:defRPr kumimoji="1" sz="24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663">
          <p15:clr>
            <a:srgbClr val="A4A3A4"/>
          </p15:clr>
        </p15:guide>
        <p15:guide id="2" orient="horz" pos="890">
          <p15:clr>
            <a:srgbClr val="A4A3A4"/>
          </p15:clr>
        </p15:guide>
        <p15:guide id="3" orient="horz" pos="1026">
          <p15:clr>
            <a:srgbClr val="A4A3A4"/>
          </p15:clr>
        </p15:guide>
        <p15:guide id="4" pos="930">
          <p15:clr>
            <a:srgbClr val="A4A3A4"/>
          </p15:clr>
        </p15:guide>
        <p15:guide id="5" pos="476">
          <p15:clr>
            <a:srgbClr val="A4A3A4"/>
          </p15:clr>
        </p15:guide>
        <p15:guide id="6" pos="2880">
          <p15:clr>
            <a:srgbClr val="A4A3A4"/>
          </p15:clr>
        </p15:guide>
        <p15:guide id="7" pos="4105">
          <p15:clr>
            <a:srgbClr val="A4A3A4"/>
          </p15:clr>
        </p15:guide>
        <p15:guide id="8" pos="1519">
          <p15:clr>
            <a:srgbClr val="A4A3A4"/>
          </p15:clr>
        </p15:guide>
        <p15:guide id="9" pos="703">
          <p15:clr>
            <a:srgbClr val="A4A3A4"/>
          </p15:clr>
        </p15:guide>
        <p15:guide id="10" pos="1927">
          <p15:clr>
            <a:srgbClr val="A4A3A4"/>
          </p15:clr>
        </p15:guide>
        <p15:guide id="11" pos="52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99FF"/>
    <a:srgbClr val="CC00FF"/>
    <a:srgbClr val="FF9900"/>
    <a:srgbClr val="CC00CC"/>
    <a:srgbClr val="FF0000"/>
    <a:srgbClr val="FF00FF"/>
    <a:srgbClr val="CCFFFF"/>
    <a:srgbClr val="FFFFCC"/>
    <a:srgbClr val="CCFF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4232" autoAdjust="0"/>
    <p:restoredTop sz="94582" autoAdjust="0"/>
  </p:normalViewPr>
  <p:slideViewPr>
    <p:cSldViewPr>
      <p:cViewPr varScale="1">
        <p:scale>
          <a:sx n="127" d="100"/>
          <a:sy n="127" d="100"/>
        </p:scale>
        <p:origin x="1818" y="120"/>
      </p:cViewPr>
      <p:guideLst>
        <p:guide orient="horz" pos="663"/>
        <p:guide orient="horz" pos="890"/>
        <p:guide orient="horz" pos="1026"/>
        <p:guide pos="930"/>
        <p:guide pos="476"/>
        <p:guide pos="2880"/>
        <p:guide pos="4105"/>
        <p:guide pos="1519"/>
        <p:guide pos="703"/>
        <p:guide pos="1927"/>
        <p:guide pos="521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DFEAAA5C-C825-F211-4555-838EAD1EF7DA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3" name="Rectangle 3">
            <a:extLst>
              <a:ext uri="{FF2B5EF4-FFF2-40B4-BE49-F238E27FC236}">
                <a16:creationId xmlns:a16="http://schemas.microsoft.com/office/drawing/2014/main" id="{B9AE1081-B5AC-071C-6CEC-9BAFC2815F81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052" name="Rectangle 4">
            <a:extLst>
              <a:ext uri="{FF2B5EF4-FFF2-40B4-BE49-F238E27FC236}">
                <a16:creationId xmlns:a16="http://schemas.microsoft.com/office/drawing/2014/main" id="{E5A689FD-F862-5A62-D896-25380442080E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txBody>
          <a:bodyPr/>
          <a:lstStyle/>
          <a:p>
            <a:endParaRPr lang="ko-KR" altLang="en-US" dirty="0"/>
          </a:p>
        </p:txBody>
      </p:sp>
      <p:sp>
        <p:nvSpPr>
          <p:cNvPr id="25605" name="Rectangle 5">
            <a:extLst>
              <a:ext uri="{FF2B5EF4-FFF2-40B4-BE49-F238E27FC236}">
                <a16:creationId xmlns:a16="http://schemas.microsoft.com/office/drawing/2014/main" id="{AB15EF12-78DA-289E-9010-DC12C506F352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 noProof="0"/>
              <a:t>마스터 텍스트 스타일을 편집합니다</a:t>
            </a:r>
          </a:p>
          <a:p>
            <a:pPr lvl="1"/>
            <a:r>
              <a:rPr lang="ko-KR" altLang="en-US" noProof="0"/>
              <a:t>둘째 수준</a:t>
            </a:r>
          </a:p>
          <a:p>
            <a:pPr lvl="2"/>
            <a:r>
              <a:rPr lang="ko-KR" altLang="en-US" noProof="0"/>
              <a:t>셋째 수준</a:t>
            </a:r>
          </a:p>
          <a:p>
            <a:pPr lvl="3"/>
            <a:r>
              <a:rPr lang="ko-KR" altLang="en-US" noProof="0"/>
              <a:t>넷째 수준</a:t>
            </a:r>
          </a:p>
          <a:p>
            <a:pPr lvl="4"/>
            <a:r>
              <a:rPr lang="ko-KR" altLang="en-US" noProof="0"/>
              <a:t>다섯째 수준</a:t>
            </a:r>
          </a:p>
        </p:txBody>
      </p:sp>
      <p:sp>
        <p:nvSpPr>
          <p:cNvPr id="25606" name="Rectangle 6">
            <a:extLst>
              <a:ext uri="{FF2B5EF4-FFF2-40B4-BE49-F238E27FC236}">
                <a16:creationId xmlns:a16="http://schemas.microsoft.com/office/drawing/2014/main" id="{31BE94B4-C843-3460-16B0-CB247AC3FF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latinLnBrk="1" hangingPunct="1">
              <a:defRPr sz="1200"/>
            </a:lvl1pPr>
          </a:lstStyle>
          <a:p>
            <a:pPr>
              <a:defRPr/>
            </a:pPr>
            <a:endParaRPr lang="en-US" altLang="ko-KR" dirty="0"/>
          </a:p>
        </p:txBody>
      </p:sp>
      <p:sp>
        <p:nvSpPr>
          <p:cNvPr id="25607" name="Rectangle 7">
            <a:extLst>
              <a:ext uri="{FF2B5EF4-FFF2-40B4-BE49-F238E27FC236}">
                <a16:creationId xmlns:a16="http://schemas.microsoft.com/office/drawing/2014/main" id="{7AA30F0E-F947-FF5A-C02F-9F167861744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200"/>
            </a:lvl1pPr>
          </a:lstStyle>
          <a:p>
            <a:pPr>
              <a:defRPr/>
            </a:pPr>
            <a:fld id="{0436CD0A-C45C-48B2-840A-644A5311C024}" type="slidenum">
              <a:rPr lang="en-US" altLang="ko-KR"/>
              <a:pPr>
                <a:defRPr/>
              </a:pPr>
              <a:t>‹#›</a:t>
            </a:fld>
            <a:endParaRPr lang="en-US" altLang="ko-KR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1pPr>
    <a:lvl2pPr marL="4572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2pPr>
    <a:lvl3pPr marL="9144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3pPr>
    <a:lvl4pPr marL="13716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4pPr>
    <a:lvl5pPr marL="1828800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 panose="020B0600000101010101" pitchFamily="50" charset="-127"/>
        <a:ea typeface="굴림" panose="020B0600000101010101" pitchFamily="50" charset="-127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400" b="1" baseline="0">
                <a:solidFill>
                  <a:schemeClr val="tx1"/>
                </a:solidFill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F4463E7D-6CF5-A69D-FEE1-A0E846BF2525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813692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496746" cy="476250"/>
          </a:xfrm>
        </p:spPr>
        <p:txBody>
          <a:bodyPr/>
          <a:lstStyle>
            <a:lvl1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 dirty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07504" y="692150"/>
            <a:ext cx="8928992" cy="5832475"/>
          </a:xfrm>
        </p:spPr>
        <p:txBody>
          <a:bodyPr/>
          <a:lstStyle>
            <a:lvl1pPr>
              <a:buSzPct val="8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buSzPct val="60000"/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 dirty="0"/>
              <a:t>마스터 텍스트 스타일을 편집하려면 클릭</a:t>
            </a:r>
          </a:p>
          <a:p>
            <a:pPr lvl="1"/>
            <a:r>
              <a:rPr lang="ko-KR" altLang="en-US" dirty="0"/>
              <a:t>두 번째 수준</a:t>
            </a:r>
          </a:p>
          <a:p>
            <a:pPr lvl="2"/>
            <a:r>
              <a:rPr lang="ko-KR" altLang="en-US" dirty="0"/>
              <a:t>세 번째 수준</a:t>
            </a:r>
          </a:p>
          <a:p>
            <a:pPr lvl="3"/>
            <a:r>
              <a:rPr lang="ko-KR" altLang="en-US" dirty="0"/>
              <a:t>네 번째 수준</a:t>
            </a:r>
          </a:p>
          <a:p>
            <a:pPr lvl="4"/>
            <a:r>
              <a:rPr lang="ko-KR" altLang="en-US" dirty="0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9F26C576-5565-6264-22AA-2BB03D87E816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577103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59606878-4889-ED74-2806-393283543ED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15268896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8FB12915-6590-1611-DC73-A3C4D4D7D3C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685084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Rectangle 7">
            <a:extLst>
              <a:ext uri="{FF2B5EF4-FFF2-40B4-BE49-F238E27FC236}">
                <a16:creationId xmlns:a16="http://schemas.microsoft.com/office/drawing/2014/main" id="{FFDB16E4-710B-C0D0-5DC5-AC5574B119A9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829707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B35F4E02-3E57-4043-6B25-977E6BC2371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371396892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7">
            <a:extLst>
              <a:ext uri="{FF2B5EF4-FFF2-40B4-BE49-F238E27FC236}">
                <a16:creationId xmlns:a16="http://schemas.microsoft.com/office/drawing/2014/main" id="{A9333F62-0F41-D606-9D32-6CC1E71602D8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3479165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 sz="28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 sz="24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 sz="20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74336CA5-053A-5CDF-4BA7-58AAC8BF72B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5528415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68630D78-9295-14E8-BEEC-30BC0BD0D942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26360976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363C36C6-82E3-D375-4E9D-327B22058393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3941898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750050" y="44450"/>
            <a:ext cx="20701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539750" y="44450"/>
            <a:ext cx="6057900" cy="6480175"/>
          </a:xfrm>
        </p:spPr>
        <p:txBody>
          <a:bodyPr vert="eaVert"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78439CE0-BF57-123F-383B-42C6D20A212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6455119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제목, 텍스트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39750" y="44450"/>
            <a:ext cx="8280400" cy="476250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sz="half" idx="1"/>
          </p:nvPr>
        </p:nvSpPr>
        <p:spPr>
          <a:xfrm>
            <a:off x="5397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756150" y="692150"/>
            <a:ext cx="4064000" cy="5832475"/>
          </a:xfrm>
        </p:spPr>
        <p:txBody>
          <a:bodyPr/>
          <a:lstStyle>
            <a:lvl1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1pPr>
            <a:lvl2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2pPr>
            <a:lvl3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3pPr>
            <a:lvl4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4pPr>
            <a:lvl5pPr>
              <a:defRPr>
                <a:latin typeface="나눔바른고딕" panose="020B0603020101020101" pitchFamily="50" charset="-127"/>
                <a:ea typeface="나눔바른고딕" panose="020B0603020101020101" pitchFamily="50" charset="-127"/>
              </a:defRPr>
            </a:lvl5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90FD249B-01D5-6E54-F5A8-24B84E12DEED}"/>
              </a:ext>
            </a:extLst>
          </p:cNvPr>
          <p:cNvSpPr>
            <a:spLocks noGrp="1" noChangeArrowheads="1"/>
          </p:cNvSpPr>
          <p:nvPr>
            <p:ph type="ftr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014884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4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68ACAB8-646C-F841-1FB4-1640A0D2F48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39750" y="44450"/>
            <a:ext cx="82804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제목 스타일 편집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CBBB7895-F21F-0782-4861-C09980CF2C9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39750" y="692150"/>
            <a:ext cx="8280400" cy="58324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D7D912A-A8CC-BFF5-0C98-6573F9DD1B4C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821238" y="6597650"/>
            <a:ext cx="3927475" cy="260350"/>
          </a:xfrm>
          <a:prstGeom prst="rect">
            <a:avLst/>
          </a:prstGeom>
          <a:noFill/>
          <a:ln>
            <a:noFill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latinLnBrk="1" hangingPunct="1">
              <a:defRPr sz="100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defRPr>
            </a:lvl1pPr>
          </a:lstStyle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  <p:sp>
        <p:nvSpPr>
          <p:cNvPr id="1029" name="Rectangle 8">
            <a:extLst>
              <a:ext uri="{FF2B5EF4-FFF2-40B4-BE49-F238E27FC236}">
                <a16:creationId xmlns:a16="http://schemas.microsoft.com/office/drawing/2014/main" id="{E8D14161-CBEC-EDDC-D3DB-3F18CA262A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11950" y="44450"/>
            <a:ext cx="2397125" cy="404813"/>
          </a:xfrm>
          <a:prstGeom prst="rect">
            <a:avLst/>
          </a:prstGeom>
          <a:noFill/>
          <a:ln>
            <a:noFill/>
          </a:ln>
          <a:effectLst/>
        </p:spPr>
        <p:txBody>
          <a:bodyPr/>
          <a:lstStyle>
            <a:lvl1pPr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1pPr>
            <a:lvl2pPr marL="742950" indent="-28575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2pPr>
            <a:lvl3pPr marL="11430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3pPr>
            <a:lvl4pPr marL="16002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4pPr>
            <a:lvl5pPr marL="2057400" indent="-228600" latinLnBrk="1"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굴림" panose="020B0600000101010101" pitchFamily="50" charset="-127"/>
                <a:ea typeface="굴림" panose="020B0600000101010101" pitchFamily="50" charset="-127"/>
              </a:defRPr>
            </a:lvl9pPr>
          </a:lstStyle>
          <a:p>
            <a:pPr algn="r" eaLnBrk="1" hangingPunct="1">
              <a:defRPr/>
            </a:pPr>
            <a:r>
              <a:rPr lang="en-US" altLang="ko-KR" sz="900" b="1" dirty="0">
                <a:solidFill>
                  <a:schemeClr val="bg2"/>
                </a:solidFill>
                <a:latin typeface="HY견고딕" panose="02030600000101010101" pitchFamily="18" charset="-127"/>
                <a:ea typeface="HY견고딕" panose="02030600000101010101" pitchFamily="18" charset="-127"/>
              </a:rPr>
              <a:t>Heesung Oh</a:t>
            </a:r>
            <a:endParaRPr lang="en-US" altLang="ko-KR" sz="900" dirty="0">
              <a:solidFill>
                <a:schemeClr val="bg2"/>
              </a:solidFill>
              <a:latin typeface="HY견고딕" panose="02030600000101010101" pitchFamily="18" charset="-127"/>
              <a:ea typeface="HY견고딕" panose="02030600000101010101" pitchFamily="18" charset="-127"/>
            </a:endParaRPr>
          </a:p>
          <a:p>
            <a:pPr algn="r" eaLnBrk="1" hangingPunct="1">
              <a:defRPr/>
            </a:pPr>
            <a:r>
              <a:rPr lang="en-US" altLang="ko-KR" sz="800" dirty="0">
                <a:solidFill>
                  <a:schemeClr val="bg2"/>
                </a:solidFill>
              </a:rPr>
              <a:t>Copyright All rights reserved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rtl="0" eaLnBrk="0" fontAlgn="base" latinLnBrk="1" hangingPunct="0">
        <a:spcBef>
          <a:spcPct val="0"/>
        </a:spcBef>
        <a:spcAft>
          <a:spcPct val="0"/>
        </a:spcAft>
        <a:defRPr kumimoji="1" sz="2800" b="1" kern="1200">
          <a:solidFill>
            <a:schemeClr val="bg1"/>
          </a:solidFill>
          <a:latin typeface="+mj-lt"/>
          <a:ea typeface="+mj-ea"/>
          <a:cs typeface="+mj-cs"/>
        </a:defRPr>
      </a:lvl1pPr>
      <a:lvl2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2pPr>
      <a:lvl3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3pPr>
      <a:lvl4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4pPr>
      <a:lvl5pPr algn="l" rtl="0" eaLnBrk="0" fontAlgn="base" latinLnBrk="1" hangingPunct="0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5pPr>
      <a:lvl6pPr marL="4572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6pPr>
      <a:lvl7pPr marL="9144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7pPr>
      <a:lvl8pPr marL="13716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8pPr>
      <a:lvl9pPr marL="1828800" algn="l" rtl="0" fontAlgn="base" latinLnBrk="1">
        <a:spcBef>
          <a:spcPct val="0"/>
        </a:spcBef>
        <a:spcAft>
          <a:spcPct val="0"/>
        </a:spcAft>
        <a:defRPr kumimoji="1" sz="2800" b="1">
          <a:solidFill>
            <a:schemeClr val="bg1"/>
          </a:solidFill>
          <a:latin typeface="가을체" panose="02030600000101010101" pitchFamily="18" charset="-127"/>
          <a:ea typeface="가을체" panose="02030600000101010101" pitchFamily="18" charset="-127"/>
        </a:defRPr>
      </a:lvl9pPr>
    </p:titleStyle>
    <p:bodyStyle>
      <a:lvl1pPr marL="342900" indent="-3429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Font typeface="Wingdings" panose="05000000000000000000" pitchFamily="2" charset="2"/>
        <a:buChar char="l"/>
        <a:defRPr kumimoji="1" sz="2800" b="1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latinLnBrk="1" hangingPunct="0">
        <a:spcBef>
          <a:spcPct val="20000"/>
        </a:spcBef>
        <a:spcAft>
          <a:spcPct val="0"/>
        </a:spcAft>
        <a:buClr>
          <a:srgbClr val="CC00CC"/>
        </a:buClr>
        <a:buSzPct val="80000"/>
        <a:buFont typeface="Wingdings" panose="05000000000000000000" pitchFamily="2" charset="2"/>
        <a:buChar char="u"/>
        <a:defRPr kumimoji="1" sz="2400" b="1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l"/>
        <a:defRPr kumimoji="1" sz="2000" b="1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0000FF"/>
        </a:buClr>
        <a:buSzPct val="140000"/>
        <a:buFont typeface="Wingdings" panose="05000000000000000000" pitchFamily="2" charset="2"/>
        <a:buChar char="§"/>
        <a:defRPr kumimoji="1" b="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eaLnBrk="0" fontAlgn="base" latinLnBrk="1" hangingPunct="0">
        <a:spcBef>
          <a:spcPct val="20000"/>
        </a:spcBef>
        <a:spcAft>
          <a:spcPct val="0"/>
        </a:spcAft>
        <a:buClr>
          <a:srgbClr val="CC0000"/>
        </a:buClr>
        <a:buSzPct val="90000"/>
        <a:buFont typeface="Wingdings" panose="05000000000000000000" pitchFamily="2" charset="2"/>
        <a:buChar char="v"/>
        <a:defRPr kumimoji="1" sz="1600" b="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3dapi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D38BED-C94A-AD80-6433-3377FEE757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3B0E0D7-1C34-C1FB-CCCC-F9543241743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5576" y="1122363"/>
            <a:ext cx="7560840" cy="2387600"/>
          </a:xfrm>
        </p:spPr>
        <p:txBody>
          <a:bodyPr/>
          <a:lstStyle/>
          <a:p>
            <a:r>
              <a:rPr lang="en-US" altLang="ko-KR" dirty="0"/>
              <a:t>20. </a:t>
            </a:r>
            <a:r>
              <a:rPr lang="ko-KR" altLang="en-US" dirty="0"/>
              <a:t>프로그래밍 설계</a:t>
            </a:r>
            <a:br>
              <a:rPr lang="en-US" altLang="ko-KR" dirty="0"/>
            </a:br>
            <a:r>
              <a:rPr lang="en-US" altLang="ko-KR" sz="2800" dirty="0"/>
              <a:t>(Programming Architecture)</a:t>
            </a:r>
            <a:endParaRPr lang="ko-KR" altLang="en-US" sz="2800" dirty="0"/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FB1FEA1F-7311-E697-BFC8-C48378530F4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ko-KR" dirty="0"/>
              <a:t>Heesung Oh</a:t>
            </a:r>
          </a:p>
          <a:p>
            <a:r>
              <a:rPr lang="en-US" altLang="ko-KR" dirty="0">
                <a:hlinkClick r:id="rId2"/>
              </a:rPr>
              <a:t>https://github.com/3dapi</a:t>
            </a:r>
            <a:r>
              <a:rPr lang="en-US" altLang="ko-KR" dirty="0"/>
              <a:t> </a:t>
            </a:r>
            <a:endParaRPr lang="ko-KR" altLang="en-US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2621D30-1502-5C58-113B-56A2BA50204B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416095756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6E161B3-26B2-4414-9E6E-1940DB32B9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 </a:t>
            </a:r>
            <a:r>
              <a:rPr lang="ko-KR" altLang="en-US" dirty="0"/>
              <a:t>프로그래밍 설계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25E788-69B5-4BF6-98E9-13A4291D87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구조 설계와 모듈화</a:t>
            </a:r>
            <a:endParaRPr lang="en-US" altLang="ko-KR" dirty="0"/>
          </a:p>
          <a:p>
            <a:pPr lvl="1"/>
            <a:r>
              <a:rPr lang="ko-KR" altLang="en-US" dirty="0"/>
              <a:t>프로그램을 </a:t>
            </a:r>
            <a:r>
              <a:rPr lang="en-US" altLang="ko-KR" dirty="0"/>
              <a:t>"</a:t>
            </a:r>
            <a:r>
              <a:rPr lang="ko-KR" altLang="en-US" dirty="0"/>
              <a:t>기능</a:t>
            </a:r>
            <a:r>
              <a:rPr lang="en-US" altLang="ko-KR" dirty="0"/>
              <a:t>"</a:t>
            </a:r>
            <a:r>
              <a:rPr lang="ko-KR" altLang="en-US" dirty="0"/>
              <a:t>이 아니라 </a:t>
            </a:r>
            <a:r>
              <a:rPr lang="en-US" altLang="ko-KR" dirty="0"/>
              <a:t>"</a:t>
            </a:r>
            <a:r>
              <a:rPr lang="ko-KR" altLang="en-US" dirty="0"/>
              <a:t>구조</a:t>
            </a:r>
            <a:r>
              <a:rPr lang="en-US" altLang="ko-KR" dirty="0"/>
              <a:t>"</a:t>
            </a:r>
            <a:r>
              <a:rPr lang="ko-KR" altLang="en-US" dirty="0"/>
              <a:t>로 설계</a:t>
            </a:r>
          </a:p>
          <a:p>
            <a:pPr lvl="1"/>
            <a:r>
              <a:rPr lang="ko-KR" altLang="en-US" dirty="0"/>
              <a:t>코드 작성 전에 실행 흐름을 먼저 정의</a:t>
            </a:r>
            <a:endParaRPr lang="en-US" altLang="ko-KR" dirty="0"/>
          </a:p>
          <a:p>
            <a:pPr lvl="1"/>
            <a:endParaRPr lang="ko-KR" altLang="en-US" dirty="0"/>
          </a:p>
          <a:p>
            <a:r>
              <a:rPr lang="ko-KR" altLang="en-US" dirty="0" err="1"/>
              <a:t>탑다운</a:t>
            </a:r>
            <a:r>
              <a:rPr lang="ko-KR" altLang="en-US" dirty="0"/>
              <a:t> 설계 </a:t>
            </a:r>
            <a:r>
              <a:rPr lang="en-US" altLang="ko-KR" dirty="0"/>
              <a:t>(Top-Down Design)</a:t>
            </a:r>
            <a:endParaRPr lang="ko-KR" altLang="en-US" dirty="0"/>
          </a:p>
          <a:p>
            <a:pPr lvl="1"/>
            <a:r>
              <a:rPr lang="ko-KR" altLang="en-US" dirty="0"/>
              <a:t>요구 사항 정의 → 전체 구조 설계→ 모듈 설계→ 세부 구현</a:t>
            </a:r>
            <a:endParaRPr lang="en-US" altLang="ko-KR" dirty="0"/>
          </a:p>
          <a:p>
            <a:pPr lvl="1"/>
            <a:r>
              <a:rPr lang="ko-KR" altLang="en-US" dirty="0"/>
              <a:t>구현보다 구조가 먼저</a:t>
            </a:r>
            <a:endParaRPr lang="ko-KR" altLang="en-US" sz="28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04BBF9C-0A4C-44C9-BFA1-D7493B9CCA8E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 dirty="0"/>
              <a:t>게임 프로그래밍 교육과정</a:t>
            </a:r>
          </a:p>
        </p:txBody>
      </p:sp>
    </p:spTree>
    <p:extLst>
      <p:ext uri="{BB962C8B-B14F-4D97-AF65-F5344CB8AC3E}">
        <p14:creationId xmlns:p14="http://schemas.microsoft.com/office/powerpoint/2010/main" val="19618576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8B73DF9E-5703-8C9C-6A0D-236ABEFB11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91880" y="2348880"/>
            <a:ext cx="5316463" cy="3301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96B2B0B2-280F-D55D-0BA9-4C9A3FAFC2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 V </a:t>
            </a:r>
            <a:r>
              <a:rPr lang="ko-KR" altLang="en-US" dirty="0"/>
              <a:t>모델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0B98844-A575-04A2-98CD-BB600C2922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sz="2400" dirty="0"/>
              <a:t>V </a:t>
            </a:r>
            <a:r>
              <a:rPr lang="ko-KR" altLang="en-US" sz="2400" dirty="0"/>
              <a:t>모델 </a:t>
            </a:r>
            <a:r>
              <a:rPr lang="en-US" altLang="ko-KR" sz="2400" dirty="0"/>
              <a:t>(V-Model)</a:t>
            </a:r>
            <a:endParaRPr lang="ko-KR" altLang="en-US" sz="2400" dirty="0"/>
          </a:p>
          <a:p>
            <a:pPr lvl="1"/>
            <a:r>
              <a:rPr lang="ko-KR" altLang="en-US" sz="2000" dirty="0"/>
              <a:t>설계 단계 ↔ 테스트 단계 대응</a:t>
            </a:r>
          </a:p>
          <a:p>
            <a:pPr lvl="1"/>
            <a:r>
              <a:rPr lang="ko-KR" altLang="en-US" sz="2000" dirty="0"/>
              <a:t>구조와 검증을 함께 고려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설계 단계 </a:t>
            </a:r>
            <a:r>
              <a:rPr lang="en-US" altLang="ko-KR" sz="2400" dirty="0"/>
              <a:t>(</a:t>
            </a:r>
            <a:r>
              <a:rPr lang="ko-KR" altLang="en-US" sz="2400" dirty="0"/>
              <a:t>왼쪽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lvl="1"/>
            <a:r>
              <a:rPr lang="ko-KR" altLang="en-US" sz="2000" dirty="0"/>
              <a:t>요구사항 정의</a:t>
            </a:r>
          </a:p>
          <a:p>
            <a:pPr lvl="1"/>
            <a:r>
              <a:rPr lang="ko-KR" altLang="en-US" sz="2000" dirty="0"/>
              <a:t>전체 구조 설계</a:t>
            </a:r>
          </a:p>
          <a:p>
            <a:pPr lvl="1"/>
            <a:r>
              <a:rPr lang="ko-KR" altLang="en-US" sz="2000" dirty="0"/>
              <a:t>모듈 설계</a:t>
            </a:r>
          </a:p>
          <a:p>
            <a:pPr lvl="1"/>
            <a:r>
              <a:rPr lang="ko-KR" altLang="en-US" sz="2000" dirty="0"/>
              <a:t>세부 구현</a:t>
            </a:r>
            <a:endParaRPr lang="en-US" altLang="ko-KR" sz="2000" dirty="0"/>
          </a:p>
          <a:p>
            <a:pPr lvl="1"/>
            <a:endParaRPr lang="ko-KR" altLang="en-US" sz="2000" dirty="0"/>
          </a:p>
          <a:p>
            <a:r>
              <a:rPr lang="ko-KR" altLang="en-US" sz="2400" dirty="0"/>
              <a:t>검증 단계 </a:t>
            </a:r>
            <a:r>
              <a:rPr lang="en-US" altLang="ko-KR" sz="2400" dirty="0"/>
              <a:t>(</a:t>
            </a:r>
            <a:r>
              <a:rPr lang="ko-KR" altLang="en-US" sz="2400" dirty="0"/>
              <a:t>오른쪽</a:t>
            </a:r>
            <a:r>
              <a:rPr lang="en-US" altLang="ko-KR" sz="2400" dirty="0"/>
              <a:t>)</a:t>
            </a:r>
            <a:endParaRPr lang="ko-KR" altLang="en-US" sz="2400" dirty="0"/>
          </a:p>
          <a:p>
            <a:pPr lvl="1"/>
            <a:r>
              <a:rPr lang="ko-KR" altLang="en-US" sz="2000" dirty="0"/>
              <a:t>단위 테스트 </a:t>
            </a:r>
            <a:r>
              <a:rPr lang="en-US" altLang="ko-KR" sz="2000" dirty="0"/>
              <a:t>(</a:t>
            </a:r>
            <a:r>
              <a:rPr lang="ko-KR" altLang="en-US" sz="2000" dirty="0"/>
              <a:t>함수</a:t>
            </a:r>
            <a:r>
              <a:rPr lang="en-US" altLang="ko-KR" sz="2000" dirty="0"/>
              <a:t>/</a:t>
            </a:r>
            <a:r>
              <a:rPr lang="ko-KR" altLang="en-US" sz="2000" dirty="0"/>
              <a:t>모듈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통합 테스트 </a:t>
            </a:r>
            <a:r>
              <a:rPr lang="en-US" altLang="ko-KR" sz="2000" dirty="0"/>
              <a:t>(</a:t>
            </a:r>
            <a:r>
              <a:rPr lang="ko-KR" altLang="en-US" sz="2000" dirty="0"/>
              <a:t>모듈 간 연동</a:t>
            </a:r>
            <a:r>
              <a:rPr lang="en-US" altLang="ko-KR" sz="2000" dirty="0"/>
              <a:t>)</a:t>
            </a:r>
          </a:p>
          <a:p>
            <a:pPr lvl="1"/>
            <a:r>
              <a:rPr lang="ko-KR" altLang="en-US" sz="2000" dirty="0"/>
              <a:t>시스템 테스트 </a:t>
            </a:r>
            <a:r>
              <a:rPr lang="en-US" altLang="ko-KR" sz="2000" dirty="0"/>
              <a:t>(</a:t>
            </a:r>
            <a:r>
              <a:rPr lang="ko-KR" altLang="en-US" sz="2000" dirty="0"/>
              <a:t>전체 프로그램</a:t>
            </a:r>
            <a:r>
              <a:rPr lang="en-US" altLang="ko-KR" sz="2000" dirty="0"/>
              <a:t>)</a:t>
            </a:r>
            <a:endParaRPr lang="ko-KR" altLang="en-US" sz="24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EBA0AB8E-C088-CAD5-2E18-C61CA8989EB5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4485890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2AC50ADC-5E06-2BC7-3630-D4BFAFC623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20.1 </a:t>
            </a:r>
            <a:r>
              <a:rPr lang="ko-KR" altLang="en-US" dirty="0"/>
              <a:t>코드 구조와 설계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3737E86-7890-2088-6FEF-C8023C639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코드 구조와 설계 원칙</a:t>
            </a:r>
            <a:endParaRPr lang="en-US" altLang="ko-KR" sz="2400" dirty="0"/>
          </a:p>
          <a:p>
            <a:pPr lvl="1"/>
            <a:r>
              <a:rPr lang="ko-KR" altLang="en-US" sz="2000" dirty="0"/>
              <a:t>기능 구현 능력 ≠ 구조 설계 능력</a:t>
            </a:r>
          </a:p>
          <a:p>
            <a:pPr lvl="1"/>
            <a:r>
              <a:rPr lang="ko-KR" altLang="en-US" sz="2000" dirty="0"/>
              <a:t>구조 설계는 프로그램의 전체 흐름과 역할 분담을 정의</a:t>
            </a:r>
            <a:endParaRPr lang="en-US" altLang="ko-KR" sz="2000" dirty="0"/>
          </a:p>
          <a:p>
            <a:pPr lvl="4"/>
            <a:endParaRPr lang="en-US" altLang="ko-KR" sz="1400" dirty="0"/>
          </a:p>
          <a:p>
            <a:r>
              <a:rPr lang="ko-KR" altLang="en-US" sz="2400" dirty="0"/>
              <a:t>기능 중심 설계</a:t>
            </a:r>
          </a:p>
          <a:p>
            <a:pPr lvl="1"/>
            <a:r>
              <a:rPr lang="ko-KR" altLang="en-US" sz="2000" dirty="0"/>
              <a:t>기능을 하나씩 구현</a:t>
            </a:r>
          </a:p>
          <a:p>
            <a:pPr lvl="1"/>
            <a:r>
              <a:rPr lang="ko-KR" altLang="en-US" sz="2000" dirty="0"/>
              <a:t>빠른 개발 가능</a:t>
            </a:r>
          </a:p>
          <a:p>
            <a:pPr lvl="1"/>
            <a:r>
              <a:rPr lang="ko-KR" altLang="en-US" sz="2000" dirty="0"/>
              <a:t>규모 증가 시 복잡도 증가</a:t>
            </a:r>
          </a:p>
          <a:p>
            <a:pPr lvl="1"/>
            <a:r>
              <a:rPr lang="ko-KR" altLang="en-US" sz="2000" dirty="0"/>
              <a:t>수정 영향 범위 예측 어려움</a:t>
            </a:r>
            <a:endParaRPr lang="en-US" altLang="ko-KR" sz="2000" dirty="0"/>
          </a:p>
          <a:p>
            <a:pPr lvl="4"/>
            <a:endParaRPr lang="ko-KR" altLang="en-US" sz="1400" dirty="0"/>
          </a:p>
          <a:p>
            <a:r>
              <a:rPr lang="ko-KR" altLang="en-US" sz="2400" dirty="0"/>
              <a:t>구조 중심 설계</a:t>
            </a:r>
          </a:p>
          <a:p>
            <a:pPr lvl="1"/>
            <a:r>
              <a:rPr lang="ko-KR" altLang="en-US" sz="2000" dirty="0"/>
              <a:t>실행 흐름과 책임을 먼저 정의</a:t>
            </a:r>
          </a:p>
          <a:p>
            <a:pPr lvl="1"/>
            <a:r>
              <a:rPr lang="ko-KR" altLang="en-US" sz="2000" dirty="0"/>
              <a:t>구조 안에 기능 배치</a:t>
            </a:r>
          </a:p>
          <a:p>
            <a:pPr lvl="1"/>
            <a:r>
              <a:rPr lang="ko-KR" altLang="en-US" sz="2000" dirty="0"/>
              <a:t>확장 및 유지보수에 유리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BDF3D314-FA11-F84E-20F8-6F0B6C318A34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5220124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23F5A00-AE28-B415-2BF1-0B5231BFF0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20.1 </a:t>
            </a:r>
            <a:r>
              <a:rPr lang="ko-KR" altLang="en-US" dirty="0"/>
              <a:t>코드 구조와 설계 원칙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B5461F73-D630-CC11-6AE0-C353EBE6FE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프로그램 규모와 구조 필요성</a:t>
            </a:r>
            <a:endParaRPr lang="en-US" altLang="ko-KR" dirty="0"/>
          </a:p>
          <a:p>
            <a:endParaRPr lang="ko-KR" altLang="en-US" dirty="0"/>
          </a:p>
          <a:p>
            <a:pPr lvl="1"/>
            <a:r>
              <a:rPr lang="ko-KR" altLang="en-US" dirty="0"/>
              <a:t>작은 프로그램</a:t>
            </a:r>
          </a:p>
          <a:p>
            <a:pPr lvl="2"/>
            <a:r>
              <a:rPr lang="ko-KR" altLang="en-US" dirty="0"/>
              <a:t>단일 파일 가능</a:t>
            </a:r>
          </a:p>
          <a:p>
            <a:pPr lvl="2"/>
            <a:r>
              <a:rPr lang="ko-KR" altLang="en-US" dirty="0"/>
              <a:t>흐름 단순</a:t>
            </a:r>
          </a:p>
          <a:p>
            <a:pPr lvl="2"/>
            <a:r>
              <a:rPr lang="ko-KR" altLang="en-US" dirty="0"/>
              <a:t>수정 영향 범위 제한적</a:t>
            </a:r>
            <a:endParaRPr lang="en-US" altLang="ko-KR" dirty="0"/>
          </a:p>
          <a:p>
            <a:pPr lvl="2"/>
            <a:endParaRPr lang="ko-KR" altLang="en-US" dirty="0"/>
          </a:p>
          <a:p>
            <a:pPr lvl="1"/>
            <a:r>
              <a:rPr lang="ko-KR" altLang="en-US" dirty="0"/>
              <a:t>큰 프로그램 문제</a:t>
            </a:r>
          </a:p>
          <a:p>
            <a:pPr lvl="2"/>
            <a:r>
              <a:rPr lang="ko-KR" altLang="en-US" dirty="0"/>
              <a:t>코드 집중</a:t>
            </a:r>
          </a:p>
          <a:p>
            <a:pPr lvl="2"/>
            <a:r>
              <a:rPr lang="ko-KR" altLang="en-US" dirty="0"/>
              <a:t>기능 간 영향 증가</a:t>
            </a:r>
          </a:p>
          <a:p>
            <a:pPr lvl="2"/>
            <a:r>
              <a:rPr lang="ko-KR" altLang="en-US" dirty="0"/>
              <a:t>흐름 파악 어려움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28F9BC0A-DBA1-69F6-55E9-901B3543430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0199947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A1DF92-1EAB-561E-6DC6-B4CCD90644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20.2 </a:t>
            </a:r>
            <a:r>
              <a:rPr lang="ko-KR" altLang="en-US" dirty="0"/>
              <a:t>모듈화와 파일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3B71CD7-29AB-EB07-352A-41FAC61990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 dirty="0"/>
              <a:t>.c </a:t>
            </a:r>
            <a:r>
              <a:rPr lang="ko-KR" altLang="en-US" dirty="0"/>
              <a:t>와 </a:t>
            </a:r>
            <a:r>
              <a:rPr lang="en-US" altLang="ko-KR" dirty="0"/>
              <a:t>.h </a:t>
            </a:r>
            <a:r>
              <a:rPr lang="ko-KR" altLang="en-US" dirty="0"/>
              <a:t>역할</a:t>
            </a:r>
          </a:p>
          <a:p>
            <a:pPr lvl="1"/>
            <a:r>
              <a:rPr lang="en-US" altLang="ko-KR" dirty="0"/>
              <a:t>.c → </a:t>
            </a:r>
            <a:r>
              <a:rPr lang="ko-KR" altLang="en-US" dirty="0"/>
              <a:t>구현 </a:t>
            </a:r>
            <a:r>
              <a:rPr lang="en-US" altLang="ko-KR" dirty="0"/>
              <a:t>(Implementation)</a:t>
            </a:r>
          </a:p>
          <a:p>
            <a:pPr lvl="1"/>
            <a:r>
              <a:rPr lang="en-US" altLang="ko-KR" dirty="0"/>
              <a:t>.h → </a:t>
            </a:r>
            <a:r>
              <a:rPr lang="ko-KR" altLang="en-US" dirty="0"/>
              <a:t>인터페이스 </a:t>
            </a:r>
            <a:r>
              <a:rPr lang="en-US" altLang="ko-KR" dirty="0"/>
              <a:t>(Interface)</a:t>
            </a:r>
          </a:p>
          <a:p>
            <a:pPr lvl="2"/>
            <a:endParaRPr lang="en-US" altLang="ko-KR" dirty="0"/>
          </a:p>
          <a:p>
            <a:r>
              <a:rPr lang="ko-KR" altLang="en-US" dirty="0"/>
              <a:t>구성 원칙</a:t>
            </a:r>
          </a:p>
          <a:p>
            <a:pPr lvl="1"/>
            <a:r>
              <a:rPr lang="ko-KR" altLang="en-US" dirty="0"/>
              <a:t>함수 선언 → </a:t>
            </a:r>
            <a:r>
              <a:rPr lang="en-US" altLang="ko-KR" dirty="0"/>
              <a:t>.h</a:t>
            </a:r>
          </a:p>
          <a:p>
            <a:pPr lvl="1"/>
            <a:r>
              <a:rPr lang="ko-KR" altLang="en-US" dirty="0"/>
              <a:t>함수 정의 → </a:t>
            </a:r>
            <a:r>
              <a:rPr lang="en-US" altLang="ko-KR" dirty="0"/>
              <a:t>.c</a:t>
            </a:r>
          </a:p>
          <a:p>
            <a:pPr lvl="1"/>
            <a:r>
              <a:rPr lang="ko-KR" altLang="en-US" dirty="0"/>
              <a:t>외부에 필요한 것만 노출</a:t>
            </a:r>
          </a:p>
          <a:p>
            <a:pPr lvl="1"/>
            <a:r>
              <a:rPr lang="ko-KR" altLang="en-US" dirty="0"/>
              <a:t>내부 구현은 숨김</a:t>
            </a:r>
          </a:p>
          <a:p>
            <a:pPr lvl="1"/>
            <a:endParaRPr lang="en-US" altLang="ko-KR" dirty="0"/>
          </a:p>
          <a:p>
            <a:r>
              <a:rPr lang="ko-KR" altLang="en-US" dirty="0"/>
              <a:t>인터페이스가 유지되면</a:t>
            </a:r>
            <a:br>
              <a:rPr lang="en-US" altLang="ko-KR" dirty="0"/>
            </a:br>
            <a:r>
              <a:rPr lang="ko-KR" altLang="en-US" dirty="0"/>
              <a:t>구현 변경이 다른 모듈에 영향 없음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D185806F-FBB2-63BB-DED3-ABE8B7BC98FD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4972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D8A8CB9-E904-4D37-5BAB-29CE1381E4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20.2 </a:t>
            </a:r>
            <a:r>
              <a:rPr lang="ko-KR" altLang="en-US" dirty="0"/>
              <a:t>모듈화와 파일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99135849-0EBB-8DF8-F672-B4E2BC96AF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sz="2400" dirty="0"/>
              <a:t>인터페이스 분리와 의존성</a:t>
            </a:r>
          </a:p>
          <a:p>
            <a:pPr lvl="1"/>
            <a:r>
              <a:rPr lang="ko-KR" altLang="en-US" sz="2000" dirty="0"/>
              <a:t>인터페이스 </a:t>
            </a:r>
            <a:r>
              <a:rPr lang="en-US" altLang="ko-KR" sz="2000" dirty="0"/>
              <a:t>vs </a:t>
            </a:r>
            <a:r>
              <a:rPr lang="ko-KR" altLang="en-US" sz="2000" dirty="0"/>
              <a:t>구현</a:t>
            </a:r>
          </a:p>
          <a:p>
            <a:pPr lvl="2"/>
            <a:r>
              <a:rPr lang="ko-KR" altLang="en-US" sz="1800" dirty="0"/>
              <a:t>인터페이스 → 무엇을 제공하는가</a:t>
            </a:r>
          </a:p>
          <a:p>
            <a:pPr lvl="2"/>
            <a:r>
              <a:rPr lang="ko-KR" altLang="en-US" sz="1800" dirty="0"/>
              <a:t>구현 → 어떻게 동작하는가</a:t>
            </a:r>
          </a:p>
          <a:p>
            <a:pPr lvl="1"/>
            <a:r>
              <a:rPr lang="ko-KR" altLang="en-US" sz="2000" dirty="0"/>
              <a:t>장점</a:t>
            </a:r>
          </a:p>
          <a:p>
            <a:pPr lvl="2"/>
            <a:r>
              <a:rPr lang="ko-KR" altLang="en-US" sz="1800" dirty="0"/>
              <a:t>구현 변경 용이</a:t>
            </a:r>
          </a:p>
          <a:p>
            <a:pPr lvl="2"/>
            <a:r>
              <a:rPr lang="ko-KR" altLang="en-US" sz="1800" dirty="0"/>
              <a:t>모듈 간 의존성 감소</a:t>
            </a:r>
          </a:p>
          <a:p>
            <a:pPr lvl="2"/>
            <a:r>
              <a:rPr lang="ko-KR" altLang="en-US" sz="1800" dirty="0"/>
              <a:t>테스트 용이</a:t>
            </a:r>
            <a:endParaRPr lang="en-US" altLang="ko-KR" sz="1800" dirty="0"/>
          </a:p>
          <a:p>
            <a:pPr lvl="5"/>
            <a:endParaRPr lang="ko-KR" altLang="en-US" sz="1600" dirty="0"/>
          </a:p>
          <a:p>
            <a:r>
              <a:rPr lang="en-US" altLang="ko-KR" sz="2400" dirty="0"/>
              <a:t>include </a:t>
            </a:r>
            <a:r>
              <a:rPr lang="ko-KR" altLang="en-US" sz="2400" dirty="0"/>
              <a:t>의존성 관리</a:t>
            </a:r>
          </a:p>
          <a:p>
            <a:pPr lvl="1"/>
            <a:r>
              <a:rPr lang="ko-KR" altLang="en-US" sz="2000" dirty="0"/>
              <a:t>필요한 선언만 포함</a:t>
            </a:r>
          </a:p>
          <a:p>
            <a:pPr lvl="1"/>
            <a:r>
              <a:rPr lang="ko-KR" altLang="en-US" sz="2000" dirty="0"/>
              <a:t>내부 구현은 </a:t>
            </a:r>
            <a:r>
              <a:rPr lang="en-US" altLang="ko-KR" sz="2000" dirty="0"/>
              <a:t>.c</a:t>
            </a:r>
            <a:r>
              <a:rPr lang="ko-KR" altLang="en-US" sz="2000" dirty="0"/>
              <a:t>에 위치</a:t>
            </a:r>
          </a:p>
          <a:p>
            <a:pPr lvl="1"/>
            <a:r>
              <a:rPr lang="ko-KR" altLang="en-US" sz="2000" dirty="0"/>
              <a:t>순환 참조 방지</a:t>
            </a:r>
          </a:p>
          <a:p>
            <a:r>
              <a:rPr lang="ko-KR" altLang="en-US" sz="2400" dirty="0"/>
              <a:t>주의</a:t>
            </a:r>
          </a:p>
          <a:p>
            <a:pPr lvl="1"/>
            <a:r>
              <a:rPr lang="ko-KR" altLang="en-US" sz="2000" dirty="0"/>
              <a:t>헤더 파일은 중복 포함 방지 필요</a:t>
            </a:r>
          </a:p>
          <a:p>
            <a:pPr lvl="1"/>
            <a:r>
              <a:rPr lang="ko-KR" altLang="en-US" sz="2000" dirty="0"/>
              <a:t>→ </a:t>
            </a:r>
            <a:r>
              <a:rPr lang="en-US" altLang="ko-KR" sz="2000" dirty="0"/>
              <a:t>#pragma once </a:t>
            </a:r>
            <a:r>
              <a:rPr lang="ko-KR" altLang="en-US" sz="2000" dirty="0"/>
              <a:t>또는 </a:t>
            </a:r>
            <a:r>
              <a:rPr lang="en-US" altLang="ko-KR" sz="2000" dirty="0"/>
              <a:t>include guard</a:t>
            </a:r>
            <a:endParaRPr lang="ko-KR" altLang="en-US" sz="2000" dirty="0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5BE28D0B-C7F2-F303-2B21-B23DB3F0F560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7750002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A1B87B-1C59-5534-A65D-9D4DA24F1D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4753477C-E454-79C6-BA48-F94D39B4E3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20.2 </a:t>
            </a:r>
            <a:r>
              <a:rPr lang="ko-KR" altLang="en-US" dirty="0"/>
              <a:t>모듈화와 파일 분리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9B4EBA0-099C-829B-6ACD-31987D95BD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dirty="0"/>
              <a:t>시스템 구조로 적용</a:t>
            </a:r>
            <a:r>
              <a:rPr lang="en-US" altLang="ko-KR" dirty="0"/>
              <a:t>: </a:t>
            </a:r>
            <a:r>
              <a:rPr lang="ko-KR" altLang="en-US" dirty="0"/>
              <a:t>모듈 분리 적용</a:t>
            </a:r>
          </a:p>
          <a:p>
            <a:pPr lvl="1"/>
            <a:r>
              <a:rPr lang="en-US" altLang="ko-KR" dirty="0"/>
              <a:t>Input → </a:t>
            </a:r>
            <a:r>
              <a:rPr lang="ko-KR" altLang="en-US" dirty="0"/>
              <a:t>사용자 입력 처리</a:t>
            </a:r>
          </a:p>
          <a:p>
            <a:pPr lvl="1"/>
            <a:r>
              <a:rPr lang="en-US" altLang="ko-KR" dirty="0"/>
              <a:t>Data → </a:t>
            </a:r>
            <a:r>
              <a:rPr lang="ko-KR" altLang="en-US" dirty="0"/>
              <a:t>점수</a:t>
            </a:r>
            <a:r>
              <a:rPr lang="en-US" altLang="ko-KR" dirty="0"/>
              <a:t>, </a:t>
            </a:r>
            <a:r>
              <a:rPr lang="ko-KR" altLang="en-US" dirty="0"/>
              <a:t>기록</a:t>
            </a:r>
            <a:r>
              <a:rPr lang="en-US" altLang="ko-KR" dirty="0"/>
              <a:t>, </a:t>
            </a:r>
            <a:r>
              <a:rPr lang="ko-KR" altLang="en-US" dirty="0"/>
              <a:t>설정 관리</a:t>
            </a:r>
          </a:p>
          <a:p>
            <a:pPr lvl="1"/>
            <a:r>
              <a:rPr lang="en-US" altLang="ko-KR" dirty="0"/>
              <a:t>Output → </a:t>
            </a:r>
            <a:r>
              <a:rPr lang="ko-KR" altLang="en-US" dirty="0"/>
              <a:t>결과 출력</a:t>
            </a:r>
          </a:p>
          <a:p>
            <a:pPr lvl="1"/>
            <a:r>
              <a:rPr lang="en-US" altLang="ko-KR" dirty="0" err="1"/>
              <a:t>GameLogic</a:t>
            </a:r>
            <a:r>
              <a:rPr lang="en-US" altLang="ko-KR" dirty="0"/>
              <a:t> → </a:t>
            </a:r>
            <a:r>
              <a:rPr lang="ko-KR" altLang="en-US" dirty="0"/>
              <a:t>게임 규칙 처리</a:t>
            </a:r>
          </a:p>
          <a:p>
            <a:pPr lvl="1"/>
            <a:r>
              <a:rPr lang="en-US" altLang="ko-KR" dirty="0" err="1"/>
              <a:t>RunFlow</a:t>
            </a:r>
            <a:r>
              <a:rPr lang="en-US" altLang="ko-KR" dirty="0"/>
              <a:t> → </a:t>
            </a:r>
            <a:r>
              <a:rPr lang="ko-KR" altLang="en-US" dirty="0"/>
              <a:t>전체 실행 흐름 제어</a:t>
            </a:r>
            <a:endParaRPr lang="en-US" altLang="ko-KR"/>
          </a:p>
          <a:p>
            <a:pPr lvl="2"/>
            <a:endParaRPr lang="ko-KR" altLang="en-US" dirty="0"/>
          </a:p>
          <a:p>
            <a:r>
              <a:rPr lang="ko-KR" altLang="en-US" dirty="0"/>
              <a:t>정리</a:t>
            </a:r>
          </a:p>
          <a:p>
            <a:pPr lvl="1"/>
            <a:r>
              <a:rPr lang="ko-KR" altLang="en-US" dirty="0"/>
              <a:t>기능을 시스템 단위로 분리</a:t>
            </a:r>
          </a:p>
          <a:p>
            <a:pPr lvl="1"/>
            <a:r>
              <a:rPr lang="ko-KR" altLang="en-US" dirty="0"/>
              <a:t>각 모듈은 독립적으로 설계</a:t>
            </a:r>
          </a:p>
          <a:p>
            <a:pPr lvl="1"/>
            <a:r>
              <a:rPr lang="en-US" altLang="ko-KR" dirty="0" err="1"/>
              <a:t>RunFlow</a:t>
            </a:r>
            <a:r>
              <a:rPr lang="ko-KR" altLang="en-US" dirty="0"/>
              <a:t>가 전체 구조를 제어</a:t>
            </a:r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32E1A7A2-512E-BDE7-29AD-5BA1F818066A}"/>
              </a:ext>
            </a:extLst>
          </p:cNvPr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pPr>
              <a:defRPr/>
            </a:pPr>
            <a:r>
              <a:rPr lang="ko-KR" altLang="en-US"/>
              <a:t>게임 프로그래밍 교육과정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2274362"/>
      </p:ext>
    </p:extLst>
  </p:cSld>
  <p:clrMapOvr>
    <a:masterClrMapping/>
  </p:clrMapOvr>
</p:sld>
</file>

<file path=ppt/theme/theme1.xml><?xml version="1.0" encoding="utf-8"?>
<a:theme xmlns:a="http://schemas.openxmlformats.org/drawingml/2006/main" name="기본 디자인">
  <a:themeElements>
    <a:clrScheme name="기본 디자인 2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바른고딕">
      <a:majorFont>
        <a:latin typeface="나눔바른고딕"/>
        <a:ea typeface="나눔바른고딕"/>
        <a:cs typeface=""/>
      </a:majorFont>
      <a:minorFont>
        <a:latin typeface="나눔바른고딕"/>
        <a:ea typeface="나눔바른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25400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0000" tIns="46800" rIns="90000" bIns="4680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1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1" lang="ko-KR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굴림" panose="020B0600000101010101" pitchFamily="50" charset="-127"/>
            <a:ea typeface="굴림" panose="020B0600000101010101" pitchFamily="50" charset="-127"/>
          </a:defRPr>
        </a:defPPr>
      </a:lstStyle>
    </a:lnDef>
    <a:txDef>
      <a:spPr>
        <a:noFill/>
        <a:ln w="25400">
          <a:solidFill>
            <a:schemeClr val="bg1">
              <a:lumMod val="75000"/>
            </a:schemeClr>
          </a:solidFill>
          <a:prstDash val="sysDot"/>
        </a:ln>
      </a:spPr>
      <a:bodyPr wrap="square">
        <a:spAutoFit/>
      </a:bodyPr>
      <a:lstStyle>
        <a:defPPr algn="l">
          <a:defRPr sz="2400" b="1" i="0" u="none" strike="noStrike" dirty="0">
            <a:solidFill>
              <a:srgbClr val="A626A4"/>
            </a:solidFill>
            <a:effectLst/>
            <a:latin typeface="Consolas" panose="020B0609020204030204" pitchFamily="49" charset="0"/>
          </a:defRPr>
        </a:defPPr>
      </a:lstStyle>
    </a:txDef>
  </a:objectDefaults>
  <a:extraClrSchemeLst>
    <a:extraClrScheme>
      <a:clrScheme name="기본 디자인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기본 디자인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기본 디자인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8006</TotalTime>
  <Words>398</Words>
  <Application>Microsoft Office PowerPoint</Application>
  <PresentationFormat>화면 슬라이드 쇼(4:3)</PresentationFormat>
  <Paragraphs>102</Paragraphs>
  <Slides>8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6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8</vt:i4>
      </vt:variant>
    </vt:vector>
  </HeadingPairs>
  <TitlesOfParts>
    <vt:vector size="15" baseType="lpstr">
      <vt:lpstr>Wingdings</vt:lpstr>
      <vt:lpstr>나눔바른고딕</vt:lpstr>
      <vt:lpstr>Arial</vt:lpstr>
      <vt:lpstr>굴림</vt:lpstr>
      <vt:lpstr>HY견고딕</vt:lpstr>
      <vt:lpstr>가을체</vt:lpstr>
      <vt:lpstr>기본 디자인</vt:lpstr>
      <vt:lpstr>20. 프로그래밍 설계 (Programming Architecture)</vt:lpstr>
      <vt:lpstr>20 프로그래밍 설계</vt:lpstr>
      <vt:lpstr>20 V 모델</vt:lpstr>
      <vt:lpstr>20.1 코드 구조와 설계 원칙</vt:lpstr>
      <vt:lpstr>20.1 코드 구조와 설계 원칙</vt:lpstr>
      <vt:lpstr>20.2 모듈화와 파일 분리</vt:lpstr>
      <vt:lpstr>20.2 모듈화와 파일 분리</vt:lpstr>
      <vt:lpstr>20.2 모듈화와 파일 분리</vt:lpstr>
    </vt:vector>
  </TitlesOfParts>
  <Company>GaLic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</dc:title>
  <dc:creator>Heesung Oh</dc:creator>
  <cp:lastModifiedBy>Heesung Oh</cp:lastModifiedBy>
  <cp:revision>284</cp:revision>
  <dcterms:created xsi:type="dcterms:W3CDTF">2003-11-30T16:03:20Z</dcterms:created>
  <dcterms:modified xsi:type="dcterms:W3CDTF">2026-04-21T15:42:59Z</dcterms:modified>
</cp:coreProperties>
</file>