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71" r:id="rId2"/>
    <p:sldId id="268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2" r:id="rId13"/>
    <p:sldId id="281" r:id="rId14"/>
    <p:sldId id="285" r:id="rId15"/>
    <p:sldId id="284" r:id="rId16"/>
    <p:sldId id="283" r:id="rId17"/>
    <p:sldId id="286" r:id="rId18"/>
    <p:sldId id="287" r:id="rId19"/>
    <p:sldId id="288" r:id="rId20"/>
    <p:sldId id="289" r:id="rId21"/>
    <p:sldId id="290" r:id="rId22"/>
    <p:sldId id="291" r:id="rId23"/>
    <p:sldId id="292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2" r:id="rId32"/>
    <p:sldId id="301" r:id="rId33"/>
    <p:sldId id="300" r:id="rId34"/>
    <p:sldId id="303" r:id="rId35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  <a:srgbClr val="0000FF"/>
    <a:srgbClr val="FF9900"/>
    <a:srgbClr val="FF0000"/>
    <a:srgbClr val="CC0000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67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32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364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51521" y="1122363"/>
            <a:ext cx="8497192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51521" y="3602038"/>
            <a:ext cx="8497192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F3352-0199-6C3D-5D18-7C82AC41E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02. </a:t>
            </a:r>
            <a:r>
              <a:rPr lang="ko-KR" altLang="en-US" dirty="0"/>
              <a:t>프로그램 구성과 </a:t>
            </a:r>
            <a:r>
              <a:rPr lang="en-US" altLang="ko-KR" dirty="0"/>
              <a:t>main </a:t>
            </a:r>
            <a:r>
              <a:rPr lang="ko-KR" altLang="en-US" dirty="0"/>
              <a:t>함수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DEBFB1C-4E95-A5B5-0E27-B4E309C2C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Heesung Oh</a:t>
            </a:r>
          </a:p>
          <a:p>
            <a:r>
              <a:rPr lang="en-US" altLang="ko-KR">
                <a:hlinkClick r:id="rId2"/>
              </a:rPr>
              <a:t>https://github.com/3dapi</a:t>
            </a:r>
            <a:r>
              <a:rPr lang="en-US" altLang="ko-KR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F0AD49-2744-6721-1F9E-6D80E466C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895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DB689726-6457-3508-DE76-36701E94B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065D1FB8-4C97-FDE3-9EB0-629C93BF7E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2.1 main </a:t>
            </a:r>
            <a:r>
              <a:rPr lang="ko-KR" altLang="en-US" b="0" dirty="0"/>
              <a:t>함수 호출 과정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C45E38D-C5AE-F030-AADF-2BBDA2CA7B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en-US" altLang="ko-KR" b="0" dirty="0"/>
              <a:t>Windows OS</a:t>
            </a:r>
            <a:r>
              <a:rPr lang="ko-KR" altLang="en-US" b="0" dirty="0"/>
              <a:t>에서 </a:t>
            </a:r>
            <a:r>
              <a:rPr lang="en-US" altLang="ko-KR" b="0" dirty="0"/>
              <a:t>main </a:t>
            </a:r>
            <a:r>
              <a:rPr lang="ko-KR" altLang="en-US" b="0" dirty="0"/>
              <a:t>함수가 호출되는 과정</a:t>
            </a:r>
            <a:endParaRPr lang="en-US" altLang="ko-KR" b="0" dirty="0"/>
          </a:p>
          <a:p>
            <a:pPr lvl="1" eaLnBrk="1" hangingPunct="1"/>
            <a:r>
              <a:rPr lang="ko-KR" altLang="en-US" sz="2000" b="0" dirty="0"/>
              <a:t>운영체제 → </a:t>
            </a:r>
            <a:r>
              <a:rPr lang="en-US" altLang="ko-KR" sz="2000" b="0" dirty="0"/>
              <a:t>CRT </a:t>
            </a:r>
            <a:r>
              <a:rPr lang="ko-KR" altLang="en-US" sz="2000" b="0" dirty="0"/>
              <a:t>초기화 → </a:t>
            </a:r>
            <a:r>
              <a:rPr lang="en-US" altLang="ko-KR" sz="2000" b="0" dirty="0"/>
              <a:t>main </a:t>
            </a:r>
            <a:r>
              <a:rPr lang="ko-KR" altLang="en-US" sz="2000" b="0" dirty="0"/>
              <a:t>호출 → </a:t>
            </a:r>
            <a:r>
              <a:rPr lang="en-US" altLang="ko-KR" sz="2000" b="0" dirty="0"/>
              <a:t>CRT </a:t>
            </a:r>
            <a:r>
              <a:rPr lang="ko-KR" altLang="en-US" sz="2000" b="0" dirty="0"/>
              <a:t>종료 → 운영체제</a:t>
            </a:r>
            <a:endParaRPr lang="en-US" altLang="ko-KR" sz="2000" b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317301-1885-9134-126F-7B714134D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893" y="1916832"/>
            <a:ext cx="2538214" cy="448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0FD6E-F1C8-E978-A69E-BEFE0B01C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 main </a:t>
            </a:r>
            <a:r>
              <a:rPr lang="ko-KR" altLang="en-US" b="0" dirty="0"/>
              <a:t>함수의 다양한 형태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681374-7ACB-8AED-2422-0E8C68E99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C </a:t>
            </a:r>
            <a:r>
              <a:rPr lang="ko-KR" altLang="en-US" b="0" dirty="0"/>
              <a:t>표준 </a:t>
            </a:r>
            <a:r>
              <a:rPr lang="en-US" altLang="ko-KR" b="0" dirty="0"/>
              <a:t>main </a:t>
            </a:r>
            <a:r>
              <a:rPr lang="ko-KR" altLang="en-US" b="0" dirty="0"/>
              <a:t>함수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비 표준 </a:t>
            </a:r>
            <a:r>
              <a:rPr lang="en-US" altLang="ko-KR" b="0" dirty="0"/>
              <a:t>main</a:t>
            </a:r>
            <a:r>
              <a:rPr lang="ko-KR" altLang="en-US" b="0" dirty="0"/>
              <a:t> 함수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7102FF-59F1-DE28-2EA5-CAB34C9D68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B7F506-84D5-0FBA-1AA4-F2C1D6CA8657}"/>
              </a:ext>
            </a:extLst>
          </p:cNvPr>
          <p:cNvSpPr txBox="1"/>
          <p:nvPr/>
        </p:nvSpPr>
        <p:spPr>
          <a:xfrm>
            <a:off x="575271" y="1412776"/>
            <a:ext cx="7549186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또는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48DCD4-EDD0-7292-6CDD-7D365C9C2313}"/>
              </a:ext>
            </a:extLst>
          </p:cNvPr>
          <p:cNvSpPr txBox="1"/>
          <p:nvPr/>
        </p:nvSpPr>
        <p:spPr>
          <a:xfrm>
            <a:off x="575271" y="3861048"/>
            <a:ext cx="7549185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또는</a:t>
            </a:r>
            <a:endParaRPr lang="ko-KR" altLang="en-US" b="0" dirty="0">
              <a:effectLst/>
            </a:endParaRPr>
          </a:p>
          <a:p>
            <a:pPr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[])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31991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8D1A8E-2B8E-49B2-FDE5-CC6BFFD9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C5F8C3-DC6B-53A3-D31D-C9D33C17E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생성</a:t>
            </a:r>
            <a:endParaRPr lang="en-US" altLang="ko-KR" dirty="0"/>
          </a:p>
          <a:p>
            <a:pPr lvl="1"/>
            <a:r>
              <a:rPr lang="en-US" altLang="ko-KR" b="0" dirty="0"/>
              <a:t>[</a:t>
            </a:r>
            <a:r>
              <a:rPr lang="ko-KR" altLang="en-US" b="0" dirty="0"/>
              <a:t>메뉴</a:t>
            </a:r>
            <a:r>
              <a:rPr lang="en-US" altLang="ko-KR" b="0" dirty="0"/>
              <a:t>] → [</a:t>
            </a:r>
            <a:r>
              <a:rPr lang="ko-KR" altLang="en-US" b="0" dirty="0"/>
              <a:t>파일</a:t>
            </a:r>
            <a:r>
              <a:rPr lang="en-US" altLang="ko-KR" b="0" dirty="0"/>
              <a:t>] → [</a:t>
            </a:r>
            <a:r>
              <a:rPr lang="ko-KR" altLang="en-US" b="0" dirty="0"/>
              <a:t>새로 만들기</a:t>
            </a:r>
            <a:r>
              <a:rPr lang="en-US" altLang="ko-KR" b="0" dirty="0"/>
              <a:t>] → [</a:t>
            </a:r>
            <a:r>
              <a:rPr lang="ko-KR" altLang="en-US" b="0" dirty="0"/>
              <a:t>프로젝트</a:t>
            </a:r>
            <a:r>
              <a:rPr lang="en-US" altLang="ko-KR" b="0" dirty="0"/>
              <a:t>]</a:t>
            </a:r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r>
              <a:rPr lang="ko-KR" altLang="en-US" b="0" dirty="0"/>
              <a:t>새 프로젝트 생성</a:t>
            </a:r>
            <a:endParaRPr lang="en-US" altLang="ko-KR" b="0" dirty="0"/>
          </a:p>
          <a:p>
            <a:pPr lvl="1"/>
            <a:r>
              <a:rPr lang="ko-KR" altLang="en-US" b="0" dirty="0"/>
              <a:t>시작 파일 없는 프로젝트 선택</a:t>
            </a:r>
            <a:endParaRPr lang="en-US" altLang="ko-KR" b="0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3FC1AF-D76A-6E46-399C-0975C46F26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55970A8-C596-9AE1-DAAA-B757B1794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1851619"/>
            <a:ext cx="5544616" cy="125025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71E8DDE-7E51-5BAF-BDEC-FBB744185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4427462"/>
            <a:ext cx="5544616" cy="1930791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491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5CC59-3F30-7B62-E03A-FEF4DC3B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DD44D-A9F5-3699-EAE2-020D9F097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3A53F5-94AA-81D0-9C58-0F3F69BCD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새 프로젝트 구성</a:t>
            </a:r>
            <a:r>
              <a:rPr lang="en-US" altLang="ko-KR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0C8B02-A4F7-8B71-9F48-477C35D91A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1A0401F-1DDC-2D35-5650-7741367FA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49" y="1412776"/>
            <a:ext cx="4376723" cy="460851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6390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0F2E4-4BB5-26D2-042A-9019FC08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10F6-35AA-8D5D-6422-A15571874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B0D94F-4755-5184-BEC3-279781FCB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소스</a:t>
            </a:r>
            <a:r>
              <a:rPr lang="en-US" altLang="ko-KR" dirty="0"/>
              <a:t> </a:t>
            </a:r>
            <a:r>
              <a:rPr lang="ko-KR" altLang="en-US" dirty="0"/>
              <a:t>파일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5CA2E3-1CA6-58D4-BB75-96E30D11B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E991626-989A-1D13-2ED8-9BF214FE9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447799"/>
            <a:ext cx="2517010" cy="226639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FB5128DD-FF12-EE65-8063-56EEBB223A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225" y="1698410"/>
            <a:ext cx="2506114" cy="176517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727DD85-47BD-34E2-4D6C-4668BC209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36" y="4367986"/>
            <a:ext cx="3693793" cy="1797864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B36927C1-45F8-38E3-3A54-D8D805247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700181"/>
            <a:ext cx="3724275" cy="1133475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082FFC6E-8FF6-722D-091B-2A376929F9CA}"/>
              </a:ext>
            </a:extLst>
          </p:cNvPr>
          <p:cNvSpPr/>
          <p:nvPr/>
        </p:nvSpPr>
        <p:spPr bwMode="auto">
          <a:xfrm>
            <a:off x="3556857" y="222095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3EB84739-C82D-F929-B716-7D0D7479B124}"/>
              </a:ext>
            </a:extLst>
          </p:cNvPr>
          <p:cNvSpPr/>
          <p:nvPr/>
        </p:nvSpPr>
        <p:spPr bwMode="auto">
          <a:xfrm>
            <a:off x="7668288" y="222095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23AA08F8-38A1-5793-2E55-0E9E3B81EBC8}"/>
              </a:ext>
            </a:extLst>
          </p:cNvPr>
          <p:cNvSpPr/>
          <p:nvPr/>
        </p:nvSpPr>
        <p:spPr bwMode="auto">
          <a:xfrm>
            <a:off x="4325590" y="490687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310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518BC9-F05D-D7EC-4DC3-C0A09200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 err="1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41E42D-584F-4EB7-FEF4-73C39741F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간단한 </a:t>
            </a:r>
            <a:r>
              <a:rPr lang="en-US" altLang="ko-KR" dirty="0"/>
              <a:t>C </a:t>
            </a:r>
            <a:r>
              <a:rPr lang="ko-KR" altLang="en-US" dirty="0"/>
              <a:t>프로그래밍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6C0831-1653-8756-419C-7250CB220E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504832-C855-8166-F7D9-4FDF2CE034A6}"/>
              </a:ext>
            </a:extLst>
          </p:cNvPr>
          <p:cNvSpPr txBox="1"/>
          <p:nvPr/>
        </p:nvSpPr>
        <p:spPr>
          <a:xfrm>
            <a:off x="582398" y="1372506"/>
            <a:ext cx="6509882" cy="156966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A9A227-59ED-EF48-3E01-156686CD50A6}"/>
              </a:ext>
            </a:extLst>
          </p:cNvPr>
          <p:cNvSpPr txBox="1"/>
          <p:nvPr/>
        </p:nvSpPr>
        <p:spPr>
          <a:xfrm>
            <a:off x="582398" y="3728754"/>
            <a:ext cx="6509882" cy="156966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5274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654183-A0E5-3E63-11B6-1DC3560C1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A5297F-746F-D4F4-9FB3-D4FA31408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함수란</a:t>
            </a:r>
            <a:r>
              <a:rPr lang="en-US" altLang="ko-KR" dirty="0"/>
              <a:t>?</a:t>
            </a:r>
          </a:p>
          <a:p>
            <a:pPr lvl="1"/>
            <a:r>
              <a:rPr lang="ko-KR" altLang="en-US" dirty="0"/>
              <a:t>기능을 수행하는 장치 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</a:p>
          <a:p>
            <a:pPr lvl="2"/>
            <a:r>
              <a:rPr lang="ko-KR" altLang="en-US" dirty="0"/>
              <a:t>기능을 수행하는 프로그램 단위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수학적 함수</a:t>
            </a:r>
            <a:r>
              <a:rPr lang="en-US" altLang="ko-KR" dirty="0"/>
              <a:t>: </a:t>
            </a:r>
            <a:r>
              <a:rPr lang="ko-KR" altLang="en-US" dirty="0"/>
              <a:t>입력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계산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결과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</a:p>
          <a:p>
            <a:pPr lvl="2"/>
            <a:r>
              <a:rPr lang="ko-KR" altLang="en-US" dirty="0">
                <a:sym typeface="Wingdings" panose="05000000000000000000" pitchFamily="2" charset="2"/>
              </a:rPr>
              <a:t>입력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실행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결과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A56216-CBAB-4581-FAD2-8EF36178C9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5DFDC4-2F91-F4F6-92DD-0D296E696D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3717032"/>
            <a:ext cx="4900545" cy="252028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0362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C6445-CC26-8EE6-891A-01EADCD8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6854-BC92-5007-EB50-AC5CBD74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475477-8F98-2967-71A0-7C2B0B94E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C </a:t>
            </a:r>
            <a:r>
              <a:rPr lang="ko-KR" altLang="en-US" b="0" dirty="0"/>
              <a:t>언어 함수 원형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반환 없을 때</a:t>
            </a:r>
            <a:r>
              <a:rPr lang="en-US" altLang="ko-KR" b="0" dirty="0"/>
              <a:t>: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D4A539-A673-ED0B-E28F-94A240E547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BEEF1-16CB-8F3E-9959-418664F6811D}"/>
              </a:ext>
            </a:extLst>
          </p:cNvPr>
          <p:cNvSpPr txBox="1"/>
          <p:nvPr/>
        </p:nvSpPr>
        <p:spPr>
          <a:xfrm>
            <a:off x="539749" y="1490008"/>
            <a:ext cx="6192489" cy="19389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 함수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명령어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0F3AD-72EC-2762-7257-D51D1F3E973C}"/>
              </a:ext>
            </a:extLst>
          </p:cNvPr>
          <p:cNvSpPr txBox="1"/>
          <p:nvPr/>
        </p:nvSpPr>
        <p:spPr>
          <a:xfrm>
            <a:off x="548603" y="4437112"/>
            <a:ext cx="6183635" cy="19389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함수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명령어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보통 생략함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4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850CF-B0A7-D29E-DB94-B7EBDC7C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D2121-28BA-F04A-52A2-BBA7CD3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142812-0B10-4860-C615-2D69B84CD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반환형</a:t>
            </a:r>
          </a:p>
          <a:p>
            <a:pPr lvl="1"/>
            <a:r>
              <a:rPr lang="ko-KR" altLang="en-US" sz="1800" b="0" dirty="0"/>
              <a:t>함수 실행 후 반환되는 값의 자료형</a:t>
            </a:r>
          </a:p>
          <a:p>
            <a:r>
              <a:rPr lang="ko-KR" altLang="en-US" sz="2000" b="0" dirty="0"/>
              <a:t>함수 이름</a:t>
            </a:r>
          </a:p>
          <a:p>
            <a:pPr lvl="1"/>
            <a:r>
              <a:rPr lang="ko-KR" altLang="en-US" sz="1800" b="0" dirty="0"/>
              <a:t>함수를 식별하고 호출하기 위한 이름</a:t>
            </a:r>
          </a:p>
          <a:p>
            <a:r>
              <a:rPr lang="ko-KR" altLang="en-US" sz="2000" b="0" dirty="0"/>
              <a:t>인수 목록</a:t>
            </a:r>
          </a:p>
          <a:p>
            <a:pPr lvl="1"/>
            <a:r>
              <a:rPr lang="ko-KR" altLang="en-US" sz="1800" b="0" dirty="0"/>
              <a:t>함수로 전달되는 값을 저장하는 변수 목록</a:t>
            </a:r>
          </a:p>
          <a:p>
            <a:r>
              <a:rPr lang="ko-KR" altLang="en-US" sz="2000" b="0" dirty="0"/>
              <a:t>명령문</a:t>
            </a:r>
          </a:p>
          <a:p>
            <a:pPr lvl="1"/>
            <a:r>
              <a:rPr lang="ko-KR" altLang="en-US" sz="1800" b="0" dirty="0"/>
              <a:t>함수 내부에서 실행되는 프로그램 명령</a:t>
            </a:r>
          </a:p>
          <a:p>
            <a:r>
              <a:rPr lang="en-US" altLang="ko-KR" sz="2000" b="0" dirty="0"/>
              <a:t>return</a:t>
            </a:r>
          </a:p>
          <a:p>
            <a:pPr lvl="1"/>
            <a:r>
              <a:rPr lang="ko-KR" altLang="en-US" sz="1800" b="0" dirty="0"/>
              <a:t>함수 실행을 종료하고 값을 반환</a:t>
            </a:r>
            <a:endParaRPr lang="en-US" altLang="ko-KR" sz="1800" b="0" dirty="0"/>
          </a:p>
          <a:p>
            <a:pPr lvl="1"/>
            <a:r>
              <a:rPr lang="ko-KR" altLang="en-US" sz="1800" b="0" dirty="0"/>
              <a:t>반환 값이 없으면 반환 값 생략</a:t>
            </a:r>
            <a:r>
              <a:rPr lang="en-US" altLang="ko-KR" sz="1800" b="0" dirty="0"/>
              <a:t>. </a:t>
            </a:r>
            <a:r>
              <a:rPr lang="en-US" altLang="ko-KR" sz="1800" b="0" dirty="0">
                <a:sym typeface="Wingdings" panose="05000000000000000000" pitchFamily="2" charset="2"/>
              </a:rPr>
              <a:t> return ;</a:t>
            </a:r>
            <a:endParaRPr lang="ko-KR" altLang="en-US" sz="1800" b="0" dirty="0"/>
          </a:p>
          <a:p>
            <a:r>
              <a:rPr lang="ko-KR" altLang="en-US" sz="2000" b="0" dirty="0" err="1"/>
              <a:t>반환값</a:t>
            </a:r>
            <a:endParaRPr lang="ko-KR" altLang="en-US" sz="2000" b="0" dirty="0"/>
          </a:p>
          <a:p>
            <a:pPr lvl="1"/>
            <a:r>
              <a:rPr lang="ko-KR" altLang="en-US" sz="1800" b="0" dirty="0"/>
              <a:t>함수가 호출한 곳으로 전달하는 값</a:t>
            </a:r>
          </a:p>
          <a:p>
            <a:r>
              <a:rPr lang="ko-KR" altLang="en-US" sz="2000" b="0" dirty="0"/>
              <a:t>세미콜론</a:t>
            </a:r>
          </a:p>
          <a:p>
            <a:pPr lvl="1"/>
            <a:r>
              <a:rPr lang="ko-KR" altLang="en-US" sz="1800" b="0" dirty="0"/>
              <a:t>명령문의 끝을 나타내는 기호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833768-53DA-6CC7-7282-DBA1DC8C1D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71531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4813E3-0C76-49D9-33AF-87BEFA122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 </a:t>
            </a:r>
            <a:r>
              <a:rPr lang="ko-KR" altLang="en-US" b="0" dirty="0"/>
              <a:t>컴파일과 빌드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CA5A4-5D7E-B9B9-B113-8F60CE986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넓은 의미의 컴파일</a:t>
            </a:r>
            <a:endParaRPr lang="en-US" altLang="ko-KR" b="0" dirty="0"/>
          </a:p>
          <a:p>
            <a:pPr lvl="1"/>
            <a:r>
              <a:rPr lang="ko-KR" altLang="en-US" b="0" dirty="0" err="1"/>
              <a:t>전처리</a:t>
            </a:r>
            <a:r>
              <a:rPr lang="ko-KR" altLang="en-US" b="0" dirty="0"/>
              <a:t> → 컴파일 → 링크 → 실행 파일 생성</a:t>
            </a:r>
            <a:endParaRPr lang="en-US" altLang="ko-KR" b="0" dirty="0"/>
          </a:p>
          <a:p>
            <a:pPr lvl="1"/>
            <a:r>
              <a:rPr lang="ko-KR" altLang="en-US" b="0" dirty="0"/>
              <a:t>전체 빌드 과정</a:t>
            </a:r>
            <a:endParaRPr lang="en-US" altLang="ko-KR" b="0" dirty="0"/>
          </a:p>
          <a:p>
            <a:pPr marL="457200" lvl="1" indent="0">
              <a:buNone/>
            </a:pPr>
            <a:endParaRPr lang="en-US" altLang="ko-KR" b="0" dirty="0"/>
          </a:p>
          <a:p>
            <a:r>
              <a:rPr lang="ko-KR" altLang="en-US" b="0" dirty="0"/>
              <a:t>좁은 의미의 컴파일</a:t>
            </a:r>
            <a:endParaRPr lang="en-US" altLang="ko-KR" b="0" dirty="0"/>
          </a:p>
          <a:p>
            <a:pPr lvl="1"/>
            <a:r>
              <a:rPr lang="ko-KR" altLang="en-US" b="0" dirty="0" err="1"/>
              <a:t>전처리</a:t>
            </a:r>
            <a:r>
              <a:rPr lang="ko-KR" altLang="en-US" b="0" dirty="0"/>
              <a:t> →</a:t>
            </a:r>
            <a:r>
              <a:rPr lang="en-US" altLang="ko-KR" b="0" dirty="0">
                <a:sym typeface="Wingdings" panose="05000000000000000000" pitchFamily="2" charset="2"/>
              </a:rPr>
              <a:t> </a:t>
            </a:r>
            <a:r>
              <a:rPr lang="ko-KR" altLang="en-US" b="0" dirty="0">
                <a:sym typeface="Wingdings" panose="05000000000000000000" pitchFamily="2" charset="2"/>
              </a:rPr>
              <a:t>컴파일 </a:t>
            </a:r>
            <a:r>
              <a:rPr lang="ko-KR" altLang="en-US" b="0" dirty="0"/>
              <a:t>→</a:t>
            </a:r>
            <a:r>
              <a:rPr lang="en-US" altLang="ko-KR" b="0" dirty="0">
                <a:sym typeface="Wingdings" panose="05000000000000000000" pitchFamily="2" charset="2"/>
              </a:rPr>
              <a:t> </a:t>
            </a:r>
            <a:r>
              <a:rPr lang="ko-KR" altLang="en-US" b="0" dirty="0"/>
              <a:t>기계어 목적 파일</a:t>
            </a:r>
            <a:r>
              <a:rPr lang="en-US" altLang="ko-KR" b="0" dirty="0"/>
              <a:t>(.obj)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E8714A-A3B3-251B-5ABA-33D1D9C885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40513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1315A-8A61-47A0-492D-EDDB87009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25795-8C3E-FB6D-BA5A-C1DDDE07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 </a:t>
            </a:r>
            <a:r>
              <a:rPr lang="ko-KR" altLang="en-US" b="0" dirty="0"/>
              <a:t>컴파일과 빌드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C0A675-8A60-81EF-39EC-D349991B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프로그램 빌드 과정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84BEC9-0466-08D1-15C6-3B9BE50B3B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FDA668-122D-1D44-5A76-DF1543B6B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444" y="1598042"/>
            <a:ext cx="6453588" cy="4549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38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E4F3F-4C2C-A123-935F-A37C47F7D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9BED7-3757-7F39-A001-DBB8FF8C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 err="1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0F3CEC-92FE-0964-3EDB-4067D68D7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전처리문</a:t>
            </a:r>
            <a:endParaRPr lang="en-US" altLang="ko-KR" sz="2000" b="0" dirty="0"/>
          </a:p>
          <a:p>
            <a:pPr lvl="1"/>
            <a:r>
              <a:rPr lang="en-US" altLang="ko-KR" sz="1800" dirty="0">
                <a:solidFill>
                  <a:srgbClr val="CC00FF"/>
                </a:solidFill>
              </a:rPr>
              <a:t>"#"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으로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시작</a:t>
            </a:r>
            <a:r>
              <a:rPr lang="en-US" altLang="ko-KR" sz="1800" b="0" dirty="0"/>
              <a:t>. Directive</a:t>
            </a:r>
          </a:p>
          <a:p>
            <a:pPr lvl="1"/>
            <a:endParaRPr lang="en-US" altLang="ko-KR" sz="2000" b="0" dirty="0"/>
          </a:p>
          <a:p>
            <a:r>
              <a:rPr lang="en-US" altLang="ko-KR" sz="2000" b="0" dirty="0"/>
              <a:t>#include </a:t>
            </a:r>
            <a:r>
              <a:rPr lang="ko-KR" altLang="en-US" sz="2000" b="0" dirty="0"/>
              <a:t>처리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지정된 헤더 파일의 내용을 현재 소스 코드에 삽입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매크로 확장</a:t>
            </a:r>
            <a:r>
              <a:rPr lang="en-US" altLang="ko-KR" sz="2000" b="0" dirty="0"/>
              <a:t>(#define)</a:t>
            </a:r>
          </a:p>
          <a:p>
            <a:pPr lvl="1"/>
            <a:r>
              <a:rPr lang="ko-KR" altLang="en-US" sz="1800" b="0" dirty="0"/>
              <a:t>정의된 매크로를 실제 값이나 코드 형태로 치환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조건부 컴파일</a:t>
            </a:r>
            <a:r>
              <a:rPr lang="en-US" altLang="ko-KR" sz="2000" b="0" dirty="0"/>
              <a:t>(#if, #ifdef, #ifndef, #elif)</a:t>
            </a:r>
          </a:p>
          <a:p>
            <a:pPr lvl="1"/>
            <a:r>
              <a:rPr lang="ko-KR" altLang="en-US" sz="1800" b="0" dirty="0"/>
              <a:t>지정된 조건에 따라 특정 코드 블록을 포함 또는 제외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주석 제거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주석 삭제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기타 </a:t>
            </a:r>
            <a:r>
              <a:rPr lang="ko-KR" altLang="en-US" sz="2000" b="0" dirty="0" err="1"/>
              <a:t>지시문</a:t>
            </a:r>
            <a:r>
              <a:rPr lang="ko-KR" altLang="en-US" sz="2000" b="0" dirty="0"/>
              <a:t> 처리</a:t>
            </a:r>
            <a:r>
              <a:rPr lang="en-US" altLang="ko-KR" sz="2000" b="0" dirty="0"/>
              <a:t>(#pragma, #line </a:t>
            </a:r>
            <a:r>
              <a:rPr lang="ko-KR" altLang="en-US" sz="2000" b="0" dirty="0"/>
              <a:t>등</a:t>
            </a:r>
            <a:r>
              <a:rPr lang="en-US" altLang="ko-KR" sz="2000" b="0" dirty="0"/>
              <a:t>)</a:t>
            </a:r>
          </a:p>
          <a:p>
            <a:pPr lvl="1"/>
            <a:r>
              <a:rPr lang="ko-KR" altLang="en-US" sz="1800" b="0" dirty="0"/>
              <a:t>컴파일러에 전달할 추가 지시나 설정을 처리</a:t>
            </a:r>
            <a:endParaRPr lang="en-US" altLang="ko-KR" sz="1800" b="0" dirty="0"/>
          </a:p>
          <a:p>
            <a:pPr lvl="2"/>
            <a:endParaRPr lang="en-US" altLang="ko-KR" sz="16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57320B5-9D5B-A4C3-D9C2-F7ED019835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77687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B5E22-FCC6-D234-577C-6EE0FBCBA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544844-A4BC-39D9-71F1-00B7DC7F3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 err="1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4FA6D2-D6D6-BB4A-7666-9B9EC7F55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Visual Studio</a:t>
            </a:r>
            <a:r>
              <a:rPr lang="ko-KR" altLang="en-US" b="0" dirty="0"/>
              <a:t>에서 </a:t>
            </a:r>
            <a:r>
              <a:rPr lang="ko-KR" altLang="en-US" b="0" dirty="0" err="1"/>
              <a:t>전처리</a:t>
            </a:r>
            <a:r>
              <a:rPr lang="ko-KR" altLang="en-US" b="0" dirty="0"/>
              <a:t> 결과 확인</a:t>
            </a:r>
            <a:endParaRPr lang="en-US" altLang="ko-KR" b="0" dirty="0"/>
          </a:p>
          <a:p>
            <a:pPr lvl="1"/>
            <a:r>
              <a:rPr lang="ko-KR" altLang="en-US" b="0" dirty="0"/>
              <a:t>프로젝트 속성 → </a:t>
            </a:r>
            <a:r>
              <a:rPr lang="en-US" altLang="ko-KR" b="0" dirty="0"/>
              <a:t>C/C++ → </a:t>
            </a:r>
            <a:r>
              <a:rPr lang="ko-KR" altLang="en-US" b="0" dirty="0"/>
              <a:t>전처리기 →</a:t>
            </a:r>
            <a:br>
              <a:rPr lang="en-US" altLang="ko-KR" b="0" dirty="0"/>
            </a:br>
            <a:r>
              <a:rPr lang="ko-KR" altLang="en-US" b="0" dirty="0"/>
              <a:t>파일로 </a:t>
            </a:r>
            <a:r>
              <a:rPr lang="ko-KR" altLang="en-US" b="0" dirty="0" err="1"/>
              <a:t>전처리</a:t>
            </a:r>
            <a:r>
              <a:rPr lang="ko-KR" altLang="en-US" b="0" dirty="0"/>
              <a:t> </a:t>
            </a:r>
            <a:r>
              <a:rPr lang="en-US" altLang="ko-KR" b="0" dirty="0"/>
              <a:t>(Preprocess to a File) → </a:t>
            </a:r>
            <a:r>
              <a:rPr lang="ko-KR" altLang="en-US" b="0" dirty="0"/>
              <a:t>예</a:t>
            </a:r>
            <a:r>
              <a:rPr lang="en-US" altLang="ko-KR" b="0" dirty="0"/>
              <a:t>(/P)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188807-9F53-5B9F-E849-0621CB7812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EBA4BF3-4E67-49BA-8D26-4C63FAAB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466" y="2420888"/>
            <a:ext cx="5540449" cy="146929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DA02AF-CDB0-5890-DF06-25CC94150D0C}"/>
              </a:ext>
            </a:extLst>
          </p:cNvPr>
          <p:cNvSpPr txBox="1"/>
          <p:nvPr/>
        </p:nvSpPr>
        <p:spPr>
          <a:xfrm>
            <a:off x="869466" y="4583440"/>
            <a:ext cx="4572000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main.c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 </a:t>
            </a:r>
            <a:r>
              <a:rPr lang="ko-KR" altLang="en-US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전처리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main.i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2290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BC654-194A-2EE9-CDD9-FBA41692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2458E0-D640-839B-9C92-66DF844C6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 err="1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D102F1-EBF5-41B9-77DD-C1AE1AD08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 err="1"/>
              <a:t>전처리</a:t>
            </a:r>
            <a:r>
              <a:rPr lang="ko-KR" altLang="en-US" b="0" dirty="0"/>
              <a:t> 전후 비교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4B9BFC-392D-018A-8EA9-3FEE08E00E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58E0685A-BFFB-2151-6413-F28E40F36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341774"/>
            <a:ext cx="5356727" cy="208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947851F2-7882-88B4-60DE-9069B9BD8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4221088"/>
            <a:ext cx="4057684" cy="103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76460FD9-621A-969C-E87D-129A1CDEF7C2}"/>
              </a:ext>
            </a:extLst>
          </p:cNvPr>
          <p:cNvSpPr/>
          <p:nvPr/>
        </p:nvSpPr>
        <p:spPr bwMode="auto">
          <a:xfrm>
            <a:off x="2555776" y="4365104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1975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EBFD70-395A-49F5-ECB6-29B7AAB7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2.5.2 </a:t>
            </a:r>
            <a:r>
              <a:rPr lang="ko-KR" altLang="en-US" b="0" dirty="0"/>
              <a:t>컴파일</a:t>
            </a:r>
            <a:r>
              <a:rPr lang="en-US" altLang="ko-KR" b="0" dirty="0"/>
              <a:t>(Compilation) </a:t>
            </a:r>
            <a:r>
              <a:rPr lang="ko-KR" altLang="en-US" b="0" dirty="0"/>
              <a:t>과정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C1305-D51A-1568-CDC5-87A87C240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중간 표현</a:t>
            </a:r>
            <a:r>
              <a:rPr lang="en-US" altLang="ko-KR" b="0" dirty="0"/>
              <a:t>(Intermediate Representation, IR)</a:t>
            </a:r>
          </a:p>
          <a:p>
            <a:pPr lvl="1"/>
            <a:r>
              <a:rPr lang="ko-KR" altLang="en-US" b="0" dirty="0"/>
              <a:t>최적화를 위해 사용하는 내부 코드 표현</a:t>
            </a:r>
          </a:p>
          <a:p>
            <a:endParaRPr lang="ko-KR" altLang="en-US" b="0" dirty="0"/>
          </a:p>
          <a:p>
            <a:r>
              <a:rPr lang="ko-KR" altLang="en-US" b="0" dirty="0"/>
              <a:t>최적화</a:t>
            </a:r>
            <a:r>
              <a:rPr lang="en-US" altLang="ko-KR" b="0" dirty="0"/>
              <a:t>(Optimization)</a:t>
            </a:r>
          </a:p>
          <a:p>
            <a:pPr lvl="1"/>
            <a:r>
              <a:rPr lang="ko-KR" altLang="en-US" b="0" dirty="0"/>
              <a:t>불필요한 연산 제거 및 코드 개선</a:t>
            </a:r>
            <a:endParaRPr lang="en-US" altLang="ko-KR" b="0" dirty="0"/>
          </a:p>
          <a:p>
            <a:pPr lvl="1"/>
            <a:r>
              <a:rPr lang="ko-KR" altLang="en-US" b="0" dirty="0"/>
              <a:t>최적화 옵션</a:t>
            </a:r>
            <a:endParaRPr lang="en-US" altLang="ko-KR" b="0" dirty="0"/>
          </a:p>
          <a:p>
            <a:pPr marL="914400" lvl="2" indent="0">
              <a:buNone/>
            </a:pPr>
            <a:r>
              <a:rPr lang="en-US" altLang="ko-KR" b="0" dirty="0">
                <a:latin typeface="Consolas" panose="020B0609020204030204" pitchFamily="49" charset="0"/>
              </a:rPr>
              <a:t>-O0(/Od) </a:t>
            </a:r>
            <a:r>
              <a:rPr lang="ko-KR" altLang="en-US" b="0" dirty="0">
                <a:latin typeface="Consolas" panose="020B0609020204030204" pitchFamily="49" charset="0"/>
              </a:rPr>
              <a:t>디버깅용</a:t>
            </a:r>
            <a:br>
              <a:rPr lang="en-US" altLang="ko-KR" b="0" dirty="0">
                <a:latin typeface="Consolas" panose="020B0609020204030204" pitchFamily="49" charset="0"/>
              </a:rPr>
            </a:br>
            <a:r>
              <a:rPr lang="en-US" altLang="ko-KR" b="0" dirty="0">
                <a:latin typeface="Consolas" panose="020B0609020204030204" pitchFamily="49" charset="0"/>
              </a:rPr>
              <a:t>-O1(/O1) </a:t>
            </a:r>
            <a:r>
              <a:rPr lang="ko-KR" altLang="en-US" b="0" dirty="0">
                <a:latin typeface="Consolas" panose="020B0609020204030204" pitchFamily="49" charset="0"/>
              </a:rPr>
              <a:t>기본 최적화</a:t>
            </a:r>
            <a:br>
              <a:rPr lang="en-US" altLang="ko-KR" b="0" dirty="0">
                <a:latin typeface="Consolas" panose="020B0609020204030204" pitchFamily="49" charset="0"/>
              </a:rPr>
            </a:br>
            <a:r>
              <a:rPr lang="en-US" altLang="ko-KR" b="0" dirty="0">
                <a:latin typeface="Consolas" panose="020B0609020204030204" pitchFamily="49" charset="0"/>
              </a:rPr>
              <a:t>-O2(/O2) </a:t>
            </a:r>
            <a:r>
              <a:rPr lang="ko-KR" altLang="en-US" b="0" dirty="0">
                <a:latin typeface="Consolas" panose="020B0609020204030204" pitchFamily="49" charset="0"/>
              </a:rPr>
              <a:t>속도 최적화</a:t>
            </a:r>
            <a:r>
              <a:rPr lang="en-US" altLang="ko-KR" b="0" dirty="0">
                <a:latin typeface="Consolas" panose="020B0609020204030204" pitchFamily="49" charset="0"/>
              </a:rPr>
              <a:t>(</a:t>
            </a:r>
            <a:r>
              <a:rPr lang="ko-KR" altLang="en-US" b="0" dirty="0">
                <a:latin typeface="Consolas" panose="020B0609020204030204" pitchFamily="49" charset="0"/>
              </a:rPr>
              <a:t>릴리즈 빌드</a:t>
            </a:r>
            <a:r>
              <a:rPr lang="en-US" altLang="ko-KR" b="0" dirty="0">
                <a:latin typeface="Consolas" panose="020B0609020204030204" pitchFamily="49" charset="0"/>
              </a:rPr>
              <a:t>)</a:t>
            </a:r>
          </a:p>
          <a:p>
            <a:pPr marL="914400" lvl="2" indent="0">
              <a:buNone/>
            </a:pPr>
            <a:endParaRPr lang="ko-KR" altLang="en-US" b="0" dirty="0"/>
          </a:p>
          <a:p>
            <a:r>
              <a:rPr lang="ko-KR" altLang="en-US" b="0" dirty="0"/>
              <a:t>기계어 변환</a:t>
            </a:r>
            <a:r>
              <a:rPr lang="en-US" altLang="ko-KR" b="0" dirty="0"/>
              <a:t>(Code Generation)</a:t>
            </a:r>
          </a:p>
          <a:p>
            <a:pPr lvl="1"/>
            <a:r>
              <a:rPr lang="en-US" altLang="ko-KR" b="0" dirty="0"/>
              <a:t>CPU </a:t>
            </a:r>
            <a:r>
              <a:rPr lang="ko-KR" altLang="en-US" b="0" dirty="0"/>
              <a:t>아키텍처</a:t>
            </a:r>
            <a:r>
              <a:rPr lang="en-US" altLang="ko-KR" b="0" dirty="0"/>
              <a:t>(x86, ARM </a:t>
            </a:r>
            <a:r>
              <a:rPr lang="ko-KR" altLang="en-US" b="0" dirty="0"/>
              <a:t>등</a:t>
            </a:r>
            <a:r>
              <a:rPr lang="en-US" altLang="ko-KR" b="0" dirty="0"/>
              <a:t>)</a:t>
            </a:r>
            <a:r>
              <a:rPr lang="ko-KR" altLang="en-US" b="0" dirty="0"/>
              <a:t>에 맞는 기계어 생성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595B0B-3718-9037-CEBE-F3E09BB17D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07391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09C89-0E16-E269-DD07-3FD0A30FD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 </a:t>
            </a:r>
            <a:r>
              <a:rPr lang="ko-KR" altLang="en-US" b="0" dirty="0" err="1"/>
              <a:t>링킹</a:t>
            </a:r>
            <a:r>
              <a:rPr lang="en-US" altLang="ko-KR" b="0" dirty="0"/>
              <a:t>(Linking)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1A96F0-AA77-5EEF-18DE-FD3045E6A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 err="1"/>
              <a:t>링커</a:t>
            </a:r>
            <a:r>
              <a:rPr lang="en-US" altLang="ko-KR" sz="2000" b="0" dirty="0"/>
              <a:t>(Linker)</a:t>
            </a:r>
          </a:p>
          <a:p>
            <a:pPr lvl="1"/>
            <a:r>
              <a:rPr lang="ko-KR" altLang="en-US" sz="1800" b="0" dirty="0">
                <a:latin typeface="+mn-ea"/>
              </a:rPr>
              <a:t>목적 파일</a:t>
            </a:r>
            <a:r>
              <a:rPr lang="en-US" altLang="ko-KR" sz="1800" b="0" dirty="0">
                <a:latin typeface="+mn-ea"/>
              </a:rPr>
              <a:t>(.obj) + </a:t>
            </a:r>
            <a:r>
              <a:rPr lang="ko-KR" altLang="en-US" sz="1800" b="0" dirty="0">
                <a:latin typeface="+mn-ea"/>
              </a:rPr>
              <a:t>정적 라이브러리 결합 </a:t>
            </a:r>
            <a:r>
              <a:rPr lang="ko-KR" altLang="en-US" sz="1800" b="0" dirty="0"/>
              <a:t>→</a:t>
            </a:r>
            <a:r>
              <a:rPr lang="en-US" altLang="ko-KR" sz="1800" b="0" dirty="0">
                <a:latin typeface="+mn-ea"/>
              </a:rPr>
              <a:t> </a:t>
            </a:r>
            <a:r>
              <a:rPr lang="ko-KR" altLang="en-US" sz="1800" b="0" dirty="0">
                <a:latin typeface="+mn-ea"/>
              </a:rPr>
              <a:t>실행 프로그램</a:t>
            </a:r>
            <a:r>
              <a:rPr lang="en-US" altLang="ko-KR" sz="1800" b="0" dirty="0">
                <a:latin typeface="+mn-ea"/>
              </a:rPr>
              <a:t>(.exe) </a:t>
            </a:r>
            <a:r>
              <a:rPr lang="ko-KR" altLang="en-US" sz="1800" b="0" dirty="0">
                <a:latin typeface="+mn-ea"/>
              </a:rPr>
              <a:t>생성</a:t>
            </a:r>
            <a:endParaRPr lang="en-US" altLang="ko-KR" sz="1800" b="0" dirty="0">
              <a:latin typeface="+mn-ea"/>
            </a:endParaRPr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정적 링크</a:t>
            </a:r>
            <a:r>
              <a:rPr lang="en-US" altLang="ko-KR" sz="2000" b="0" dirty="0"/>
              <a:t>(Static Linking)</a:t>
            </a:r>
          </a:p>
          <a:p>
            <a:pPr lvl="1"/>
            <a:r>
              <a:rPr lang="ko-KR" altLang="en-US" sz="1800" b="0" dirty="0"/>
              <a:t>프로그램 실행에 필요한 외부 코드</a:t>
            </a:r>
            <a:r>
              <a:rPr lang="en-US" altLang="ko-KR" sz="1800" b="0" dirty="0"/>
              <a:t>(</a:t>
            </a:r>
            <a:r>
              <a:rPr lang="ko-KR" altLang="en-US" sz="1800" b="0" dirty="0"/>
              <a:t>라이브러리</a:t>
            </a:r>
            <a:r>
              <a:rPr lang="en-US" altLang="ko-KR" sz="1800" b="0" dirty="0"/>
              <a:t>)</a:t>
            </a:r>
            <a:r>
              <a:rPr lang="ko-KR" altLang="en-US" sz="1800" b="0" dirty="0"/>
              <a:t>를 실행 파일 내부에 포함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심볼 해결</a:t>
            </a:r>
            <a:r>
              <a:rPr lang="en-US" altLang="ko-KR" sz="2000" b="0" dirty="0"/>
              <a:t>(Symbol Resolution)</a:t>
            </a:r>
          </a:p>
          <a:p>
            <a:pPr lvl="1"/>
            <a:r>
              <a:rPr lang="ko-KR" altLang="en-US" sz="1800" b="0" dirty="0"/>
              <a:t>함수와 변수의 정의와 참조가 올바르게 연결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주소 재배치</a:t>
            </a:r>
            <a:r>
              <a:rPr lang="en-US" altLang="ko-KR" sz="2000" b="0" dirty="0"/>
              <a:t>(Relocation)</a:t>
            </a:r>
          </a:p>
          <a:p>
            <a:pPr lvl="1"/>
            <a:r>
              <a:rPr lang="ko-KR" altLang="en-US" sz="1800" b="0" dirty="0"/>
              <a:t>프로그램이 메모리에 배치될 때 실제 주소로 수정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동적 링크 정보 저장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실행 시 필요한 동적 라이브러리 정보를 실행 파일에 기록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링크 타임 최적화</a:t>
            </a:r>
            <a:r>
              <a:rPr lang="en-US" altLang="ko-KR" sz="2000" b="0" dirty="0"/>
              <a:t>(LTO)</a:t>
            </a:r>
          </a:p>
          <a:p>
            <a:pPr lvl="1"/>
            <a:r>
              <a:rPr lang="ko-KR" altLang="en-US" sz="1800" b="0" dirty="0"/>
              <a:t>불필요한 연산 제거 및 코드 실행 효율 개선</a:t>
            </a:r>
            <a:endParaRPr lang="en-US" altLang="ko-KR" sz="1800" b="0" dirty="0"/>
          </a:p>
          <a:p>
            <a:endParaRPr lang="ko-KR" altLang="en-US" sz="24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77E95D-F0DC-AE05-1478-9F0E9AC31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31996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71D9-F25E-A219-051D-5EDA3ADB9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30194-C45F-3C20-0FEE-BDB55732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2.5.3.1 Static Linking vs Dynamic Linking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2AD02A-12C4-B0BA-BA8A-AA3342775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Static Linking</a:t>
            </a:r>
          </a:p>
          <a:p>
            <a:pPr lvl="1"/>
            <a:r>
              <a:rPr lang="ko-KR" altLang="en-US" sz="2000" b="0" dirty="0"/>
              <a:t>빌드 시 링크 </a:t>
            </a:r>
            <a:endParaRPr lang="en-US" altLang="ko-KR" sz="2000" b="0" dirty="0"/>
          </a:p>
          <a:p>
            <a:pPr lvl="1"/>
            <a:r>
              <a:rPr lang="ko-KR" altLang="en-US" sz="2000" b="0" dirty="0"/>
              <a:t>라이브러리 코드가 실행 파일에 포함</a:t>
            </a:r>
          </a:p>
          <a:p>
            <a:pPr lvl="1"/>
            <a:r>
              <a:rPr lang="ko-KR" altLang="en-US" sz="2000" b="0" dirty="0"/>
              <a:t>실행 파일 크기 증가</a:t>
            </a:r>
          </a:p>
          <a:p>
            <a:pPr lvl="1"/>
            <a:r>
              <a:rPr lang="ko-KR" altLang="en-US" sz="2000" b="0" dirty="0"/>
              <a:t>배포 간단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ko-KR" altLang="en-US" sz="2400" b="0" dirty="0" err="1"/>
              <a:t>링커에</a:t>
            </a:r>
            <a:r>
              <a:rPr lang="ko-KR" altLang="en-US" sz="2400" b="0" dirty="0"/>
              <a:t> 라이브러리 추가 방법</a:t>
            </a:r>
          </a:p>
          <a:p>
            <a:pPr lvl="1"/>
            <a:r>
              <a:rPr lang="en-US" altLang="ko-KR" sz="2000" b="0" dirty="0"/>
              <a:t>Windows</a:t>
            </a:r>
          </a:p>
          <a:p>
            <a:pPr lvl="2"/>
            <a:r>
              <a:rPr lang="en-US" altLang="ko-KR" sz="1600" b="0" dirty="0"/>
              <a:t>pragma Directive </a:t>
            </a:r>
            <a:r>
              <a:rPr lang="ko-KR" altLang="en-US" sz="1600" b="0" dirty="0"/>
              <a:t>사용</a:t>
            </a:r>
          </a:p>
          <a:p>
            <a:pPr lvl="3"/>
            <a:r>
              <a:rPr lang="en-US" altLang="ko-KR" sz="1400" b="0" dirty="0"/>
              <a:t>#pragma comment(lib, "xxx.lib")</a:t>
            </a:r>
          </a:p>
          <a:p>
            <a:pPr lvl="2"/>
            <a:r>
              <a:rPr lang="en-US" altLang="ko-KR" sz="1600" b="0" dirty="0"/>
              <a:t>Visual Studio </a:t>
            </a:r>
            <a:r>
              <a:rPr lang="ko-KR" altLang="en-US" sz="1600" b="0" dirty="0"/>
              <a:t>프로젝트 설정</a:t>
            </a:r>
            <a:endParaRPr lang="en-US" altLang="ko-KR" sz="1600" b="0" dirty="0"/>
          </a:p>
          <a:p>
            <a:pPr lvl="2"/>
            <a:endParaRPr lang="en-US" altLang="ko-KR" sz="1600" b="0" dirty="0"/>
          </a:p>
          <a:p>
            <a:pPr lvl="2"/>
            <a:endParaRPr lang="en-US" altLang="ko-KR" sz="1600" b="0" dirty="0"/>
          </a:p>
          <a:p>
            <a:pPr lvl="2"/>
            <a:endParaRPr lang="ko-KR" altLang="en-US" sz="1600" b="0" dirty="0"/>
          </a:p>
          <a:p>
            <a:pPr lvl="1"/>
            <a:r>
              <a:rPr lang="en-US" altLang="ko-KR" sz="2000" b="0" dirty="0"/>
              <a:t>Android</a:t>
            </a:r>
          </a:p>
          <a:p>
            <a:pPr lvl="2"/>
            <a:r>
              <a:rPr lang="en-US" altLang="ko-KR" sz="1600" b="0" dirty="0"/>
              <a:t>.</a:t>
            </a:r>
            <a:r>
              <a:rPr lang="en-US" altLang="ko-KR" sz="1600" b="0" dirty="0" err="1"/>
              <a:t>mk</a:t>
            </a:r>
            <a:r>
              <a:rPr lang="en-US" altLang="ko-KR" sz="1600" b="0" dirty="0"/>
              <a:t> </a:t>
            </a:r>
            <a:r>
              <a:rPr lang="ko-KR" altLang="en-US" sz="1600" b="0" dirty="0"/>
              <a:t>파일</a:t>
            </a:r>
            <a:r>
              <a:rPr lang="en-US" altLang="ko-KR" sz="1600" b="0" dirty="0"/>
              <a:t>: LOCAL_STATIC_LIBRARIES := </a:t>
            </a:r>
            <a:r>
              <a:rPr lang="en-US" altLang="ko-KR" sz="1600" b="0" dirty="0" err="1"/>
              <a:t>libmath</a:t>
            </a:r>
            <a:endParaRPr lang="ko-KR" altLang="en-US" sz="22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E8D516-9B4F-1634-3466-DF0A1C85C7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EC6FBE7-91BD-17C5-7F97-A932F67D1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4653136"/>
            <a:ext cx="5438095" cy="6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457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CD124-7A4E-0FCD-C4A3-CC4061F51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4B05C-052C-2C52-BC28-91C529DA4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2.5.3.1 Static Linking vs Dynamic Linking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24A704-60C7-B343-A3A4-0BECF5B3C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Dynamic Linking</a:t>
            </a:r>
          </a:p>
          <a:p>
            <a:pPr lvl="1"/>
            <a:r>
              <a:rPr lang="ko-KR" altLang="en-US" sz="2000" b="0" dirty="0"/>
              <a:t>실행 시 링크</a:t>
            </a:r>
            <a:endParaRPr lang="en-US" altLang="ko-KR" sz="2000" b="0" dirty="0"/>
          </a:p>
          <a:p>
            <a:pPr lvl="1"/>
            <a:r>
              <a:rPr lang="ko-KR" altLang="en-US" sz="2000" b="0" dirty="0"/>
              <a:t>실행 시 </a:t>
            </a:r>
            <a:r>
              <a:rPr lang="en-US" altLang="ko-KR" sz="2000" b="0" dirty="0"/>
              <a:t>DLL/Shared Library </a:t>
            </a:r>
            <a:r>
              <a:rPr lang="ko-KR" altLang="en-US" sz="2000" b="0" dirty="0"/>
              <a:t>를 로드</a:t>
            </a:r>
          </a:p>
          <a:p>
            <a:pPr lvl="1"/>
            <a:r>
              <a:rPr lang="ko-KR" altLang="en-US" sz="2000" b="0" dirty="0"/>
              <a:t>실행 파일 크기 작음</a:t>
            </a:r>
          </a:p>
          <a:p>
            <a:pPr lvl="1"/>
            <a:r>
              <a:rPr lang="ko-KR" altLang="en-US" sz="2000" b="0" dirty="0"/>
              <a:t>여러 프로그램이 라이브러리 공유</a:t>
            </a:r>
            <a:endParaRPr lang="en-US" altLang="ko-KR" sz="2000" b="0" dirty="0"/>
          </a:p>
          <a:p>
            <a:pPr lvl="3"/>
            <a:endParaRPr lang="en-US" altLang="ko-KR" sz="1400" b="0" dirty="0"/>
          </a:p>
          <a:p>
            <a:r>
              <a:rPr lang="ko-KR" altLang="en-US" sz="2400" b="0" dirty="0"/>
              <a:t>암시적 동적 </a:t>
            </a:r>
            <a:r>
              <a:rPr lang="ko-KR" altLang="en-US" sz="2400" b="0" dirty="0" err="1"/>
              <a:t>링킹</a:t>
            </a:r>
            <a:r>
              <a:rPr lang="ko-KR" altLang="en-US" sz="2400" b="0" dirty="0"/>
              <a:t> </a:t>
            </a:r>
            <a:r>
              <a:rPr lang="en-US" altLang="ko-KR" sz="2400" b="0" dirty="0"/>
              <a:t>(Implicit Linking)</a:t>
            </a:r>
          </a:p>
          <a:p>
            <a:pPr lvl="1"/>
            <a:r>
              <a:rPr lang="ko-KR" altLang="en-US" sz="2000" b="0" dirty="0"/>
              <a:t>프로그램 시작 시 </a:t>
            </a:r>
            <a:r>
              <a:rPr lang="en-US" altLang="ko-KR" sz="2000" b="0" dirty="0"/>
              <a:t>OS</a:t>
            </a:r>
            <a:r>
              <a:rPr lang="ko-KR" altLang="en-US" sz="2000" b="0" dirty="0"/>
              <a:t>가 </a:t>
            </a:r>
            <a:r>
              <a:rPr lang="en-US" altLang="ko-KR" sz="2000" b="0" dirty="0"/>
              <a:t>DLL</a:t>
            </a:r>
            <a:r>
              <a:rPr lang="ko-KR" altLang="en-US" sz="2000" b="0" dirty="0"/>
              <a:t>을 자동 로드</a:t>
            </a:r>
          </a:p>
          <a:p>
            <a:pPr lvl="1"/>
            <a:r>
              <a:rPr lang="ko-KR" altLang="en-US" sz="2000" b="0" dirty="0"/>
              <a:t>실행 파일의 </a:t>
            </a:r>
            <a:r>
              <a:rPr lang="en-US" altLang="ko-KR" sz="2000" b="0" dirty="0"/>
              <a:t>Import Table</a:t>
            </a:r>
            <a:r>
              <a:rPr lang="ko-KR" altLang="en-US" sz="2000" b="0" dirty="0"/>
              <a:t>을 이용</a:t>
            </a:r>
          </a:p>
          <a:p>
            <a:pPr lvl="3"/>
            <a:endParaRPr lang="en-US" altLang="ko-KR" sz="1400" b="0" dirty="0"/>
          </a:p>
          <a:p>
            <a:r>
              <a:rPr lang="ko-KR" altLang="en-US" sz="2400" b="0" dirty="0"/>
              <a:t>명시적 동적 </a:t>
            </a:r>
            <a:r>
              <a:rPr lang="ko-KR" altLang="en-US" sz="2400" b="0" dirty="0" err="1"/>
              <a:t>링킹</a:t>
            </a:r>
            <a:r>
              <a:rPr lang="ko-KR" altLang="en-US" sz="2400" b="0" dirty="0"/>
              <a:t> </a:t>
            </a:r>
            <a:r>
              <a:rPr lang="en-US" altLang="ko-KR" sz="2400" b="0" dirty="0"/>
              <a:t>(Explicit Linking)</a:t>
            </a:r>
          </a:p>
          <a:p>
            <a:pPr lvl="1"/>
            <a:r>
              <a:rPr lang="ko-KR" altLang="en-US" sz="2000" b="0" dirty="0"/>
              <a:t>프로그램이 직접 </a:t>
            </a:r>
            <a:r>
              <a:rPr lang="en-US" altLang="ko-KR" sz="2000" b="0" dirty="0"/>
              <a:t>DLL/Shared Library </a:t>
            </a:r>
            <a:r>
              <a:rPr lang="ko-KR" altLang="en-US" sz="2000" b="0" dirty="0"/>
              <a:t>를 로드</a:t>
            </a:r>
            <a:endParaRPr lang="en-US" altLang="ko-KR" sz="2000" b="0" dirty="0"/>
          </a:p>
          <a:p>
            <a:pPr lvl="1"/>
            <a:r>
              <a:rPr lang="en-US" altLang="ko-KR" sz="2000" b="0" dirty="0"/>
              <a:t>Windows</a:t>
            </a:r>
            <a:endParaRPr lang="ko-KR" altLang="en-US" sz="2000" b="0" dirty="0"/>
          </a:p>
          <a:p>
            <a:pPr lvl="2"/>
            <a:r>
              <a:rPr lang="en-US" altLang="ko-KR" sz="1600" b="0" dirty="0" err="1"/>
              <a:t>LoadLibrary</a:t>
            </a:r>
            <a:r>
              <a:rPr lang="en-US" altLang="ko-KR" sz="1600" b="0" dirty="0"/>
              <a:t>("xxx.dll");</a:t>
            </a:r>
          </a:p>
          <a:p>
            <a:pPr lvl="1"/>
            <a:r>
              <a:rPr lang="en-US" altLang="ko-KR" sz="2000" b="0" dirty="0"/>
              <a:t>NDK/IOS</a:t>
            </a:r>
          </a:p>
          <a:p>
            <a:pPr lvl="2"/>
            <a:r>
              <a:rPr lang="en-US" altLang="ko-KR" sz="1200" b="0" dirty="0" err="1"/>
              <a:t>dlopen</a:t>
            </a:r>
            <a:r>
              <a:rPr lang="en-US" altLang="ko-KR" sz="1200" b="0" dirty="0"/>
              <a:t>("libxxx.so", RTLD_LAZY)</a:t>
            </a:r>
            <a:endParaRPr lang="ko-KR" altLang="en-US" sz="12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CE416B-4FB1-6F95-702B-5BD180840C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31678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C205B-44CE-2649-7218-E5CEA7D6E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2.5.4 Windows </a:t>
            </a:r>
            <a:r>
              <a:rPr lang="ko-KR" altLang="en-US" b="0" dirty="0"/>
              <a:t>빌드 완성 </a:t>
            </a:r>
            <a:r>
              <a:rPr lang="en-US" altLang="ko-KR" b="0" dirty="0"/>
              <a:t>(Final Build)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1CC1DD-FFC0-1E7F-165D-21718F611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b="0" dirty="0"/>
              <a:t>빌드</a:t>
            </a:r>
            <a:r>
              <a:rPr lang="en-US" altLang="ko-KR" sz="1800" b="0" dirty="0"/>
              <a:t>(Build)</a:t>
            </a:r>
          </a:p>
          <a:p>
            <a:pPr lvl="1"/>
            <a:r>
              <a:rPr lang="ko-KR" altLang="en-US" sz="1600" b="0" dirty="0" err="1"/>
              <a:t>전처리</a:t>
            </a:r>
            <a:r>
              <a:rPr lang="ko-KR" altLang="en-US" sz="1600" b="0" dirty="0"/>
              <a:t> → 컴파일 → 링크 → </a:t>
            </a:r>
            <a:r>
              <a:rPr lang="en-US" altLang="ko-KR" sz="1600" b="0" dirty="0"/>
              <a:t>exe</a:t>
            </a:r>
            <a:endParaRPr lang="ko-KR" altLang="en-US" sz="1600" b="0" dirty="0"/>
          </a:p>
          <a:p>
            <a:pPr lvl="1"/>
            <a:r>
              <a:rPr lang="ko-KR" altLang="en-US" sz="1600" b="0" dirty="0"/>
              <a:t>실행 가능한 프로그램 생성</a:t>
            </a:r>
          </a:p>
          <a:p>
            <a:endParaRPr lang="ko-KR" altLang="en-US" sz="1800" b="0" dirty="0"/>
          </a:p>
          <a:p>
            <a:r>
              <a:rPr lang="ko-KR" altLang="en-US" sz="1800" b="0" dirty="0"/>
              <a:t>빌드에 포함되는 요소</a:t>
            </a:r>
          </a:p>
          <a:p>
            <a:pPr lvl="1"/>
            <a:r>
              <a:rPr lang="ko-KR" altLang="en-US" sz="1600" b="0" dirty="0"/>
              <a:t>소스 코드</a:t>
            </a:r>
          </a:p>
          <a:p>
            <a:pPr lvl="1"/>
            <a:r>
              <a:rPr lang="ko-KR" altLang="en-US" sz="1600" b="0" dirty="0"/>
              <a:t>라이브러리</a:t>
            </a:r>
          </a:p>
          <a:p>
            <a:pPr lvl="1"/>
            <a:r>
              <a:rPr lang="ko-KR" altLang="en-US" sz="1600" b="0" dirty="0"/>
              <a:t>리소스</a:t>
            </a:r>
            <a:r>
              <a:rPr lang="en-US" altLang="ko-KR" sz="1600" b="0" dirty="0"/>
              <a:t>(</a:t>
            </a:r>
            <a:r>
              <a:rPr lang="ko-KR" altLang="en-US" sz="1600" b="0" dirty="0"/>
              <a:t>이미지</a:t>
            </a:r>
            <a:r>
              <a:rPr lang="en-US" altLang="ko-KR" sz="1600" b="0" dirty="0"/>
              <a:t>, </a:t>
            </a:r>
            <a:r>
              <a:rPr lang="ko-KR" altLang="en-US" sz="1600" b="0" dirty="0"/>
              <a:t>폰트</a:t>
            </a:r>
            <a:r>
              <a:rPr lang="en-US" altLang="ko-KR" sz="1600" b="0" dirty="0"/>
              <a:t>, </a:t>
            </a:r>
            <a:r>
              <a:rPr lang="ko-KR" altLang="en-US" sz="1600" b="0" dirty="0"/>
              <a:t>사운드 등</a:t>
            </a:r>
            <a:r>
              <a:rPr lang="en-US" altLang="ko-KR" sz="1600" b="0" dirty="0"/>
              <a:t>)</a:t>
            </a:r>
          </a:p>
          <a:p>
            <a:endParaRPr lang="en-US" altLang="ko-KR" sz="1800" b="0" dirty="0"/>
          </a:p>
          <a:p>
            <a:r>
              <a:rPr lang="en-US" altLang="ko-KR" sz="1800" b="0" dirty="0"/>
              <a:t>Windows </a:t>
            </a:r>
            <a:r>
              <a:rPr lang="ko-KR" altLang="en-US" sz="1800" b="0" dirty="0"/>
              <a:t>리소스 처리</a:t>
            </a:r>
          </a:p>
          <a:p>
            <a:pPr lvl="1"/>
            <a:r>
              <a:rPr lang="en-US" altLang="ko-KR" sz="1600" b="0" dirty="0"/>
              <a:t>.</a:t>
            </a:r>
            <a:r>
              <a:rPr lang="en-US" altLang="ko-KR" sz="1600" b="0" dirty="0" err="1"/>
              <a:t>rc</a:t>
            </a:r>
            <a:r>
              <a:rPr lang="en-US" altLang="ko-KR" sz="1600" b="0" dirty="0"/>
              <a:t> → .res → </a:t>
            </a:r>
            <a:r>
              <a:rPr lang="ko-KR" altLang="en-US" sz="1600" b="0" dirty="0"/>
              <a:t>실행 파일 포함</a:t>
            </a:r>
          </a:p>
          <a:p>
            <a:endParaRPr lang="ko-KR" altLang="en-US" sz="1800" b="0" dirty="0"/>
          </a:p>
          <a:p>
            <a:r>
              <a:rPr lang="ko-KR" altLang="en-US" sz="1800" b="0" dirty="0"/>
              <a:t>결과</a:t>
            </a:r>
          </a:p>
          <a:p>
            <a:pPr lvl="1"/>
            <a:r>
              <a:rPr lang="en-US" altLang="ko-KR" sz="1600" b="0" dirty="0"/>
              <a:t>.exe + </a:t>
            </a:r>
            <a:r>
              <a:rPr lang="ko-KR" altLang="en-US" sz="1600" b="0" dirty="0"/>
              <a:t>실행 리소스</a:t>
            </a:r>
            <a:endParaRPr lang="ko-KR" altLang="en-US" sz="20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D92036-E3E6-C664-9129-88A4DD1828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42453A8-5592-E02F-F3C9-1F6900078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6379" y="908720"/>
            <a:ext cx="4996426" cy="432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734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6DDBDF-A70F-A452-70F4-D83CCA1D4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2.5.4.1 Visual Studio </a:t>
            </a:r>
            <a:r>
              <a:rPr lang="ko-KR" altLang="en-US" b="0" dirty="0"/>
              <a:t>기능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A332E-A6AE-3841-D022-27FCB5693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IDE (Integrated Development Environment)</a:t>
            </a:r>
          </a:p>
          <a:p>
            <a:pPr lvl="1"/>
            <a:r>
              <a:rPr lang="ko-KR" altLang="en-US" b="0" dirty="0"/>
              <a:t>소스 코드 작성</a:t>
            </a:r>
            <a:r>
              <a:rPr lang="en-US" altLang="ko-KR" b="0" dirty="0"/>
              <a:t>, </a:t>
            </a:r>
            <a:r>
              <a:rPr lang="ko-KR" altLang="en-US" b="0" dirty="0"/>
              <a:t>컴파일</a:t>
            </a:r>
            <a:r>
              <a:rPr lang="en-US" altLang="ko-KR" b="0" dirty="0"/>
              <a:t>, </a:t>
            </a:r>
            <a:r>
              <a:rPr lang="ko-KR" altLang="en-US" b="0" dirty="0"/>
              <a:t>디버깅 등을 하나의 환경에서 수행할 수 있는 개발 도구</a:t>
            </a:r>
            <a:endParaRPr lang="en-US" altLang="ko-KR" b="0" dirty="0"/>
          </a:p>
          <a:p>
            <a:pPr lvl="1"/>
            <a:r>
              <a:rPr lang="en-US" altLang="ko-KR" b="0" dirty="0"/>
              <a:t>Editor</a:t>
            </a:r>
            <a:r>
              <a:rPr lang="ko-KR" altLang="en-US" b="0" dirty="0"/>
              <a:t> </a:t>
            </a:r>
            <a:r>
              <a:rPr lang="en-US" altLang="ko-KR" b="0" dirty="0"/>
              <a:t>+</a:t>
            </a:r>
            <a:r>
              <a:rPr lang="ko-KR" altLang="en-US" b="0" dirty="0"/>
              <a:t> 전처리기 </a:t>
            </a:r>
            <a:r>
              <a:rPr lang="en-US" altLang="ko-KR" b="0" dirty="0"/>
              <a:t>+ </a:t>
            </a:r>
            <a:r>
              <a:rPr lang="ko-KR" altLang="en-US" b="0" dirty="0"/>
              <a:t>컴파일러 </a:t>
            </a:r>
            <a:r>
              <a:rPr lang="en-US" altLang="ko-KR" b="0" dirty="0"/>
              <a:t>+ </a:t>
            </a:r>
            <a:r>
              <a:rPr lang="ko-KR" altLang="en-US" b="0" dirty="0"/>
              <a:t>링크 </a:t>
            </a:r>
            <a:r>
              <a:rPr lang="en-US" altLang="ko-KR" b="0" dirty="0"/>
              <a:t>+ </a:t>
            </a:r>
            <a:r>
              <a:rPr lang="ko-KR" altLang="en-US" b="0" dirty="0"/>
              <a:t>디버깅 기능</a:t>
            </a:r>
            <a:endParaRPr lang="en-US" altLang="ko-KR" b="0" dirty="0"/>
          </a:p>
          <a:p>
            <a:pPr lvl="1"/>
            <a:endParaRPr lang="ko-KR" altLang="en-US" b="0" dirty="0"/>
          </a:p>
          <a:p>
            <a:r>
              <a:rPr lang="en-US" altLang="ko-KR" b="0" dirty="0"/>
              <a:t>Visual studio </a:t>
            </a:r>
            <a:r>
              <a:rPr lang="ko-KR" altLang="en-US" b="0" dirty="0"/>
              <a:t>솔루션 빌드 </a:t>
            </a:r>
            <a:r>
              <a:rPr lang="en-US" altLang="ko-KR" b="0" dirty="0"/>
              <a:t>/ </a:t>
            </a:r>
            <a:r>
              <a:rPr lang="ko-KR" altLang="en-US" b="0" dirty="0"/>
              <a:t>컴파일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175E74-DA15-F202-00FE-FBFA9CAC58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0E2D9A1-9088-C2AA-D2DF-B32A2BC350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501721"/>
            <a:ext cx="3445947" cy="2989387"/>
          </a:xfrm>
          <a:prstGeom prst="rect">
            <a:avLst/>
          </a:prstGeom>
          <a:noFill/>
          <a:ln w="34925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4623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F0C162-AB53-84B7-3FEC-973A34CCC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2.6 </a:t>
            </a:r>
            <a:r>
              <a:rPr lang="ko-KR" altLang="en-US" b="0" dirty="0"/>
              <a:t>주석</a:t>
            </a:r>
            <a:r>
              <a:rPr lang="en-US" altLang="ko-KR" b="0" dirty="0"/>
              <a:t>(Comment)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C6A5BA-FED3-C68F-D719-A4249283D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주석</a:t>
            </a:r>
            <a:endParaRPr lang="en-US" altLang="ko-KR" b="0" dirty="0"/>
          </a:p>
          <a:p>
            <a:pPr lvl="1"/>
            <a:r>
              <a:rPr lang="ko-KR" altLang="en-US" b="0" dirty="0"/>
              <a:t>프로그램에 대한 설명을 작성하는 문장</a:t>
            </a:r>
            <a:endParaRPr lang="en-US" altLang="ko-KR" b="0" dirty="0"/>
          </a:p>
          <a:p>
            <a:pPr lvl="1"/>
            <a:r>
              <a:rPr lang="ko-KR" altLang="en-US" b="0" dirty="0"/>
              <a:t>코드 의도 설명 → 가독성 및 유지보수 향상</a:t>
            </a:r>
          </a:p>
          <a:p>
            <a:pPr lvl="1"/>
            <a:r>
              <a:rPr lang="ko-KR" altLang="en-US" b="0" dirty="0"/>
              <a:t>컴파일러는 주석을 무시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라인 주석 </a:t>
            </a:r>
            <a:r>
              <a:rPr lang="en-US" altLang="ko-KR" b="0" dirty="0"/>
              <a:t>(Line Comment)</a:t>
            </a:r>
          </a:p>
          <a:p>
            <a:pPr lvl="1"/>
            <a:r>
              <a:rPr lang="ko-KR" altLang="en-US" b="0" dirty="0"/>
              <a:t>한 줄 주석</a:t>
            </a:r>
            <a:endParaRPr lang="en-US" altLang="ko-KR" b="0" dirty="0"/>
          </a:p>
          <a:p>
            <a:pPr lvl="1"/>
            <a:r>
              <a:rPr lang="en-US" altLang="ko-KR" b="0" dirty="0"/>
              <a:t>// </a:t>
            </a:r>
            <a:r>
              <a:rPr lang="ko-KR" altLang="en-US" b="0" dirty="0"/>
              <a:t>로 시작</a:t>
            </a:r>
            <a:endParaRPr lang="en-US" altLang="ko-KR" b="0" dirty="0"/>
          </a:p>
          <a:p>
            <a:pPr lvl="1"/>
            <a:endParaRPr lang="en-US" altLang="ko-KR" b="0" dirty="0"/>
          </a:p>
          <a:p>
            <a:r>
              <a:rPr lang="ko-KR" altLang="en-US" b="0" dirty="0"/>
              <a:t>블록 주석</a:t>
            </a:r>
            <a:r>
              <a:rPr lang="en-US" altLang="ko-KR" b="0" dirty="0"/>
              <a:t>(Block Comment)</a:t>
            </a:r>
          </a:p>
          <a:p>
            <a:pPr lvl="1"/>
            <a:r>
              <a:rPr lang="ko-KR" altLang="en-US" b="0" dirty="0"/>
              <a:t>여러 줄 주석</a:t>
            </a:r>
            <a:endParaRPr lang="en-US" altLang="ko-KR" b="0" dirty="0"/>
          </a:p>
          <a:p>
            <a:pPr lvl="1"/>
            <a:r>
              <a:rPr lang="en-US" altLang="ko-KR" b="0" dirty="0"/>
              <a:t>/* </a:t>
            </a:r>
            <a:r>
              <a:rPr lang="ko-KR" altLang="en-US" b="0" dirty="0"/>
              <a:t>로 시작</a:t>
            </a:r>
            <a:r>
              <a:rPr lang="en-US" altLang="ko-KR" b="0" dirty="0"/>
              <a:t>, */</a:t>
            </a:r>
            <a:r>
              <a:rPr lang="ko-KR" altLang="en-US" b="0" dirty="0"/>
              <a:t>로</a:t>
            </a:r>
            <a:r>
              <a:rPr lang="en-US" altLang="ko-KR" b="0" dirty="0"/>
              <a:t> </a:t>
            </a:r>
            <a:r>
              <a:rPr lang="ko-KR" altLang="en-US" b="0" dirty="0"/>
              <a:t>종결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B0A921-55B7-B84E-40E0-06A8D18844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23774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0F4C-5A64-FDF5-0083-BE2D48CF9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03087-B906-A525-FE3F-9873F19C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2.6 </a:t>
            </a:r>
            <a:r>
              <a:rPr lang="ko-KR" altLang="en-US" b="0" dirty="0"/>
              <a:t>주석</a:t>
            </a:r>
            <a:r>
              <a:rPr lang="en-US" altLang="ko-KR" b="0" dirty="0"/>
              <a:t>(Comment)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7B4142-B19B-5691-6244-DA78D015D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라인 주석 예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ko-KR" altLang="en-US" dirty="0"/>
              <a:t>블록 주석 예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1FE1BC-3B55-CBEB-48CF-27AAFCD34A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B5627-2AB2-A2B2-4945-979ED2EDCF3B}"/>
              </a:ext>
            </a:extLst>
          </p:cNvPr>
          <p:cNvSpPr txBox="1"/>
          <p:nvPr/>
        </p:nvSpPr>
        <p:spPr>
          <a:xfrm>
            <a:off x="899592" y="1268760"/>
            <a:ext cx="6552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이력서를 출력해 봅시다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endParaRPr lang="en-US" altLang="ko-KR" sz="1800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자기 소개서를 작성 해봅시다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C22AAB-1BEE-5F62-E864-E6CD384212D0}"/>
              </a:ext>
            </a:extLst>
          </p:cNvPr>
          <p:cNvSpPr txBox="1"/>
          <p:nvPr/>
        </p:nvSpPr>
        <p:spPr>
          <a:xfrm>
            <a:off x="899592" y="3212976"/>
            <a:ext cx="64807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여러 줄에 걸쳐 설명을 작성할 수 있는 주석입니다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프로그램의 기능이나 중요한 내용을 문서화할 때 사용됩니다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라인 주석이 있어도 됩니다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*/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239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83490-B52E-5EBC-1797-A9FA8293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 </a:t>
            </a:r>
            <a:r>
              <a:rPr lang="ko-KR" altLang="en-US" b="0" dirty="0"/>
              <a:t>프로그램 구성 요소와 기본 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E21846-87B1-272E-8DA1-650BC0E24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이력서</a:t>
            </a:r>
            <a:r>
              <a:rPr lang="en-US" altLang="ko-KR" dirty="0"/>
              <a:t> </a:t>
            </a:r>
            <a:r>
              <a:rPr lang="ko-KR" altLang="en-US" dirty="0"/>
              <a:t>예제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CF9E95-DC9B-C64A-0B0A-D4B5DF2810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008A3E-DE98-715C-D260-A8DF993A294A}"/>
              </a:ext>
            </a:extLst>
          </p:cNvPr>
          <p:cNvSpPr txBox="1"/>
          <p:nvPr/>
        </p:nvSpPr>
        <p:spPr>
          <a:xfrm>
            <a:off x="323528" y="1628800"/>
            <a:ext cx="8640960" cy="4247317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8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"++++++++++++++++++++++++++++++++++++++++++++++++\n"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이력서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"++++++++++++++++++++++++++++++++++++++++++++++++\n"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성  명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오세명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나  이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주  소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서울시 </a:t>
            </a:r>
            <a:r>
              <a:rPr lang="ko-KR" altLang="en-US" sz="18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개발구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8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게임동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%s-%s-%s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"010"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"1245"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"6789"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413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68044-5E33-1A2F-DE1A-F3856639C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2.7.1 </a:t>
            </a:r>
            <a:r>
              <a:rPr lang="ko-KR" altLang="en-US" b="0" dirty="0" err="1"/>
              <a:t>전처리</a:t>
            </a:r>
            <a:r>
              <a:rPr lang="ko-KR" altLang="en-US" b="0" dirty="0"/>
              <a:t> </a:t>
            </a:r>
            <a:r>
              <a:rPr lang="ko-KR" altLang="en-US" b="0" dirty="0" err="1"/>
              <a:t>지시문</a:t>
            </a:r>
            <a:r>
              <a:rPr lang="ko-KR" altLang="en-US" b="0" dirty="0"/>
              <a:t> </a:t>
            </a:r>
            <a:r>
              <a:rPr lang="en-US" altLang="ko-KR" b="0" dirty="0"/>
              <a:t>#include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F6885F-6A62-A402-8132-34BAD60FA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C </a:t>
            </a:r>
            <a:r>
              <a:rPr lang="ko-KR" altLang="en-US" sz="2400" b="0" dirty="0"/>
              <a:t>언어 함수 사용 규칙</a:t>
            </a:r>
            <a:endParaRPr lang="en-US" altLang="ko-KR" sz="2400" b="0" dirty="0"/>
          </a:p>
          <a:p>
            <a:pPr lvl="1"/>
            <a:r>
              <a:rPr lang="ko-KR" altLang="en-US" sz="2000" b="0" dirty="0"/>
              <a:t>함수 사용 시 함수 원형</a:t>
            </a:r>
            <a:r>
              <a:rPr lang="en-US" altLang="ko-KR" sz="2000" b="0" dirty="0"/>
              <a:t>(Function Prototype) </a:t>
            </a:r>
            <a:r>
              <a:rPr lang="ko-KR" altLang="en-US" sz="2000" b="0" dirty="0"/>
              <a:t>필요</a:t>
            </a:r>
          </a:p>
          <a:p>
            <a:pPr lvl="1"/>
            <a:r>
              <a:rPr lang="en-US" altLang="ko-KR" sz="2000" b="0" dirty="0"/>
              <a:t>#include : </a:t>
            </a:r>
            <a:r>
              <a:rPr lang="ko-KR" altLang="en-US" sz="2000" b="0" dirty="0"/>
              <a:t>함수 선언이 있는 헤더 파일</a:t>
            </a:r>
            <a:r>
              <a:rPr lang="en-US" altLang="ko-KR" sz="2000" b="0" dirty="0"/>
              <a:t>(.h) </a:t>
            </a:r>
            <a:r>
              <a:rPr lang="ko-KR" altLang="en-US" sz="2000" b="0" dirty="0"/>
              <a:t>포함</a:t>
            </a:r>
            <a:endParaRPr lang="en-US" altLang="ko-KR" sz="2000" b="0" dirty="0"/>
          </a:p>
          <a:p>
            <a:pPr lvl="2"/>
            <a:endParaRPr lang="ko-KR" altLang="en-US" sz="1600" b="0" dirty="0"/>
          </a:p>
          <a:p>
            <a:r>
              <a:rPr lang="en-US" altLang="ko-KR" sz="2400" b="0" dirty="0"/>
              <a:t>#include</a:t>
            </a:r>
          </a:p>
          <a:p>
            <a:pPr lvl="1"/>
            <a:r>
              <a:rPr lang="ko-KR" altLang="en-US" sz="2000" b="0" dirty="0"/>
              <a:t>해당 파일을 소스 코드에 포함</a:t>
            </a:r>
          </a:p>
          <a:p>
            <a:pPr lvl="1"/>
            <a:r>
              <a:rPr lang="en-US" altLang="ko-KR" sz="2000" b="0" dirty="0"/>
              <a:t>#include &lt;</a:t>
            </a:r>
            <a:r>
              <a:rPr lang="ko-KR" altLang="en-US" sz="2000" b="0" dirty="0"/>
              <a:t>파일명</a:t>
            </a:r>
            <a:r>
              <a:rPr lang="en-US" altLang="ko-KR" sz="2000" b="0" dirty="0"/>
              <a:t>&gt;</a:t>
            </a:r>
          </a:p>
          <a:p>
            <a:pPr lvl="2"/>
            <a:r>
              <a:rPr lang="ko-KR" altLang="en-US" sz="1600" b="0" dirty="0"/>
              <a:t>전처리기가 표준 라이브러리 경로에서 파일을 찾음</a:t>
            </a:r>
          </a:p>
          <a:p>
            <a:pPr lvl="1"/>
            <a:r>
              <a:rPr lang="en-US" altLang="ko-KR" sz="2000" b="0" dirty="0"/>
              <a:t>#include "</a:t>
            </a:r>
            <a:r>
              <a:rPr lang="ko-KR" altLang="en-US" sz="2000" b="0" dirty="0"/>
              <a:t>파일명</a:t>
            </a:r>
            <a:r>
              <a:rPr lang="en-US" altLang="ko-KR" sz="2000" b="0" dirty="0"/>
              <a:t>"</a:t>
            </a:r>
          </a:p>
          <a:p>
            <a:pPr lvl="2"/>
            <a:r>
              <a:rPr lang="ko-KR" altLang="en-US" sz="1600" b="0" dirty="0"/>
              <a:t>전처리기가 현재 프로젝트 폴더 또는 사용자 지정 경로에서 파일을 찾음</a:t>
            </a:r>
          </a:p>
          <a:p>
            <a:endParaRPr lang="ko-KR" altLang="en-US" sz="2400" b="0" dirty="0"/>
          </a:p>
          <a:p>
            <a:r>
              <a:rPr lang="en-US" altLang="ko-KR" sz="2400" b="0" dirty="0"/>
              <a:t>#include &lt;</a:t>
            </a:r>
            <a:r>
              <a:rPr lang="en-US" altLang="ko-KR" sz="2400" b="0" dirty="0" err="1"/>
              <a:t>stdio.h</a:t>
            </a:r>
            <a:r>
              <a:rPr lang="en-US" altLang="ko-KR" sz="2400" b="0" dirty="0"/>
              <a:t>&gt;</a:t>
            </a:r>
          </a:p>
          <a:p>
            <a:pPr lvl="1"/>
            <a:r>
              <a:rPr lang="ko-KR" altLang="en-US" sz="2000" b="0" dirty="0"/>
              <a:t>표준 라이브러리 경로의 </a:t>
            </a:r>
            <a:r>
              <a:rPr lang="en-US" altLang="ko-KR" sz="2000" b="0" dirty="0" err="1"/>
              <a:t>stdio.h</a:t>
            </a:r>
            <a:r>
              <a:rPr lang="ko-KR" altLang="en-US" sz="2000" b="0" dirty="0"/>
              <a:t>를 소스 코드에 포함</a:t>
            </a:r>
            <a:endParaRPr lang="en-US" altLang="ko-KR" sz="2000" b="0" dirty="0"/>
          </a:p>
          <a:p>
            <a:pPr lvl="1"/>
            <a:r>
              <a:rPr lang="en-US" altLang="ko-KR" sz="2000" b="0" dirty="0" err="1"/>
              <a:t>stdio.h</a:t>
            </a:r>
            <a:r>
              <a:rPr lang="en-US" altLang="ko-KR" sz="2000" b="0" dirty="0"/>
              <a:t> : </a:t>
            </a:r>
            <a:r>
              <a:rPr lang="ko-KR" altLang="en-US" sz="2000" b="0" dirty="0"/>
              <a:t>표준 입출력</a:t>
            </a:r>
            <a:r>
              <a:rPr lang="en-US" altLang="ko-KR" sz="2000" b="0" dirty="0"/>
              <a:t>(standard input output)</a:t>
            </a:r>
            <a:r>
              <a:rPr lang="ko-KR" altLang="en-US" sz="2000" b="0" dirty="0"/>
              <a:t> 헤더파일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FAEB63-8DDC-85F5-57B9-BF84987DBD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84785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82896-13AF-ADD9-37BE-8AA228E22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5C2607-E071-E35A-FB6C-ED737529B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2.7.1.1 #include "" &lt;&gt;  </a:t>
            </a:r>
            <a:r>
              <a:rPr lang="ko-KR" altLang="en-US" b="0" dirty="0"/>
              <a:t>검색 순서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45E051-D9F0-9CA5-FABA-3D84CBBDC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#include "", &lt;&gt; </a:t>
            </a:r>
            <a:r>
              <a:rPr lang="ko-KR" altLang="en-US" b="0" dirty="0"/>
              <a:t>검색 순서</a:t>
            </a:r>
          </a:p>
          <a:p>
            <a:pPr lvl="1"/>
            <a:r>
              <a:rPr lang="en-US" altLang="ko-KR" b="0" dirty="0"/>
              <a:t>#include "</a:t>
            </a:r>
            <a:r>
              <a:rPr lang="en-US" altLang="ko-KR" b="0" dirty="0" err="1"/>
              <a:t>file.h</a:t>
            </a:r>
            <a:r>
              <a:rPr lang="en-US" altLang="ko-KR" b="0" dirty="0"/>
              <a:t>"</a:t>
            </a:r>
          </a:p>
          <a:p>
            <a:pPr lvl="1"/>
            <a:r>
              <a:rPr lang="ko-KR" altLang="en-US" b="0" dirty="0"/>
              <a:t>현재 소스 파일 폴더에서 먼저 검색</a:t>
            </a:r>
          </a:p>
          <a:p>
            <a:pPr lvl="1"/>
            <a:r>
              <a:rPr lang="ko-KR" altLang="en-US" b="0" dirty="0"/>
              <a:t>없으면 표준 라이브러리 경로에서 검색</a:t>
            </a:r>
          </a:p>
          <a:p>
            <a:endParaRPr lang="ko-KR" altLang="en-US" b="0" dirty="0"/>
          </a:p>
          <a:p>
            <a:r>
              <a:rPr lang="en-US" altLang="ko-KR" b="0" dirty="0"/>
              <a:t>#include &lt;</a:t>
            </a:r>
            <a:r>
              <a:rPr lang="en-US" altLang="ko-KR" b="0" dirty="0" err="1"/>
              <a:t>file.h</a:t>
            </a:r>
            <a:r>
              <a:rPr lang="en-US" altLang="ko-KR" b="0" dirty="0"/>
              <a:t>&gt;</a:t>
            </a:r>
          </a:p>
          <a:p>
            <a:pPr lvl="1"/>
            <a:r>
              <a:rPr lang="ko-KR" altLang="en-US" b="0" dirty="0"/>
              <a:t>표준 라이브러리 경로에서 검색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B4F9C9-514C-C745-D0A1-42CFD15623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56391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50C369-4025-5E65-1DE8-D76E35459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2.7.2 </a:t>
            </a:r>
            <a:r>
              <a:rPr lang="en-US" altLang="ko-KR" b="0" dirty="0" err="1"/>
              <a:t>printf</a:t>
            </a:r>
            <a:r>
              <a:rPr lang="en-US" altLang="ko-KR" b="0" dirty="0"/>
              <a:t>()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956A8F-49AF-F2A7-A1AF-55FC15861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printf</a:t>
            </a:r>
            <a:r>
              <a:rPr lang="en-US" altLang="ko-KR" dirty="0"/>
              <a:t>()</a:t>
            </a:r>
          </a:p>
          <a:p>
            <a:pPr lvl="1"/>
            <a:r>
              <a:rPr lang="ko-KR" altLang="en-US" dirty="0"/>
              <a:t>문자열을 화면</a:t>
            </a:r>
            <a:r>
              <a:rPr lang="en-US" altLang="ko-KR" dirty="0"/>
              <a:t>(</a:t>
            </a:r>
            <a:r>
              <a:rPr lang="ko-KR" altLang="en-US" dirty="0"/>
              <a:t>콘솔</a:t>
            </a:r>
            <a:r>
              <a:rPr lang="en-US" altLang="ko-KR" dirty="0"/>
              <a:t>)</a:t>
            </a:r>
            <a:r>
              <a:rPr lang="ko-KR" altLang="en-US" dirty="0"/>
              <a:t>에 출력하는 </a:t>
            </a:r>
            <a:r>
              <a:rPr lang="en-US" altLang="ko-KR" dirty="0"/>
              <a:t>C </a:t>
            </a:r>
            <a:r>
              <a:rPr lang="ko-KR" altLang="en-US" dirty="0"/>
              <a:t>표준 라이브러리 함수</a:t>
            </a:r>
          </a:p>
          <a:p>
            <a:pPr lvl="1"/>
            <a:r>
              <a:rPr lang="ko-KR" altLang="en-US" dirty="0"/>
              <a:t>형식 지정자</a:t>
            </a:r>
            <a:r>
              <a:rPr lang="en-US" altLang="ko-KR" dirty="0"/>
              <a:t>(format specifier)</a:t>
            </a:r>
            <a:r>
              <a:rPr lang="ko-KR" altLang="en-US" dirty="0"/>
              <a:t>를 사용하여 변수 값 출력</a:t>
            </a:r>
            <a:endParaRPr lang="en-US" altLang="ko-KR" dirty="0"/>
          </a:p>
          <a:p>
            <a:pPr lvl="1"/>
            <a:r>
              <a:rPr lang="ko-KR" altLang="en-US" dirty="0"/>
              <a:t>가장 많이 사용하는 함수 중 하나로</a:t>
            </a:r>
            <a:br>
              <a:rPr lang="en-US" altLang="ko-KR" dirty="0"/>
            </a:br>
            <a:r>
              <a:rPr lang="ko-KR" altLang="en-US" dirty="0"/>
              <a:t>프로그램 상태 확인 및 디버깅에 자주 사용</a:t>
            </a:r>
          </a:p>
          <a:p>
            <a:endParaRPr lang="ko-KR" altLang="en-US" dirty="0"/>
          </a:p>
          <a:p>
            <a:r>
              <a:rPr lang="ko-KR" altLang="en-US" dirty="0"/>
              <a:t>사용 전 헤더 파일 포함</a:t>
            </a:r>
            <a:endParaRPr lang="en-US" altLang="ko-KR" dirty="0"/>
          </a:p>
          <a:p>
            <a:pPr lvl="1"/>
            <a:r>
              <a:rPr lang="en-US" altLang="ko-KR" dirty="0"/>
              <a:t>#include &lt;</a:t>
            </a:r>
            <a:r>
              <a:rPr lang="en-US" altLang="ko-KR" dirty="0" err="1"/>
              <a:t>stdio.h</a:t>
            </a:r>
            <a:r>
              <a:rPr lang="en-US" altLang="ko-KR" dirty="0"/>
              <a:t>&gt;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3E3733-6C33-3F1A-2925-25AC83FBE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98084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420577-FCE5-185D-50E5-A1D0D66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2.7.3 </a:t>
            </a:r>
            <a:r>
              <a:rPr lang="ko-KR" altLang="en-US" b="0" dirty="0"/>
              <a:t>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7DC9B-A29A-A2A8-BDC5-74EC0F06F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형식 지정자</a:t>
            </a:r>
            <a:endParaRPr lang="en-US" altLang="ko-KR" sz="2400" dirty="0"/>
          </a:p>
          <a:p>
            <a:pPr lvl="1"/>
            <a:r>
              <a:rPr lang="ko-KR" altLang="en-US" sz="2000" dirty="0"/>
              <a:t>변수 값을 지정된 형식으로 출력</a:t>
            </a:r>
            <a:endParaRPr lang="en-US" altLang="ko-KR" sz="2000" dirty="0"/>
          </a:p>
          <a:p>
            <a:pPr lvl="1"/>
            <a:r>
              <a:rPr lang="ko-KR" altLang="en-US" sz="2000" dirty="0"/>
              <a:t>형식 지정자와 인수</a:t>
            </a:r>
            <a:r>
              <a:rPr lang="en-US" altLang="ko-KR" sz="2000" dirty="0"/>
              <a:t>(argument)</a:t>
            </a:r>
            <a:r>
              <a:rPr lang="ko-KR" altLang="en-US" sz="2000" dirty="0"/>
              <a:t>의 개수는 반드시 일치</a:t>
            </a:r>
            <a:endParaRPr lang="en-US" altLang="ko-KR" sz="2000" dirty="0"/>
          </a:p>
          <a:p>
            <a:endParaRPr lang="ko-KR" altLang="en-US" sz="2400" dirty="0"/>
          </a:p>
          <a:p>
            <a:r>
              <a:rPr lang="ko-KR" altLang="en-US" sz="2400" dirty="0"/>
              <a:t>주요 형식 지정자</a:t>
            </a:r>
          </a:p>
          <a:p>
            <a:pPr lvl="1"/>
            <a:r>
              <a:rPr lang="en-US" altLang="ko-KR" sz="2000" dirty="0"/>
              <a:t>%d  : </a:t>
            </a:r>
            <a:r>
              <a:rPr lang="ko-KR" altLang="en-US" sz="2000" dirty="0"/>
              <a:t>부호 있는 정수</a:t>
            </a:r>
          </a:p>
          <a:p>
            <a:pPr lvl="1"/>
            <a:r>
              <a:rPr lang="en-US" altLang="ko-KR" sz="2000" dirty="0"/>
              <a:t>%u  : </a:t>
            </a:r>
            <a:r>
              <a:rPr lang="ko-KR" altLang="en-US" sz="2000" dirty="0"/>
              <a:t>부호 없는 정수</a:t>
            </a:r>
          </a:p>
          <a:p>
            <a:pPr lvl="1"/>
            <a:r>
              <a:rPr lang="en-US" altLang="ko-KR" sz="2000" dirty="0"/>
              <a:t>%c  : </a:t>
            </a:r>
            <a:r>
              <a:rPr lang="ko-KR" altLang="en-US" sz="2000" dirty="0"/>
              <a:t>문자</a:t>
            </a:r>
          </a:p>
          <a:p>
            <a:pPr lvl="1"/>
            <a:r>
              <a:rPr lang="en-US" altLang="ko-KR" sz="2000" dirty="0"/>
              <a:t>%s  : </a:t>
            </a:r>
            <a:r>
              <a:rPr lang="ko-KR" altLang="en-US" sz="2000" dirty="0"/>
              <a:t>문자열</a:t>
            </a:r>
          </a:p>
          <a:p>
            <a:pPr lvl="1"/>
            <a:r>
              <a:rPr lang="en-US" altLang="ko-KR" sz="2000" dirty="0"/>
              <a:t>%f  : </a:t>
            </a:r>
            <a:r>
              <a:rPr lang="ko-KR" altLang="en-US" sz="2000" dirty="0"/>
              <a:t>실수</a:t>
            </a:r>
            <a:r>
              <a:rPr lang="en-US" altLang="ko-KR" sz="2000" dirty="0"/>
              <a:t>(</a:t>
            </a:r>
            <a:r>
              <a:rPr lang="ko-KR" altLang="en-US" sz="2000" dirty="0"/>
              <a:t>부동소수점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%x  : 16</a:t>
            </a:r>
            <a:r>
              <a:rPr lang="ko-KR" altLang="en-US" sz="2000" dirty="0"/>
              <a:t>진수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a~f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%X  : 16</a:t>
            </a:r>
            <a:r>
              <a:rPr lang="ko-KR" altLang="en-US" sz="2000" dirty="0"/>
              <a:t>진수 </a:t>
            </a:r>
            <a:r>
              <a:rPr lang="en-US" altLang="ko-KR" sz="2000" dirty="0"/>
              <a:t>(A~F)</a:t>
            </a:r>
          </a:p>
          <a:p>
            <a:pPr lvl="1"/>
            <a:r>
              <a:rPr lang="en-US" altLang="ko-KR" sz="2000" dirty="0"/>
              <a:t>%p  : </a:t>
            </a:r>
            <a:r>
              <a:rPr lang="ko-KR" altLang="en-US" sz="2000" dirty="0"/>
              <a:t>주소</a:t>
            </a:r>
          </a:p>
          <a:p>
            <a:pPr lvl="1"/>
            <a:r>
              <a:rPr lang="en-US" altLang="ko-KR" sz="2000" dirty="0"/>
              <a:t>%</a:t>
            </a:r>
            <a:r>
              <a:rPr lang="en-US" altLang="ko-KR" sz="2000" dirty="0" err="1"/>
              <a:t>zu</a:t>
            </a:r>
            <a:r>
              <a:rPr lang="en-US" altLang="ko-KR" sz="2000" dirty="0"/>
              <a:t> : </a:t>
            </a:r>
            <a:r>
              <a:rPr lang="en-US" altLang="ko-KR" sz="2000" dirty="0" err="1"/>
              <a:t>size_t</a:t>
            </a:r>
            <a:r>
              <a:rPr lang="en-US" altLang="ko-KR" sz="2000" dirty="0"/>
              <a:t> (</a:t>
            </a:r>
            <a:r>
              <a:rPr lang="en-US" altLang="ko-KR" sz="2000" dirty="0" err="1"/>
              <a:t>sizeof</a:t>
            </a:r>
            <a:r>
              <a:rPr lang="en-US" altLang="ko-KR" sz="2000" dirty="0"/>
              <a:t> </a:t>
            </a:r>
            <a:r>
              <a:rPr lang="ko-KR" altLang="en-US" sz="2000" dirty="0"/>
              <a:t>결과 출력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B06C6F1-C256-DCA8-F446-0CB0515AB3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53130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5DEEE-7B07-F913-C4BF-AD45EEEB8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2.7.3 </a:t>
            </a:r>
            <a:r>
              <a:rPr lang="ko-KR" altLang="en-US" b="0" dirty="0"/>
              <a:t>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4BEF6D-5162-96A6-9A98-B7F648E86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 지정자 실수 방지 요령</a:t>
            </a:r>
            <a:endParaRPr lang="en-US" altLang="ko-KR" dirty="0"/>
          </a:p>
          <a:p>
            <a:pPr lvl="1"/>
            <a:r>
              <a:rPr lang="ko-KR" altLang="en-US" dirty="0"/>
              <a:t>포맷 문자열과 인수를 분리하여 개수 파악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011F02-477A-D739-D856-B0EAA3E617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51CF9-6D3B-32BE-3D0A-E4E5876D1722}"/>
              </a:ext>
            </a:extLst>
          </p:cNvPr>
          <p:cNvSpPr txBox="1"/>
          <p:nvPr/>
        </p:nvSpPr>
        <p:spPr>
          <a:xfrm>
            <a:off x="574402" y="1988840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성  명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오세명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53EED-26C5-5D23-2019-C597A0FB55DA}"/>
              </a:ext>
            </a:extLst>
          </p:cNvPr>
          <p:cNvSpPr txBox="1"/>
          <p:nvPr/>
        </p:nvSpPr>
        <p:spPr>
          <a:xfrm>
            <a:off x="574402" y="3140968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나  이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 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B3D29-28AE-4030-E8C1-FA8D66E0F353}"/>
              </a:ext>
            </a:extLst>
          </p:cNvPr>
          <p:cNvSpPr txBox="1"/>
          <p:nvPr/>
        </p:nvSpPr>
        <p:spPr>
          <a:xfrm>
            <a:off x="574402" y="4377635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%s-%s-%s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"010"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"1245"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"6789"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3639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036261-2D8B-B8A5-722C-0E7E90FE0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2.7.4 </a:t>
            </a:r>
            <a:r>
              <a:rPr lang="ko-KR" altLang="en-US" b="0" dirty="0"/>
              <a:t>출력 옵션 </a:t>
            </a:r>
            <a:r>
              <a:rPr lang="en-US" altLang="ko-KR" b="0" dirty="0"/>
              <a:t>(Format Options)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0DAC2D-459D-000E-8347-72705C3B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%</a:t>
            </a:r>
            <a:r>
              <a:rPr lang="ko-KR" altLang="en-US" dirty="0"/>
              <a:t>와 형식 문자 사이 옵션 추가로 출력 형식 조정</a:t>
            </a:r>
          </a:p>
          <a:p>
            <a:endParaRPr lang="ko-KR" altLang="en-US" dirty="0"/>
          </a:p>
          <a:p>
            <a:r>
              <a:rPr lang="ko-KR" altLang="en-US" dirty="0"/>
              <a:t>폭</a:t>
            </a:r>
            <a:r>
              <a:rPr lang="en-US" altLang="ko-KR" dirty="0"/>
              <a:t>(width)</a:t>
            </a:r>
          </a:p>
          <a:p>
            <a:pPr lvl="1"/>
            <a:r>
              <a:rPr lang="ko-KR" altLang="en-US" dirty="0"/>
              <a:t>최소 출력 칸 수 지정</a:t>
            </a:r>
          </a:p>
          <a:p>
            <a:pPr lvl="2"/>
            <a:r>
              <a:rPr lang="en-US" altLang="ko-KR" dirty="0" err="1"/>
              <a:t>printf</a:t>
            </a:r>
            <a:r>
              <a:rPr lang="en-US" altLang="ko-KR" dirty="0"/>
              <a:t>("%5d", 42)      → "   42"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정밀도</a:t>
            </a:r>
            <a:r>
              <a:rPr lang="en-US" altLang="ko-KR" dirty="0"/>
              <a:t>(precision)</a:t>
            </a:r>
          </a:p>
          <a:p>
            <a:pPr lvl="1"/>
            <a:r>
              <a:rPr lang="ko-KR" altLang="en-US" dirty="0"/>
              <a:t>실수 </a:t>
            </a:r>
            <a:r>
              <a:rPr lang="en-US" altLang="ko-KR" dirty="0"/>
              <a:t>: </a:t>
            </a:r>
            <a:r>
              <a:rPr lang="ko-KR" altLang="en-US" dirty="0"/>
              <a:t>소수점 이하 자릿수</a:t>
            </a:r>
          </a:p>
          <a:p>
            <a:pPr lvl="1"/>
            <a:r>
              <a:rPr lang="ko-KR" altLang="en-US" dirty="0"/>
              <a:t>문자열 </a:t>
            </a:r>
            <a:r>
              <a:rPr lang="en-US" altLang="ko-KR" dirty="0"/>
              <a:t>: </a:t>
            </a:r>
            <a:r>
              <a:rPr lang="ko-KR" altLang="en-US" dirty="0"/>
              <a:t>출력 길이 제한</a:t>
            </a:r>
          </a:p>
          <a:p>
            <a:pPr lvl="2"/>
            <a:r>
              <a:rPr lang="en-US" altLang="ko-KR" dirty="0" err="1"/>
              <a:t>printf</a:t>
            </a:r>
            <a:r>
              <a:rPr lang="en-US" altLang="ko-KR" dirty="0"/>
              <a:t>("%.2f", 3.14159)      → "3.14"</a:t>
            </a:r>
          </a:p>
          <a:p>
            <a:pPr lvl="2"/>
            <a:r>
              <a:rPr lang="en-US" altLang="ko-KR" dirty="0" err="1"/>
              <a:t>printf</a:t>
            </a:r>
            <a:r>
              <a:rPr lang="en-US" altLang="ko-KR" dirty="0"/>
              <a:t>("%.5s", "HelloWorld") → "Hello"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12BBB5-788E-C93C-05C3-C5A1EF9F3B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80793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7860-231D-5420-FA9E-2134EA945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673DE-2DC4-3B23-9EE7-A78B68847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2.7.4 </a:t>
            </a:r>
            <a:r>
              <a:rPr lang="ko-KR" altLang="en-US" b="0" dirty="0"/>
              <a:t>출력 옵션 </a:t>
            </a:r>
            <a:r>
              <a:rPr lang="en-US" altLang="ko-KR" b="0" dirty="0"/>
              <a:t>(Format Options)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3D4250-D0C4-0107-CD43-D6393DB23B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정렬 </a:t>
            </a:r>
            <a:r>
              <a:rPr lang="en-US" altLang="ko-KR" dirty="0"/>
              <a:t>(-)</a:t>
            </a:r>
          </a:p>
          <a:p>
            <a:pPr lvl="1"/>
            <a:r>
              <a:rPr lang="en-US" altLang="ko-KR" sz="2000" dirty="0" err="1"/>
              <a:t>printf</a:t>
            </a:r>
            <a:r>
              <a:rPr lang="en-US" altLang="ko-KR" sz="2000" dirty="0"/>
              <a:t>("%-10s", "Hi")  → "Hi        "</a:t>
            </a:r>
          </a:p>
          <a:p>
            <a:pPr lvl="1"/>
            <a:endParaRPr lang="en-US" altLang="ko-KR" sz="2000" dirty="0"/>
          </a:p>
          <a:p>
            <a:r>
              <a:rPr lang="en-US" altLang="ko-KR" dirty="0"/>
              <a:t>0 </a:t>
            </a:r>
            <a:r>
              <a:rPr lang="ko-KR" altLang="en-US" dirty="0"/>
              <a:t>채우기 </a:t>
            </a:r>
            <a:r>
              <a:rPr lang="en-US" altLang="ko-KR" dirty="0"/>
              <a:t>(0)</a:t>
            </a:r>
          </a:p>
          <a:p>
            <a:pPr lvl="1"/>
            <a:r>
              <a:rPr lang="en-US" altLang="ko-KR" sz="2000" dirty="0" err="1"/>
              <a:t>printf</a:t>
            </a:r>
            <a:r>
              <a:rPr lang="en-US" altLang="ko-KR" sz="2000" dirty="0"/>
              <a:t>("%05d", 42)     → "00042"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기호 출력 </a:t>
            </a:r>
            <a:r>
              <a:rPr lang="en-US" altLang="ko-KR" dirty="0"/>
              <a:t>(+)</a:t>
            </a:r>
          </a:p>
          <a:p>
            <a:pPr lvl="1"/>
            <a:r>
              <a:rPr lang="en-US" altLang="ko-KR" sz="2000" dirty="0" err="1"/>
              <a:t>printf</a:t>
            </a:r>
            <a:r>
              <a:rPr lang="en-US" altLang="ko-KR" sz="2000" dirty="0"/>
              <a:t>("%+d", 7)       → "+7"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진법 접두사 </a:t>
            </a:r>
            <a:r>
              <a:rPr lang="en-US" altLang="ko-KR" dirty="0"/>
              <a:t>(#)</a:t>
            </a:r>
          </a:p>
          <a:p>
            <a:pPr lvl="1"/>
            <a:r>
              <a:rPr lang="en-US" altLang="ko-KR" sz="2000" dirty="0" err="1"/>
              <a:t>printf</a:t>
            </a:r>
            <a:r>
              <a:rPr lang="en-US" altLang="ko-KR" sz="2000" dirty="0"/>
              <a:t>("%#x", 255)     → "0xff"</a:t>
            </a:r>
            <a:endParaRPr lang="ko-KR" altLang="en-US" sz="9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80DD99-2953-E746-CFA3-21F8B1FF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30026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68093-EEAB-2234-49E2-7FDF5B2C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2.7.5 </a:t>
            </a:r>
            <a:r>
              <a:rPr lang="ko-KR" altLang="en-US" dirty="0"/>
              <a:t>이스케이프 시퀀스 </a:t>
            </a:r>
            <a:r>
              <a:rPr lang="en-US" altLang="ko-KR" dirty="0"/>
              <a:t>(Escape Sequence)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3481C3-6189-D28D-F60D-A8F65238A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이스케이프 시퀀스</a:t>
            </a:r>
            <a:endParaRPr lang="en-US" altLang="ko-KR" dirty="0"/>
          </a:p>
          <a:p>
            <a:pPr lvl="1"/>
            <a:r>
              <a:rPr lang="ko-KR" altLang="en-US" dirty="0"/>
              <a:t>제어 문자</a:t>
            </a:r>
            <a:r>
              <a:rPr lang="en-US" altLang="ko-KR" dirty="0"/>
              <a:t>: </a:t>
            </a:r>
            <a:r>
              <a:rPr lang="ko-KR" altLang="en-US" dirty="0"/>
              <a:t>문자 출력 동작 제어</a:t>
            </a:r>
            <a:endParaRPr lang="en-US" altLang="ko-KR" dirty="0"/>
          </a:p>
          <a:p>
            <a:pPr lvl="1"/>
            <a:r>
              <a:rPr lang="ko-KR" altLang="en-US" dirty="0"/>
              <a:t>역 슬래시</a:t>
            </a:r>
            <a:r>
              <a:rPr lang="en-US" altLang="ko-KR" dirty="0"/>
              <a:t>(back</a:t>
            </a:r>
            <a:r>
              <a:rPr lang="ko-KR" altLang="en-US" dirty="0"/>
              <a:t> </a:t>
            </a:r>
            <a:r>
              <a:rPr lang="en-US" altLang="ko-KR" dirty="0"/>
              <a:t>slash:</a:t>
            </a:r>
            <a:r>
              <a:rPr lang="ko-KR" altLang="en-US" dirty="0"/>
              <a:t> </a:t>
            </a:r>
            <a:r>
              <a:rPr lang="en-US" altLang="ko-KR" dirty="0"/>
              <a:t>'</a:t>
            </a:r>
            <a:r>
              <a:rPr lang="en-US" altLang="ko-KR" b="0" dirty="0">
                <a:solidFill>
                  <a:srgbClr val="000000"/>
                </a:solidFill>
                <a:latin typeface="Arial" panose="020B0604020202020204" pitchFamily="34" charset="0"/>
              </a:rPr>
              <a:t>\</a:t>
            </a:r>
            <a:r>
              <a:rPr lang="en-US" altLang="ko-KR" dirty="0"/>
              <a:t>') </a:t>
            </a:r>
            <a:r>
              <a:rPr lang="ko-KR" altLang="en-US" dirty="0"/>
              <a:t>로 시작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주요 이스케이프 시퀀스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CBE338-B117-171C-254F-686CBDD255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AAA7FB-72BC-C1E0-D5FF-5DECF16A7C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5044488"/>
              </p:ext>
            </p:extLst>
          </p:nvPr>
        </p:nvGraphicFramePr>
        <p:xfrm>
          <a:off x="539750" y="3140968"/>
          <a:ext cx="7181850" cy="2853440"/>
        </p:xfrm>
        <a:graphic>
          <a:graphicData uri="http://schemas.openxmlformats.org/drawingml/2006/table">
            <a:tbl>
              <a:tblPr/>
              <a:tblGrid>
                <a:gridCol w="561975">
                  <a:extLst>
                    <a:ext uri="{9D8B030D-6E8A-4147-A177-3AD203B41FA5}">
                      <a16:colId xmlns:a16="http://schemas.microsoft.com/office/drawing/2014/main" val="2378567425"/>
                    </a:ext>
                  </a:extLst>
                </a:gridCol>
                <a:gridCol w="2246139">
                  <a:extLst>
                    <a:ext uri="{9D8B030D-6E8A-4147-A177-3AD203B41FA5}">
                      <a16:colId xmlns:a16="http://schemas.microsoft.com/office/drawing/2014/main" val="94893486"/>
                    </a:ext>
                  </a:extLst>
                </a:gridCol>
                <a:gridCol w="4373736">
                  <a:extLst>
                    <a:ext uri="{9D8B030D-6E8A-4147-A177-3AD203B41FA5}">
                      <a16:colId xmlns:a16="http://schemas.microsoft.com/office/drawing/2014/main" val="33172300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시퀀스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913669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\n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줄 바꿈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newline)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다음 줄의 처음으로 이동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758173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\r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캐리지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리턴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carriage return)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줄의 맨 앞으로 이동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162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\t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수평 탭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horizontal tab)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일정 간격 탭 크기만큼 오른쪽 이동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67893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\v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수직 탭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vertical tab)</a:t>
                      </a:r>
                      <a:endParaRPr 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수직 간격 이동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환경에 따라 동작 다름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54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\\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 슬래시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(\)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 슬래시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(\)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문자 출력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7844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\"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겹 따옴표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(")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안에서 큰따옴표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(")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문자 출력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1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\'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홑 따옴표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(')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문자열에서 작은따옴표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(')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출력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6479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\b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백스페이스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backspace)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커서를 한 칸 왼쪽으로 이동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645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\0</a:t>
                      </a:r>
                      <a:endParaRPr lang="ko-KR" alt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널 문자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null character)</a:t>
                      </a:r>
                      <a:endParaRPr lang="en-US" sz="140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종료 문자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값은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77001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C332F2F5-EDAB-EE1A-D3ED-B336942271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3141364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9425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2B70CC-638F-67DE-4642-65D7A17F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6CCA05-F450-846F-181B-3BF4D979D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Visual Studio</a:t>
            </a:r>
            <a:r>
              <a:rPr lang="ko-KR" altLang="en-US" sz="2400" b="0" dirty="0"/>
              <a:t>에서 </a:t>
            </a:r>
            <a:r>
              <a:rPr lang="en-US" altLang="ko-KR" sz="2400" b="0" dirty="0"/>
              <a:t>C </a:t>
            </a:r>
            <a:r>
              <a:rPr lang="ko-KR" altLang="en-US" sz="2400" b="0" dirty="0"/>
              <a:t>프로젝트 생성</a:t>
            </a:r>
          </a:p>
          <a:p>
            <a:endParaRPr lang="en-US" altLang="ko-KR" sz="2400" b="0" dirty="0"/>
          </a:p>
          <a:p>
            <a:r>
              <a:rPr lang="en-US" altLang="ko-KR" sz="2400" b="0" dirty="0"/>
              <a:t>main </a:t>
            </a:r>
            <a:r>
              <a:rPr lang="ko-KR" altLang="en-US" sz="2400" b="0" dirty="0"/>
              <a:t>함수</a:t>
            </a:r>
          </a:p>
          <a:p>
            <a:pPr lvl="1"/>
            <a:endParaRPr lang="ko-KR" altLang="en-US" sz="2000" b="0" dirty="0"/>
          </a:p>
          <a:p>
            <a:r>
              <a:rPr lang="ko-KR" altLang="en-US" sz="2400" b="0" dirty="0"/>
              <a:t>주석</a:t>
            </a:r>
            <a:r>
              <a:rPr lang="en-US" altLang="ko-KR" sz="2400" b="0" dirty="0"/>
              <a:t>(Comment)</a:t>
            </a:r>
          </a:p>
          <a:p>
            <a:pPr lvl="1"/>
            <a:r>
              <a:rPr lang="ko-KR" altLang="en-US" sz="2000" b="0" dirty="0"/>
              <a:t>라인 주석</a:t>
            </a:r>
            <a:endParaRPr lang="en-US" altLang="ko-KR" sz="2000" b="0" dirty="0"/>
          </a:p>
          <a:p>
            <a:pPr lvl="1"/>
            <a:r>
              <a:rPr lang="ko-KR" altLang="en-US" sz="2000" b="0" dirty="0"/>
              <a:t>블록 주석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 err="1"/>
              <a:t>printf</a:t>
            </a:r>
            <a:r>
              <a:rPr lang="en-US" altLang="ko-KR" sz="2400" b="0" dirty="0"/>
              <a:t> </a:t>
            </a:r>
            <a:r>
              <a:rPr lang="ko-KR" altLang="en-US" sz="2400" b="0" dirty="0"/>
              <a:t>함수</a:t>
            </a:r>
            <a:endParaRPr lang="en-US" altLang="ko-KR" sz="2400" b="0" dirty="0"/>
          </a:p>
          <a:p>
            <a:pPr lvl="1"/>
            <a:r>
              <a:rPr lang="en-US" altLang="ko-KR" sz="2000" b="0" dirty="0"/>
              <a:t>#include</a:t>
            </a:r>
            <a:r>
              <a:rPr lang="ko-KR" altLang="en-US" sz="2000" b="0" dirty="0"/>
              <a:t> </a:t>
            </a:r>
            <a:r>
              <a:rPr lang="en-US" altLang="ko-KR" sz="2000" b="0" dirty="0"/>
              <a:t>&lt;</a:t>
            </a:r>
            <a:r>
              <a:rPr lang="en-US" altLang="ko-KR" sz="2000" b="0" dirty="0" err="1"/>
              <a:t>stdio.h</a:t>
            </a:r>
            <a:r>
              <a:rPr lang="en-US" altLang="ko-KR" sz="2000" b="0" dirty="0"/>
              <a:t>&gt;</a:t>
            </a:r>
            <a:endParaRPr lang="ko-KR" altLang="en-US" sz="2000" b="0" dirty="0"/>
          </a:p>
          <a:p>
            <a:pPr lvl="1"/>
            <a:r>
              <a:rPr lang="ko-KR" altLang="en-US" sz="2000" b="0" dirty="0"/>
              <a:t>형식 지정자</a:t>
            </a:r>
            <a:endParaRPr lang="en-US" altLang="ko-KR" sz="2000" b="0" dirty="0"/>
          </a:p>
          <a:p>
            <a:pPr lvl="3"/>
            <a:r>
              <a:rPr lang="en-US" altLang="ko-KR" sz="1600" b="0" dirty="0"/>
              <a:t>%c, %d, %s, %f, %X %p</a:t>
            </a:r>
          </a:p>
          <a:p>
            <a:pPr lvl="1"/>
            <a:r>
              <a:rPr lang="ko-KR" altLang="en-US" sz="2000" b="0" dirty="0"/>
              <a:t>이스케이프 시퀀스</a:t>
            </a:r>
            <a:endParaRPr lang="en-US" altLang="ko-KR" sz="2000" b="0" dirty="0"/>
          </a:p>
          <a:p>
            <a:pPr lvl="2"/>
            <a:r>
              <a:rPr lang="en-US" altLang="ko-KR" sz="1800" b="0" dirty="0">
                <a:solidFill>
                  <a:srgbClr val="000000"/>
                </a:solidFill>
                <a:latin typeface="Arial" panose="020B0604020202020204" pitchFamily="34" charset="0"/>
              </a:rPr>
              <a:t>\</a:t>
            </a:r>
            <a:r>
              <a:rPr lang="en-US" altLang="ko-KR" sz="1800" b="0" dirty="0"/>
              <a:t>n, </a:t>
            </a:r>
            <a:r>
              <a:rPr lang="en-US" altLang="ko-KR" sz="1800" b="0" dirty="0">
                <a:solidFill>
                  <a:srgbClr val="000000"/>
                </a:solidFill>
                <a:latin typeface="Arial" panose="020B0604020202020204" pitchFamily="34" charset="0"/>
              </a:rPr>
              <a:t>\t, \\, \", \', \0</a:t>
            </a:r>
            <a:endParaRPr lang="en-US" altLang="ko-KR" sz="1800" b="0" dirty="0"/>
          </a:p>
          <a:p>
            <a:pPr lvl="2"/>
            <a:endParaRPr lang="en-US" altLang="ko-KR" b="0" dirty="0"/>
          </a:p>
          <a:p>
            <a:pPr marL="457200" lvl="1" indent="0">
              <a:buNone/>
            </a:pPr>
            <a:endParaRPr lang="ko-KR" altLang="en-US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1B7A17-6395-9758-8B32-FD676A15DE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104708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93519-28E7-3DE3-603B-6A765A71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실습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FC4BCE-F0A8-3F7E-ACC8-BDA1ACFFE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프로젝트 이름 규칙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숫자</a:t>
            </a:r>
            <a:r>
              <a:rPr lang="en-US" altLang="ko-KR" sz="1800" b="0" dirty="0"/>
              <a:t>, </a:t>
            </a:r>
            <a:r>
              <a:rPr lang="ko-KR" altLang="en-US" sz="1800" b="0" dirty="0" err="1"/>
              <a:t>언더스코어</a:t>
            </a:r>
            <a:r>
              <a:rPr lang="en-US" altLang="ko-KR" sz="1800" b="0" dirty="0"/>
              <a:t>(_), </a:t>
            </a:r>
            <a:r>
              <a:rPr lang="ko-KR" altLang="en-US" sz="1800" b="0" dirty="0"/>
              <a:t>영문으로 만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작성</a:t>
            </a:r>
            <a:r>
              <a:rPr lang="en-US" altLang="ko-KR" sz="1800" b="0" dirty="0"/>
              <a:t>. </a:t>
            </a:r>
            <a:r>
              <a:rPr lang="ko-KR" altLang="en-US" sz="1800" b="0" dirty="0"/>
              <a:t>공백과 한글은 허용 안함</a:t>
            </a:r>
            <a:endParaRPr lang="en-US" altLang="ko-KR" sz="1800" b="0" dirty="0"/>
          </a:p>
          <a:p>
            <a:pPr lvl="1"/>
            <a:r>
              <a:rPr lang="ko-KR" altLang="en-US" sz="1800" b="0" dirty="0"/>
              <a:t>학번</a:t>
            </a:r>
            <a:r>
              <a:rPr lang="en-US" altLang="ko-KR" sz="1800" b="0" dirty="0"/>
              <a:t>_</a:t>
            </a:r>
            <a:r>
              <a:rPr lang="ko-KR" altLang="en-US" sz="1800" b="0" dirty="0"/>
              <a:t>영문이름</a:t>
            </a:r>
            <a:r>
              <a:rPr lang="en-US" altLang="ko-KR" sz="1800" b="0" dirty="0"/>
              <a:t>_</a:t>
            </a:r>
            <a:r>
              <a:rPr lang="en-US" altLang="ko-KR" sz="1800" b="0" dirty="0" err="1"/>
              <a:t>ProjectName</a:t>
            </a:r>
            <a:endParaRPr lang="en-US" altLang="ko-KR" sz="1800" b="0" dirty="0"/>
          </a:p>
          <a:p>
            <a:pPr lvl="1"/>
            <a:r>
              <a:rPr lang="en-US" altLang="ko-KR" sz="1800" b="0" dirty="0"/>
              <a:t>Ex) 9001122_JohnDoe_MyHistory</a:t>
            </a:r>
            <a:endParaRPr lang="ko-KR" altLang="en-US" sz="1800" b="0" dirty="0"/>
          </a:p>
          <a:p>
            <a:endParaRPr lang="en-US" altLang="ko-KR" sz="2000" b="0" dirty="0"/>
          </a:p>
          <a:p>
            <a:r>
              <a:rPr lang="ko-KR" altLang="en-US" sz="2000" b="0" dirty="0"/>
              <a:t>과제</a:t>
            </a:r>
            <a:r>
              <a:rPr lang="en-US" altLang="ko-KR" sz="2000" b="0" dirty="0"/>
              <a:t>1: </a:t>
            </a:r>
            <a:r>
              <a:rPr lang="ko-KR" altLang="en-US" sz="2000" b="0" dirty="0"/>
              <a:t>이력서 작성 출력</a:t>
            </a:r>
          </a:p>
          <a:p>
            <a:pPr lvl="1"/>
            <a:r>
              <a:rPr lang="ko-KR" altLang="en-US" sz="1800" b="0" dirty="0"/>
              <a:t>이력서용 프로젝트를 만들고</a:t>
            </a:r>
            <a:r>
              <a:rPr lang="en-US" altLang="ko-KR" sz="1800" b="0" dirty="0"/>
              <a:t>, </a:t>
            </a:r>
            <a:r>
              <a:rPr lang="en-US" altLang="ko-KR" sz="1800" b="0" dirty="0" err="1"/>
              <a:t>printf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함수를 사용해서 이력서 작성</a:t>
            </a:r>
          </a:p>
          <a:p>
            <a:pPr lvl="1"/>
            <a:r>
              <a:rPr lang="ko-KR" altLang="en-US" sz="1800" b="0" dirty="0"/>
              <a:t>이름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나이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주소</a:t>
            </a:r>
            <a:r>
              <a:rPr lang="en-US" altLang="ko-KR" sz="1800" b="0" dirty="0"/>
              <a:t>(</a:t>
            </a:r>
            <a:r>
              <a:rPr lang="ko-KR" altLang="en-US" sz="1800" b="0" dirty="0" err="1"/>
              <a:t>시군구까지만</a:t>
            </a:r>
            <a:r>
              <a:rPr lang="en-US" altLang="ko-KR" sz="1800" b="0" dirty="0"/>
              <a:t>)/</a:t>
            </a:r>
            <a:r>
              <a:rPr lang="ko-KR" altLang="en-US" sz="1800" b="0" dirty="0"/>
              <a:t>연락처는 반드시 포함</a:t>
            </a:r>
          </a:p>
          <a:p>
            <a:pPr lvl="1"/>
            <a:r>
              <a:rPr lang="ko-KR" altLang="en-US" sz="1800" b="0" dirty="0"/>
              <a:t>학력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자격증</a:t>
            </a:r>
            <a:r>
              <a:rPr lang="en-US" altLang="ko-KR" sz="1800" b="0" dirty="0"/>
              <a:t>/</a:t>
            </a:r>
            <a:r>
              <a:rPr lang="ko-KR" altLang="en-US" sz="1800" b="0" dirty="0" err="1"/>
              <a:t>군필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취업 또는 아르바이트 등 이력이 될만한 모든 내용을 적어보자</a:t>
            </a:r>
            <a:r>
              <a:rPr lang="en-US" altLang="ko-KR" sz="1800" b="0" dirty="0"/>
              <a:t>.</a:t>
            </a:r>
          </a:p>
          <a:p>
            <a:pPr lvl="1"/>
            <a:r>
              <a:rPr lang="ko-KR" altLang="en-US" sz="1800" b="0" dirty="0" err="1"/>
              <a:t>포멧</a:t>
            </a:r>
            <a:r>
              <a:rPr lang="ko-KR" altLang="en-US" sz="1800" b="0" dirty="0"/>
              <a:t> 옵션을 사용해서 줄을 맞춰 출력해보자</a:t>
            </a:r>
            <a:r>
              <a:rPr lang="en-US" altLang="ko-KR" sz="1800" b="0" dirty="0"/>
              <a:t>.</a:t>
            </a:r>
            <a:endParaRPr lang="ko-KR" altLang="en-US" sz="1800" b="0" dirty="0"/>
          </a:p>
          <a:p>
            <a:endParaRPr lang="ko-KR" altLang="en-US" sz="2000" b="0" dirty="0"/>
          </a:p>
          <a:p>
            <a:r>
              <a:rPr lang="ko-KR" altLang="en-US" sz="2000" b="0" dirty="0"/>
              <a:t>과제</a:t>
            </a:r>
            <a:r>
              <a:rPr lang="en-US" altLang="ko-KR" sz="2000" b="0" dirty="0"/>
              <a:t>2: </a:t>
            </a:r>
            <a:r>
              <a:rPr lang="ko-KR" altLang="en-US" sz="2000" b="0" dirty="0"/>
              <a:t>자기소개서 작성 출력</a:t>
            </a:r>
          </a:p>
          <a:p>
            <a:pPr lvl="1"/>
            <a:r>
              <a:rPr lang="ko-KR" altLang="en-US" sz="1800" b="0" dirty="0"/>
              <a:t>자기 소개서용 프로젝트를 만들고</a:t>
            </a:r>
            <a:r>
              <a:rPr lang="en-US" altLang="ko-KR" sz="1800" b="0" dirty="0"/>
              <a:t>, </a:t>
            </a:r>
            <a:r>
              <a:rPr lang="en-US" altLang="ko-KR" sz="1800" b="0" dirty="0" err="1"/>
              <a:t>printf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함수를 사용해서 자기 소개서 작성</a:t>
            </a:r>
          </a:p>
          <a:p>
            <a:pPr lvl="1"/>
            <a:r>
              <a:rPr lang="ko-KR" altLang="en-US" sz="1800" b="0" dirty="0"/>
              <a:t>이름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잘하는 것</a:t>
            </a:r>
            <a:r>
              <a:rPr lang="en-US" altLang="ko-KR" sz="1800" b="0" dirty="0"/>
              <a:t>/</a:t>
            </a:r>
            <a:r>
              <a:rPr lang="ko-KR" altLang="en-US" sz="1800" b="0" dirty="0"/>
              <a:t>장단점 을 반드시 포함</a:t>
            </a:r>
            <a:endParaRPr lang="en-US" altLang="ko-KR" sz="1800" b="0" dirty="0"/>
          </a:p>
          <a:p>
            <a:pPr lvl="1"/>
            <a:r>
              <a:rPr lang="ko-KR" altLang="en-US" sz="1800" b="0" dirty="0" err="1"/>
              <a:t>포멧</a:t>
            </a:r>
            <a:r>
              <a:rPr lang="ko-KR" altLang="en-US" sz="1800" b="0" dirty="0"/>
              <a:t> 옵션을 사용해서 줄을 맞춰 출력</a:t>
            </a:r>
            <a:r>
              <a:rPr lang="en-US" altLang="ko-KR" sz="1800" b="0" dirty="0"/>
              <a:t>.</a:t>
            </a:r>
            <a:endParaRPr lang="en-US" altLang="ko-KR" sz="20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18882E-E928-3E1B-51A9-2778993DD1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219188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2967</TotalTime>
  <Words>2034</Words>
  <Application>Microsoft Office PowerPoint</Application>
  <PresentationFormat>화면 슬라이드 쇼(4:3)</PresentationFormat>
  <Paragraphs>392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1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02. 프로그램 구성과 main 함수</vt:lpstr>
      <vt:lpstr>2.1 main 함수 호출 과정</vt:lpstr>
      <vt:lpstr>2.2 main 함수의 다양한 형태</vt:lpstr>
      <vt:lpstr>2.3 프로젝트 생성: myLesson</vt:lpstr>
      <vt:lpstr>2.3 프로젝트 생성: myLesson</vt:lpstr>
      <vt:lpstr>2.3 프로젝트 생성: myLesson</vt:lpstr>
      <vt:lpstr>2.3 프로젝트 생성: myLesson</vt:lpstr>
      <vt:lpstr>2.4 프로그래밍 구성과 함수</vt:lpstr>
      <vt:lpstr>2.4 프로그래밍 구성과 함수</vt:lpstr>
      <vt:lpstr>2.4 프로그래밍 구성과 함수</vt:lpstr>
      <vt:lpstr>2.5 컴파일과 빌드</vt:lpstr>
      <vt:lpstr>2.5 컴파일과 빌드</vt:lpstr>
      <vt:lpstr>2.5.1 전처리(Preprocessing) 단계</vt:lpstr>
      <vt:lpstr>2.5.1 전처리(Preprocessing) 단계</vt:lpstr>
      <vt:lpstr>2.5.1 전처리(Preprocessing) 단계</vt:lpstr>
      <vt:lpstr>2.5.2 컴파일(Compilation) 과정</vt:lpstr>
      <vt:lpstr>2.5.3 링킹(Linking)</vt:lpstr>
      <vt:lpstr>2.5.3.1 Static Linking vs Dynamic Linking</vt:lpstr>
      <vt:lpstr>2.5.3.1 Static Linking vs Dynamic Linking</vt:lpstr>
      <vt:lpstr>2.5.4 Windows 빌드 완성 (Final Build)</vt:lpstr>
      <vt:lpstr>2.5.4.1 Visual Studio 기능</vt:lpstr>
      <vt:lpstr>2.6 주석(Comment)</vt:lpstr>
      <vt:lpstr>2.6 주석(Comment)</vt:lpstr>
      <vt:lpstr>2.7 프로그램 구성 요소와 기본 출력</vt:lpstr>
      <vt:lpstr>2.7.1 전처리 지시문 #include</vt:lpstr>
      <vt:lpstr>2.7.1.1 #include "" &lt;&gt;  검색 순서</vt:lpstr>
      <vt:lpstr>2.7.2 printf() 함수</vt:lpstr>
      <vt:lpstr>2.7.3 형식 지정자</vt:lpstr>
      <vt:lpstr>2.7.3 형식 지정자</vt:lpstr>
      <vt:lpstr>2.7.4 출력 옵션 (Format Options)</vt:lpstr>
      <vt:lpstr>2.7.4 출력 옵션 (Format Options)</vt:lpstr>
      <vt:lpstr>2.7.5 이스케이프 시퀀스 (Escape Sequence)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188</cp:revision>
  <dcterms:created xsi:type="dcterms:W3CDTF">2003-11-30T16:03:20Z</dcterms:created>
  <dcterms:modified xsi:type="dcterms:W3CDTF">2026-03-14T12:02:40Z</dcterms:modified>
</cp:coreProperties>
</file>