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71" r:id="rId2"/>
    <p:sldId id="268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2" r:id="rId13"/>
    <p:sldId id="281" r:id="rId14"/>
    <p:sldId id="285" r:id="rId15"/>
    <p:sldId id="284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2" r:id="rId32"/>
    <p:sldId id="301" r:id="rId33"/>
    <p:sldId id="300" r:id="rId34"/>
    <p:sldId id="303" r:id="rId35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37"/>
    </p:embeddedFont>
    <p:embeddedFont>
      <p:font typeface="가을체" panose="02030600000101010101" pitchFamily="18" charset="-127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00FF"/>
    <a:srgbClr val="FF9900"/>
    <a:srgbClr val="FF0000"/>
    <a:srgbClr val="CC0000"/>
    <a:srgbClr val="009900"/>
    <a:srgbClr val="FF00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7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632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1521" y="1122363"/>
            <a:ext cx="8497192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51521" y="3602038"/>
            <a:ext cx="8497192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3352-0199-6C3D-5D18-7C82AC41E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02. </a:t>
            </a:r>
            <a:r>
              <a:rPr lang="ko-KR" altLang="en-US" dirty="0"/>
              <a:t>프로그램 구성과 </a:t>
            </a:r>
            <a:r>
              <a:rPr lang="en-US" altLang="ko-KR" dirty="0"/>
              <a:t>main </a:t>
            </a:r>
            <a:r>
              <a:rPr lang="ko-KR" altLang="en-US" dirty="0"/>
              <a:t>함수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EBFB1C-4E95-A5B5-0E27-B4E309C2C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F0AD49-2744-6721-1F9E-6D80E466C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5895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DB689726-6457-3508-DE76-36701E94B6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065D1FB8-4C97-FDE3-9EB0-629C93BF7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4450"/>
            <a:ext cx="8496300" cy="476250"/>
          </a:xfrm>
        </p:spPr>
        <p:txBody>
          <a:bodyPr/>
          <a:lstStyle/>
          <a:p>
            <a:pPr eaLnBrk="1" hangingPunct="1"/>
            <a:r>
              <a:rPr lang="en-US" altLang="ko-KR" b="0" dirty="0"/>
              <a:t>2.1 main </a:t>
            </a:r>
            <a:r>
              <a:rPr lang="ko-KR" altLang="en-US" b="0" dirty="0"/>
              <a:t>함수 호출 과정</a:t>
            </a:r>
            <a:endParaRPr lang="ko-KR" altLang="en-US" sz="2400" dirty="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C45E38D-C5AE-F030-AADF-2BBDA2CA7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92150"/>
            <a:ext cx="8928100" cy="5832475"/>
          </a:xfrm>
        </p:spPr>
        <p:txBody>
          <a:bodyPr/>
          <a:lstStyle/>
          <a:p>
            <a:pPr eaLnBrk="1" hangingPunct="1"/>
            <a:r>
              <a:rPr lang="en-US" altLang="ko-KR" b="0" dirty="0"/>
              <a:t>Windows OS</a:t>
            </a:r>
            <a:r>
              <a:rPr lang="ko-KR" altLang="en-US" b="0" dirty="0"/>
              <a:t>에서 </a:t>
            </a:r>
            <a:r>
              <a:rPr lang="en-US" altLang="ko-KR" b="0" dirty="0"/>
              <a:t>main </a:t>
            </a:r>
            <a:r>
              <a:rPr lang="ko-KR" altLang="en-US" b="0" dirty="0"/>
              <a:t>함수가 호출되는 과정</a:t>
            </a:r>
            <a:endParaRPr lang="en-US" altLang="ko-KR" b="0" dirty="0"/>
          </a:p>
          <a:p>
            <a:pPr lvl="1" eaLnBrk="1" hangingPunct="1"/>
            <a:r>
              <a:rPr lang="ko-KR" altLang="en-US" sz="2000" b="0" dirty="0"/>
              <a:t>운영체제 → </a:t>
            </a:r>
            <a:r>
              <a:rPr lang="en-US" altLang="ko-KR" sz="2000" b="0" dirty="0"/>
              <a:t>CRT </a:t>
            </a:r>
            <a:r>
              <a:rPr lang="ko-KR" altLang="en-US" sz="2000" b="0" dirty="0"/>
              <a:t>초기화 → </a:t>
            </a:r>
            <a:r>
              <a:rPr lang="en-US" altLang="ko-KR" sz="2000" b="0" dirty="0"/>
              <a:t>main </a:t>
            </a:r>
            <a:r>
              <a:rPr lang="ko-KR" altLang="en-US" sz="2000" b="0" dirty="0"/>
              <a:t>호출 → </a:t>
            </a:r>
            <a:r>
              <a:rPr lang="en-US" altLang="ko-KR" sz="2000" b="0" dirty="0"/>
              <a:t>CRT </a:t>
            </a:r>
            <a:r>
              <a:rPr lang="ko-KR" altLang="en-US" sz="2000" b="0" dirty="0"/>
              <a:t>종료 → 운영체제</a:t>
            </a:r>
            <a:endParaRPr lang="en-US" altLang="ko-KR" sz="2000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317301-1885-9134-126F-7B714134D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893" y="1916832"/>
            <a:ext cx="2538214" cy="44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0FD6E-F1C8-E978-A69E-BEFE0B01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 main </a:t>
            </a:r>
            <a:r>
              <a:rPr lang="ko-KR" altLang="en-US" b="0" dirty="0"/>
              <a:t>함수의 다양한 형태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681374-7ACB-8AED-2422-0E8C68E9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C </a:t>
            </a:r>
            <a:r>
              <a:rPr lang="ko-KR" altLang="en-US" b="0" dirty="0"/>
              <a:t>표준 </a:t>
            </a:r>
            <a:r>
              <a:rPr lang="en-US" altLang="ko-KR" b="0" dirty="0"/>
              <a:t>main </a:t>
            </a:r>
            <a:r>
              <a:rPr lang="ko-KR" altLang="en-US" b="0" dirty="0"/>
              <a:t>함수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비 표준 </a:t>
            </a:r>
            <a:r>
              <a:rPr lang="en-US" altLang="ko-KR" b="0" dirty="0"/>
              <a:t>main</a:t>
            </a:r>
            <a:r>
              <a:rPr lang="ko-KR" altLang="en-US" b="0" dirty="0"/>
              <a:t> 함수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7102FF-59F1-DE28-2EA5-CAB34C9D6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7F506-84D5-0FBA-1AA4-F2C1D6CA8657}"/>
              </a:ext>
            </a:extLst>
          </p:cNvPr>
          <p:cNvSpPr txBox="1"/>
          <p:nvPr/>
        </p:nvSpPr>
        <p:spPr>
          <a:xfrm>
            <a:off x="575271" y="1412776"/>
            <a:ext cx="7549186" cy="120032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argc,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argv)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또는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argc,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argv[])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8DCD4-EDD0-7292-6CDD-7D365C9C2313}"/>
              </a:ext>
            </a:extLst>
          </p:cNvPr>
          <p:cNvSpPr txBox="1"/>
          <p:nvPr/>
        </p:nvSpPr>
        <p:spPr>
          <a:xfrm>
            <a:off x="575271" y="3861048"/>
            <a:ext cx="7549185" cy="120032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argc,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argv)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또는</a:t>
            </a:r>
            <a:endParaRPr lang="ko-KR" altLang="en-US" b="0" dirty="0">
              <a:effectLst/>
            </a:endParaRPr>
          </a:p>
          <a:p>
            <a:pPr>
              <a:buNone/>
            </a:pP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argc,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argv[])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991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D1A8E-2B8E-49B2-FDE5-CC6BFFD9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2.3 </a:t>
            </a:r>
            <a:r>
              <a:rPr lang="ko-KR" altLang="en-US" b="0" dirty="0"/>
              <a:t>프로젝트 생성</a:t>
            </a:r>
            <a:r>
              <a:rPr lang="en-US" altLang="ko-KR" b="0" dirty="0"/>
              <a:t>: </a:t>
            </a:r>
            <a:r>
              <a:rPr lang="en-US" altLang="ko-KR" dirty="0"/>
              <a:t>myLesson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5F8C3-DC6B-53A3-D31D-C9D33C17E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b="0" dirty="0"/>
              <a:t>[</a:t>
            </a:r>
            <a:r>
              <a:rPr lang="ko-KR" altLang="en-US" b="0" dirty="0"/>
              <a:t>메뉴</a:t>
            </a:r>
            <a:r>
              <a:rPr lang="en-US" altLang="ko-KR" b="0" dirty="0"/>
              <a:t>] → [</a:t>
            </a:r>
            <a:r>
              <a:rPr lang="ko-KR" altLang="en-US" b="0" dirty="0"/>
              <a:t>파일</a:t>
            </a:r>
            <a:r>
              <a:rPr lang="en-US" altLang="ko-KR" b="0" dirty="0"/>
              <a:t>] → [</a:t>
            </a:r>
            <a:r>
              <a:rPr lang="ko-KR" altLang="en-US" b="0" dirty="0"/>
              <a:t>새로 만들기</a:t>
            </a:r>
            <a:r>
              <a:rPr lang="en-US" altLang="ko-KR" b="0" dirty="0"/>
              <a:t>] → [</a:t>
            </a:r>
            <a:r>
              <a:rPr lang="ko-KR" altLang="en-US" b="0" dirty="0"/>
              <a:t>프로젝트</a:t>
            </a:r>
            <a:r>
              <a:rPr lang="en-US" altLang="ko-KR" b="0" dirty="0"/>
              <a:t>]</a:t>
            </a:r>
          </a:p>
          <a:p>
            <a:pPr lvl="1"/>
            <a:endParaRPr lang="en-US" altLang="ko-KR" b="0" dirty="0"/>
          </a:p>
          <a:p>
            <a:pPr lvl="1"/>
            <a:endParaRPr lang="en-US" altLang="ko-KR" b="0" dirty="0"/>
          </a:p>
          <a:p>
            <a:pPr lvl="1"/>
            <a:endParaRPr lang="en-US" altLang="ko-KR" b="0" dirty="0"/>
          </a:p>
          <a:p>
            <a:pPr lvl="1"/>
            <a:endParaRPr lang="en-US" altLang="ko-KR" b="0" dirty="0"/>
          </a:p>
          <a:p>
            <a:r>
              <a:rPr lang="ko-KR" altLang="en-US" b="0" dirty="0"/>
              <a:t>새 프로젝트 생성</a:t>
            </a:r>
            <a:endParaRPr lang="en-US" altLang="ko-KR" b="0" dirty="0"/>
          </a:p>
          <a:p>
            <a:pPr lvl="1"/>
            <a:r>
              <a:rPr lang="ko-KR" altLang="en-US" b="0" dirty="0"/>
              <a:t>시작 파일 없는 프로젝트 선택</a:t>
            </a:r>
            <a:endParaRPr lang="en-US" altLang="ko-KR" b="0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3FC1AF-D76A-6E46-399C-0975C46F26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55970A8-C596-9AE1-DAAA-B757B1794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1851619"/>
            <a:ext cx="5544616" cy="1250256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71E8DDE-7E51-5BAF-BDEC-FBB744185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4427462"/>
            <a:ext cx="5544616" cy="1930791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49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5CC59-3F30-7B62-E03A-FEF4DC3B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DD44D-A9F5-3699-EAE2-020D9F09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2.3 </a:t>
            </a:r>
            <a:r>
              <a:rPr lang="ko-KR" altLang="en-US" b="0" dirty="0"/>
              <a:t>프로젝트 생성</a:t>
            </a:r>
            <a:r>
              <a:rPr lang="en-US" altLang="ko-KR" b="0" dirty="0"/>
              <a:t>: </a:t>
            </a:r>
            <a:r>
              <a:rPr lang="en-US" altLang="ko-KR" dirty="0"/>
              <a:t>myLesson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A53F5-94AA-81D0-9C58-0F3F69BCD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새 프로젝트 구성</a:t>
            </a:r>
            <a:r>
              <a:rPr lang="en-US" altLang="ko-KR" dirty="0"/>
              <a:t>: myLesson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0C8B02-A4F7-8B71-9F48-477C35D91A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1A0401F-1DDC-2D35-5650-7741367FA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49" y="1412776"/>
            <a:ext cx="4376723" cy="460851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39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F2E4-4BB5-26D2-042A-9019FC08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110F6-35AA-8D5D-6422-A1557187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2.3 </a:t>
            </a:r>
            <a:r>
              <a:rPr lang="ko-KR" altLang="en-US" b="0" dirty="0"/>
              <a:t>프로젝트 생성</a:t>
            </a:r>
            <a:r>
              <a:rPr lang="en-US" altLang="ko-KR" b="0" dirty="0"/>
              <a:t>: </a:t>
            </a:r>
            <a:r>
              <a:rPr lang="en-US" altLang="ko-KR" dirty="0"/>
              <a:t>myLesson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B0D94F-4755-5184-BEC3-279781FCB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소스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5CA2E3-1CA6-58D4-BB75-96E30D11B3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991626-989A-1D13-2ED8-9BF214FE9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47799"/>
            <a:ext cx="2517010" cy="226639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B5128DD-FF12-EE65-8063-56EEBB223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1698410"/>
            <a:ext cx="2506114" cy="1765176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727DD85-47BD-34E2-4D6C-4668BC209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36" y="4367986"/>
            <a:ext cx="3693793" cy="1797864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B36927C1-45F8-38E3-3A54-D8D805247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700181"/>
            <a:ext cx="3724275" cy="1133475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082FFC6E-8FF6-722D-091B-2A376929F9CA}"/>
              </a:ext>
            </a:extLst>
          </p:cNvPr>
          <p:cNvSpPr/>
          <p:nvPr/>
        </p:nvSpPr>
        <p:spPr bwMode="auto">
          <a:xfrm>
            <a:off x="3556857" y="2220958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EB84739-C82D-F929-B716-7D0D7479B124}"/>
              </a:ext>
            </a:extLst>
          </p:cNvPr>
          <p:cNvSpPr/>
          <p:nvPr/>
        </p:nvSpPr>
        <p:spPr bwMode="auto">
          <a:xfrm>
            <a:off x="7668288" y="2220958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3AA08F8-38A1-5793-2E55-0E9E3B81EBC8}"/>
              </a:ext>
            </a:extLst>
          </p:cNvPr>
          <p:cNvSpPr/>
          <p:nvPr/>
        </p:nvSpPr>
        <p:spPr bwMode="auto">
          <a:xfrm>
            <a:off x="4325590" y="4906878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31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18BC9-F05D-D7EC-4DC3-C0A09200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2.3 </a:t>
            </a:r>
            <a:r>
              <a:rPr lang="ko-KR" altLang="en-US" b="0" dirty="0"/>
              <a:t>프로젝트 생성</a:t>
            </a:r>
            <a:r>
              <a:rPr lang="en-US" altLang="ko-KR" b="0" dirty="0"/>
              <a:t>: </a:t>
            </a:r>
            <a:r>
              <a:rPr lang="en-US" altLang="ko-KR" dirty="0"/>
              <a:t>myLesson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1E42D-584F-4EB7-FEF4-73C39741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가장 간단한 </a:t>
            </a:r>
            <a:r>
              <a:rPr lang="en-US" altLang="ko-KR" dirty="0"/>
              <a:t>C </a:t>
            </a:r>
            <a:r>
              <a:rPr lang="ko-KR" altLang="en-US" dirty="0"/>
              <a:t>프로그래밍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6C0831-1653-8756-419C-7250CB220E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504832-C855-8166-F7D9-4FDF2CE034A6}"/>
              </a:ext>
            </a:extLst>
          </p:cNvPr>
          <p:cNvSpPr txBox="1"/>
          <p:nvPr/>
        </p:nvSpPr>
        <p:spPr>
          <a:xfrm>
            <a:off x="582398" y="1372506"/>
            <a:ext cx="6509882" cy="156966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9A227-59ED-EF48-3E01-156686CD50A6}"/>
              </a:ext>
            </a:extLst>
          </p:cNvPr>
          <p:cNvSpPr txBox="1"/>
          <p:nvPr/>
        </p:nvSpPr>
        <p:spPr>
          <a:xfrm>
            <a:off x="582398" y="3728754"/>
            <a:ext cx="6509882" cy="156966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argc,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** argv)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527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54183-A0E5-3E63-11B6-1DC3560C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2.4 </a:t>
            </a:r>
            <a:r>
              <a:rPr lang="ko-KR" altLang="en-US" b="0" dirty="0"/>
              <a:t>프로그래밍 구성과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A5297F-746F-D4F4-9FB3-D4FA3140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기능을 수행하는 장치 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</a:p>
          <a:p>
            <a:pPr lvl="2"/>
            <a:r>
              <a:rPr lang="ko-KR" altLang="en-US" dirty="0"/>
              <a:t>기능을 수행하는 프로그램 단위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수학적 함수</a:t>
            </a:r>
            <a:r>
              <a:rPr lang="en-US" altLang="ko-KR" dirty="0"/>
              <a:t>: </a:t>
            </a:r>
            <a:r>
              <a:rPr lang="ko-KR" altLang="en-US" dirty="0"/>
              <a:t>입력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계산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결과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입력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결과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A56216-CBAB-4581-FAD2-8EF36178C9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65DFDC4-2F91-F4F6-92DD-0D296E696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717032"/>
            <a:ext cx="4900545" cy="252028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36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6445-CC26-8EE6-891A-01EADCD8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6854-BC92-5007-EB50-AC5CBD74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2.4 </a:t>
            </a:r>
            <a:r>
              <a:rPr lang="ko-KR" altLang="en-US" b="0" dirty="0"/>
              <a:t>프로그래밍 구성과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75477-8F98-2967-71A0-7C2B0B94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C </a:t>
            </a:r>
            <a:r>
              <a:rPr lang="ko-KR" altLang="en-US" b="0" dirty="0"/>
              <a:t>언어 함수 원형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반환 없을 때</a:t>
            </a:r>
            <a:r>
              <a:rPr lang="en-US" altLang="ko-KR" b="0" dirty="0"/>
              <a:t>: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D4A539-A673-ED0B-E28F-94A240E547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BEEF1-16CB-8F3E-9959-418664F6811D}"/>
              </a:ext>
            </a:extLst>
          </p:cNvPr>
          <p:cNvSpPr txBox="1"/>
          <p:nvPr/>
        </p:nvSpPr>
        <p:spPr>
          <a:xfrm>
            <a:off x="539749" y="1490008"/>
            <a:ext cx="6192489" cy="193899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반환형 함수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 목록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명령어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반환값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0F3AD-72EC-2762-7257-D51D1F3E973C}"/>
              </a:ext>
            </a:extLst>
          </p:cNvPr>
          <p:cNvSpPr txBox="1"/>
          <p:nvPr/>
        </p:nvSpPr>
        <p:spPr>
          <a:xfrm>
            <a:off x="548603" y="4437112"/>
            <a:ext cx="6183635" cy="1938992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함수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인수 목록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명령어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보통 생략함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44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50CF-B0A7-D29E-DB94-B7EBDC7C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D2121-28BA-F04A-52A2-BBA7CD38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2.4 </a:t>
            </a:r>
            <a:r>
              <a:rPr lang="ko-KR" altLang="en-US" b="0" dirty="0"/>
              <a:t>프로그래밍 구성과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42812-0B10-4860-C615-2D69B84CD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0" dirty="0"/>
              <a:t>반환형</a:t>
            </a:r>
          </a:p>
          <a:p>
            <a:pPr lvl="1"/>
            <a:r>
              <a:rPr lang="ko-KR" altLang="en-US" sz="1800" b="0" dirty="0"/>
              <a:t>함수 실행 후 반환되는 값의 자료형</a:t>
            </a:r>
          </a:p>
          <a:p>
            <a:r>
              <a:rPr lang="ko-KR" altLang="en-US" sz="2000" b="0" dirty="0"/>
              <a:t>함수 이름</a:t>
            </a:r>
          </a:p>
          <a:p>
            <a:pPr lvl="1"/>
            <a:r>
              <a:rPr lang="ko-KR" altLang="en-US" sz="1800" b="0" dirty="0"/>
              <a:t>함수를 식별하고 호출하기 위한 이름</a:t>
            </a:r>
          </a:p>
          <a:p>
            <a:r>
              <a:rPr lang="ko-KR" altLang="en-US" sz="2000" b="0" dirty="0"/>
              <a:t>인수 목록</a:t>
            </a:r>
          </a:p>
          <a:p>
            <a:pPr lvl="1"/>
            <a:r>
              <a:rPr lang="ko-KR" altLang="en-US" sz="1800" b="0" dirty="0"/>
              <a:t>함수로 전달되는 값을 저장하는 변수 목록</a:t>
            </a:r>
          </a:p>
          <a:p>
            <a:r>
              <a:rPr lang="ko-KR" altLang="en-US" sz="2000" b="0" dirty="0"/>
              <a:t>명령문</a:t>
            </a:r>
          </a:p>
          <a:p>
            <a:pPr lvl="1"/>
            <a:r>
              <a:rPr lang="ko-KR" altLang="en-US" sz="1800" b="0" dirty="0"/>
              <a:t>함수 내부에서 실행되는 프로그램 명령</a:t>
            </a:r>
          </a:p>
          <a:p>
            <a:r>
              <a:rPr lang="en-US" altLang="ko-KR" sz="2000" b="0" dirty="0"/>
              <a:t>return</a:t>
            </a:r>
          </a:p>
          <a:p>
            <a:pPr lvl="1"/>
            <a:r>
              <a:rPr lang="ko-KR" altLang="en-US" sz="1800" b="0" dirty="0"/>
              <a:t>함수 실행을 종료하고 값을 반환</a:t>
            </a:r>
            <a:endParaRPr lang="en-US" altLang="ko-KR" sz="1800" b="0" dirty="0"/>
          </a:p>
          <a:p>
            <a:pPr lvl="1"/>
            <a:r>
              <a:rPr lang="ko-KR" altLang="en-US" sz="1800" b="0" dirty="0"/>
              <a:t>반환 값이 없으면 반환 값 생략</a:t>
            </a:r>
            <a:r>
              <a:rPr lang="en-US" altLang="ko-KR" sz="1800" b="0" dirty="0"/>
              <a:t>. </a:t>
            </a:r>
            <a:r>
              <a:rPr lang="en-US" altLang="ko-KR" sz="1800" b="0" dirty="0">
                <a:sym typeface="Wingdings" panose="05000000000000000000" pitchFamily="2" charset="2"/>
              </a:rPr>
              <a:t> return ;</a:t>
            </a:r>
            <a:endParaRPr lang="ko-KR" altLang="en-US" sz="1800" b="0" dirty="0"/>
          </a:p>
          <a:p>
            <a:r>
              <a:rPr lang="ko-KR" altLang="en-US" sz="2000" b="0" dirty="0"/>
              <a:t>반환값</a:t>
            </a:r>
          </a:p>
          <a:p>
            <a:pPr lvl="1"/>
            <a:r>
              <a:rPr lang="ko-KR" altLang="en-US" sz="1800" b="0" dirty="0"/>
              <a:t>함수가 호출한 곳으로 전달하는 값</a:t>
            </a:r>
          </a:p>
          <a:p>
            <a:r>
              <a:rPr lang="ko-KR" altLang="en-US" sz="2000" b="0" dirty="0"/>
              <a:t>세미콜론</a:t>
            </a:r>
          </a:p>
          <a:p>
            <a:pPr lvl="1"/>
            <a:r>
              <a:rPr lang="ko-KR" altLang="en-US" sz="1800" b="0" dirty="0"/>
              <a:t>명령문의 끝을 나타내는 기호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833768-53DA-6CC7-7282-DBA1DC8C1D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7153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813E3-0C76-49D9-33AF-87BEFA12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 </a:t>
            </a:r>
            <a:r>
              <a:rPr lang="ko-KR" altLang="en-US" b="0" dirty="0"/>
              <a:t>컴파일과 빌드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CA5A4-5D7E-B9B9-B113-8F60CE986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넓은 의미의 컴파일</a:t>
            </a:r>
            <a:endParaRPr lang="en-US" altLang="ko-KR" b="0" dirty="0"/>
          </a:p>
          <a:p>
            <a:pPr lvl="1"/>
            <a:r>
              <a:rPr lang="ko-KR" altLang="en-US" b="0" dirty="0"/>
              <a:t>전처리 → 컴파일 → 링크 → 실행 파일 생성</a:t>
            </a:r>
            <a:endParaRPr lang="en-US" altLang="ko-KR" b="0" dirty="0"/>
          </a:p>
          <a:p>
            <a:pPr lvl="1"/>
            <a:r>
              <a:rPr lang="ko-KR" altLang="en-US" b="0" dirty="0"/>
              <a:t>전체 빌드 과정</a:t>
            </a:r>
            <a:endParaRPr lang="en-US" altLang="ko-KR" b="0" dirty="0"/>
          </a:p>
          <a:p>
            <a:pPr marL="457200" lvl="1" indent="0">
              <a:buNone/>
            </a:pPr>
            <a:endParaRPr lang="en-US" altLang="ko-KR" b="0" dirty="0"/>
          </a:p>
          <a:p>
            <a:r>
              <a:rPr lang="ko-KR" altLang="en-US" b="0" dirty="0"/>
              <a:t>좁은 의미의 컴파일</a:t>
            </a:r>
            <a:endParaRPr lang="en-US" altLang="ko-KR" b="0" dirty="0"/>
          </a:p>
          <a:p>
            <a:pPr lvl="1"/>
            <a:r>
              <a:rPr lang="ko-KR" altLang="en-US" b="0" dirty="0"/>
              <a:t>전처리 →</a:t>
            </a:r>
            <a:r>
              <a:rPr lang="en-US" altLang="ko-KR" b="0" dirty="0">
                <a:sym typeface="Wingdings" panose="05000000000000000000" pitchFamily="2" charset="2"/>
              </a:rPr>
              <a:t> </a:t>
            </a:r>
            <a:r>
              <a:rPr lang="ko-KR" altLang="en-US" b="0" dirty="0">
                <a:sym typeface="Wingdings" panose="05000000000000000000" pitchFamily="2" charset="2"/>
              </a:rPr>
              <a:t>컴파일 </a:t>
            </a:r>
            <a:r>
              <a:rPr lang="ko-KR" altLang="en-US" b="0" dirty="0"/>
              <a:t>→</a:t>
            </a:r>
            <a:r>
              <a:rPr lang="en-US" altLang="ko-KR" b="0" dirty="0">
                <a:sym typeface="Wingdings" panose="05000000000000000000" pitchFamily="2" charset="2"/>
              </a:rPr>
              <a:t> </a:t>
            </a:r>
            <a:r>
              <a:rPr lang="ko-KR" altLang="en-US" b="0" dirty="0"/>
              <a:t>기계어 목적 파일</a:t>
            </a:r>
            <a:r>
              <a:rPr lang="en-US" altLang="ko-KR" b="0" dirty="0"/>
              <a:t>(.obj)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E8714A-A3B3-251B-5ABA-33D1D9C885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4051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315A-8A61-47A0-492D-EDDB8700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25795-8C3E-FB6D-BA5A-C1DDDE07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 </a:t>
            </a:r>
            <a:r>
              <a:rPr lang="ko-KR" altLang="en-US" b="0" dirty="0"/>
              <a:t>컴파일과 빌드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0A675-8A60-81EF-39EC-D349991B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프로그램 빌드 과정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84BEC9-0466-08D1-15C6-3B9BE50B3B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FDA668-122D-1D44-5A76-DF1543B6B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444" y="1598042"/>
            <a:ext cx="6453588" cy="454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4F3F-4C2C-A123-935F-A37C47F7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9BED7-3757-7F39-A001-DBB8FF8C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2.5.1 </a:t>
            </a:r>
            <a:r>
              <a:rPr lang="ko-KR" altLang="en-US" b="0" dirty="0"/>
              <a:t>전처리</a:t>
            </a:r>
            <a:r>
              <a:rPr lang="en-US" altLang="ko-KR" b="0" dirty="0"/>
              <a:t>(Preprocessing) </a:t>
            </a:r>
            <a:r>
              <a:rPr lang="ko-KR" altLang="en-US" b="0" dirty="0"/>
              <a:t>단계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0F3CEC-92FE-0964-3EDB-4067D68D7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0" dirty="0"/>
              <a:t>전처리문</a:t>
            </a:r>
            <a:endParaRPr lang="en-US" altLang="ko-KR" sz="2000" b="0" dirty="0"/>
          </a:p>
          <a:p>
            <a:pPr lvl="1"/>
            <a:r>
              <a:rPr lang="en-US" altLang="ko-KR" sz="1800" dirty="0">
                <a:solidFill>
                  <a:srgbClr val="CC00FF"/>
                </a:solidFill>
              </a:rPr>
              <a:t>"#"</a:t>
            </a:r>
            <a:r>
              <a:rPr lang="en-US" altLang="ko-KR" sz="1800" b="0" dirty="0"/>
              <a:t> </a:t>
            </a:r>
            <a:r>
              <a:rPr lang="ko-KR" altLang="en-US" sz="1800" b="0" dirty="0"/>
              <a:t>으로</a:t>
            </a:r>
            <a:r>
              <a:rPr lang="en-US" altLang="ko-KR" sz="1800" b="0" dirty="0"/>
              <a:t> </a:t>
            </a:r>
            <a:r>
              <a:rPr lang="ko-KR" altLang="en-US" sz="1800" b="0" dirty="0"/>
              <a:t>시작</a:t>
            </a:r>
            <a:r>
              <a:rPr lang="en-US" altLang="ko-KR" sz="1800" b="0" dirty="0"/>
              <a:t>. Directive</a:t>
            </a:r>
          </a:p>
          <a:p>
            <a:pPr lvl="1"/>
            <a:endParaRPr lang="en-US" altLang="ko-KR" sz="2000" b="0" dirty="0"/>
          </a:p>
          <a:p>
            <a:r>
              <a:rPr lang="en-US" altLang="ko-KR" sz="2000" b="0" dirty="0"/>
              <a:t>#include </a:t>
            </a:r>
            <a:r>
              <a:rPr lang="ko-KR" altLang="en-US" sz="2000" b="0" dirty="0"/>
              <a:t>처리</a:t>
            </a:r>
            <a:endParaRPr lang="en-US" altLang="ko-KR" sz="2000" b="0" dirty="0"/>
          </a:p>
          <a:p>
            <a:pPr lvl="1"/>
            <a:r>
              <a:rPr lang="ko-KR" altLang="en-US" sz="1800" b="0" dirty="0"/>
              <a:t>지정된 헤더 파일의 내용을 현재 소스 코드에 삽입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매크로 확장</a:t>
            </a:r>
            <a:r>
              <a:rPr lang="en-US" altLang="ko-KR" sz="2000" b="0" dirty="0"/>
              <a:t>(#define)</a:t>
            </a:r>
          </a:p>
          <a:p>
            <a:pPr lvl="1"/>
            <a:r>
              <a:rPr lang="ko-KR" altLang="en-US" sz="1800" b="0" dirty="0"/>
              <a:t>정의된 매크로를 실제 값이나 코드 형태로 치환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조건부 컴파일</a:t>
            </a:r>
            <a:r>
              <a:rPr lang="en-US" altLang="ko-KR" sz="2000" b="0" dirty="0"/>
              <a:t>(#if, #ifdef, #ifndef, #elif)</a:t>
            </a:r>
          </a:p>
          <a:p>
            <a:pPr lvl="1"/>
            <a:r>
              <a:rPr lang="ko-KR" altLang="en-US" sz="1800" b="0" dirty="0"/>
              <a:t>지정된 조건에 따라 특정 코드 블록을 포함 또는 제외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주석 제거</a:t>
            </a:r>
            <a:endParaRPr lang="en-US" altLang="ko-KR" sz="2000" b="0" dirty="0"/>
          </a:p>
          <a:p>
            <a:pPr lvl="1"/>
            <a:r>
              <a:rPr lang="ko-KR" altLang="en-US" sz="1800" b="0" dirty="0"/>
              <a:t>주석 삭제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기타 지시문 처리</a:t>
            </a:r>
            <a:r>
              <a:rPr lang="en-US" altLang="ko-KR" sz="2000" b="0" dirty="0"/>
              <a:t>(#pragma, #line </a:t>
            </a:r>
            <a:r>
              <a:rPr lang="ko-KR" altLang="en-US" sz="2000" b="0" dirty="0"/>
              <a:t>등</a:t>
            </a:r>
            <a:r>
              <a:rPr lang="en-US" altLang="ko-KR" sz="2000" b="0" dirty="0"/>
              <a:t>)</a:t>
            </a:r>
          </a:p>
          <a:p>
            <a:pPr lvl="1"/>
            <a:r>
              <a:rPr lang="ko-KR" altLang="en-US" sz="1800" b="0" dirty="0"/>
              <a:t>컴파일러에 전달할 추가 지시나 설정을 처리</a:t>
            </a:r>
            <a:endParaRPr lang="en-US" altLang="ko-KR" sz="1800" b="0" dirty="0"/>
          </a:p>
          <a:p>
            <a:pPr lvl="2"/>
            <a:endParaRPr lang="en-US" altLang="ko-KR" sz="16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7320B5-9D5B-A4C3-D9C2-F7ED01983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7768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5E22-FCC6-D234-577C-6EE0FBCB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44844-A4BC-39D9-71F1-00B7DC7F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2.5.1 </a:t>
            </a:r>
            <a:r>
              <a:rPr lang="ko-KR" altLang="en-US" b="0" dirty="0"/>
              <a:t>전처리</a:t>
            </a:r>
            <a:r>
              <a:rPr lang="en-US" altLang="ko-KR" b="0" dirty="0"/>
              <a:t>(Preprocessing) </a:t>
            </a:r>
            <a:r>
              <a:rPr lang="ko-KR" altLang="en-US" b="0" dirty="0"/>
              <a:t>단계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4FA6D2-D6D6-BB4A-7666-9B9EC7F55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Visual Studio</a:t>
            </a:r>
            <a:r>
              <a:rPr lang="ko-KR" altLang="en-US" b="0" dirty="0"/>
              <a:t>에서 전처리 결과 확인</a:t>
            </a:r>
            <a:endParaRPr lang="en-US" altLang="ko-KR" b="0" dirty="0"/>
          </a:p>
          <a:p>
            <a:pPr lvl="1"/>
            <a:r>
              <a:rPr lang="ko-KR" altLang="en-US" b="0" dirty="0"/>
              <a:t>프로젝트 속성 → </a:t>
            </a:r>
            <a:r>
              <a:rPr lang="en-US" altLang="ko-KR" b="0" dirty="0"/>
              <a:t>C/C++ → </a:t>
            </a:r>
            <a:r>
              <a:rPr lang="ko-KR" altLang="en-US" b="0" dirty="0"/>
              <a:t>전처리기 →</a:t>
            </a:r>
            <a:br>
              <a:rPr lang="en-US" altLang="ko-KR" b="0" dirty="0"/>
            </a:br>
            <a:r>
              <a:rPr lang="ko-KR" altLang="en-US" b="0" dirty="0"/>
              <a:t>파일로 전처리 </a:t>
            </a:r>
            <a:r>
              <a:rPr lang="en-US" altLang="ko-KR" b="0" dirty="0"/>
              <a:t>(Preprocess to a File) → </a:t>
            </a:r>
            <a:r>
              <a:rPr lang="ko-KR" altLang="en-US" b="0" dirty="0"/>
              <a:t>예</a:t>
            </a:r>
            <a:r>
              <a:rPr lang="en-US" altLang="ko-KR" b="0" dirty="0"/>
              <a:t>(/P)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188807-9F53-5B9F-E849-0621CB7812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EBA4BF3-4E67-49BA-8D26-4C63FAAB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66" y="2420888"/>
            <a:ext cx="5540449" cy="146929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DA02AF-CDB0-5890-DF06-25CC94150D0C}"/>
              </a:ext>
            </a:extLst>
          </p:cNvPr>
          <p:cNvSpPr txBox="1"/>
          <p:nvPr/>
        </p:nvSpPr>
        <p:spPr>
          <a:xfrm>
            <a:off x="869466" y="4583440"/>
            <a:ext cx="4572000" cy="1200329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main.c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↓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전처리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main.i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2290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C654-194A-2EE9-CDD9-FBA41692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458E0-D640-839B-9C92-66DF844C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2.5.1 </a:t>
            </a:r>
            <a:r>
              <a:rPr lang="ko-KR" altLang="en-US" b="0" dirty="0"/>
              <a:t>전처리</a:t>
            </a:r>
            <a:r>
              <a:rPr lang="en-US" altLang="ko-KR" b="0" dirty="0"/>
              <a:t>(Preprocessing) </a:t>
            </a:r>
            <a:r>
              <a:rPr lang="ko-KR" altLang="en-US" b="0" dirty="0"/>
              <a:t>단계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102F1-EBF5-41B9-77DD-C1AE1AD08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전처리 전후 비교</a:t>
            </a:r>
            <a:endParaRPr lang="en-US" altLang="ko-KR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4B9BFC-392D-018A-8EA9-3FEE08E00E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8E0685A-BFFB-2151-6413-F28E40F36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1774"/>
            <a:ext cx="5356727" cy="2087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947851F2-7882-88B4-60DE-9069B9BD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4221088"/>
            <a:ext cx="4057684" cy="1036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6460FD9-621A-969C-E87D-129A1CDEF7C2}"/>
              </a:ext>
            </a:extLst>
          </p:cNvPr>
          <p:cNvSpPr/>
          <p:nvPr/>
        </p:nvSpPr>
        <p:spPr bwMode="auto">
          <a:xfrm>
            <a:off x="2555776" y="4365104"/>
            <a:ext cx="537270" cy="72008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975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EBFD70-395A-49F5-ECB6-29B7AAB7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2.5.2 </a:t>
            </a:r>
            <a:r>
              <a:rPr lang="ko-KR" altLang="en-US" b="0" dirty="0"/>
              <a:t>컴파일</a:t>
            </a:r>
            <a:r>
              <a:rPr lang="en-US" altLang="ko-KR" b="0" dirty="0"/>
              <a:t>(Compilation) </a:t>
            </a:r>
            <a:r>
              <a:rPr lang="ko-KR" altLang="en-US" b="0" dirty="0"/>
              <a:t>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C1305-D51A-1568-CDC5-87A87C240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중간 표현</a:t>
            </a:r>
            <a:r>
              <a:rPr lang="en-US" altLang="ko-KR" b="0" dirty="0"/>
              <a:t>(Intermediate Representation, IR)</a:t>
            </a:r>
          </a:p>
          <a:p>
            <a:pPr lvl="1"/>
            <a:r>
              <a:rPr lang="ko-KR" altLang="en-US" b="0" dirty="0"/>
              <a:t>최적화를 위해 사용하는 내부 코드 표현</a:t>
            </a:r>
          </a:p>
          <a:p>
            <a:endParaRPr lang="ko-KR" altLang="en-US" b="0" dirty="0"/>
          </a:p>
          <a:p>
            <a:r>
              <a:rPr lang="ko-KR" altLang="en-US" b="0" dirty="0"/>
              <a:t>최적화</a:t>
            </a:r>
            <a:r>
              <a:rPr lang="en-US" altLang="ko-KR" b="0" dirty="0"/>
              <a:t>(Optimization)</a:t>
            </a:r>
          </a:p>
          <a:p>
            <a:pPr lvl="1"/>
            <a:r>
              <a:rPr lang="ko-KR" altLang="en-US" b="0" dirty="0"/>
              <a:t>불필요한 연산 제거 및 코드 개선</a:t>
            </a:r>
            <a:endParaRPr lang="en-US" altLang="ko-KR" b="0" dirty="0"/>
          </a:p>
          <a:p>
            <a:pPr lvl="1"/>
            <a:r>
              <a:rPr lang="ko-KR" altLang="en-US" b="0" dirty="0"/>
              <a:t>최적화 옵션</a:t>
            </a:r>
            <a:endParaRPr lang="en-US" altLang="ko-KR" b="0" dirty="0"/>
          </a:p>
          <a:p>
            <a:pPr marL="914400" lvl="2" indent="0">
              <a:buNone/>
            </a:pPr>
            <a:r>
              <a:rPr lang="en-US" altLang="ko-KR" b="0" dirty="0">
                <a:latin typeface="Consolas" panose="020B0609020204030204" pitchFamily="49" charset="0"/>
              </a:rPr>
              <a:t>-O0(/Od) </a:t>
            </a:r>
            <a:r>
              <a:rPr lang="ko-KR" altLang="en-US" b="0" dirty="0">
                <a:latin typeface="Consolas" panose="020B0609020204030204" pitchFamily="49" charset="0"/>
              </a:rPr>
              <a:t>디버깅용</a:t>
            </a:r>
            <a:br>
              <a:rPr lang="en-US" altLang="ko-KR" b="0" dirty="0">
                <a:latin typeface="Consolas" panose="020B0609020204030204" pitchFamily="49" charset="0"/>
              </a:rPr>
            </a:br>
            <a:r>
              <a:rPr lang="en-US" altLang="ko-KR" b="0" dirty="0">
                <a:latin typeface="Consolas" panose="020B0609020204030204" pitchFamily="49" charset="0"/>
              </a:rPr>
              <a:t>-O1(/O1) </a:t>
            </a:r>
            <a:r>
              <a:rPr lang="ko-KR" altLang="en-US" b="0" dirty="0">
                <a:latin typeface="Consolas" panose="020B0609020204030204" pitchFamily="49" charset="0"/>
              </a:rPr>
              <a:t>기본 최적화</a:t>
            </a:r>
            <a:br>
              <a:rPr lang="en-US" altLang="ko-KR" b="0" dirty="0">
                <a:latin typeface="Consolas" panose="020B0609020204030204" pitchFamily="49" charset="0"/>
              </a:rPr>
            </a:br>
            <a:r>
              <a:rPr lang="en-US" altLang="ko-KR" b="0" dirty="0">
                <a:latin typeface="Consolas" panose="020B0609020204030204" pitchFamily="49" charset="0"/>
              </a:rPr>
              <a:t>-O2(/O2) </a:t>
            </a:r>
            <a:r>
              <a:rPr lang="ko-KR" altLang="en-US" b="0" dirty="0">
                <a:latin typeface="Consolas" panose="020B0609020204030204" pitchFamily="49" charset="0"/>
              </a:rPr>
              <a:t>속도 최적화</a:t>
            </a:r>
            <a:r>
              <a:rPr lang="en-US" altLang="ko-KR" b="0" dirty="0"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latin typeface="Consolas" panose="020B0609020204030204" pitchFamily="49" charset="0"/>
              </a:rPr>
              <a:t>릴리즈 빌드</a:t>
            </a:r>
            <a:r>
              <a:rPr lang="en-US" altLang="ko-KR" b="0" dirty="0">
                <a:latin typeface="Consolas" panose="020B0609020204030204" pitchFamily="49" charset="0"/>
              </a:rPr>
              <a:t>)</a:t>
            </a:r>
          </a:p>
          <a:p>
            <a:pPr marL="914400" lvl="2" indent="0">
              <a:buNone/>
            </a:pPr>
            <a:endParaRPr lang="ko-KR" altLang="en-US" b="0" dirty="0"/>
          </a:p>
          <a:p>
            <a:r>
              <a:rPr lang="ko-KR" altLang="en-US" b="0" dirty="0"/>
              <a:t>기계어 변환</a:t>
            </a:r>
            <a:r>
              <a:rPr lang="en-US" altLang="ko-KR" b="0" dirty="0"/>
              <a:t>(Code Generation)</a:t>
            </a:r>
          </a:p>
          <a:p>
            <a:pPr lvl="1"/>
            <a:r>
              <a:rPr lang="en-US" altLang="ko-KR" b="0" dirty="0"/>
              <a:t>CPU </a:t>
            </a:r>
            <a:r>
              <a:rPr lang="ko-KR" altLang="en-US" b="0" dirty="0"/>
              <a:t>아키텍처</a:t>
            </a:r>
            <a:r>
              <a:rPr lang="en-US" altLang="ko-KR" b="0" dirty="0"/>
              <a:t>(x86, ARM </a:t>
            </a:r>
            <a:r>
              <a:rPr lang="ko-KR" altLang="en-US" b="0" dirty="0"/>
              <a:t>등</a:t>
            </a:r>
            <a:r>
              <a:rPr lang="en-US" altLang="ko-KR" b="0" dirty="0"/>
              <a:t>)</a:t>
            </a:r>
            <a:r>
              <a:rPr lang="ko-KR" altLang="en-US" b="0" dirty="0"/>
              <a:t>에 맞는 기계어 생성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595B0B-3718-9037-CEBE-F3E09BB17D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807391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09C89-0E16-E269-DD07-3FD0A30FD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2.5.3 </a:t>
            </a:r>
            <a:r>
              <a:rPr lang="ko-KR" altLang="en-US" b="0" dirty="0"/>
              <a:t>링킹</a:t>
            </a:r>
            <a:r>
              <a:rPr lang="en-US" altLang="ko-KR" b="0" dirty="0"/>
              <a:t>(Linking)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A96F0-AA77-5EEF-18DE-FD3045E6A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0" dirty="0"/>
              <a:t>링커</a:t>
            </a:r>
            <a:r>
              <a:rPr lang="en-US" altLang="ko-KR" sz="2000" b="0" dirty="0"/>
              <a:t>(Linker)</a:t>
            </a:r>
          </a:p>
          <a:p>
            <a:pPr lvl="1"/>
            <a:r>
              <a:rPr lang="ko-KR" altLang="en-US" sz="1800" b="0" dirty="0">
                <a:latin typeface="+mn-ea"/>
              </a:rPr>
              <a:t>목적 파일</a:t>
            </a:r>
            <a:r>
              <a:rPr lang="en-US" altLang="ko-KR" sz="1800" b="0" dirty="0">
                <a:latin typeface="+mn-ea"/>
              </a:rPr>
              <a:t>(.obj) + </a:t>
            </a:r>
            <a:r>
              <a:rPr lang="ko-KR" altLang="en-US" sz="1800" b="0" dirty="0">
                <a:latin typeface="+mn-ea"/>
              </a:rPr>
              <a:t>정적 라이브러리 결합 </a:t>
            </a:r>
            <a:r>
              <a:rPr lang="ko-KR" altLang="en-US" sz="1800" b="0" dirty="0"/>
              <a:t>→</a:t>
            </a:r>
            <a:r>
              <a:rPr lang="en-US" altLang="ko-KR" sz="1800" b="0" dirty="0">
                <a:latin typeface="+mn-ea"/>
              </a:rPr>
              <a:t> </a:t>
            </a:r>
            <a:r>
              <a:rPr lang="ko-KR" altLang="en-US" sz="1800" b="0" dirty="0">
                <a:latin typeface="+mn-ea"/>
              </a:rPr>
              <a:t>실행 프로그램</a:t>
            </a:r>
            <a:r>
              <a:rPr lang="en-US" altLang="ko-KR" sz="1800" b="0" dirty="0">
                <a:latin typeface="+mn-ea"/>
              </a:rPr>
              <a:t>(.exe) </a:t>
            </a:r>
            <a:r>
              <a:rPr lang="ko-KR" altLang="en-US" sz="1800" b="0" dirty="0">
                <a:latin typeface="+mn-ea"/>
              </a:rPr>
              <a:t>생성</a:t>
            </a:r>
            <a:endParaRPr lang="en-US" altLang="ko-KR" sz="1800" b="0" dirty="0">
              <a:latin typeface="+mn-ea"/>
            </a:endParaRPr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정적 링크</a:t>
            </a:r>
            <a:r>
              <a:rPr lang="en-US" altLang="ko-KR" sz="2000" b="0" dirty="0"/>
              <a:t>(Static Linking)</a:t>
            </a:r>
          </a:p>
          <a:p>
            <a:pPr lvl="1"/>
            <a:r>
              <a:rPr lang="ko-KR" altLang="en-US" sz="1800" b="0" dirty="0"/>
              <a:t>프로그램 실행에 필요한 외부 코드</a:t>
            </a:r>
            <a:r>
              <a:rPr lang="en-US" altLang="ko-KR" sz="1800" b="0" dirty="0"/>
              <a:t>(</a:t>
            </a:r>
            <a:r>
              <a:rPr lang="ko-KR" altLang="en-US" sz="1800" b="0" dirty="0"/>
              <a:t>라이브러리</a:t>
            </a:r>
            <a:r>
              <a:rPr lang="en-US" altLang="ko-KR" sz="1800" b="0" dirty="0"/>
              <a:t>)</a:t>
            </a:r>
            <a:r>
              <a:rPr lang="ko-KR" altLang="en-US" sz="1800" b="0" dirty="0"/>
              <a:t>를 실행 파일 내부에 포함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심볼 해결</a:t>
            </a:r>
            <a:r>
              <a:rPr lang="en-US" altLang="ko-KR" sz="2000" b="0" dirty="0"/>
              <a:t>(Symbol Resolution)</a:t>
            </a:r>
          </a:p>
          <a:p>
            <a:pPr lvl="1"/>
            <a:r>
              <a:rPr lang="ko-KR" altLang="en-US" sz="1800" b="0" dirty="0"/>
              <a:t>함수와 변수의 정의와 참조가 올바르게 연결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주소 재배치</a:t>
            </a:r>
            <a:r>
              <a:rPr lang="en-US" altLang="ko-KR" sz="2000" b="0" dirty="0"/>
              <a:t>(Relocation)</a:t>
            </a:r>
          </a:p>
          <a:p>
            <a:pPr lvl="1"/>
            <a:r>
              <a:rPr lang="ko-KR" altLang="en-US" sz="1800" b="0" dirty="0"/>
              <a:t>프로그램이 메모리에 배치될 때 실제 주소로 수정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동적 링크 정보 저장</a:t>
            </a:r>
            <a:endParaRPr lang="en-US" altLang="ko-KR" sz="2000" b="0" dirty="0"/>
          </a:p>
          <a:p>
            <a:pPr lvl="1"/>
            <a:r>
              <a:rPr lang="ko-KR" altLang="en-US" sz="1800" b="0" dirty="0"/>
              <a:t>실행 시 필요한 동적 라이브러리 정보를 실행 파일에 기록</a:t>
            </a:r>
            <a:endParaRPr lang="en-US" altLang="ko-KR" sz="1800" b="0" dirty="0"/>
          </a:p>
          <a:p>
            <a:pPr lvl="2"/>
            <a:endParaRPr lang="en-US" altLang="ko-KR" sz="1400" b="0" dirty="0"/>
          </a:p>
          <a:p>
            <a:r>
              <a:rPr lang="ko-KR" altLang="en-US" sz="2000" b="0" dirty="0"/>
              <a:t>링크 타임 최적화</a:t>
            </a:r>
            <a:r>
              <a:rPr lang="en-US" altLang="ko-KR" sz="2000" b="0" dirty="0"/>
              <a:t>(LTO)</a:t>
            </a:r>
          </a:p>
          <a:p>
            <a:pPr lvl="1"/>
            <a:r>
              <a:rPr lang="ko-KR" altLang="en-US" sz="1800" b="0" dirty="0"/>
              <a:t>불필요한 연산 제거 및 코드 실행 효율 개선</a:t>
            </a:r>
            <a:endParaRPr lang="en-US" altLang="ko-KR" sz="1800" b="0" dirty="0"/>
          </a:p>
          <a:p>
            <a:endParaRPr lang="ko-KR" altLang="en-US" sz="24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77E95D-F0DC-AE05-1478-9F0E9AC31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31996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71D9-F25E-A219-051D-5EDA3ADB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30194-C45F-3C20-0FEE-BDB55732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2.5.3.1 Static Linking vs Dynamic Linking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AD02A-12C4-B0BA-BA8A-AA3342775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/>
              <a:t>Static Linking</a:t>
            </a:r>
          </a:p>
          <a:p>
            <a:pPr lvl="1"/>
            <a:r>
              <a:rPr lang="ko-KR" altLang="en-US" sz="2000" b="0" dirty="0"/>
              <a:t>빌드 시 링크 </a:t>
            </a:r>
            <a:endParaRPr lang="en-US" altLang="ko-KR" sz="2000" b="0" dirty="0"/>
          </a:p>
          <a:p>
            <a:pPr lvl="1"/>
            <a:r>
              <a:rPr lang="ko-KR" altLang="en-US" sz="2000" b="0" dirty="0"/>
              <a:t>라이브러리 코드가 실행 파일에 포함</a:t>
            </a:r>
          </a:p>
          <a:p>
            <a:pPr lvl="1"/>
            <a:r>
              <a:rPr lang="ko-KR" altLang="en-US" sz="2000" b="0" dirty="0"/>
              <a:t>실행 파일 크기 증가</a:t>
            </a:r>
          </a:p>
          <a:p>
            <a:pPr lvl="1"/>
            <a:r>
              <a:rPr lang="ko-KR" altLang="en-US" sz="2000" b="0" dirty="0"/>
              <a:t>배포 간단</a:t>
            </a:r>
            <a:endParaRPr lang="en-US" altLang="ko-KR" sz="2000" b="0" dirty="0"/>
          </a:p>
          <a:p>
            <a:pPr lvl="1"/>
            <a:endParaRPr lang="en-US" altLang="ko-KR" sz="2000" b="0" dirty="0"/>
          </a:p>
          <a:p>
            <a:r>
              <a:rPr lang="ko-KR" altLang="en-US" sz="2400" b="0" dirty="0"/>
              <a:t>링커에 라이브러리 추가 방법</a:t>
            </a:r>
          </a:p>
          <a:p>
            <a:pPr lvl="1"/>
            <a:r>
              <a:rPr lang="en-US" altLang="ko-KR" sz="2000" b="0" dirty="0"/>
              <a:t>Windows</a:t>
            </a:r>
          </a:p>
          <a:p>
            <a:pPr lvl="2"/>
            <a:r>
              <a:rPr lang="en-US" altLang="ko-KR" sz="1600" b="0" dirty="0"/>
              <a:t>pragma Directive </a:t>
            </a:r>
            <a:r>
              <a:rPr lang="ko-KR" altLang="en-US" sz="1600" b="0" dirty="0"/>
              <a:t>사용</a:t>
            </a:r>
          </a:p>
          <a:p>
            <a:pPr lvl="3"/>
            <a:r>
              <a:rPr lang="en-US" altLang="ko-KR" sz="1400" b="0" dirty="0"/>
              <a:t>#pragma comment(lib, "xxx.lib")</a:t>
            </a:r>
          </a:p>
          <a:p>
            <a:pPr lvl="2"/>
            <a:r>
              <a:rPr lang="en-US" altLang="ko-KR" sz="1600" b="0" dirty="0"/>
              <a:t>Visual Studio </a:t>
            </a:r>
            <a:r>
              <a:rPr lang="ko-KR" altLang="en-US" sz="1600" b="0" dirty="0"/>
              <a:t>프로젝트 설정</a:t>
            </a:r>
            <a:endParaRPr lang="en-US" altLang="ko-KR" sz="1600" b="0" dirty="0"/>
          </a:p>
          <a:p>
            <a:pPr lvl="2"/>
            <a:endParaRPr lang="en-US" altLang="ko-KR" sz="1600" b="0" dirty="0"/>
          </a:p>
          <a:p>
            <a:pPr lvl="2"/>
            <a:endParaRPr lang="en-US" altLang="ko-KR" sz="1600" b="0" dirty="0"/>
          </a:p>
          <a:p>
            <a:pPr lvl="2"/>
            <a:endParaRPr lang="ko-KR" altLang="en-US" sz="1600" b="0" dirty="0"/>
          </a:p>
          <a:p>
            <a:pPr lvl="1"/>
            <a:r>
              <a:rPr lang="en-US" altLang="ko-KR" sz="2000" b="0" dirty="0"/>
              <a:t>Android</a:t>
            </a:r>
          </a:p>
          <a:p>
            <a:pPr lvl="2"/>
            <a:r>
              <a:rPr lang="en-US" altLang="ko-KR" sz="1600" b="0" dirty="0"/>
              <a:t>.mk </a:t>
            </a:r>
            <a:r>
              <a:rPr lang="ko-KR" altLang="en-US" sz="1600" b="0" dirty="0"/>
              <a:t>파일</a:t>
            </a:r>
            <a:r>
              <a:rPr lang="en-US" altLang="ko-KR" sz="1600" b="0" dirty="0"/>
              <a:t>: LOCAL_STATIC_LIBRARIES := libmath</a:t>
            </a:r>
            <a:endParaRPr lang="ko-KR" altLang="en-US" sz="22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E8D516-9B4F-1634-3466-DF0A1C85C7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C6FBE7-91BD-17C5-7F97-A932F67D1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4653136"/>
            <a:ext cx="5438095" cy="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57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D124-7A4E-0FCD-C4A3-CC4061F5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4B05C-052C-2C52-BC28-91C529DA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2.5.3.1 Static Linking vs Dynamic Linking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24A704-60C7-B343-A3A4-0BECF5B3C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/>
              <a:t>Dynamic Linking</a:t>
            </a:r>
          </a:p>
          <a:p>
            <a:pPr lvl="1"/>
            <a:r>
              <a:rPr lang="ko-KR" altLang="en-US" sz="2000" b="0" dirty="0"/>
              <a:t>실행 시 링크</a:t>
            </a:r>
            <a:endParaRPr lang="en-US" altLang="ko-KR" sz="2000" b="0" dirty="0"/>
          </a:p>
          <a:p>
            <a:pPr lvl="1"/>
            <a:r>
              <a:rPr lang="ko-KR" altLang="en-US" sz="2000" b="0" dirty="0"/>
              <a:t>실행 시 </a:t>
            </a:r>
            <a:r>
              <a:rPr lang="en-US" altLang="ko-KR" sz="2000" b="0" dirty="0"/>
              <a:t>DLL/Shared Library </a:t>
            </a:r>
            <a:r>
              <a:rPr lang="ko-KR" altLang="en-US" sz="2000" b="0" dirty="0"/>
              <a:t>를 로드</a:t>
            </a:r>
          </a:p>
          <a:p>
            <a:pPr lvl="1"/>
            <a:r>
              <a:rPr lang="ko-KR" altLang="en-US" sz="2000" b="0" dirty="0"/>
              <a:t>실행 파일 크기 작음</a:t>
            </a:r>
          </a:p>
          <a:p>
            <a:pPr lvl="1"/>
            <a:r>
              <a:rPr lang="ko-KR" altLang="en-US" sz="2000" b="0" dirty="0"/>
              <a:t>여러 프로그램이 라이브러리 공유</a:t>
            </a:r>
            <a:endParaRPr lang="en-US" altLang="ko-KR" sz="2000" b="0" dirty="0"/>
          </a:p>
          <a:p>
            <a:pPr lvl="3"/>
            <a:endParaRPr lang="en-US" altLang="ko-KR" sz="1400" b="0" dirty="0"/>
          </a:p>
          <a:p>
            <a:r>
              <a:rPr lang="ko-KR" altLang="en-US" sz="2400" b="0" dirty="0"/>
              <a:t>암시적 동적 링킹 </a:t>
            </a:r>
            <a:r>
              <a:rPr lang="en-US" altLang="ko-KR" sz="2400" b="0" dirty="0"/>
              <a:t>(Implicit Linking)</a:t>
            </a:r>
          </a:p>
          <a:p>
            <a:pPr lvl="1"/>
            <a:r>
              <a:rPr lang="ko-KR" altLang="en-US" sz="2000" b="0" dirty="0"/>
              <a:t>프로그램 시작 시 </a:t>
            </a:r>
            <a:r>
              <a:rPr lang="en-US" altLang="ko-KR" sz="2000" b="0" dirty="0"/>
              <a:t>OS</a:t>
            </a:r>
            <a:r>
              <a:rPr lang="ko-KR" altLang="en-US" sz="2000" b="0" dirty="0"/>
              <a:t>가 </a:t>
            </a:r>
            <a:r>
              <a:rPr lang="en-US" altLang="ko-KR" sz="2000" b="0" dirty="0"/>
              <a:t>DLL</a:t>
            </a:r>
            <a:r>
              <a:rPr lang="ko-KR" altLang="en-US" sz="2000" b="0" dirty="0"/>
              <a:t>을 자동 로드</a:t>
            </a:r>
          </a:p>
          <a:p>
            <a:pPr lvl="1"/>
            <a:r>
              <a:rPr lang="ko-KR" altLang="en-US" sz="2000" b="0" dirty="0"/>
              <a:t>실행 파일의 </a:t>
            </a:r>
            <a:r>
              <a:rPr lang="en-US" altLang="ko-KR" sz="2000" b="0" dirty="0"/>
              <a:t>Import Table</a:t>
            </a:r>
            <a:r>
              <a:rPr lang="ko-KR" altLang="en-US" sz="2000" b="0" dirty="0"/>
              <a:t>을 이용</a:t>
            </a:r>
          </a:p>
          <a:p>
            <a:pPr lvl="3"/>
            <a:endParaRPr lang="en-US" altLang="ko-KR" sz="1400" b="0" dirty="0"/>
          </a:p>
          <a:p>
            <a:r>
              <a:rPr lang="ko-KR" altLang="en-US" sz="2400" b="0" dirty="0"/>
              <a:t>명시적 동적 링킹 </a:t>
            </a:r>
            <a:r>
              <a:rPr lang="en-US" altLang="ko-KR" sz="2400" b="0" dirty="0"/>
              <a:t>(Explicit Linking)</a:t>
            </a:r>
          </a:p>
          <a:p>
            <a:pPr lvl="1"/>
            <a:r>
              <a:rPr lang="ko-KR" altLang="en-US" sz="2000" b="0" dirty="0"/>
              <a:t>프로그램이 직접 </a:t>
            </a:r>
            <a:r>
              <a:rPr lang="en-US" altLang="ko-KR" sz="2000" b="0" dirty="0"/>
              <a:t>DLL/Shared Library </a:t>
            </a:r>
            <a:r>
              <a:rPr lang="ko-KR" altLang="en-US" sz="2000" b="0" dirty="0"/>
              <a:t>를 로드</a:t>
            </a:r>
            <a:endParaRPr lang="en-US" altLang="ko-KR" sz="2000" b="0" dirty="0"/>
          </a:p>
          <a:p>
            <a:pPr lvl="1"/>
            <a:r>
              <a:rPr lang="en-US" altLang="ko-KR" sz="2000" b="0" dirty="0"/>
              <a:t>Windows</a:t>
            </a:r>
            <a:endParaRPr lang="ko-KR" altLang="en-US" sz="2000" b="0" dirty="0"/>
          </a:p>
          <a:p>
            <a:pPr lvl="2"/>
            <a:r>
              <a:rPr lang="en-US" altLang="ko-KR" sz="1600" b="0" dirty="0"/>
              <a:t>LoadLibrary("xxx.dll");</a:t>
            </a:r>
          </a:p>
          <a:p>
            <a:pPr lvl="1"/>
            <a:r>
              <a:rPr lang="en-US" altLang="ko-KR" sz="2000" b="0" dirty="0"/>
              <a:t>NDK/IOS</a:t>
            </a:r>
          </a:p>
          <a:p>
            <a:pPr lvl="2"/>
            <a:r>
              <a:rPr lang="en-US" altLang="ko-KR" sz="1200" b="0" dirty="0"/>
              <a:t>dlopen("libxxx.so", RTLD_LAZY)</a:t>
            </a:r>
            <a:endParaRPr lang="ko-KR" altLang="en-US" sz="12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CE416B-4FB1-6F95-702B-5BD180840C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31678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C205B-44CE-2649-7218-E5CEA7D6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2.5.4 Windows </a:t>
            </a:r>
            <a:r>
              <a:rPr lang="ko-KR" altLang="en-US" b="0" dirty="0"/>
              <a:t>빌드 완성 </a:t>
            </a:r>
            <a:r>
              <a:rPr lang="en-US" altLang="ko-KR" b="0" dirty="0"/>
              <a:t>(Final Build)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CC1DD-FFC0-1E7F-165D-21718F611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b="0" dirty="0"/>
              <a:t>빌드</a:t>
            </a:r>
            <a:r>
              <a:rPr lang="en-US" altLang="ko-KR" sz="1800" b="0" dirty="0"/>
              <a:t>(Build)</a:t>
            </a:r>
          </a:p>
          <a:p>
            <a:pPr lvl="1"/>
            <a:r>
              <a:rPr lang="ko-KR" altLang="en-US" sz="1600" b="0" dirty="0"/>
              <a:t>전처리 → 컴파일 → 링크 → </a:t>
            </a:r>
            <a:r>
              <a:rPr lang="en-US" altLang="ko-KR" sz="1600" b="0" dirty="0"/>
              <a:t>exe</a:t>
            </a:r>
            <a:endParaRPr lang="ko-KR" altLang="en-US" sz="1600" b="0" dirty="0"/>
          </a:p>
          <a:p>
            <a:pPr lvl="1"/>
            <a:r>
              <a:rPr lang="ko-KR" altLang="en-US" sz="1600" b="0" dirty="0"/>
              <a:t>실행 가능한 프로그램 생성</a:t>
            </a:r>
          </a:p>
          <a:p>
            <a:endParaRPr lang="ko-KR" altLang="en-US" sz="1800" b="0" dirty="0"/>
          </a:p>
          <a:p>
            <a:r>
              <a:rPr lang="ko-KR" altLang="en-US" sz="1800" b="0" dirty="0"/>
              <a:t>빌드에 포함되는 요소</a:t>
            </a:r>
          </a:p>
          <a:p>
            <a:pPr lvl="1"/>
            <a:r>
              <a:rPr lang="ko-KR" altLang="en-US" sz="1600" b="0" dirty="0"/>
              <a:t>소스 코드</a:t>
            </a:r>
          </a:p>
          <a:p>
            <a:pPr lvl="1"/>
            <a:r>
              <a:rPr lang="ko-KR" altLang="en-US" sz="1600" b="0" dirty="0"/>
              <a:t>라이브러리</a:t>
            </a:r>
          </a:p>
          <a:p>
            <a:pPr lvl="1"/>
            <a:r>
              <a:rPr lang="ko-KR" altLang="en-US" sz="1600" b="0" dirty="0"/>
              <a:t>리소스</a:t>
            </a:r>
            <a:r>
              <a:rPr lang="en-US" altLang="ko-KR" sz="1600" b="0" dirty="0"/>
              <a:t>(</a:t>
            </a:r>
            <a:r>
              <a:rPr lang="ko-KR" altLang="en-US" sz="1600" b="0" dirty="0"/>
              <a:t>이미지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폰트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사운드 등</a:t>
            </a:r>
            <a:r>
              <a:rPr lang="en-US" altLang="ko-KR" sz="1600" b="0" dirty="0"/>
              <a:t>)</a:t>
            </a:r>
          </a:p>
          <a:p>
            <a:endParaRPr lang="en-US" altLang="ko-KR" sz="1800" b="0" dirty="0"/>
          </a:p>
          <a:p>
            <a:r>
              <a:rPr lang="en-US" altLang="ko-KR" sz="1800" b="0" dirty="0"/>
              <a:t>Windows </a:t>
            </a:r>
            <a:r>
              <a:rPr lang="ko-KR" altLang="en-US" sz="1800" b="0" dirty="0"/>
              <a:t>리소스 처리</a:t>
            </a:r>
          </a:p>
          <a:p>
            <a:pPr lvl="1"/>
            <a:r>
              <a:rPr lang="en-US" altLang="ko-KR" sz="1600" b="0" dirty="0"/>
              <a:t>.rc → .res → </a:t>
            </a:r>
            <a:r>
              <a:rPr lang="ko-KR" altLang="en-US" sz="1600" b="0" dirty="0"/>
              <a:t>실행 파일 포함</a:t>
            </a:r>
          </a:p>
          <a:p>
            <a:endParaRPr lang="ko-KR" altLang="en-US" sz="1800" b="0" dirty="0"/>
          </a:p>
          <a:p>
            <a:r>
              <a:rPr lang="ko-KR" altLang="en-US" sz="1800" b="0" dirty="0"/>
              <a:t>결과</a:t>
            </a:r>
          </a:p>
          <a:p>
            <a:pPr lvl="1"/>
            <a:r>
              <a:rPr lang="en-US" altLang="ko-KR" sz="1600" b="0" dirty="0"/>
              <a:t>.exe + </a:t>
            </a:r>
            <a:r>
              <a:rPr lang="ko-KR" altLang="en-US" sz="1600" b="0" dirty="0"/>
              <a:t>실행 리소스</a:t>
            </a:r>
            <a:endParaRPr lang="ko-KR" altLang="en-US" sz="2000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D92036-E3E6-C664-9129-88A4DD182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2453A8-5592-E02F-F3C9-1F6900078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379" y="908720"/>
            <a:ext cx="4996426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3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DDBDF-A70F-A452-70F4-D83CCA1D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2.5.4.1 Visual Studio </a:t>
            </a:r>
            <a:r>
              <a:rPr lang="ko-KR" altLang="en-US" b="0" dirty="0"/>
              <a:t>기능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A332E-A6AE-3841-D022-27FCB5693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IDE (Integrated Development Environment)</a:t>
            </a:r>
          </a:p>
          <a:p>
            <a:pPr lvl="1"/>
            <a:r>
              <a:rPr lang="ko-KR" altLang="en-US" b="0" dirty="0"/>
              <a:t>소스 코드 작성</a:t>
            </a:r>
            <a:r>
              <a:rPr lang="en-US" altLang="ko-KR" b="0" dirty="0"/>
              <a:t>, </a:t>
            </a:r>
            <a:r>
              <a:rPr lang="ko-KR" altLang="en-US" b="0" dirty="0"/>
              <a:t>컴파일</a:t>
            </a:r>
            <a:r>
              <a:rPr lang="en-US" altLang="ko-KR" b="0" dirty="0"/>
              <a:t>, </a:t>
            </a:r>
            <a:r>
              <a:rPr lang="ko-KR" altLang="en-US" b="0" dirty="0"/>
              <a:t>디버깅 등을 하나의 환경에서 수행할 수 있는 개발 도구</a:t>
            </a:r>
            <a:endParaRPr lang="en-US" altLang="ko-KR" b="0" dirty="0"/>
          </a:p>
          <a:p>
            <a:pPr lvl="1"/>
            <a:r>
              <a:rPr lang="en-US" altLang="ko-KR" b="0" dirty="0"/>
              <a:t>Editor</a:t>
            </a:r>
            <a:r>
              <a:rPr lang="ko-KR" altLang="en-US" b="0" dirty="0"/>
              <a:t> </a:t>
            </a:r>
            <a:r>
              <a:rPr lang="en-US" altLang="ko-KR" b="0" dirty="0"/>
              <a:t>+</a:t>
            </a:r>
            <a:r>
              <a:rPr lang="ko-KR" altLang="en-US" b="0" dirty="0"/>
              <a:t> 전처리기 </a:t>
            </a:r>
            <a:r>
              <a:rPr lang="en-US" altLang="ko-KR" b="0" dirty="0"/>
              <a:t>+ </a:t>
            </a:r>
            <a:r>
              <a:rPr lang="ko-KR" altLang="en-US" b="0" dirty="0"/>
              <a:t>컴파일러 </a:t>
            </a:r>
            <a:r>
              <a:rPr lang="en-US" altLang="ko-KR" b="0" dirty="0"/>
              <a:t>+ </a:t>
            </a:r>
            <a:r>
              <a:rPr lang="ko-KR" altLang="en-US" b="0" dirty="0"/>
              <a:t>링크 </a:t>
            </a:r>
            <a:r>
              <a:rPr lang="en-US" altLang="ko-KR" b="0" dirty="0"/>
              <a:t>+ </a:t>
            </a:r>
            <a:r>
              <a:rPr lang="ko-KR" altLang="en-US" b="0" dirty="0"/>
              <a:t>디버깅 기능</a:t>
            </a:r>
            <a:endParaRPr lang="en-US" altLang="ko-KR" b="0" dirty="0"/>
          </a:p>
          <a:p>
            <a:pPr lvl="1"/>
            <a:endParaRPr lang="ko-KR" altLang="en-US" b="0" dirty="0"/>
          </a:p>
          <a:p>
            <a:r>
              <a:rPr lang="en-US" altLang="ko-KR" b="0" dirty="0"/>
              <a:t>Visual studio </a:t>
            </a:r>
            <a:r>
              <a:rPr lang="ko-KR" altLang="en-US" b="0" dirty="0"/>
              <a:t>솔루션 빌드 </a:t>
            </a:r>
            <a:r>
              <a:rPr lang="en-US" altLang="ko-KR" b="0" dirty="0"/>
              <a:t>/ </a:t>
            </a:r>
            <a:r>
              <a:rPr lang="ko-KR" altLang="en-US" b="0" dirty="0"/>
              <a:t>컴파일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175E74-DA15-F202-00FE-FBFA9CAC58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E2D9A1-9088-C2AA-D2DF-B32A2BC35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501721"/>
            <a:ext cx="3445947" cy="2989387"/>
          </a:xfrm>
          <a:prstGeom prst="rect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623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0C162-AB53-84B7-3FEC-973A34CC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2.6 </a:t>
            </a:r>
            <a:r>
              <a:rPr lang="ko-KR" altLang="en-US" b="0" dirty="0"/>
              <a:t>주석</a:t>
            </a:r>
            <a:r>
              <a:rPr lang="en-US" altLang="ko-KR" b="0" dirty="0"/>
              <a:t>(Comment)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6A5BA-FED3-C68F-D719-A4249283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주석</a:t>
            </a:r>
            <a:endParaRPr lang="en-US" altLang="ko-KR" b="0" dirty="0"/>
          </a:p>
          <a:p>
            <a:pPr lvl="1"/>
            <a:r>
              <a:rPr lang="ko-KR" altLang="en-US" b="0" dirty="0"/>
              <a:t>프로그램에 대한 설명을 작성하는 문장</a:t>
            </a:r>
            <a:endParaRPr lang="en-US" altLang="ko-KR" b="0" dirty="0"/>
          </a:p>
          <a:p>
            <a:pPr lvl="1"/>
            <a:r>
              <a:rPr lang="ko-KR" altLang="en-US" b="0" dirty="0"/>
              <a:t>코드 의도 설명 → 가독성 및 유지보수 향상</a:t>
            </a:r>
          </a:p>
          <a:p>
            <a:pPr lvl="1"/>
            <a:r>
              <a:rPr lang="ko-KR" altLang="en-US" b="0" dirty="0"/>
              <a:t>컴파일러는 주석을 무시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라인 주석 </a:t>
            </a:r>
            <a:r>
              <a:rPr lang="en-US" altLang="ko-KR" b="0" dirty="0"/>
              <a:t>(Line Comment)</a:t>
            </a:r>
          </a:p>
          <a:p>
            <a:pPr lvl="1"/>
            <a:r>
              <a:rPr lang="ko-KR" altLang="en-US" b="0" dirty="0"/>
              <a:t>한 줄 주석</a:t>
            </a:r>
            <a:endParaRPr lang="en-US" altLang="ko-KR" b="0" dirty="0"/>
          </a:p>
          <a:p>
            <a:pPr lvl="1"/>
            <a:r>
              <a:rPr lang="en-US" altLang="ko-KR" b="0" dirty="0"/>
              <a:t>// </a:t>
            </a:r>
            <a:r>
              <a:rPr lang="ko-KR" altLang="en-US" b="0" dirty="0"/>
              <a:t>로 시작</a:t>
            </a:r>
            <a:endParaRPr lang="en-US" altLang="ko-KR" b="0" dirty="0"/>
          </a:p>
          <a:p>
            <a:pPr lvl="1"/>
            <a:endParaRPr lang="en-US" altLang="ko-KR" b="0" dirty="0"/>
          </a:p>
          <a:p>
            <a:r>
              <a:rPr lang="ko-KR" altLang="en-US" b="0" dirty="0"/>
              <a:t>블록 주석</a:t>
            </a:r>
            <a:r>
              <a:rPr lang="en-US" altLang="ko-KR" b="0" dirty="0"/>
              <a:t>(Block Comment)</a:t>
            </a:r>
          </a:p>
          <a:p>
            <a:pPr lvl="1"/>
            <a:r>
              <a:rPr lang="ko-KR" altLang="en-US" b="0" dirty="0"/>
              <a:t>여러 줄 주석</a:t>
            </a:r>
            <a:endParaRPr lang="en-US" altLang="ko-KR" b="0" dirty="0"/>
          </a:p>
          <a:p>
            <a:pPr lvl="1"/>
            <a:r>
              <a:rPr lang="en-US" altLang="ko-KR" b="0" dirty="0"/>
              <a:t>/* </a:t>
            </a:r>
            <a:r>
              <a:rPr lang="ko-KR" altLang="en-US" b="0" dirty="0"/>
              <a:t>로 시작</a:t>
            </a:r>
            <a:r>
              <a:rPr lang="en-US" altLang="ko-KR" b="0" dirty="0"/>
              <a:t>, */</a:t>
            </a:r>
            <a:r>
              <a:rPr lang="ko-KR" altLang="en-US" b="0" dirty="0"/>
              <a:t>로</a:t>
            </a:r>
            <a:r>
              <a:rPr lang="en-US" altLang="ko-KR" b="0" dirty="0"/>
              <a:t> </a:t>
            </a:r>
            <a:r>
              <a:rPr lang="ko-KR" altLang="en-US" b="0" dirty="0"/>
              <a:t>종결</a:t>
            </a:r>
            <a:endParaRPr lang="en-US" altLang="ko-KR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B0A921-55B7-B84E-40E0-06A8D18844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3774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0F4C-5A64-FDF5-0083-BE2D48CF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03087-B906-A525-FE3F-9873F19C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2.6 </a:t>
            </a:r>
            <a:r>
              <a:rPr lang="ko-KR" altLang="en-US" b="0" dirty="0"/>
              <a:t>주석</a:t>
            </a:r>
            <a:r>
              <a:rPr lang="en-US" altLang="ko-KR" b="0" dirty="0"/>
              <a:t>(Comment)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7B4142-B19B-5691-6244-DA78D015D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라인 주석 예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ko-KR" altLang="en-US" dirty="0"/>
              <a:t>블록 주석 예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1FE1BC-3B55-CBEB-48CF-27AAFCD34A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B5627-2AB2-A2B2-4945-979ED2EDCF3B}"/>
              </a:ext>
            </a:extLst>
          </p:cNvPr>
          <p:cNvSpPr txBox="1"/>
          <p:nvPr/>
        </p:nvSpPr>
        <p:spPr>
          <a:xfrm>
            <a:off x="899592" y="1268760"/>
            <a:ext cx="6552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이력서를 출력해 봅시다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자기 소개서를 작성 해봅시다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22AAB-1BEE-5F62-E864-E6CD384212D0}"/>
              </a:ext>
            </a:extLst>
          </p:cNvPr>
          <p:cNvSpPr txBox="1"/>
          <p:nvPr/>
        </p:nvSpPr>
        <p:spPr>
          <a:xfrm>
            <a:off x="899592" y="3212976"/>
            <a:ext cx="6480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/*</a:t>
            </a:r>
            <a:b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여러 줄에 걸쳐 설명을 작성할 수 있는 주석입니다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프로그램의 기능이나 중요한 내용을 문서화할 때 사용됩니다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라인 주석이 있어도 됩니다</a:t>
            </a:r>
            <a:r>
              <a:rPr lang="en-US" altLang="ko-KR" sz="1800" i="1" dirty="0">
                <a:solidFill>
                  <a:srgbClr val="A0A1A7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*/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239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83490-B52E-5EBC-1797-A9FA8293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 </a:t>
            </a:r>
            <a:r>
              <a:rPr lang="ko-KR" altLang="en-US" b="0" dirty="0"/>
              <a:t>프로그램 구성 요소와 기본 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21846-87B1-272E-8DA1-650BC0E24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이력서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CF9E95-DC9B-C64A-0B0A-D4B5DF2810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08A3E-DE98-715C-D260-A8DF993A294A}"/>
              </a:ext>
            </a:extLst>
          </p:cNvPr>
          <p:cNvSpPr txBox="1"/>
          <p:nvPr/>
        </p:nvSpPr>
        <p:spPr>
          <a:xfrm>
            <a:off x="323528" y="1628800"/>
            <a:ext cx="8640960" cy="4247317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"++++++++++++++++++++++++++++++++++++++++++++++++\n"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이력서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"++++++++++++++++++++++++++++++++++++++++++++++++\n"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성  명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오세명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나  이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주  소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서울시 개발구 게임동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연락처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%s-%s-%s 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"010"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"1245"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"6789"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413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68044-5E33-1A2F-DE1A-F3856639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2.7.1 </a:t>
            </a:r>
            <a:r>
              <a:rPr lang="ko-KR" altLang="en-US" b="0" dirty="0"/>
              <a:t>전처리 지시문 </a:t>
            </a:r>
            <a:r>
              <a:rPr lang="en-US" altLang="ko-KR" b="0" dirty="0"/>
              <a:t>#include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6885F-6A62-A402-8132-34BAD60FA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0" dirty="0"/>
              <a:t>C </a:t>
            </a:r>
            <a:r>
              <a:rPr lang="ko-KR" altLang="en-US" sz="2400" b="0" dirty="0"/>
              <a:t>언어 함수 사용 규칙</a:t>
            </a:r>
            <a:endParaRPr lang="en-US" altLang="ko-KR" sz="2400" b="0" dirty="0"/>
          </a:p>
          <a:p>
            <a:pPr lvl="1"/>
            <a:r>
              <a:rPr lang="ko-KR" altLang="en-US" sz="2000" b="0" dirty="0"/>
              <a:t>함수 사용 시 함수 원형</a:t>
            </a:r>
            <a:r>
              <a:rPr lang="en-US" altLang="ko-KR" sz="2000" b="0" dirty="0"/>
              <a:t>(Function Prototype) </a:t>
            </a:r>
            <a:r>
              <a:rPr lang="ko-KR" altLang="en-US" sz="2000" b="0" dirty="0"/>
              <a:t>필요</a:t>
            </a:r>
          </a:p>
          <a:p>
            <a:pPr lvl="1"/>
            <a:r>
              <a:rPr lang="en-US" altLang="ko-KR" sz="2000" b="0" dirty="0"/>
              <a:t>#include : </a:t>
            </a:r>
            <a:r>
              <a:rPr lang="ko-KR" altLang="en-US" sz="2000" b="0" dirty="0"/>
              <a:t>함수 선언이 있는 헤더 파일</a:t>
            </a:r>
            <a:r>
              <a:rPr lang="en-US" altLang="ko-KR" sz="2000" b="0" dirty="0"/>
              <a:t>(.h) </a:t>
            </a:r>
            <a:r>
              <a:rPr lang="ko-KR" altLang="en-US" sz="2000" b="0" dirty="0"/>
              <a:t>포함</a:t>
            </a:r>
            <a:endParaRPr lang="en-US" altLang="ko-KR" sz="2000" b="0" dirty="0"/>
          </a:p>
          <a:p>
            <a:pPr lvl="2"/>
            <a:endParaRPr lang="ko-KR" altLang="en-US" sz="1600" b="0" dirty="0"/>
          </a:p>
          <a:p>
            <a:r>
              <a:rPr lang="en-US" altLang="ko-KR" sz="2400" b="0" dirty="0"/>
              <a:t>#include</a:t>
            </a:r>
          </a:p>
          <a:p>
            <a:pPr lvl="1"/>
            <a:r>
              <a:rPr lang="ko-KR" altLang="en-US" sz="2000" b="0" dirty="0"/>
              <a:t>해당 파일을 소스 코드에 포함</a:t>
            </a:r>
          </a:p>
          <a:p>
            <a:pPr lvl="1"/>
            <a:r>
              <a:rPr lang="en-US" altLang="ko-KR" sz="2000" b="0" dirty="0"/>
              <a:t>#include &lt;</a:t>
            </a:r>
            <a:r>
              <a:rPr lang="ko-KR" altLang="en-US" sz="2000" b="0" dirty="0"/>
              <a:t>파일명</a:t>
            </a:r>
            <a:r>
              <a:rPr lang="en-US" altLang="ko-KR" sz="2000" b="0" dirty="0"/>
              <a:t>&gt;</a:t>
            </a:r>
          </a:p>
          <a:p>
            <a:pPr lvl="2"/>
            <a:r>
              <a:rPr lang="ko-KR" altLang="en-US" sz="1600" b="0" dirty="0"/>
              <a:t>전처리기가 표준 라이브러리 경로에서 파일을 찾음</a:t>
            </a:r>
          </a:p>
          <a:p>
            <a:pPr lvl="1"/>
            <a:r>
              <a:rPr lang="en-US" altLang="ko-KR" sz="2000" b="0" dirty="0"/>
              <a:t>#include "</a:t>
            </a:r>
            <a:r>
              <a:rPr lang="ko-KR" altLang="en-US" sz="2000" b="0" dirty="0"/>
              <a:t>파일명</a:t>
            </a:r>
            <a:r>
              <a:rPr lang="en-US" altLang="ko-KR" sz="2000" b="0" dirty="0"/>
              <a:t>"</a:t>
            </a:r>
          </a:p>
          <a:p>
            <a:pPr lvl="2"/>
            <a:r>
              <a:rPr lang="ko-KR" altLang="en-US" sz="1600" b="0" dirty="0"/>
              <a:t>전처리기가 현재 프로젝트 폴더 또는 사용자 지정 경로에서 파일을 찾음</a:t>
            </a:r>
          </a:p>
          <a:p>
            <a:endParaRPr lang="ko-KR" altLang="en-US" sz="2400" b="0" dirty="0"/>
          </a:p>
          <a:p>
            <a:r>
              <a:rPr lang="en-US" altLang="ko-KR" sz="2400" b="0" dirty="0"/>
              <a:t>#include &lt;stdio.h&gt;</a:t>
            </a:r>
          </a:p>
          <a:p>
            <a:pPr lvl="1"/>
            <a:r>
              <a:rPr lang="ko-KR" altLang="en-US" sz="2000" b="0" dirty="0"/>
              <a:t>표준 라이브러리 경로의 </a:t>
            </a:r>
            <a:r>
              <a:rPr lang="en-US" altLang="ko-KR" sz="2000" b="0" dirty="0"/>
              <a:t>stdio.h</a:t>
            </a:r>
            <a:r>
              <a:rPr lang="ko-KR" altLang="en-US" sz="2000" b="0" dirty="0"/>
              <a:t>를 소스 코드에 포함</a:t>
            </a:r>
            <a:endParaRPr lang="en-US" altLang="ko-KR" sz="2000" b="0" dirty="0"/>
          </a:p>
          <a:p>
            <a:pPr lvl="1"/>
            <a:r>
              <a:rPr lang="en-US" altLang="ko-KR" sz="2000" b="0" dirty="0"/>
              <a:t>stdio.h : </a:t>
            </a:r>
            <a:r>
              <a:rPr lang="ko-KR" altLang="en-US" sz="2000" b="0" dirty="0"/>
              <a:t>표준 입출력</a:t>
            </a:r>
            <a:r>
              <a:rPr lang="en-US" altLang="ko-KR" sz="2000" b="0" dirty="0"/>
              <a:t>(standard input output)</a:t>
            </a:r>
            <a:r>
              <a:rPr lang="ko-KR" altLang="en-US" sz="2000" b="0" dirty="0"/>
              <a:t> 헤더파일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FAEB63-8DDC-85F5-57B9-BF84987DBD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84785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2896-13AF-ADD9-37BE-8AA228E2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C2607-E071-E35A-FB6C-ED737529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2.7.1.1 #include "" &lt;&gt;  </a:t>
            </a:r>
            <a:r>
              <a:rPr lang="ko-KR" altLang="en-US" b="0" dirty="0"/>
              <a:t>검색 순서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5E051-D9F0-9CA5-FABA-3D84CBBD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#include "", &lt;&gt; </a:t>
            </a:r>
            <a:r>
              <a:rPr lang="ko-KR" altLang="en-US" b="0" dirty="0"/>
              <a:t>검색 순서</a:t>
            </a:r>
          </a:p>
          <a:p>
            <a:pPr lvl="1"/>
            <a:r>
              <a:rPr lang="en-US" altLang="ko-KR" b="0" dirty="0"/>
              <a:t>#include "file.h"</a:t>
            </a:r>
          </a:p>
          <a:p>
            <a:pPr lvl="1"/>
            <a:r>
              <a:rPr lang="ko-KR" altLang="en-US" b="0" dirty="0"/>
              <a:t>현재 소스 파일 폴더에서 먼저 검색</a:t>
            </a:r>
          </a:p>
          <a:p>
            <a:pPr lvl="1"/>
            <a:r>
              <a:rPr lang="ko-KR" altLang="en-US" b="0" dirty="0"/>
              <a:t>없으면 표준 라이브러리 경로에서 검색</a:t>
            </a:r>
          </a:p>
          <a:p>
            <a:endParaRPr lang="ko-KR" altLang="en-US" b="0" dirty="0"/>
          </a:p>
          <a:p>
            <a:r>
              <a:rPr lang="en-US" altLang="ko-KR" b="0" dirty="0"/>
              <a:t>#include &lt;file.h&gt;</a:t>
            </a:r>
          </a:p>
          <a:p>
            <a:pPr lvl="1"/>
            <a:r>
              <a:rPr lang="ko-KR" altLang="en-US" b="0" dirty="0"/>
              <a:t>표준 라이브러리 경로에서 검색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B4F9C9-514C-C745-D0A1-42CFD1562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56391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0C369-4025-5E65-1DE8-D76E3545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2.7.2 printf() </a:t>
            </a:r>
            <a:r>
              <a:rPr lang="ko-KR" altLang="en-US" b="0" dirty="0"/>
              <a:t>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956A8F-49AF-F2A7-A1AF-55FC15861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printf()</a:t>
            </a:r>
          </a:p>
          <a:p>
            <a:pPr lvl="1"/>
            <a:r>
              <a:rPr lang="ko-KR" altLang="en-US" dirty="0"/>
              <a:t>문자열을 화면</a:t>
            </a:r>
            <a:r>
              <a:rPr lang="en-US" altLang="ko-KR" dirty="0"/>
              <a:t>(</a:t>
            </a:r>
            <a:r>
              <a:rPr lang="ko-KR" altLang="en-US" dirty="0"/>
              <a:t>콘솔</a:t>
            </a:r>
            <a:r>
              <a:rPr lang="en-US" altLang="ko-KR" dirty="0"/>
              <a:t>)</a:t>
            </a:r>
            <a:r>
              <a:rPr lang="ko-KR" altLang="en-US" dirty="0"/>
              <a:t>에 출력하는 </a:t>
            </a:r>
            <a:r>
              <a:rPr lang="en-US" altLang="ko-KR" dirty="0"/>
              <a:t>C </a:t>
            </a:r>
            <a:r>
              <a:rPr lang="ko-KR" altLang="en-US" dirty="0"/>
              <a:t>표준 라이브러리 함수</a:t>
            </a:r>
          </a:p>
          <a:p>
            <a:pPr lvl="1"/>
            <a:r>
              <a:rPr lang="ko-KR" altLang="en-US" dirty="0"/>
              <a:t>형식 지정자</a:t>
            </a:r>
            <a:r>
              <a:rPr lang="en-US" altLang="ko-KR" dirty="0"/>
              <a:t>(format specifier)</a:t>
            </a:r>
            <a:r>
              <a:rPr lang="ko-KR" altLang="en-US" dirty="0"/>
              <a:t>를 사용하여 변수 값 출력</a:t>
            </a:r>
            <a:endParaRPr lang="en-US" altLang="ko-KR" dirty="0"/>
          </a:p>
          <a:p>
            <a:pPr lvl="1"/>
            <a:r>
              <a:rPr lang="ko-KR" altLang="en-US" dirty="0"/>
              <a:t>가장 많이 사용하는 함수 중 하나로</a:t>
            </a:r>
            <a:br>
              <a:rPr lang="en-US" altLang="ko-KR" dirty="0"/>
            </a:br>
            <a:r>
              <a:rPr lang="ko-KR" altLang="en-US" dirty="0"/>
              <a:t>프로그램 상태 확인 및 디버깅에 자주 사용</a:t>
            </a:r>
          </a:p>
          <a:p>
            <a:endParaRPr lang="ko-KR" altLang="en-US" dirty="0"/>
          </a:p>
          <a:p>
            <a:r>
              <a:rPr lang="ko-KR" altLang="en-US" dirty="0"/>
              <a:t>사용 전 헤더 파일 포함</a:t>
            </a:r>
            <a:endParaRPr lang="en-US" altLang="ko-KR" dirty="0"/>
          </a:p>
          <a:p>
            <a:pPr lvl="1"/>
            <a:r>
              <a:rPr lang="en-US" altLang="ko-KR" dirty="0"/>
              <a:t>#include </a:t>
            </a:r>
            <a:r>
              <a:rPr lang="en-US" altLang="ko-KR" dirty="0">
                <a:solidFill>
                  <a:srgbClr val="CC00FF"/>
                </a:solidFill>
              </a:rPr>
              <a:t>&lt;stdio.h&gt;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3E3733-6C33-3F1A-2925-25AC83FBE0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9808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20577-FCE5-185D-50E5-A1D0D66D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2.7.3 </a:t>
            </a:r>
            <a:r>
              <a:rPr lang="ko-KR" altLang="en-US" b="0" dirty="0"/>
              <a:t>형식 지정자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7DC9B-A29A-A2A8-BDC5-74EC0F06F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형식 지정자</a:t>
            </a:r>
            <a:endParaRPr lang="en-US" altLang="ko-KR" sz="2400" dirty="0"/>
          </a:p>
          <a:p>
            <a:pPr lvl="1"/>
            <a:r>
              <a:rPr lang="ko-KR" altLang="en-US" sz="2000" dirty="0"/>
              <a:t>변수 값을 지정된 형식으로 출력</a:t>
            </a:r>
            <a:endParaRPr lang="en-US" altLang="ko-KR" sz="2000" dirty="0"/>
          </a:p>
          <a:p>
            <a:pPr lvl="1"/>
            <a:r>
              <a:rPr lang="ko-KR" altLang="en-US" sz="2000" dirty="0"/>
              <a:t>형식 지정자와 인수</a:t>
            </a:r>
            <a:r>
              <a:rPr lang="en-US" altLang="ko-KR" sz="2000" dirty="0"/>
              <a:t>(argument)</a:t>
            </a:r>
            <a:r>
              <a:rPr lang="ko-KR" altLang="en-US" sz="2000" dirty="0"/>
              <a:t>의 개수는 반드시 일치</a:t>
            </a:r>
            <a:endParaRPr lang="en-US" altLang="ko-KR" sz="2000" dirty="0"/>
          </a:p>
          <a:p>
            <a:endParaRPr lang="ko-KR" altLang="en-US" sz="2400" dirty="0"/>
          </a:p>
          <a:p>
            <a:r>
              <a:rPr lang="ko-KR" altLang="en-US" sz="2400" dirty="0"/>
              <a:t>주요 형식 지정자</a:t>
            </a:r>
          </a:p>
          <a:p>
            <a:pPr lvl="1"/>
            <a:r>
              <a:rPr lang="en-US" altLang="ko-KR" sz="2000" dirty="0"/>
              <a:t>%d  : </a:t>
            </a:r>
            <a:r>
              <a:rPr lang="ko-KR" altLang="en-US" sz="2000" dirty="0"/>
              <a:t>부호 있는 정수</a:t>
            </a:r>
          </a:p>
          <a:p>
            <a:pPr lvl="1"/>
            <a:r>
              <a:rPr lang="en-US" altLang="ko-KR" sz="2000" dirty="0"/>
              <a:t>%u  : </a:t>
            </a:r>
            <a:r>
              <a:rPr lang="ko-KR" altLang="en-US" sz="2000" dirty="0"/>
              <a:t>부호 없는 정수</a:t>
            </a:r>
          </a:p>
          <a:p>
            <a:pPr lvl="1"/>
            <a:r>
              <a:rPr lang="en-US" altLang="ko-KR" sz="2000" dirty="0"/>
              <a:t>%c  : </a:t>
            </a:r>
            <a:r>
              <a:rPr lang="ko-KR" altLang="en-US" sz="2000" dirty="0"/>
              <a:t>문자</a:t>
            </a:r>
          </a:p>
          <a:p>
            <a:pPr lvl="1"/>
            <a:r>
              <a:rPr lang="en-US" altLang="ko-KR" sz="2000" dirty="0"/>
              <a:t>%s  : </a:t>
            </a:r>
            <a:r>
              <a:rPr lang="ko-KR" altLang="en-US" sz="2000" dirty="0"/>
              <a:t>문자열</a:t>
            </a:r>
          </a:p>
          <a:p>
            <a:pPr lvl="1"/>
            <a:r>
              <a:rPr lang="en-US" altLang="ko-KR" sz="2000" dirty="0"/>
              <a:t>%f  : </a:t>
            </a:r>
            <a:r>
              <a:rPr lang="ko-KR" altLang="en-US" sz="2000" dirty="0"/>
              <a:t>실수</a:t>
            </a:r>
            <a:r>
              <a:rPr lang="en-US" altLang="ko-KR" sz="2000" dirty="0"/>
              <a:t>(</a:t>
            </a:r>
            <a:r>
              <a:rPr lang="ko-KR" altLang="en-US" sz="2000" dirty="0"/>
              <a:t>부동소수점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%x  : 16</a:t>
            </a:r>
            <a:r>
              <a:rPr lang="ko-KR" altLang="en-US" sz="2000" dirty="0"/>
              <a:t>진수 </a:t>
            </a:r>
            <a:r>
              <a:rPr lang="en-US" altLang="ko-KR" sz="2000" dirty="0"/>
              <a:t>(a~f)</a:t>
            </a:r>
          </a:p>
          <a:p>
            <a:pPr lvl="1"/>
            <a:r>
              <a:rPr lang="en-US" altLang="ko-KR" sz="2000" dirty="0"/>
              <a:t>%X  : 16</a:t>
            </a:r>
            <a:r>
              <a:rPr lang="ko-KR" altLang="en-US" sz="2000" dirty="0"/>
              <a:t>진수 </a:t>
            </a:r>
            <a:r>
              <a:rPr lang="en-US" altLang="ko-KR" sz="2000" dirty="0"/>
              <a:t>(A~F)</a:t>
            </a:r>
          </a:p>
          <a:p>
            <a:pPr lvl="1"/>
            <a:r>
              <a:rPr lang="en-US" altLang="ko-KR" sz="2000" dirty="0"/>
              <a:t>%p  : </a:t>
            </a:r>
            <a:r>
              <a:rPr lang="ko-KR" altLang="en-US" sz="2000" dirty="0"/>
              <a:t>주소</a:t>
            </a:r>
          </a:p>
          <a:p>
            <a:pPr lvl="1"/>
            <a:r>
              <a:rPr lang="en-US" altLang="ko-KR" sz="2000" dirty="0"/>
              <a:t>%zu : size_t (sizeof </a:t>
            </a:r>
            <a:r>
              <a:rPr lang="ko-KR" altLang="en-US" sz="2000" dirty="0"/>
              <a:t>결과 출력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06C6F1-C256-DCA8-F446-0CB0515AB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653130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5DEEE-7B07-F913-C4BF-AD45EEEB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2.7.3 </a:t>
            </a:r>
            <a:r>
              <a:rPr lang="ko-KR" altLang="en-US" b="0" dirty="0"/>
              <a:t>형식 지정자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4BEF6D-5162-96A6-9A98-B7F648E86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형식 지정자 실수 방지 요령</a:t>
            </a:r>
            <a:endParaRPr lang="en-US" altLang="ko-KR" dirty="0"/>
          </a:p>
          <a:p>
            <a:pPr lvl="1"/>
            <a:r>
              <a:rPr lang="ko-KR" altLang="en-US" dirty="0"/>
              <a:t>포맷 문자열과 인수를 분리하여 개수 파악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011F02-477A-D739-D856-B0EAA3E617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B51CF9-6D3B-32BE-3D0A-E4E5876D1722}"/>
              </a:ext>
            </a:extLst>
          </p:cNvPr>
          <p:cNvSpPr txBox="1"/>
          <p:nvPr/>
        </p:nvSpPr>
        <p:spPr>
          <a:xfrm>
            <a:off x="574402" y="1988840"/>
            <a:ext cx="7344816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성  명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 \n"</a:t>
            </a:r>
          </a:p>
          <a:p>
            <a:r>
              <a:rPr lang="en-US" altLang="ko-KR" dirty="0">
                <a:solidFill>
                  <a:srgbClr val="50A14F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오세명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  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53EED-26C5-5D23-2019-C597A0FB55DA}"/>
              </a:ext>
            </a:extLst>
          </p:cNvPr>
          <p:cNvSpPr txBox="1"/>
          <p:nvPr/>
        </p:nvSpPr>
        <p:spPr>
          <a:xfrm>
            <a:off x="574402" y="3140968"/>
            <a:ext cx="7344816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나  이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 \n"</a:t>
            </a:r>
          </a:p>
          <a:p>
            <a:r>
              <a:rPr lang="en-US" altLang="ko-KR" dirty="0">
                <a:solidFill>
                  <a:srgbClr val="50A14F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 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      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B3D29-28AE-4030-E8C1-FA8D66E0F353}"/>
              </a:ext>
            </a:extLst>
          </p:cNvPr>
          <p:cNvSpPr txBox="1"/>
          <p:nvPr/>
        </p:nvSpPr>
        <p:spPr>
          <a:xfrm>
            <a:off x="574402" y="4377635"/>
            <a:ext cx="7344816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연락처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%s-%s-%s \n"</a:t>
            </a:r>
          </a:p>
          <a:p>
            <a:r>
              <a:rPr lang="en-US" altLang="ko-KR" dirty="0">
                <a:solidFill>
                  <a:srgbClr val="50A14F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"010"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"1245"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"6789"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639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036261-2D8B-B8A5-722C-0E7E90FE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2.7.4 </a:t>
            </a:r>
            <a:r>
              <a:rPr lang="ko-KR" altLang="en-US" b="0" dirty="0"/>
              <a:t>출력 옵션 </a:t>
            </a:r>
            <a:r>
              <a:rPr lang="en-US" altLang="ko-KR" b="0" dirty="0"/>
              <a:t>(Format Options)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0DAC2D-459D-000E-8347-72705C3B4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%</a:t>
            </a:r>
            <a:r>
              <a:rPr lang="ko-KR" altLang="en-US" dirty="0"/>
              <a:t>와 형식 문자 사이 옵션 추가로 출력 형식 조정</a:t>
            </a:r>
          </a:p>
          <a:p>
            <a:endParaRPr lang="ko-KR" altLang="en-US" dirty="0"/>
          </a:p>
          <a:p>
            <a:r>
              <a:rPr lang="ko-KR" altLang="en-US" dirty="0"/>
              <a:t>폭</a:t>
            </a:r>
            <a:r>
              <a:rPr lang="en-US" altLang="ko-KR" dirty="0"/>
              <a:t>(width)</a:t>
            </a:r>
          </a:p>
          <a:p>
            <a:pPr lvl="1"/>
            <a:r>
              <a:rPr lang="ko-KR" altLang="en-US" dirty="0"/>
              <a:t>최소 출력 칸 수 지정</a:t>
            </a:r>
          </a:p>
          <a:p>
            <a:pPr lvl="2"/>
            <a:r>
              <a:rPr lang="en-US" altLang="ko-KR" dirty="0"/>
              <a:t>printf("%5d", 42)      → "   42"</a:t>
            </a:r>
          </a:p>
          <a:p>
            <a:pPr lvl="1"/>
            <a:endParaRPr lang="en-US" altLang="ko-KR" sz="2000" dirty="0"/>
          </a:p>
          <a:p>
            <a:r>
              <a:rPr lang="ko-KR" altLang="en-US" dirty="0"/>
              <a:t>정밀도</a:t>
            </a:r>
            <a:r>
              <a:rPr lang="en-US" altLang="ko-KR" dirty="0"/>
              <a:t>(precision)</a:t>
            </a:r>
          </a:p>
          <a:p>
            <a:pPr lvl="1"/>
            <a:r>
              <a:rPr lang="ko-KR" altLang="en-US" dirty="0"/>
              <a:t>실수 </a:t>
            </a:r>
            <a:r>
              <a:rPr lang="en-US" altLang="ko-KR" dirty="0"/>
              <a:t>: </a:t>
            </a:r>
            <a:r>
              <a:rPr lang="ko-KR" altLang="en-US" dirty="0"/>
              <a:t>소수점 이하 자릿수</a:t>
            </a:r>
          </a:p>
          <a:p>
            <a:pPr lvl="1"/>
            <a:r>
              <a:rPr lang="ko-KR" altLang="en-US" dirty="0"/>
              <a:t>문자열 </a:t>
            </a:r>
            <a:r>
              <a:rPr lang="en-US" altLang="ko-KR" dirty="0"/>
              <a:t>: </a:t>
            </a:r>
            <a:r>
              <a:rPr lang="ko-KR" altLang="en-US" dirty="0"/>
              <a:t>출력 길이 제한</a:t>
            </a:r>
          </a:p>
          <a:p>
            <a:pPr lvl="2"/>
            <a:r>
              <a:rPr lang="en-US" altLang="ko-KR" dirty="0"/>
              <a:t>printf("%.2f", 3.14159)      → "3.14"</a:t>
            </a:r>
          </a:p>
          <a:p>
            <a:pPr lvl="2"/>
            <a:r>
              <a:rPr lang="en-US" altLang="ko-KR" dirty="0"/>
              <a:t>printf("%.5s", "HelloWorld") → "Hello"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12BBB5-788E-C93C-05C3-C5A1EF9F3B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80793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7860-231D-5420-FA9E-2134EA94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673DE-2DC4-3B23-9EE7-A78B688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2.7.4 </a:t>
            </a:r>
            <a:r>
              <a:rPr lang="ko-KR" altLang="en-US" b="0" dirty="0"/>
              <a:t>출력 옵션 </a:t>
            </a:r>
            <a:r>
              <a:rPr lang="en-US" altLang="ko-KR" b="0" dirty="0"/>
              <a:t>(Format Options)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D4250-D0C4-0107-CD43-D6393DB23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왼쪽 정렬 </a:t>
            </a:r>
            <a:r>
              <a:rPr lang="en-US" altLang="ko-KR" dirty="0"/>
              <a:t>(-)</a:t>
            </a:r>
          </a:p>
          <a:p>
            <a:pPr lvl="1"/>
            <a:r>
              <a:rPr lang="en-US" altLang="ko-KR" sz="2000" dirty="0"/>
              <a:t>printf("%-10s", "Hi")  → "Hi        "</a:t>
            </a:r>
          </a:p>
          <a:p>
            <a:pPr lvl="1"/>
            <a:endParaRPr lang="en-US" altLang="ko-KR" sz="2000" dirty="0"/>
          </a:p>
          <a:p>
            <a:r>
              <a:rPr lang="en-US" altLang="ko-KR" dirty="0"/>
              <a:t>0 </a:t>
            </a:r>
            <a:r>
              <a:rPr lang="ko-KR" altLang="en-US" dirty="0"/>
              <a:t>채우기 </a:t>
            </a:r>
            <a:r>
              <a:rPr lang="en-US" altLang="ko-KR" dirty="0"/>
              <a:t>(0)</a:t>
            </a:r>
          </a:p>
          <a:p>
            <a:pPr lvl="1"/>
            <a:r>
              <a:rPr lang="en-US" altLang="ko-KR" sz="2000" dirty="0"/>
              <a:t>printf("%05d", 42)     → "00042"</a:t>
            </a:r>
          </a:p>
          <a:p>
            <a:pPr lvl="1"/>
            <a:endParaRPr lang="en-US" altLang="ko-KR" sz="2000" dirty="0"/>
          </a:p>
          <a:p>
            <a:r>
              <a:rPr lang="ko-KR" altLang="en-US" dirty="0"/>
              <a:t>기호 출력 </a:t>
            </a:r>
            <a:r>
              <a:rPr lang="en-US" altLang="ko-KR" dirty="0"/>
              <a:t>(+)</a:t>
            </a:r>
          </a:p>
          <a:p>
            <a:pPr lvl="1"/>
            <a:r>
              <a:rPr lang="en-US" altLang="ko-KR" sz="2000" dirty="0"/>
              <a:t>printf("%+d", 7)       → "+7"</a:t>
            </a:r>
          </a:p>
          <a:p>
            <a:pPr lvl="1"/>
            <a:endParaRPr lang="en-US" altLang="ko-KR" sz="2000" dirty="0"/>
          </a:p>
          <a:p>
            <a:r>
              <a:rPr lang="ko-KR" altLang="en-US" dirty="0"/>
              <a:t>진법 접두사 </a:t>
            </a:r>
            <a:r>
              <a:rPr lang="en-US" altLang="ko-KR" dirty="0"/>
              <a:t>(#)</a:t>
            </a:r>
          </a:p>
          <a:p>
            <a:pPr lvl="1"/>
            <a:r>
              <a:rPr lang="en-US" altLang="ko-KR" sz="2000" dirty="0"/>
              <a:t>printf("%#x", 255)     → "0xff"</a:t>
            </a:r>
            <a:endParaRPr lang="ko-KR" altLang="en-US" sz="9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80DD99-2953-E746-CFA3-21F8B1FF99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3002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68093-EEAB-2234-49E2-7FDF5B2C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2.7.5 </a:t>
            </a:r>
            <a:r>
              <a:rPr lang="ko-KR" altLang="en-US" dirty="0"/>
              <a:t>이스케이프 시퀀스 </a:t>
            </a:r>
            <a:r>
              <a:rPr lang="en-US" altLang="ko-KR" dirty="0"/>
              <a:t>(Escape Sequence)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481C3-6189-D28D-F60D-A8F65238A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이스케이프 시퀀스</a:t>
            </a:r>
            <a:endParaRPr lang="en-US" altLang="ko-KR" dirty="0"/>
          </a:p>
          <a:p>
            <a:pPr lvl="1"/>
            <a:r>
              <a:rPr lang="ko-KR" altLang="en-US" dirty="0"/>
              <a:t>제어 문자</a:t>
            </a:r>
            <a:r>
              <a:rPr lang="en-US" altLang="ko-KR" dirty="0"/>
              <a:t>: </a:t>
            </a:r>
            <a:r>
              <a:rPr lang="ko-KR" altLang="en-US" dirty="0"/>
              <a:t>문자 출력 동작 제어</a:t>
            </a:r>
            <a:endParaRPr lang="en-US" altLang="ko-KR" dirty="0"/>
          </a:p>
          <a:p>
            <a:pPr lvl="1"/>
            <a:r>
              <a:rPr lang="ko-KR" altLang="en-US" dirty="0"/>
              <a:t>역 슬래시</a:t>
            </a:r>
            <a:r>
              <a:rPr lang="en-US" altLang="ko-KR" dirty="0"/>
              <a:t>(back</a:t>
            </a:r>
            <a:r>
              <a:rPr lang="ko-KR" altLang="en-US" dirty="0"/>
              <a:t> </a:t>
            </a:r>
            <a:r>
              <a:rPr lang="en-US" altLang="ko-KR" dirty="0"/>
              <a:t>slash: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en-US" altLang="ko-KR" b="0" dirty="0">
                <a:solidFill>
                  <a:srgbClr val="000000"/>
                </a:solidFill>
                <a:latin typeface="Arial" panose="020B0604020202020204" pitchFamily="34" charset="0"/>
              </a:rPr>
              <a:t>\</a:t>
            </a:r>
            <a:r>
              <a:rPr lang="en-US" altLang="ko-KR" dirty="0"/>
              <a:t>') </a:t>
            </a:r>
            <a:r>
              <a:rPr lang="ko-KR" altLang="en-US" dirty="0"/>
              <a:t>로 시작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주요 이스케이프 시퀀스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BE338-B117-171C-254F-686CBDD25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AAA7FB-72BC-C1E0-D5FF-5DECF16A7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68650"/>
              </p:ext>
            </p:extLst>
          </p:nvPr>
        </p:nvGraphicFramePr>
        <p:xfrm>
          <a:off x="539750" y="3140968"/>
          <a:ext cx="7181850" cy="3066800"/>
        </p:xfrm>
        <a:graphic>
          <a:graphicData uri="http://schemas.openxmlformats.org/drawingml/2006/table">
            <a:tbl>
              <a:tblPr/>
              <a:tblGrid>
                <a:gridCol w="561975">
                  <a:extLst>
                    <a:ext uri="{9D8B030D-6E8A-4147-A177-3AD203B41FA5}">
                      <a16:colId xmlns:a16="http://schemas.microsoft.com/office/drawing/2014/main" val="2378567425"/>
                    </a:ext>
                  </a:extLst>
                </a:gridCol>
                <a:gridCol w="2246139">
                  <a:extLst>
                    <a:ext uri="{9D8B030D-6E8A-4147-A177-3AD203B41FA5}">
                      <a16:colId xmlns:a16="http://schemas.microsoft.com/office/drawing/2014/main" val="94893486"/>
                    </a:ext>
                  </a:extLst>
                </a:gridCol>
                <a:gridCol w="4373736">
                  <a:extLst>
                    <a:ext uri="{9D8B030D-6E8A-4147-A177-3AD203B41FA5}">
                      <a16:colId xmlns:a16="http://schemas.microsoft.com/office/drawing/2014/main" val="331723000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시퀀스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13669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\n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줄 바꿈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newline)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다음 줄의 처음으로 이동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58173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\r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캐리지 리턴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carriage return)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현재 줄의 맨 앞으로 이동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16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\t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수평 탭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horizontal tab)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일정 간격 탭 크기만큼 오른쪽 이동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6789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\v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수직 탭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vertical tab)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수직 간격 이동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환경에 따라 동작 다름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54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\\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 슬래시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(\)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역 슬래시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(\)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문자 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844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\"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겹 따옴표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(")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안에서 큰따옴표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(")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문자 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1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\'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홑 따옴표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(')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문자열에서 작은따옴표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(')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출력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479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\b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백스페이스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backspace)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커서를 한 칸 왼쪽으로 이동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645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\0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널 문자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null character)</a:t>
                      </a:r>
                      <a:endParaRPr 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종료 문자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값은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1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77001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332F2F5-EDAB-EE1A-D3ED-B33694227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14136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42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B70CC-638F-67DE-4642-65D7A17F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CCA05-F450-846F-181B-3BF4D979D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Visual Studio</a:t>
            </a:r>
            <a:r>
              <a:rPr lang="ko-KR" altLang="en-US" sz="2400" dirty="0"/>
              <a:t>에서 </a:t>
            </a:r>
            <a:r>
              <a:rPr lang="en-US" altLang="ko-KR" sz="2400" dirty="0"/>
              <a:t>C </a:t>
            </a:r>
            <a:r>
              <a:rPr lang="ko-KR" altLang="en-US" sz="2400" dirty="0"/>
              <a:t>프로젝트 생성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main </a:t>
            </a:r>
            <a:r>
              <a:rPr lang="ko-KR" altLang="en-US" sz="2400" dirty="0"/>
              <a:t>함수</a:t>
            </a:r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주석</a:t>
            </a:r>
            <a:r>
              <a:rPr lang="en-US" altLang="ko-KR" sz="2400" dirty="0"/>
              <a:t>(Comment)</a:t>
            </a:r>
          </a:p>
          <a:p>
            <a:pPr lvl="1"/>
            <a:r>
              <a:rPr lang="ko-KR" altLang="en-US" sz="2000" dirty="0"/>
              <a:t>라인 주석</a:t>
            </a:r>
            <a:endParaRPr lang="en-US" altLang="ko-KR" sz="2000" dirty="0"/>
          </a:p>
          <a:p>
            <a:pPr lvl="1"/>
            <a:r>
              <a:rPr lang="ko-KR" altLang="en-US" sz="2000" dirty="0"/>
              <a:t>블록 주석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printf </a:t>
            </a:r>
            <a:r>
              <a:rPr lang="ko-KR" altLang="en-US" sz="2400" dirty="0"/>
              <a:t>함수</a:t>
            </a:r>
            <a:endParaRPr lang="en-US" altLang="ko-KR" sz="2400" dirty="0"/>
          </a:p>
          <a:p>
            <a:pPr lvl="1"/>
            <a:r>
              <a:rPr lang="en-US" altLang="ko-KR" sz="2000" dirty="0"/>
              <a:t>#include</a:t>
            </a:r>
            <a:r>
              <a:rPr lang="ko-KR" altLang="en-US" sz="2000" dirty="0"/>
              <a:t> </a:t>
            </a:r>
            <a:r>
              <a:rPr lang="en-US" altLang="ko-KR" sz="2000" dirty="0"/>
              <a:t>&lt;stdio.h&gt;</a:t>
            </a:r>
            <a:endParaRPr lang="ko-KR" altLang="en-US" sz="2000" dirty="0"/>
          </a:p>
          <a:p>
            <a:pPr lvl="1"/>
            <a:r>
              <a:rPr lang="ko-KR" altLang="en-US" sz="2000" dirty="0"/>
              <a:t>형식 지정자</a:t>
            </a:r>
            <a:endParaRPr lang="en-US" altLang="ko-KR" sz="2000" dirty="0"/>
          </a:p>
          <a:p>
            <a:pPr lvl="3"/>
            <a:r>
              <a:rPr lang="en-US" altLang="ko-KR" sz="1600" dirty="0"/>
              <a:t>%c, %d, %s, %f, %X %p</a:t>
            </a:r>
          </a:p>
          <a:p>
            <a:pPr lvl="1"/>
            <a:r>
              <a:rPr lang="ko-KR" altLang="en-US" sz="2000" dirty="0"/>
              <a:t>이스케이프 시퀀스</a:t>
            </a:r>
            <a:endParaRPr lang="en-US" altLang="ko-KR" sz="2000" dirty="0"/>
          </a:p>
          <a:p>
            <a:pPr lvl="2"/>
            <a:r>
              <a:rPr lang="en-US" altLang="ko-KR" sz="1800" dirty="0">
                <a:solidFill>
                  <a:srgbClr val="000000"/>
                </a:solidFill>
                <a:latin typeface="Arial" panose="020B0604020202020204" pitchFamily="34" charset="0"/>
              </a:rPr>
              <a:t>\</a:t>
            </a:r>
            <a:r>
              <a:rPr lang="en-US" altLang="ko-KR" sz="1800" dirty="0"/>
              <a:t>n, </a:t>
            </a:r>
            <a:r>
              <a:rPr lang="en-US" altLang="ko-KR" sz="1800" dirty="0">
                <a:solidFill>
                  <a:srgbClr val="000000"/>
                </a:solidFill>
                <a:latin typeface="Arial" panose="020B0604020202020204" pitchFamily="34" charset="0"/>
              </a:rPr>
              <a:t>\t, \\, \", \', \0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1B7A17-6395-9758-8B32-FD676A15DE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10470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93519-28E7-3DE3-603B-6A765A71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실습 과제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FC4BCE-F0A8-3F7E-ACC8-BDA1ACFF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프로젝트 이름 규칙</a:t>
            </a:r>
            <a:endParaRPr lang="en-US" altLang="ko-KR" sz="2000" dirty="0"/>
          </a:p>
          <a:p>
            <a:pPr lvl="1"/>
            <a:r>
              <a:rPr lang="ko-KR" altLang="en-US" sz="1800" dirty="0"/>
              <a:t>숫자</a:t>
            </a:r>
            <a:r>
              <a:rPr lang="en-US" altLang="ko-KR" sz="1800" dirty="0"/>
              <a:t>, </a:t>
            </a:r>
            <a:r>
              <a:rPr lang="ko-KR" altLang="en-US" sz="1800" dirty="0"/>
              <a:t>언더스코어</a:t>
            </a:r>
            <a:r>
              <a:rPr lang="en-US" altLang="ko-KR" sz="1800" dirty="0"/>
              <a:t>(_), </a:t>
            </a:r>
            <a:r>
              <a:rPr lang="ko-KR" altLang="en-US" sz="1800" dirty="0"/>
              <a:t>영문으로 만</a:t>
            </a:r>
            <a:r>
              <a:rPr lang="en-US" altLang="ko-KR" sz="1800" dirty="0"/>
              <a:t> </a:t>
            </a:r>
            <a:r>
              <a:rPr lang="ko-KR" altLang="en-US" sz="1800" dirty="0"/>
              <a:t>작성</a:t>
            </a:r>
            <a:r>
              <a:rPr lang="en-US" altLang="ko-KR" sz="1800" dirty="0"/>
              <a:t>. </a:t>
            </a:r>
            <a:r>
              <a:rPr lang="ko-KR" altLang="en-US" sz="1800" dirty="0"/>
              <a:t>공백과 한글은 허용 안함</a:t>
            </a:r>
            <a:endParaRPr lang="en-US" altLang="ko-KR" sz="1800" dirty="0"/>
          </a:p>
          <a:p>
            <a:pPr lvl="1"/>
            <a:r>
              <a:rPr lang="ko-KR" altLang="en-US" sz="1800" dirty="0"/>
              <a:t>학번</a:t>
            </a:r>
            <a:r>
              <a:rPr lang="en-US" altLang="ko-KR" sz="1800" dirty="0"/>
              <a:t>_</a:t>
            </a:r>
            <a:r>
              <a:rPr lang="ko-KR" altLang="en-US" sz="1800" dirty="0"/>
              <a:t>영문이름</a:t>
            </a:r>
            <a:r>
              <a:rPr lang="en-US" altLang="ko-KR" sz="1800" dirty="0"/>
              <a:t>_ProjectName</a:t>
            </a:r>
          </a:p>
          <a:p>
            <a:pPr lvl="1"/>
            <a:r>
              <a:rPr lang="en-US" altLang="ko-KR" sz="1800" dirty="0"/>
              <a:t>Ex) 9001122_JohnDoe_MyHistory</a:t>
            </a:r>
            <a:endParaRPr lang="ko-KR" altLang="en-US" sz="1800" dirty="0"/>
          </a:p>
          <a:p>
            <a:endParaRPr lang="en-US" altLang="ko-KR" sz="2000" dirty="0"/>
          </a:p>
          <a:p>
            <a:r>
              <a:rPr lang="ko-KR" altLang="en-US" sz="2000" dirty="0"/>
              <a:t>과제</a:t>
            </a:r>
            <a:r>
              <a:rPr lang="en-US" altLang="ko-KR" sz="2000" dirty="0"/>
              <a:t>1: </a:t>
            </a:r>
            <a:r>
              <a:rPr lang="ko-KR" altLang="en-US" sz="2000" dirty="0"/>
              <a:t>이력서 작성 출력</a:t>
            </a:r>
          </a:p>
          <a:p>
            <a:pPr lvl="1"/>
            <a:r>
              <a:rPr lang="ko-KR" altLang="en-US" sz="1800" dirty="0"/>
              <a:t>이력서용 프로젝트를 만들고</a:t>
            </a:r>
            <a:r>
              <a:rPr lang="en-US" altLang="ko-KR" sz="1800" dirty="0"/>
              <a:t>, printf </a:t>
            </a:r>
            <a:r>
              <a:rPr lang="ko-KR" altLang="en-US" sz="1800" dirty="0"/>
              <a:t>함수를 사용해서 이력서 작성</a:t>
            </a:r>
          </a:p>
          <a:p>
            <a:pPr lvl="1"/>
            <a:r>
              <a:rPr lang="ko-KR" altLang="en-US" sz="1800" dirty="0"/>
              <a:t>이름</a:t>
            </a:r>
            <a:r>
              <a:rPr lang="en-US" altLang="ko-KR" sz="1800" dirty="0"/>
              <a:t>/</a:t>
            </a:r>
            <a:r>
              <a:rPr lang="ko-KR" altLang="en-US" sz="1800" dirty="0"/>
              <a:t>나이</a:t>
            </a:r>
            <a:r>
              <a:rPr lang="en-US" altLang="ko-KR" sz="1800" dirty="0"/>
              <a:t>/</a:t>
            </a:r>
            <a:r>
              <a:rPr lang="ko-KR" altLang="en-US" sz="1800" dirty="0"/>
              <a:t>주소</a:t>
            </a:r>
            <a:r>
              <a:rPr lang="en-US" altLang="ko-KR" sz="1800" dirty="0"/>
              <a:t>(</a:t>
            </a:r>
            <a:r>
              <a:rPr lang="ko-KR" altLang="en-US" sz="1800" dirty="0"/>
              <a:t>시군구까지만</a:t>
            </a:r>
            <a:r>
              <a:rPr lang="en-US" altLang="ko-KR" sz="1800" dirty="0"/>
              <a:t>)/</a:t>
            </a:r>
            <a:r>
              <a:rPr lang="ko-KR" altLang="en-US" sz="1800" dirty="0"/>
              <a:t>연락처는 반드시 포함</a:t>
            </a:r>
          </a:p>
          <a:p>
            <a:pPr lvl="1"/>
            <a:r>
              <a:rPr lang="ko-KR" altLang="en-US" sz="1800" dirty="0"/>
              <a:t>학력</a:t>
            </a:r>
            <a:r>
              <a:rPr lang="en-US" altLang="ko-KR" sz="1800" dirty="0"/>
              <a:t>/</a:t>
            </a:r>
            <a:r>
              <a:rPr lang="ko-KR" altLang="en-US" sz="1800" dirty="0"/>
              <a:t>자격증</a:t>
            </a:r>
            <a:r>
              <a:rPr lang="en-US" altLang="ko-KR" sz="1800" dirty="0"/>
              <a:t>/</a:t>
            </a:r>
            <a:r>
              <a:rPr lang="ko-KR" altLang="en-US" sz="1800" dirty="0"/>
              <a:t>군필</a:t>
            </a:r>
            <a:r>
              <a:rPr lang="en-US" altLang="ko-KR" sz="1800" dirty="0"/>
              <a:t>/</a:t>
            </a:r>
            <a:r>
              <a:rPr lang="ko-KR" altLang="en-US" sz="1800" dirty="0"/>
              <a:t>취업 또는 아르바이트 등 이력이 될만한 모든 내용을 적어보자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포맷 옵션을 사용해서 줄을 맞춰 출력해보자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endParaRPr lang="ko-KR" altLang="en-US" sz="2000" dirty="0"/>
          </a:p>
          <a:p>
            <a:r>
              <a:rPr lang="ko-KR" altLang="en-US" sz="2000" dirty="0"/>
              <a:t>과제</a:t>
            </a:r>
            <a:r>
              <a:rPr lang="en-US" altLang="ko-KR" sz="2000" dirty="0"/>
              <a:t>2: </a:t>
            </a:r>
            <a:r>
              <a:rPr lang="ko-KR" altLang="en-US" sz="2000" dirty="0"/>
              <a:t>자기소개서 작성 출력</a:t>
            </a:r>
          </a:p>
          <a:p>
            <a:pPr lvl="1"/>
            <a:r>
              <a:rPr lang="ko-KR" altLang="en-US" sz="1800" dirty="0"/>
              <a:t>자기 소개서용 프로젝트를 만들고</a:t>
            </a:r>
            <a:r>
              <a:rPr lang="en-US" altLang="ko-KR" sz="1800" dirty="0"/>
              <a:t>, printf </a:t>
            </a:r>
            <a:r>
              <a:rPr lang="ko-KR" altLang="en-US" sz="1800" dirty="0"/>
              <a:t>함수를 사용해서 자기 소개서 작성</a:t>
            </a:r>
          </a:p>
          <a:p>
            <a:pPr lvl="1"/>
            <a:r>
              <a:rPr lang="ko-KR" altLang="en-US" sz="1800" dirty="0"/>
              <a:t>이름</a:t>
            </a:r>
            <a:r>
              <a:rPr lang="en-US" altLang="ko-KR" sz="1800" dirty="0"/>
              <a:t>/</a:t>
            </a:r>
            <a:r>
              <a:rPr lang="ko-KR" altLang="en-US" sz="1800" dirty="0"/>
              <a:t>잘하는 것</a:t>
            </a:r>
            <a:r>
              <a:rPr lang="en-US" altLang="ko-KR" sz="1800" dirty="0"/>
              <a:t>/</a:t>
            </a:r>
            <a:r>
              <a:rPr lang="ko-KR" altLang="en-US" sz="1800" dirty="0"/>
              <a:t>장단점 을 반드시 포함</a:t>
            </a:r>
            <a:endParaRPr lang="en-US" altLang="ko-KR" sz="1800" dirty="0"/>
          </a:p>
          <a:p>
            <a:pPr lvl="1"/>
            <a:r>
              <a:rPr lang="ko-KR" altLang="en-US" sz="1800" dirty="0"/>
              <a:t>포맷 옵션을 사용해서 줄을 맞춰 출력</a:t>
            </a:r>
            <a:r>
              <a:rPr lang="en-US" altLang="ko-KR" sz="1800" dirty="0"/>
              <a:t>.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18882E-E928-3E1B-51A9-2778993DD1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5219188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2034</Words>
  <Application>Microsoft Office PowerPoint</Application>
  <PresentationFormat>화면 슬라이드 쇼(4:3)</PresentationFormat>
  <Paragraphs>392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Wingdings</vt:lpstr>
      <vt:lpstr>HY견고딕</vt:lpstr>
      <vt:lpstr>가을체</vt:lpstr>
      <vt:lpstr>Arial</vt:lpstr>
      <vt:lpstr>굴림</vt:lpstr>
      <vt:lpstr>Consolas</vt:lpstr>
      <vt:lpstr>기본 디자인</vt:lpstr>
      <vt:lpstr>02. 프로그램 구성과 main 함수</vt:lpstr>
      <vt:lpstr>2.1 main 함수 호출 과정</vt:lpstr>
      <vt:lpstr>2.2 main 함수의 다양한 형태</vt:lpstr>
      <vt:lpstr>2.3 프로젝트 생성: myLesson</vt:lpstr>
      <vt:lpstr>2.3 프로젝트 생성: myLesson</vt:lpstr>
      <vt:lpstr>2.3 프로젝트 생성: myLesson</vt:lpstr>
      <vt:lpstr>2.3 프로젝트 생성: myLesson</vt:lpstr>
      <vt:lpstr>2.4 프로그래밍 구성과 함수</vt:lpstr>
      <vt:lpstr>2.4 프로그래밍 구성과 함수</vt:lpstr>
      <vt:lpstr>2.4 프로그래밍 구성과 함수</vt:lpstr>
      <vt:lpstr>2.5 컴파일과 빌드</vt:lpstr>
      <vt:lpstr>2.5 컴파일과 빌드</vt:lpstr>
      <vt:lpstr>2.5.1 전처리(Preprocessing) 단계</vt:lpstr>
      <vt:lpstr>2.5.1 전처리(Preprocessing) 단계</vt:lpstr>
      <vt:lpstr>2.5.1 전처리(Preprocessing) 단계</vt:lpstr>
      <vt:lpstr>2.5.2 컴파일(Compilation) 과정</vt:lpstr>
      <vt:lpstr>2.5.3 링킹(Linking)</vt:lpstr>
      <vt:lpstr>2.5.3.1 Static Linking vs Dynamic Linking</vt:lpstr>
      <vt:lpstr>2.5.3.1 Static Linking vs Dynamic Linking</vt:lpstr>
      <vt:lpstr>2.5.4 Windows 빌드 완성 (Final Build)</vt:lpstr>
      <vt:lpstr>2.5.4.1 Visual Studio 기능</vt:lpstr>
      <vt:lpstr>2.6 주석(Comment)</vt:lpstr>
      <vt:lpstr>2.6 주석(Comment)</vt:lpstr>
      <vt:lpstr>2.7 프로그램 구성 요소와 기본 출력</vt:lpstr>
      <vt:lpstr>2.7.1 전처리 지시문 #include</vt:lpstr>
      <vt:lpstr>2.7.1.1 #include "" &lt;&gt;  검색 순서</vt:lpstr>
      <vt:lpstr>2.7.2 printf() 함수</vt:lpstr>
      <vt:lpstr>2.7.3 형식 지정자</vt:lpstr>
      <vt:lpstr>2.7.3 형식 지정자</vt:lpstr>
      <vt:lpstr>2.7.4 출력 옵션 (Format Options)</vt:lpstr>
      <vt:lpstr>2.7.4 출력 옵션 (Format Options)</vt:lpstr>
      <vt:lpstr>2.7.5 이스케이프 시퀀스 (Escape Sequence)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192</cp:revision>
  <dcterms:created xsi:type="dcterms:W3CDTF">2003-11-30T16:03:20Z</dcterms:created>
  <dcterms:modified xsi:type="dcterms:W3CDTF">2026-04-05T13:14:44Z</dcterms:modified>
</cp:coreProperties>
</file>