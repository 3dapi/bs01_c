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71" r:id="rId2"/>
    <p:sldId id="268" r:id="rId3"/>
    <p:sldId id="273" r:id="rId4"/>
    <p:sldId id="272" r:id="rId5"/>
    <p:sldId id="269" r:id="rId6"/>
    <p:sldId id="274" r:id="rId7"/>
    <p:sldId id="275" r:id="rId8"/>
    <p:sldId id="276" r:id="rId9"/>
    <p:sldId id="277" r:id="rId10"/>
    <p:sldId id="278" r:id="rId11"/>
    <p:sldId id="279" r:id="rId12"/>
    <p:sldId id="282" r:id="rId13"/>
    <p:sldId id="283" r:id="rId14"/>
    <p:sldId id="284" r:id="rId15"/>
    <p:sldId id="286" r:id="rId16"/>
    <p:sldId id="285" r:id="rId17"/>
    <p:sldId id="287" r:id="rId18"/>
    <p:sldId id="288" r:id="rId19"/>
    <p:sldId id="289" r:id="rId20"/>
    <p:sldId id="290" r:id="rId21"/>
    <p:sldId id="291" r:id="rId22"/>
    <p:sldId id="292" r:id="rId23"/>
  </p:sldIdLst>
  <p:sldSz cx="9144000" cy="6858000" type="screen4x3"/>
  <p:notesSz cx="6858000" cy="9144000"/>
  <p:embeddedFontLst>
    <p:embeddedFont>
      <p:font typeface="나눔바른고딕" panose="020B0603020101020101" pitchFamily="50" charset="-127"/>
      <p:regular r:id="rId25"/>
      <p:bold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HY견고딕" panose="02030600000101010101" pitchFamily="18" charset="-127"/>
      <p:regular r:id="rId31"/>
    </p:embeddedFont>
    <p:embeddedFont>
      <p:font typeface="가을체" panose="02030600000101010101" pitchFamily="18" charset="-127"/>
      <p:regular r:id="rId3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00"/>
    <a:srgbClr val="CC0000"/>
    <a:srgbClr val="0000FF"/>
    <a:srgbClr val="009900"/>
    <a:srgbClr val="FF00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67" autoAdjust="0"/>
    <p:restoredTop sz="94582" autoAdjust="0"/>
  </p:normalViewPr>
  <p:slideViewPr>
    <p:cSldViewPr>
      <p:cViewPr>
        <p:scale>
          <a:sx n="80" d="100"/>
          <a:sy n="80" d="100"/>
        </p:scale>
        <p:origin x="2982" y="112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vs/18/Stable/vs_community.exe" TargetMode="External"/><Relationship Id="rId2" Type="http://schemas.openxmlformats.org/officeDocument/2006/relationships/hyperlink" Target="https://visualstudio.microsoft.com/ko/free-developer-offer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ka.ms/vs/16/release/vs_community.exe" TargetMode="External"/><Relationship Id="rId4" Type="http://schemas.openxmlformats.org/officeDocument/2006/relationships/hyperlink" Target="https://aka.ms/vs/17/release/vs_community.ex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ncomtaja.com/ko/overvie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3352-0199-6C3D-5D18-7C82AC41E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01. C </a:t>
            </a:r>
            <a:r>
              <a:rPr lang="ko-KR" altLang="en-US" dirty="0"/>
              <a:t>언어 개론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EBFB1C-4E95-A5B5-0E27-B4E309C2C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F0AD49-2744-6721-1F9E-6D80E466C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15895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DB689726-6457-3508-DE76-36701E94B6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065D1FB8-4C97-FDE3-9EB0-629C93BF7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dirty="0"/>
              <a:t>1.1 </a:t>
            </a:r>
            <a:r>
              <a:rPr lang="ko-KR" altLang="en-US" dirty="0"/>
              <a:t>프로그래밍 언어의 종류</a:t>
            </a:r>
            <a:endParaRPr lang="ko-KR" altLang="en-US" sz="24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AC45E38D-C5AE-F030-AADF-2BBDA2CA7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dirty="0"/>
              <a:t>프로그래밍이란</a:t>
            </a:r>
            <a:r>
              <a:rPr lang="en-US" altLang="ko-KR" dirty="0"/>
              <a:t>?</a:t>
            </a:r>
          </a:p>
          <a:p>
            <a:pPr eaLnBrk="1" hangingPunct="1"/>
            <a:endParaRPr lang="en-US" altLang="ko-KR" dirty="0"/>
          </a:p>
          <a:p>
            <a:pPr lvl="1" eaLnBrk="1" hangingPunct="1"/>
            <a:r>
              <a:rPr lang="ko-KR" altLang="en-US" dirty="0"/>
              <a:t>어떤 목적을 위해서 순서대로 작업을 작성하는 일</a:t>
            </a:r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ko-KR" altLang="en-US" dirty="0"/>
              <a:t>컴퓨터 프로그래밍이란</a:t>
            </a:r>
            <a:r>
              <a:rPr lang="en-US" altLang="ko-KR" dirty="0"/>
              <a:t>?</a:t>
            </a:r>
          </a:p>
          <a:p>
            <a:pPr lvl="1" eaLnBrk="1" hangingPunct="1"/>
            <a:r>
              <a:rPr lang="ko-KR" altLang="en-US" dirty="0"/>
              <a:t>컴퓨터가 작업할 일을 규칙과 절차로 표현한 것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간단히 표현한다면 컴퓨터가 할 일을 순서대로 나열한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EFC2-8596-E16C-A2F4-436A05845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4AA76515-3BD7-9CEC-A7AC-A0335A14A9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9BFF392-8E22-1083-4DB9-F04DE8C27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dirty="0"/>
              <a:t>1.1 </a:t>
            </a:r>
            <a:r>
              <a:rPr lang="ko-KR" altLang="en-US" dirty="0"/>
              <a:t>프로그래밍 언어의 종류</a:t>
            </a:r>
            <a:endParaRPr lang="ko-KR" altLang="en-US" sz="24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E21301B5-4181-FD5D-9F86-48A694ECF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dirty="0"/>
              <a:t>언어 수준</a:t>
            </a:r>
            <a:r>
              <a:rPr lang="en-US" altLang="ko-KR" dirty="0"/>
              <a:t>(Level of Abstraction)</a:t>
            </a:r>
            <a:r>
              <a:rPr lang="ko-KR" altLang="en-US" dirty="0"/>
              <a:t>에 따른 분류</a:t>
            </a:r>
            <a:endParaRPr lang="en-US" altLang="ko-KR" dirty="0"/>
          </a:p>
          <a:p>
            <a:pPr eaLnBrk="1" hangingPunct="1"/>
            <a:endParaRPr lang="en-US" altLang="ko-KR" dirty="0"/>
          </a:p>
          <a:p>
            <a:pPr lvl="1" eaLnBrk="1" hangingPunct="1"/>
            <a:r>
              <a:rPr lang="ko-KR" altLang="en-US" sz="3600" dirty="0" err="1"/>
              <a:t>저수준</a:t>
            </a:r>
            <a:r>
              <a:rPr lang="ko-KR" altLang="en-US" sz="3600" dirty="0"/>
              <a:t> 언어</a:t>
            </a:r>
            <a:r>
              <a:rPr lang="en-US" altLang="ko-KR" sz="3600" dirty="0"/>
              <a:t>(Low-level Language)</a:t>
            </a:r>
          </a:p>
          <a:p>
            <a:pPr lvl="2" eaLnBrk="1" hangingPunct="1"/>
            <a:r>
              <a:rPr lang="ko-KR" altLang="en-US" dirty="0"/>
              <a:t>기계어</a:t>
            </a:r>
            <a:r>
              <a:rPr lang="en-US" altLang="ko-KR" dirty="0"/>
              <a:t>(Machine Code), </a:t>
            </a:r>
            <a:r>
              <a:rPr lang="ko-KR" altLang="en-US" dirty="0"/>
              <a:t>어셈블리 언어</a:t>
            </a:r>
            <a:r>
              <a:rPr lang="en-US" altLang="ko-KR" dirty="0"/>
              <a:t>(Assembly Language)</a:t>
            </a:r>
          </a:p>
          <a:p>
            <a:pPr lvl="2" eaLnBrk="1" hangingPunct="1"/>
            <a:endParaRPr lang="en-US" altLang="ko-KR" dirty="0"/>
          </a:p>
          <a:p>
            <a:pPr lvl="1" eaLnBrk="1" hangingPunct="1"/>
            <a:r>
              <a:rPr lang="ko-KR" altLang="en-US" sz="3600" dirty="0"/>
              <a:t>고수준 언어</a:t>
            </a:r>
            <a:r>
              <a:rPr lang="en-US" altLang="ko-KR" sz="3600" dirty="0"/>
              <a:t>(High-level Language)</a:t>
            </a:r>
          </a:p>
          <a:p>
            <a:pPr lvl="2" eaLnBrk="1" hangingPunct="1"/>
            <a:r>
              <a:rPr lang="en-US" altLang="ko-KR" dirty="0"/>
              <a:t>C, C++, Python, Java, C#, JavaScript</a:t>
            </a:r>
            <a:endParaRPr lang="en-US" altLang="ko-KR" sz="3200" dirty="0"/>
          </a:p>
          <a:p>
            <a:pPr lvl="1"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07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D296-3A93-E20B-ADDF-FCF658C6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AEB982A6-F240-3E91-E1D5-B47B74BDB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2910E043-5DB5-37A5-BF73-1461A4DD9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dirty="0"/>
              <a:t>1.1.2 </a:t>
            </a:r>
            <a:r>
              <a:rPr lang="ko-KR" altLang="en-US" dirty="0"/>
              <a:t>소스 코드 실행 방식</a:t>
            </a:r>
            <a:endParaRPr lang="ko-KR" altLang="en-US" sz="24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F8E49F0-9AB2-9DDD-DC05-C594B9944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dirty="0"/>
              <a:t>소스 코드 실행 방식</a:t>
            </a:r>
            <a:r>
              <a:rPr lang="en-US" altLang="ko-KR" dirty="0"/>
              <a:t>(Execution Model)</a:t>
            </a:r>
            <a:r>
              <a:rPr lang="ko-KR" altLang="en-US" dirty="0"/>
              <a:t>에 따른 분류</a:t>
            </a:r>
            <a:endParaRPr lang="en-US" altLang="ko-KR" dirty="0"/>
          </a:p>
          <a:p>
            <a:pPr eaLnBrk="1" hangingPunct="1"/>
            <a:endParaRPr lang="en-US" altLang="ko-KR" dirty="0"/>
          </a:p>
          <a:p>
            <a:pPr lvl="1" eaLnBrk="1" hangingPunct="1"/>
            <a:r>
              <a:rPr lang="ko-KR" altLang="en-US" dirty="0"/>
              <a:t>어셈블리 언어 </a:t>
            </a:r>
            <a:r>
              <a:rPr lang="en-US" altLang="ko-KR" dirty="0"/>
              <a:t>(Assembly Language)</a:t>
            </a:r>
          </a:p>
          <a:p>
            <a:pPr lvl="2" eaLnBrk="1" hangingPunct="1"/>
            <a:r>
              <a:rPr lang="en-US" altLang="ko-KR" dirty="0"/>
              <a:t>X86 Assembly, ARM Assembly</a:t>
            </a:r>
          </a:p>
          <a:p>
            <a:pPr lvl="2" eaLnBrk="1" hangingPunct="1"/>
            <a:endParaRPr lang="en-US" altLang="ko-KR" dirty="0"/>
          </a:p>
          <a:p>
            <a:pPr lvl="1" eaLnBrk="1" hangingPunct="1"/>
            <a:r>
              <a:rPr lang="ko-KR" altLang="en-US" dirty="0"/>
              <a:t>컴파일 언어 </a:t>
            </a:r>
            <a:r>
              <a:rPr lang="en-US" altLang="ko-KR" dirty="0"/>
              <a:t>(Compiled Language)</a:t>
            </a:r>
          </a:p>
          <a:p>
            <a:pPr lvl="2" eaLnBrk="1" hangingPunct="1"/>
            <a:r>
              <a:rPr lang="en-US" altLang="ko-KR" dirty="0"/>
              <a:t>C,</a:t>
            </a:r>
            <a:r>
              <a:rPr lang="ko-KR" altLang="en-US" dirty="0"/>
              <a:t> </a:t>
            </a:r>
            <a:r>
              <a:rPr lang="en-US" altLang="ko-KR" dirty="0"/>
              <a:t>C++,</a:t>
            </a:r>
            <a:r>
              <a:rPr lang="ko-KR" altLang="en-US" dirty="0"/>
              <a:t> </a:t>
            </a:r>
            <a:r>
              <a:rPr lang="en-US" altLang="ko-KR" dirty="0"/>
              <a:t>Rust,</a:t>
            </a:r>
            <a:r>
              <a:rPr lang="ko-KR" altLang="en-US" dirty="0"/>
              <a:t> </a:t>
            </a:r>
            <a:r>
              <a:rPr lang="en-US" altLang="ko-KR" dirty="0"/>
              <a:t>Go,</a:t>
            </a:r>
            <a:r>
              <a:rPr lang="ko-KR" altLang="en-US" dirty="0"/>
              <a:t> </a:t>
            </a:r>
            <a:endParaRPr lang="en-US" altLang="ko-KR" dirty="0"/>
          </a:p>
          <a:p>
            <a:pPr lvl="2" eaLnBrk="1" hangingPunct="1"/>
            <a:endParaRPr lang="en-US" altLang="ko-KR" dirty="0"/>
          </a:p>
          <a:p>
            <a:pPr lvl="1" eaLnBrk="1" hangingPunct="1"/>
            <a:r>
              <a:rPr lang="ko-KR" altLang="en-US" dirty="0"/>
              <a:t>인터프리터 언어 </a:t>
            </a:r>
            <a:r>
              <a:rPr lang="en-US" altLang="ko-KR" dirty="0"/>
              <a:t>(Interpreted Language)</a:t>
            </a:r>
          </a:p>
          <a:p>
            <a:pPr lvl="2" eaLnBrk="1" hangingPunct="1"/>
            <a:r>
              <a:rPr lang="en-US" altLang="ko-KR" dirty="0"/>
              <a:t>Python, Ruby, JavaScript</a:t>
            </a:r>
          </a:p>
          <a:p>
            <a:pPr lvl="2" eaLnBrk="1" hangingPunct="1"/>
            <a:endParaRPr lang="en-US" altLang="ko-KR" dirty="0"/>
          </a:p>
          <a:p>
            <a:pPr lvl="1" eaLnBrk="1" hangingPunct="1"/>
            <a:r>
              <a:rPr lang="ko-KR" altLang="en-US" dirty="0"/>
              <a:t>가상 머신 기반 언어 </a:t>
            </a:r>
            <a:r>
              <a:rPr lang="en-US" altLang="ko-KR" dirty="0"/>
              <a:t>(Virtual Machine Language)</a:t>
            </a:r>
          </a:p>
          <a:p>
            <a:pPr lvl="2" eaLnBrk="1" hangingPunct="1"/>
            <a:r>
              <a:rPr lang="nl-NL" altLang="ko-KR" dirty="0"/>
              <a:t>Java(JVM), C#(.NET CLR)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534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2B38A431-4626-7622-52E5-E2AE93EDC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r>
              <a:rPr lang="en-US" altLang="ko-KR" dirty="0"/>
              <a:t>1.1.3 C </a:t>
            </a:r>
            <a:r>
              <a:rPr lang="ko-KR" altLang="en-US" dirty="0"/>
              <a:t>언어의 위치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974A337C-EF9E-F8E0-55F5-42C5CFD351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ko-KR" altLang="en-US" dirty="0"/>
              <a:t>고수준 언어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컴파일러로 번역</a:t>
            </a:r>
            <a:endParaRPr lang="en-US" altLang="ko-KR" dirty="0"/>
          </a:p>
          <a:p>
            <a:pPr eaLnBrk="1" hangingPunct="1"/>
            <a:r>
              <a:rPr lang="ko-KR" altLang="en-US" dirty="0" err="1"/>
              <a:t>저수준</a:t>
            </a:r>
            <a:r>
              <a:rPr lang="ko-KR" altLang="en-US" dirty="0"/>
              <a:t> 특성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Inline assembly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특정 </a:t>
            </a:r>
            <a:r>
              <a:rPr lang="en-US" altLang="ko-KR" dirty="0"/>
              <a:t>CPU </a:t>
            </a:r>
            <a:r>
              <a:rPr lang="ko-KR" altLang="en-US" dirty="0"/>
              <a:t>명령어를 직접 사용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포인터를 통한 메모리 제어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주소 기반 데이터 접근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비트 연산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하드웨어 제어 및 플래그 처리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메모리 레이아웃 제어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구조체 기반 메모리 구조 정의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하드웨어 친화적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운영체제</a:t>
            </a:r>
            <a:r>
              <a:rPr lang="en-US" altLang="ko-KR" dirty="0"/>
              <a:t>, </a:t>
            </a:r>
            <a:r>
              <a:rPr lang="ko-KR" altLang="en-US" dirty="0"/>
              <a:t>드라이버</a:t>
            </a:r>
            <a:r>
              <a:rPr lang="en-US" altLang="ko-KR" dirty="0"/>
              <a:t>, </a:t>
            </a:r>
            <a:r>
              <a:rPr lang="ko-KR" altLang="en-US" dirty="0"/>
              <a:t>시스템 개발 가능</a:t>
            </a:r>
          </a:p>
        </p:txBody>
      </p:sp>
      <p:sp>
        <p:nvSpPr>
          <p:cNvPr id="5124" name="바닥글 개체 틀 3">
            <a:extLst>
              <a:ext uri="{FF2B5EF4-FFF2-40B4-BE49-F238E27FC236}">
                <a16:creationId xmlns:a16="http://schemas.microsoft.com/office/drawing/2014/main" id="{818F447A-89D9-DF74-AA4B-0200B1CAC7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ko-KR" altLang="en-US"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713E7-D9B9-0476-B699-313E7214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C </a:t>
            </a:r>
            <a:r>
              <a:rPr lang="ko-KR" altLang="en-US" dirty="0"/>
              <a:t>언어 탄생과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C77B2-CFBA-B905-F186-1932CB9FC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 ALGOL 60(Algorithmic Language 1960)</a:t>
            </a:r>
          </a:p>
          <a:p>
            <a:pPr lvl="1"/>
            <a:r>
              <a:rPr lang="ko-KR" altLang="en-US" sz="2000" dirty="0"/>
              <a:t>알고리즘 표현을 위해 설계된 언어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CPL (Combined Programming Language 1963)</a:t>
            </a:r>
          </a:p>
          <a:p>
            <a:pPr lvl="1"/>
            <a:r>
              <a:rPr lang="en-US" altLang="ko-KR" sz="2000" dirty="0"/>
              <a:t>ALGOL 60</a:t>
            </a:r>
            <a:r>
              <a:rPr lang="ko-KR" altLang="en-US" sz="2000" dirty="0"/>
              <a:t>을 확장하여 범용 프로그래밍 언어로 설계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BCPL (Basic CPL: 1966)</a:t>
            </a:r>
          </a:p>
          <a:p>
            <a:pPr lvl="1"/>
            <a:r>
              <a:rPr lang="en-US" altLang="ko-KR" sz="2000" dirty="0"/>
              <a:t>CPL</a:t>
            </a:r>
            <a:r>
              <a:rPr lang="ko-KR" altLang="en-US" sz="2000" dirty="0"/>
              <a:t>의 복잡성을 단순화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B </a:t>
            </a:r>
            <a:r>
              <a:rPr lang="ko-KR" altLang="en-US" sz="2400" dirty="0"/>
              <a:t>언어 </a:t>
            </a:r>
            <a:r>
              <a:rPr lang="en-US" altLang="ko-KR" sz="2400" dirty="0"/>
              <a:t>(1969: </a:t>
            </a:r>
            <a:r>
              <a:rPr lang="ko-KR" altLang="en-US" sz="2400" dirty="0"/>
              <a:t>켄 톰슨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sz="2000" dirty="0"/>
              <a:t>BCPL </a:t>
            </a:r>
            <a:r>
              <a:rPr lang="ko-KR" altLang="en-US" sz="2000" dirty="0"/>
              <a:t>기반 초기 </a:t>
            </a:r>
            <a:r>
              <a:rPr lang="en-US" altLang="ko-KR" sz="2000" dirty="0"/>
              <a:t>UNIX</a:t>
            </a:r>
            <a:r>
              <a:rPr lang="ko-KR" altLang="en-US" sz="2000" dirty="0"/>
              <a:t> 운영체제 구현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 </a:t>
            </a:r>
            <a:r>
              <a:rPr lang="ko-KR" altLang="en-US" sz="2400" dirty="0"/>
              <a:t>언어 </a:t>
            </a:r>
            <a:r>
              <a:rPr lang="en-US" altLang="ko-KR" sz="2400" dirty="0"/>
              <a:t>(1972: </a:t>
            </a:r>
            <a:r>
              <a:rPr lang="ko-KR" altLang="en-US" sz="2400" dirty="0"/>
              <a:t>데니스 리치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sz="2000" dirty="0"/>
              <a:t>B </a:t>
            </a:r>
            <a:r>
              <a:rPr lang="ko-KR" altLang="en-US" sz="2000" dirty="0"/>
              <a:t>언어를 개선하여 개발</a:t>
            </a:r>
            <a:br>
              <a:rPr lang="ko-KR" altLang="en-US" sz="2000" dirty="0"/>
            </a:br>
            <a:r>
              <a:rPr lang="en-US" altLang="ko-KR" sz="2000" dirty="0"/>
              <a:t>UNIX </a:t>
            </a:r>
            <a:r>
              <a:rPr lang="ko-KR" altLang="en-US" sz="2000" dirty="0"/>
              <a:t>운영체제 구현에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F16C43-8452-71CD-BBB1-FBA144F42C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56463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486E8-BA4B-8D1D-FC31-E773859F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1.2.2 </a:t>
            </a:r>
            <a:r>
              <a:rPr lang="ko-KR" altLang="en-US" dirty="0"/>
              <a:t>게임 프로그래머가 알아야 할 주요 인물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18C45-6932-8984-A3B3-2AEF2AB5A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600" dirty="0"/>
              <a:t>에이다 러브레이스</a:t>
            </a:r>
            <a:endParaRPr lang="en-US" altLang="ko-KR" sz="1600" dirty="0"/>
          </a:p>
          <a:p>
            <a:pPr lvl="1"/>
            <a:r>
              <a:rPr lang="ko-KR" altLang="en-US" sz="1400" dirty="0"/>
              <a:t>최초의 컴퓨터 알고리즘 작성자</a:t>
            </a:r>
            <a:r>
              <a:rPr lang="en-US" altLang="ko-KR" sz="1400" dirty="0"/>
              <a:t>, </a:t>
            </a:r>
            <a:r>
              <a:rPr lang="ko-KR" altLang="en-US" sz="1400" dirty="0"/>
              <a:t>최초의 프로그래머로 알려짐</a:t>
            </a:r>
            <a:endParaRPr lang="en-US" altLang="ko-KR" sz="1400" dirty="0"/>
          </a:p>
          <a:p>
            <a:pPr lvl="1"/>
            <a:endParaRPr lang="en-US" altLang="ko-KR" sz="1600" dirty="0"/>
          </a:p>
          <a:p>
            <a:r>
              <a:rPr lang="ko-KR" altLang="en-US" sz="1600" dirty="0"/>
              <a:t>앨런 튜링 </a:t>
            </a:r>
            <a:r>
              <a:rPr lang="en-US" altLang="ko-KR" sz="1600" dirty="0"/>
              <a:t>(Alan Turing)</a:t>
            </a:r>
          </a:p>
          <a:p>
            <a:pPr lvl="1"/>
            <a:r>
              <a:rPr lang="ko-KR" altLang="en-US" sz="1400" dirty="0"/>
              <a:t>튜링 머신</a:t>
            </a:r>
            <a:r>
              <a:rPr lang="en-US" altLang="ko-KR" sz="1400" dirty="0"/>
              <a:t>: </a:t>
            </a:r>
            <a:r>
              <a:rPr lang="ko-KR" altLang="en-US" sz="1400" dirty="0"/>
              <a:t>계산 이론의 기초 정립</a:t>
            </a:r>
            <a:endParaRPr lang="en-US" altLang="ko-KR" sz="1400" dirty="0"/>
          </a:p>
          <a:p>
            <a:pPr lvl="1"/>
            <a:endParaRPr lang="en-US" altLang="ko-KR" sz="1600" dirty="0"/>
          </a:p>
          <a:p>
            <a:r>
              <a:rPr lang="ko-KR" altLang="en-US" sz="1600" dirty="0"/>
              <a:t>켄 톰슨 </a:t>
            </a:r>
            <a:r>
              <a:rPr lang="en-US" altLang="ko-KR" sz="1600" dirty="0"/>
              <a:t>(Ken Thompson)</a:t>
            </a:r>
          </a:p>
          <a:p>
            <a:pPr lvl="1"/>
            <a:r>
              <a:rPr lang="en-US" altLang="ko-KR" sz="1400" dirty="0"/>
              <a:t>UNIX</a:t>
            </a:r>
            <a:r>
              <a:rPr lang="ko-KR" altLang="en-US" sz="1400" dirty="0"/>
              <a:t>와 </a:t>
            </a:r>
            <a:r>
              <a:rPr lang="en-US" altLang="ko-KR" sz="1400" dirty="0"/>
              <a:t>B </a:t>
            </a:r>
            <a:r>
              <a:rPr lang="ko-KR" altLang="en-US" sz="1400" dirty="0"/>
              <a:t>언어 개발</a:t>
            </a:r>
            <a:endParaRPr lang="en-US" altLang="ko-KR" sz="1400" dirty="0"/>
          </a:p>
          <a:p>
            <a:pPr lvl="1"/>
            <a:endParaRPr lang="en-US" altLang="ko-KR" sz="1600" dirty="0"/>
          </a:p>
          <a:p>
            <a:r>
              <a:rPr lang="ko-KR" altLang="en-US" sz="1600" dirty="0"/>
              <a:t>데니스 리치 </a:t>
            </a:r>
            <a:r>
              <a:rPr lang="en-US" altLang="ko-KR" sz="1600" dirty="0"/>
              <a:t>(Dennis Ritchie)</a:t>
            </a:r>
          </a:p>
          <a:p>
            <a:pPr lvl="1"/>
            <a:r>
              <a:rPr lang="en-US" altLang="ko-KR" sz="1400" dirty="0"/>
              <a:t>C </a:t>
            </a:r>
            <a:r>
              <a:rPr lang="ko-KR" altLang="en-US" sz="1400" dirty="0"/>
              <a:t>언어 창시자</a:t>
            </a:r>
            <a:endParaRPr lang="en-US" altLang="ko-KR" sz="1400" dirty="0"/>
          </a:p>
          <a:p>
            <a:endParaRPr lang="en-US" altLang="ko-KR" sz="1600" dirty="0"/>
          </a:p>
          <a:p>
            <a:r>
              <a:rPr lang="ko-KR" altLang="en-US" sz="1600" dirty="0"/>
              <a:t>리차드 </a:t>
            </a:r>
            <a:r>
              <a:rPr lang="ko-KR" altLang="en-US" sz="1600" dirty="0" err="1"/>
              <a:t>스톨먼</a:t>
            </a:r>
            <a:r>
              <a:rPr lang="ko-KR" altLang="en-US" sz="1600" dirty="0"/>
              <a:t> </a:t>
            </a:r>
            <a:r>
              <a:rPr lang="en-US" altLang="ko-KR" sz="1600" dirty="0"/>
              <a:t>(Richard Stallman)</a:t>
            </a:r>
          </a:p>
          <a:p>
            <a:pPr lvl="1"/>
            <a:r>
              <a:rPr lang="en-US" altLang="ko-KR" sz="1400" dirty="0"/>
              <a:t>GNU </a:t>
            </a:r>
            <a:r>
              <a:rPr lang="ko-KR" altLang="en-US" sz="1400" dirty="0"/>
              <a:t>프로젝트 창시</a:t>
            </a:r>
            <a:r>
              <a:rPr lang="en-US" altLang="ko-KR" sz="1400" dirty="0"/>
              <a:t>. GCC </a:t>
            </a:r>
            <a:r>
              <a:rPr lang="ko-KR" altLang="en-US" sz="1400" dirty="0"/>
              <a:t>개발</a:t>
            </a:r>
            <a:endParaRPr lang="en-US" altLang="ko-KR" sz="1400" dirty="0"/>
          </a:p>
          <a:p>
            <a:endParaRPr lang="en-US" altLang="ko-KR" sz="1600" dirty="0"/>
          </a:p>
          <a:p>
            <a:r>
              <a:rPr lang="ko-KR" altLang="en-US" sz="1600" dirty="0" err="1"/>
              <a:t>리누스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토발즈</a:t>
            </a:r>
            <a:r>
              <a:rPr lang="ko-KR" altLang="en-US" sz="1600" dirty="0"/>
              <a:t> </a:t>
            </a:r>
            <a:r>
              <a:rPr lang="en-US" altLang="ko-KR" sz="1600" dirty="0"/>
              <a:t>(Linus Torvalds)</a:t>
            </a:r>
          </a:p>
          <a:p>
            <a:pPr lvl="1"/>
            <a:r>
              <a:rPr lang="en-US" altLang="ko-KR" sz="1400" dirty="0"/>
              <a:t>Linux </a:t>
            </a:r>
            <a:r>
              <a:rPr lang="ko-KR" altLang="en-US" sz="1400" dirty="0"/>
              <a:t>커널</a:t>
            </a:r>
            <a:r>
              <a:rPr lang="en-US" altLang="ko-KR" sz="1400" dirty="0"/>
              <a:t>, Git </a:t>
            </a:r>
            <a:r>
              <a:rPr lang="ko-KR" altLang="en-US" sz="1400" dirty="0"/>
              <a:t>개발</a:t>
            </a:r>
            <a:endParaRPr lang="en-US" altLang="ko-KR" sz="1400" dirty="0"/>
          </a:p>
          <a:p>
            <a:endParaRPr lang="en-US" altLang="ko-KR" sz="1600" dirty="0"/>
          </a:p>
          <a:p>
            <a:r>
              <a:rPr lang="ko-KR" altLang="en-US" sz="1600" dirty="0"/>
              <a:t>존 </a:t>
            </a:r>
            <a:r>
              <a:rPr lang="ko-KR" altLang="en-US" sz="1600" dirty="0" err="1"/>
              <a:t>카멕</a:t>
            </a:r>
            <a:r>
              <a:rPr lang="ko-KR" altLang="en-US" sz="1600" dirty="0"/>
              <a:t> </a:t>
            </a:r>
            <a:r>
              <a:rPr lang="en-US" altLang="ko-KR" sz="1600" dirty="0"/>
              <a:t>(John Carmack)</a:t>
            </a:r>
          </a:p>
          <a:p>
            <a:pPr lvl="1"/>
            <a:r>
              <a:rPr lang="en-US" altLang="ko-KR" sz="1400" dirty="0"/>
              <a:t>3D </a:t>
            </a:r>
            <a:r>
              <a:rPr lang="ko-KR" altLang="en-US" sz="1400" dirty="0"/>
              <a:t>게임 엔진 개발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C32944-507B-71D4-32B4-FD37B97C39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6562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78FAA-CF48-6C6C-93F5-93B75741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C </a:t>
            </a:r>
            <a:r>
              <a:rPr lang="ko-KR" altLang="en-US" dirty="0"/>
              <a:t>언어의 특징과 장점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315AC4-F08E-8B24-371F-320B7B56E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간결하고 직관적인 문법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뛰어난 </a:t>
            </a:r>
            <a:r>
              <a:rPr lang="ko-KR" altLang="en-US" dirty="0" err="1"/>
              <a:t>이식성</a:t>
            </a:r>
            <a:r>
              <a:rPr lang="en-US" altLang="ko-KR" dirty="0"/>
              <a:t>(Portability)</a:t>
            </a:r>
          </a:p>
          <a:p>
            <a:endParaRPr lang="en-US" altLang="ko-KR" dirty="0"/>
          </a:p>
          <a:p>
            <a:r>
              <a:rPr lang="ko-KR" altLang="en-US" dirty="0"/>
              <a:t>고수준</a:t>
            </a:r>
            <a:r>
              <a:rPr lang="en-US" altLang="ko-KR" dirty="0"/>
              <a:t>·</a:t>
            </a:r>
            <a:r>
              <a:rPr lang="ko-KR" altLang="en-US" dirty="0" err="1"/>
              <a:t>저수준</a:t>
            </a:r>
            <a:r>
              <a:rPr lang="ko-KR" altLang="en-US" dirty="0"/>
              <a:t> 기능의 균형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시스템 개발 언어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작은 런타임과 높은 성능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명확한 메모리 모델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7C5965-90C7-2306-DB74-46C513B83C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4726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47F5-4A38-A614-198F-01D8A2D5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A1F80-B413-598D-38E0-FFF53FDC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C </a:t>
            </a:r>
            <a:r>
              <a:rPr lang="ko-KR" altLang="en-US" dirty="0"/>
              <a:t>언어의 특징과 장점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850BC1-6BAB-7E99-2E6E-5F627675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예측 가능한 컴파일 과정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국제 표준에 따른 안정적인 구조</a:t>
            </a:r>
            <a:endParaRPr lang="en-US" altLang="ko-KR" dirty="0"/>
          </a:p>
          <a:p>
            <a:pPr lvl="1"/>
            <a:r>
              <a:rPr lang="en-US" altLang="ko-KR" dirty="0"/>
              <a:t>C89/C90 C99 C11 C17 C23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현대 언어와 시스템의 기반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방대한 기존 코드</a:t>
            </a:r>
            <a:r>
              <a:rPr lang="en-US" altLang="ko-KR" dirty="0"/>
              <a:t>(</a:t>
            </a:r>
            <a:r>
              <a:rPr lang="ko-KR" altLang="en-US" dirty="0"/>
              <a:t>레거시 시스템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컴퓨터 과학 학습에 적합한 언어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EE68BD-D417-8866-53D0-0C3A750D4F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78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115D7-BEC8-BD27-6815-FCC89455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C++</a:t>
            </a:r>
            <a:r>
              <a:rPr lang="ko-KR" altLang="en-US" dirty="0"/>
              <a:t>과의 관계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7A0AF-D5EB-A3D7-92D4-57F0470AF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F6F93E3-268E-38E0-8BBF-C13296CDA35B}"/>
              </a:ext>
            </a:extLst>
          </p:cNvPr>
          <p:cNvSpPr/>
          <p:nvPr/>
        </p:nvSpPr>
        <p:spPr bwMode="auto">
          <a:xfrm>
            <a:off x="755576" y="1916286"/>
            <a:ext cx="3528392" cy="2880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4400" i="0" u="none" strike="noStrike" normalizeH="0" baseline="0" dirty="0">
                <a:ln w="0">
                  <a:solidFill>
                    <a:schemeClr val="tx1"/>
                  </a:solidFill>
                </a:ln>
                <a:latin typeface="+mn-ea"/>
              </a:rPr>
              <a:t>C </a:t>
            </a:r>
            <a:r>
              <a:rPr kumimoji="1" lang="ko-KR" altLang="en-US" sz="4400" i="0" u="none" strike="noStrike" normalizeH="0" baseline="0" dirty="0">
                <a:ln w="0">
                  <a:solidFill>
                    <a:schemeClr val="tx1"/>
                  </a:solidFill>
                </a:ln>
                <a:latin typeface="+mn-ea"/>
              </a:rPr>
              <a:t>언어</a:t>
            </a:r>
            <a:endParaRPr kumimoji="1" lang="en-US" altLang="ko-KR" sz="4400" i="0" u="none" strike="noStrike" normalizeH="0" baseline="0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절차적 문법</a:t>
            </a:r>
            <a:endParaRPr lang="en-US" altLang="ko-KR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ln w="0">
                  <a:solidFill>
                    <a:schemeClr val="tx1"/>
                  </a:solidFill>
                </a:ln>
                <a:latin typeface="+mn-ea"/>
              </a:rPr>
              <a:t>저수준</a:t>
            </a: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 제어</a:t>
            </a:r>
            <a:r>
              <a:rPr lang="en-US" altLang="ko-KR" dirty="0">
                <a:ln w="0">
                  <a:solidFill>
                    <a:schemeClr val="tx1"/>
                  </a:solidFill>
                </a:ln>
                <a:latin typeface="+mn-ea"/>
              </a:rPr>
              <a:t>/</a:t>
            </a: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성능</a:t>
            </a:r>
            <a:endParaRPr lang="en-US" altLang="ko-KR" dirty="0">
              <a:ln w="0">
                <a:solidFill>
                  <a:schemeClr val="tx1"/>
                </a:solidFill>
              </a:ln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n w="0">
                  <a:solidFill>
                    <a:schemeClr val="tx1"/>
                  </a:solidFill>
                </a:ln>
                <a:latin typeface="+mn-ea"/>
              </a:rPr>
              <a:t>높은 확장성</a:t>
            </a:r>
            <a:endParaRPr kumimoji="1" lang="ko-KR" altLang="en-US" sz="2400" i="0" u="none" strike="noStrike" normalizeH="0" baseline="0" dirty="0">
              <a:ln w="0">
                <a:solidFill>
                  <a:schemeClr val="tx1"/>
                </a:solidFill>
              </a:ln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24D65F6-460A-B92E-3C56-89122D3E97BB}"/>
              </a:ext>
            </a:extLst>
          </p:cNvPr>
          <p:cNvSpPr/>
          <p:nvPr/>
        </p:nvSpPr>
        <p:spPr bwMode="auto">
          <a:xfrm>
            <a:off x="1007604" y="1412776"/>
            <a:ext cx="7128792" cy="4032448"/>
          </a:xfrm>
          <a:prstGeom prst="ellipse">
            <a:avLst/>
          </a:prstGeom>
          <a:solidFill>
            <a:schemeClr val="accent3">
              <a:lumMod val="95000"/>
              <a:alpha val="32000"/>
            </a:schemeClr>
          </a:solidFill>
          <a:ln w="38100">
            <a:solidFill>
              <a:schemeClr val="accent3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i="0" u="none" strike="noStrike" normalizeH="0" baseline="0" dirty="0">
              <a:ln w="0">
                <a:solidFill>
                  <a:schemeClr val="tx1"/>
                </a:solidFill>
              </a:ln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B386E-5FF5-9770-CB93-2554D1B3345A}"/>
              </a:ext>
            </a:extLst>
          </p:cNvPr>
          <p:cNvSpPr txBox="1"/>
          <p:nvPr/>
        </p:nvSpPr>
        <p:spPr>
          <a:xfrm>
            <a:off x="4283968" y="2233061"/>
            <a:ext cx="34793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n-ea"/>
                <a:ea typeface="+mn-ea"/>
              </a:rPr>
              <a:t>C++</a:t>
            </a:r>
          </a:p>
          <a:p>
            <a:pPr algn="ctr"/>
            <a:endParaRPr lang="en-US" altLang="ko-KR" b="1" dirty="0">
              <a:latin typeface="+mn-ea"/>
              <a:ea typeface="+mn-ea"/>
            </a:endParaRPr>
          </a:p>
          <a:p>
            <a:pPr algn="ctr"/>
            <a:r>
              <a:rPr lang="ko-KR" altLang="en-US" b="1" dirty="0">
                <a:latin typeface="+mn-ea"/>
                <a:ea typeface="+mn-ea"/>
              </a:rPr>
              <a:t>객체지향 문법</a:t>
            </a:r>
            <a:endParaRPr lang="en-US" altLang="ko-KR" b="1" dirty="0">
              <a:latin typeface="+mn-ea"/>
              <a:ea typeface="+mn-ea"/>
            </a:endParaRPr>
          </a:p>
          <a:p>
            <a:pPr algn="ctr"/>
            <a:r>
              <a:rPr lang="ko-KR" altLang="en-US" b="1" dirty="0">
                <a:latin typeface="+mn-ea"/>
                <a:ea typeface="+mn-ea"/>
              </a:rPr>
              <a:t>일반화 프로그래밍</a:t>
            </a:r>
            <a:endParaRPr lang="en-US" altLang="ko-KR" b="1" dirty="0">
              <a:latin typeface="+mn-ea"/>
              <a:ea typeface="+mn-ea"/>
            </a:endParaRPr>
          </a:p>
          <a:p>
            <a:pPr algn="ctr"/>
            <a:r>
              <a:rPr lang="ko-KR" altLang="en-US" b="1" dirty="0">
                <a:latin typeface="+mn-ea"/>
                <a:ea typeface="+mn-ea"/>
              </a:rPr>
              <a:t>방대한 </a:t>
            </a:r>
            <a:r>
              <a:rPr lang="en-US" altLang="ko-KR" b="1" dirty="0">
                <a:latin typeface="+mn-ea"/>
                <a:ea typeface="+mn-ea"/>
              </a:rPr>
              <a:t>STL</a:t>
            </a:r>
            <a:endParaRPr lang="ko-KR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6464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ED4E3-4176-AAE9-48B2-EE6F3C48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 </a:t>
            </a:r>
            <a:r>
              <a:rPr lang="ko-KR" altLang="en-US" dirty="0"/>
              <a:t>컴파일러 설치</a:t>
            </a:r>
            <a:r>
              <a:rPr lang="en-US" altLang="ko-KR" dirty="0"/>
              <a:t>: Visual Studio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3DD6B3-35C5-4618-075B-F43F97B2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최신 </a:t>
            </a:r>
            <a:r>
              <a:rPr lang="en-US" altLang="ko-KR" sz="2400" dirty="0"/>
              <a:t>Visual Studio Community</a:t>
            </a:r>
          </a:p>
          <a:p>
            <a:pPr lvl="1"/>
            <a:r>
              <a:rPr lang="en-US" altLang="ko-KR" sz="2000" u="sng" dirty="0">
                <a:hlinkClick r:id="rId2"/>
              </a:rPr>
              <a:t>https://visualstudio.microsoft.com/ko/free-developer-offers/</a:t>
            </a:r>
            <a:endParaRPr lang="en-US" altLang="ko-KR" sz="2000" u="sng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Visual Studio 2026 Community</a:t>
            </a:r>
          </a:p>
          <a:p>
            <a:pPr lvl="1"/>
            <a:r>
              <a:rPr lang="en-US" altLang="ko-KR" sz="2000" u="sng" dirty="0">
                <a:hlinkClick r:id="rId3"/>
              </a:rPr>
              <a:t>https://aka.ms/vs/18/Stable/vs_community.exe</a:t>
            </a:r>
            <a:endParaRPr lang="en-US" altLang="ko-KR" sz="2000" u="sng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Visual Studio 2022 Community</a:t>
            </a:r>
          </a:p>
          <a:p>
            <a:pPr lvl="1"/>
            <a:r>
              <a:rPr lang="en-US" altLang="ko-KR" sz="2000" u="sng" dirty="0">
                <a:hlinkClick r:id="rId4"/>
              </a:rPr>
              <a:t>https://aka.ms/vs/17/release/vs_community.exe</a:t>
            </a:r>
            <a:endParaRPr lang="en-US" altLang="ko-KR" sz="2000" u="sng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Visual Studio 2019 Community</a:t>
            </a:r>
          </a:p>
          <a:p>
            <a:pPr lvl="1"/>
            <a:r>
              <a:rPr lang="en-US" altLang="ko-KR" sz="2000" u="sng" dirty="0">
                <a:hlinkClick r:id="rId5"/>
              </a:rPr>
              <a:t>https://aka.ms/vs/16/release/vs_community.exe</a:t>
            </a:r>
            <a:endParaRPr lang="en-US" altLang="ko-KR" sz="20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A1533A-BFAA-6C53-3CB5-CA8D4D58A6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1804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78D9A-A8E7-6F26-C085-254B4662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1.5.1 </a:t>
            </a:r>
            <a:r>
              <a:rPr lang="ko-KR" altLang="en-US" dirty="0"/>
              <a:t>컴파일러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60FBC-E618-87C2-D575-8F4792883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Visual Studio Installer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EC7233-5D76-3F4A-30B6-FB1964887F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E383EC-D121-1115-A705-A6B2CEEFC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57" y="3396820"/>
            <a:ext cx="4697298" cy="3283376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4CCA996-BADE-BC06-049D-DC112583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57" y="1340768"/>
            <a:ext cx="4697298" cy="191678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56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DECE-E17F-5632-6D58-2E165B1E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B09B3-DC24-6744-31D9-66CAC23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1.5.1 </a:t>
            </a:r>
            <a:r>
              <a:rPr lang="ko-KR" altLang="en-US" dirty="0"/>
              <a:t>컴파일러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1EA073-D095-7FD2-4D82-1A025717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Visual Studio Installer: </a:t>
            </a:r>
            <a:r>
              <a:rPr lang="ko-KR" altLang="en-US" dirty="0"/>
              <a:t>데스크톱</a:t>
            </a:r>
            <a:r>
              <a:rPr lang="en-US" altLang="ko-KR" dirty="0"/>
              <a:t> </a:t>
            </a:r>
            <a:r>
              <a:rPr lang="ko-KR" altLang="en-US" dirty="0"/>
              <a:t>및 모바일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84346-8599-73C8-EF10-68D5F84778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CBB2C2E-E487-1780-8ACD-2BB0A1C56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6759461" cy="108012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562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E00C8-8195-B9CF-6F4D-A5614D6D6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4D895-8F79-B0A9-6B6C-8DFF0EA45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메뉴</a:t>
            </a:r>
            <a:r>
              <a:rPr lang="en-US" altLang="ko-KR" dirty="0"/>
              <a:t>] → [</a:t>
            </a:r>
            <a:r>
              <a:rPr lang="ko-KR" altLang="en-US" dirty="0"/>
              <a:t>새로 만들기</a:t>
            </a:r>
            <a:r>
              <a:rPr lang="en-US" altLang="ko-KR" dirty="0"/>
              <a:t>] → [</a:t>
            </a:r>
            <a:r>
              <a:rPr lang="ko-KR" altLang="en-US" dirty="0"/>
              <a:t>프로젝트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2504F1-0F0C-9434-236F-0A50FAFC71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2B5620CE-9301-ADFB-0E3D-46A86021D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5289405" cy="1192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33796" name="Picture 4">
            <a:extLst>
              <a:ext uri="{FF2B5EF4-FFF2-40B4-BE49-F238E27FC236}">
                <a16:creationId xmlns:a16="http://schemas.microsoft.com/office/drawing/2014/main" id="{ACFFDAD6-CF6B-5824-1C32-847354060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56" y="3604444"/>
            <a:ext cx="7692008" cy="284889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508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B03B6-C3A3-33ED-7266-A5A88DEE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23AAE-4A81-AA19-7C63-0724361E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BE5C8-0904-8BA5-42BC-4F0BCCD5B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8221EA-B2D6-71C5-2813-4A7B9C06F7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26561146-4E8E-76D3-2980-2A507588F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54515"/>
            <a:ext cx="4935545" cy="5430401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707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E228-D5DC-CD32-DA73-0D612C3E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97E7B-A221-FDEB-0EBB-89EB77C2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840EF9-D961-61A1-9FD8-B237D059A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소스 파일 확장자 변경</a:t>
            </a:r>
            <a:r>
              <a:rPr lang="en-US" altLang="ko-KR" dirty="0"/>
              <a:t>(.</a:t>
            </a:r>
            <a:r>
              <a:rPr lang="en-US" altLang="ko-KR" dirty="0" err="1"/>
              <a:t>cpp</a:t>
            </a:r>
            <a:r>
              <a:rPr lang="en-US" altLang="ko-KR" dirty="0"/>
              <a:t> → .c)</a:t>
            </a:r>
          </a:p>
          <a:p>
            <a:pPr lvl="1"/>
            <a:r>
              <a:rPr lang="en-US" altLang="ko-KR" dirty="0"/>
              <a:t>F2 </a:t>
            </a:r>
            <a:r>
              <a:rPr lang="ko-KR" altLang="en-US" dirty="0"/>
              <a:t>키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E8AA9-7F92-6F6F-17DB-380AD935D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F3916FAE-44AA-1CF4-E97E-F62DFAAFD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22165"/>
            <a:ext cx="3537342" cy="3077766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6">
            <a:extLst>
              <a:ext uri="{FF2B5EF4-FFF2-40B4-BE49-F238E27FC236}">
                <a16:creationId xmlns:a16="http://schemas.microsoft.com/office/drawing/2014/main" id="{6EAC97A1-DBD7-350A-FFCC-39B585831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22165"/>
            <a:ext cx="3465953" cy="3077766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1110947D-9587-6035-404C-E40CCD62DF84}"/>
              </a:ext>
            </a:extLst>
          </p:cNvPr>
          <p:cNvSpPr/>
          <p:nvPr/>
        </p:nvSpPr>
        <p:spPr bwMode="auto">
          <a:xfrm>
            <a:off x="4235832" y="3501008"/>
            <a:ext cx="537270" cy="720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214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DDA52-6858-6B91-9692-A03EC303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480AB-FB62-21DE-9E5C-7F9528B0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빌드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F5456D-A4FD-9297-CC0D-1A07794183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F89766AA-4506-16AF-D763-EC4D8120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784"/>
            <a:ext cx="5415819" cy="229130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318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F101-EF5D-D920-FEA6-4E5D9097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DE0FF-C550-A654-C2C1-FFC81E98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4F124D-D876-3A57-ACD7-45F6CA42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코드 수정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CD210B-DD21-D669-E3A1-17F273E1B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27EC1-A728-4BDA-F1C1-0A28ED5C7E47}"/>
              </a:ext>
            </a:extLst>
          </p:cNvPr>
          <p:cNvSpPr txBox="1"/>
          <p:nvPr/>
        </p:nvSpPr>
        <p:spPr>
          <a:xfrm>
            <a:off x="323527" y="2060848"/>
            <a:ext cx="3831629" cy="224676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i="1" dirty="0">
                <a:latin typeface="Consolas" panose="020B0609020204030204" pitchFamily="49" charset="0"/>
              </a:rPr>
              <a:t>// C++ </a:t>
            </a:r>
            <a:r>
              <a:rPr lang="ko-KR" altLang="en-US" sz="1400" i="1" dirty="0">
                <a:latin typeface="Consolas" panose="020B0609020204030204" pitchFamily="49" charset="0"/>
              </a:rPr>
              <a:t>언어</a:t>
            </a:r>
            <a:endParaRPr lang="en-US" altLang="ko-KR" sz="1400" i="1" dirty="0">
              <a:latin typeface="Consolas" panose="020B0609020204030204" pitchFamily="49" charset="0"/>
            </a:endParaRPr>
          </a:p>
          <a:p>
            <a:endParaRPr lang="en-US" altLang="ko-KR" sz="1400" i="1" dirty="0">
              <a:latin typeface="Consolas" panose="020B0609020204030204" pitchFamily="49" charset="0"/>
            </a:endParaRPr>
          </a:p>
          <a:p>
            <a:r>
              <a:rPr lang="en-US" altLang="ko-KR" sz="1400" i="1" dirty="0">
                <a:latin typeface="Consolas" panose="020B0609020204030204" pitchFamily="49" charset="0"/>
              </a:rPr>
              <a:t>#include &lt;iostream&gt;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br>
              <a:rPr lang="en-US" altLang="ko-KR" sz="1400" i="1" dirty="0">
                <a:latin typeface="Consolas" panose="020B0609020204030204" pitchFamily="49" charset="0"/>
              </a:rPr>
            </a:br>
            <a:endParaRPr lang="en-US" altLang="ko-KR" sz="1400" b="0" i="1" dirty="0">
              <a:effectLst/>
              <a:latin typeface="Consolas" panose="020B0609020204030204" pitchFamily="49" charset="0"/>
            </a:endParaRPr>
          </a:p>
          <a:p>
            <a:r>
              <a:rPr lang="en-US" altLang="ko-KR" sz="1400" i="1" dirty="0">
                <a:latin typeface="Consolas" panose="020B0609020204030204" pitchFamily="49" charset="0"/>
              </a:rPr>
              <a:t>int main()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{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    std::</a:t>
            </a:r>
            <a:r>
              <a:rPr lang="en-US" altLang="ko-KR" sz="1400" i="1" dirty="0" err="1">
                <a:latin typeface="Consolas" panose="020B0609020204030204" pitchFamily="49" charset="0"/>
              </a:rPr>
              <a:t>cout</a:t>
            </a:r>
            <a:r>
              <a:rPr lang="en-US" altLang="ko-KR" sz="1400" i="1" dirty="0">
                <a:latin typeface="Consolas" panose="020B0609020204030204" pitchFamily="49" charset="0"/>
              </a:rPr>
              <a:t> &lt;&lt; "Hello World!\n";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    return 0;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}</a:t>
            </a:r>
            <a:endParaRPr lang="ko-KR" altLang="en-US" sz="1400" i="1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44243-228D-6FEB-B164-BD6DBA95F7A0}"/>
              </a:ext>
            </a:extLst>
          </p:cNvPr>
          <p:cNvSpPr txBox="1"/>
          <p:nvPr/>
        </p:nvSpPr>
        <p:spPr>
          <a:xfrm>
            <a:off x="5163932" y="2060847"/>
            <a:ext cx="3600400" cy="224676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i="1" dirty="0">
                <a:latin typeface="Consolas" panose="020B0609020204030204" pitchFamily="49" charset="0"/>
              </a:rPr>
              <a:t>//C </a:t>
            </a:r>
            <a:r>
              <a:rPr lang="ko-KR" altLang="en-US" sz="1400" i="1" dirty="0">
                <a:latin typeface="Consolas" panose="020B0609020204030204" pitchFamily="49" charset="0"/>
              </a:rPr>
              <a:t>언어</a:t>
            </a:r>
            <a:endParaRPr lang="en-US" altLang="ko-KR" sz="1400" i="1" dirty="0">
              <a:latin typeface="Consolas" panose="020B0609020204030204" pitchFamily="49" charset="0"/>
            </a:endParaRPr>
          </a:p>
          <a:p>
            <a:endParaRPr lang="en-US" altLang="ko-KR" sz="1400" i="1" dirty="0">
              <a:latin typeface="Consolas" panose="020B0609020204030204" pitchFamily="49" charset="0"/>
            </a:endParaRPr>
          </a:p>
          <a:p>
            <a:r>
              <a:rPr lang="en-US" altLang="ko-KR" sz="1400" i="1" dirty="0">
                <a:latin typeface="Consolas" panose="020B0609020204030204" pitchFamily="49" charset="0"/>
              </a:rPr>
              <a:t>#include &lt;</a:t>
            </a:r>
            <a:r>
              <a:rPr lang="en-US" altLang="ko-KR" sz="1400" i="1" dirty="0" err="1">
                <a:latin typeface="Consolas" panose="020B0609020204030204" pitchFamily="49" charset="0"/>
              </a:rPr>
              <a:t>stdio.h</a:t>
            </a:r>
            <a:r>
              <a:rPr lang="en-US" altLang="ko-KR" sz="1400" i="1" dirty="0">
                <a:latin typeface="Consolas" panose="020B0609020204030204" pitchFamily="49" charset="0"/>
              </a:rPr>
              <a:t>&gt;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br>
              <a:rPr lang="en-US" altLang="ko-KR" sz="1400" i="1" dirty="0">
                <a:latin typeface="Consolas" panose="020B0609020204030204" pitchFamily="49" charset="0"/>
              </a:rPr>
            </a:br>
            <a:endParaRPr lang="en-US" altLang="ko-KR" sz="1400" b="0" i="1" dirty="0">
              <a:effectLst/>
              <a:latin typeface="Consolas" panose="020B0609020204030204" pitchFamily="49" charset="0"/>
            </a:endParaRPr>
          </a:p>
          <a:p>
            <a:r>
              <a:rPr lang="en-US" altLang="ko-KR" sz="1400" i="1" dirty="0">
                <a:latin typeface="Consolas" panose="020B0609020204030204" pitchFamily="49" charset="0"/>
              </a:rPr>
              <a:t>int main(void)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{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    </a:t>
            </a:r>
            <a:r>
              <a:rPr lang="en-US" altLang="ko-KR" sz="1400" i="1" dirty="0" err="1">
                <a:latin typeface="Consolas" panose="020B0609020204030204" pitchFamily="49" charset="0"/>
              </a:rPr>
              <a:t>printf</a:t>
            </a:r>
            <a:r>
              <a:rPr lang="en-US" altLang="ko-KR" sz="1400" i="1" dirty="0">
                <a:latin typeface="Consolas" panose="020B0609020204030204" pitchFamily="49" charset="0"/>
              </a:rPr>
              <a:t>("Hello World!\n");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    return 0;</a:t>
            </a:r>
            <a:br>
              <a:rPr lang="en-US" altLang="ko-KR" sz="1400" i="1" dirty="0">
                <a:latin typeface="Consolas" panose="020B0609020204030204" pitchFamily="49" charset="0"/>
              </a:rPr>
            </a:br>
            <a:r>
              <a:rPr lang="en-US" altLang="ko-KR" sz="1400" i="1" dirty="0">
                <a:latin typeface="Consolas" panose="020B0609020204030204" pitchFamily="49" charset="0"/>
              </a:rPr>
              <a:t>}</a:t>
            </a:r>
            <a:endParaRPr lang="ko-KR" altLang="en-US" sz="1400" i="1" dirty="0">
              <a:latin typeface="Consolas" panose="020B0609020204030204" pitchFamily="49" charset="0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8E1A02E-C8EF-3B2A-B616-CA5D8431B913}"/>
              </a:ext>
            </a:extLst>
          </p:cNvPr>
          <p:cNvSpPr/>
          <p:nvPr/>
        </p:nvSpPr>
        <p:spPr bwMode="auto">
          <a:xfrm>
            <a:off x="4390909" y="2724579"/>
            <a:ext cx="537270" cy="720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461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9711A-661D-AA85-C06F-8FAED0CF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5F116-EC53-CB88-D5D6-2D1B4E191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빌드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실행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E2D519-268E-F11A-BAD7-1BFB633C56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83D62178-32DE-8504-2459-CB8E08534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412776"/>
            <a:ext cx="4264632" cy="1804267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0" name="Picture 4">
            <a:extLst>
              <a:ext uri="{FF2B5EF4-FFF2-40B4-BE49-F238E27FC236}">
                <a16:creationId xmlns:a16="http://schemas.microsoft.com/office/drawing/2014/main" id="{53CD4CDB-98FF-31E9-BC6B-85272F759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69" y="4502085"/>
            <a:ext cx="4305634" cy="188627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54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2011-0DFC-C8DA-93D5-2A271398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3C6DF-7BE4-4069-93E4-9E511A1C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1.5.2 Hello world </a:t>
            </a:r>
            <a:r>
              <a:rPr lang="ko-KR" altLang="en-US" dirty="0"/>
              <a:t>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C7D544-D9B1-4048-EFC4-2ECD53313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ym typeface="Wingdings" panose="05000000000000000000" pitchFamily="2" charset="2"/>
              </a:rPr>
              <a:t>실행 파일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9085E6-EA8D-FA84-DD9E-A91295CC74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071AAD1F-BDE2-1E5F-8A82-92F811452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16"/>
          <a:stretch>
            <a:fillRect/>
          </a:stretch>
        </p:blipFill>
        <p:spPr bwMode="auto">
          <a:xfrm>
            <a:off x="539750" y="1412776"/>
            <a:ext cx="7272610" cy="1288856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0" name="Picture 6">
            <a:extLst>
              <a:ext uri="{FF2B5EF4-FFF2-40B4-BE49-F238E27FC236}">
                <a16:creationId xmlns:a16="http://schemas.microsoft.com/office/drawing/2014/main" id="{A4EA13B6-E069-00FF-EE47-5B6964C06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60808"/>
            <a:ext cx="5807527" cy="210504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65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3C352-311A-255C-CDCD-E921DB39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4DD82-E527-BF9E-A2C2-E9612E1F6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 </a:t>
            </a:r>
            <a:r>
              <a:rPr lang="ko-KR" altLang="en-US" dirty="0"/>
              <a:t>언어 역사와 특성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 </a:t>
            </a:r>
            <a:r>
              <a:rPr lang="ko-KR" altLang="en-US" dirty="0"/>
              <a:t>와 </a:t>
            </a:r>
            <a:r>
              <a:rPr lang="en-US" altLang="ko-KR" dirty="0"/>
              <a:t>C++ </a:t>
            </a:r>
            <a:r>
              <a:rPr lang="ko-KR" altLang="en-US" dirty="0"/>
              <a:t>관계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Visual studio C++ </a:t>
            </a:r>
            <a:r>
              <a:rPr lang="ko-KR" altLang="en-US" dirty="0"/>
              <a:t>컴파일러 설치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HelloWorld </a:t>
            </a:r>
            <a:r>
              <a:rPr lang="ko-KR" altLang="en-US" dirty="0"/>
              <a:t>프로젝트 생성 및 실행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37CE0B-7731-50E4-1E7C-D756168AE2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747988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48EF-CC17-F010-DE98-41FE6D42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71C9B-7A47-57F9-BF80-AD5E284C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468955-785A-B7BF-8120-6E6F5C61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영문 타자 검정</a:t>
            </a:r>
            <a:endParaRPr lang="en-US" altLang="ko-KR" dirty="0"/>
          </a:p>
          <a:p>
            <a:pPr lvl="1"/>
            <a:r>
              <a:rPr lang="ko-KR" altLang="en-US" dirty="0" err="1"/>
              <a:t>한컴</a:t>
            </a:r>
            <a:r>
              <a:rPr lang="ko-KR" altLang="en-US" dirty="0"/>
              <a:t> 타자 연습 장문 </a:t>
            </a:r>
            <a:r>
              <a:rPr lang="en-US" altLang="ko-KR" dirty="0"/>
              <a:t>150</a:t>
            </a:r>
            <a:r>
              <a:rPr lang="ko-KR" altLang="en-US" dirty="0"/>
              <a:t>타 이상</a:t>
            </a:r>
            <a:endParaRPr lang="en-US" altLang="ko-KR" dirty="0"/>
          </a:p>
          <a:p>
            <a:pPr lvl="1"/>
            <a:r>
              <a:rPr lang="en-US" altLang="ko-KR">
                <a:hlinkClick r:id="rId2"/>
              </a:rPr>
              <a:t>https://www.hancomtaja.com/ko/overview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957BCD-FB52-6368-8EF6-8924DA3AB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6800856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811</Words>
  <Application>Microsoft Office PowerPoint</Application>
  <PresentationFormat>화면 슬라이드 쇼(4:3)</PresentationFormat>
  <Paragraphs>196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HY견고딕</vt:lpstr>
      <vt:lpstr>Arial</vt:lpstr>
      <vt:lpstr>Consolas</vt:lpstr>
      <vt:lpstr>굴림</vt:lpstr>
      <vt:lpstr>나눔바른고딕</vt:lpstr>
      <vt:lpstr>Wingdings</vt:lpstr>
      <vt:lpstr>가을체</vt:lpstr>
      <vt:lpstr>기본 디자인</vt:lpstr>
      <vt:lpstr>01. C 언어 개론</vt:lpstr>
      <vt:lpstr>1.1 프로그래밍 언어의 종류</vt:lpstr>
      <vt:lpstr>1.1 프로그래밍 언어의 종류</vt:lpstr>
      <vt:lpstr>1.1.2 소스 코드 실행 방식</vt:lpstr>
      <vt:lpstr>1.1.3 C 언어의 위치</vt:lpstr>
      <vt:lpstr>1.2 C 언어 탄생과 배경</vt:lpstr>
      <vt:lpstr>1.2.2 게임 프로그래머가 알아야 할 주요 인물</vt:lpstr>
      <vt:lpstr>1.3 C 언어의 특징과 장점</vt:lpstr>
      <vt:lpstr>1.3 C 언어의 특징과 장점</vt:lpstr>
      <vt:lpstr>1.4 C++과의 관계</vt:lpstr>
      <vt:lpstr>1.5. 컴파일러 설치: Visual Studio</vt:lpstr>
      <vt:lpstr>1.5.1 컴파일러 설치</vt:lpstr>
      <vt:lpstr>1.5.1 컴파일러 설치</vt:lpstr>
      <vt:lpstr>1.5.2 Hello world 출력</vt:lpstr>
      <vt:lpstr>1.5.2 Hello world 출력</vt:lpstr>
      <vt:lpstr>1.5.2 Hello world 출력</vt:lpstr>
      <vt:lpstr>1.5.2 Hello world 출력</vt:lpstr>
      <vt:lpstr>1.5.2 Hello world 출력</vt:lpstr>
      <vt:lpstr>1.5.2 Hello world 출력</vt:lpstr>
      <vt:lpstr>1.5.2 Hello world 출력</vt:lpstr>
      <vt:lpstr>학습 정리</vt:lpstr>
      <vt:lpstr>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184</cp:revision>
  <dcterms:created xsi:type="dcterms:W3CDTF">2003-11-30T16:03:20Z</dcterms:created>
  <dcterms:modified xsi:type="dcterms:W3CDTF">2026-04-18T00:17:49Z</dcterms:modified>
</cp:coreProperties>
</file>