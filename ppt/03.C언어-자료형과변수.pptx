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2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9" r:id="rId28"/>
    <p:sldId id="300" r:id="rId29"/>
    <p:sldId id="301" r:id="rId30"/>
    <p:sldId id="303" r:id="rId31"/>
    <p:sldId id="336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37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9" r:id="rId58"/>
    <p:sldId id="330" r:id="rId59"/>
    <p:sldId id="339" r:id="rId60"/>
    <p:sldId id="338" r:id="rId61"/>
    <p:sldId id="340" r:id="rId62"/>
    <p:sldId id="341" r:id="rId63"/>
    <p:sldId id="342" r:id="rId64"/>
    <p:sldId id="343" r:id="rId65"/>
    <p:sldId id="331" r:id="rId66"/>
    <p:sldId id="332" r:id="rId67"/>
    <p:sldId id="344" r:id="rId68"/>
    <p:sldId id="333" r:id="rId69"/>
    <p:sldId id="334" r:id="rId70"/>
    <p:sldId id="335" r:id="rId71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73"/>
    </p:embeddedFont>
    <p:embeddedFont>
      <p:font typeface="가을체" panose="02030600000101010101" pitchFamily="18" charset="-127"/>
      <p:regular r:id="rId74"/>
    </p:embeddedFont>
    <p:embeddedFont>
      <p:font typeface="Consolas" panose="020B0609020204030204" pitchFamily="49" charset="0"/>
      <p:regular r:id="rId75"/>
      <p:bold r:id="rId76"/>
      <p:italic r:id="rId77"/>
      <p:boldItalic r:id="rId7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00"/>
    <a:srgbClr val="CC0000"/>
    <a:srgbClr val="0000FF"/>
    <a:srgbClr val="009900"/>
    <a:srgbClr val="FF00FF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332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2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03. </a:t>
            </a:r>
            <a:r>
              <a:rPr lang="ko-KR" altLang="en-US" dirty="0"/>
              <a:t>자료형과 변수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 </a:t>
            </a:r>
            <a:r>
              <a:rPr lang="ko-KR" altLang="en-US" b="0" dirty="0"/>
              <a:t>데이터 표현과 메모리 단위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 데이터 표현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진수</a:t>
            </a:r>
            <a:r>
              <a:rPr lang="en-US" altLang="ko-KR" dirty="0"/>
              <a:t>(bit, 0</a:t>
            </a:r>
            <a:r>
              <a:rPr lang="ko-KR" altLang="en-US" dirty="0"/>
              <a:t>과 </a:t>
            </a:r>
            <a:r>
              <a:rPr lang="en-US" altLang="ko-KR" dirty="0"/>
              <a:t>1)</a:t>
            </a:r>
          </a:p>
          <a:p>
            <a:endParaRPr lang="en-US" altLang="ko-KR" dirty="0"/>
          </a:p>
          <a:p>
            <a:r>
              <a:rPr lang="ko-KR" altLang="en-US" dirty="0"/>
              <a:t>사람의 이해를 위해</a:t>
            </a:r>
            <a:endParaRPr lang="en-US" altLang="ko-KR" dirty="0"/>
          </a:p>
          <a:p>
            <a:pPr lvl="1"/>
            <a:r>
              <a:rPr lang="en-US" altLang="ko-KR" dirty="0"/>
              <a:t>8</a:t>
            </a:r>
            <a:r>
              <a:rPr lang="ko-KR" altLang="en-US" dirty="0"/>
              <a:t>진수</a:t>
            </a:r>
            <a:r>
              <a:rPr lang="en-US" altLang="ko-KR" dirty="0"/>
              <a:t>, 10</a:t>
            </a:r>
            <a:r>
              <a:rPr lang="ko-KR" altLang="en-US" dirty="0"/>
              <a:t>진수</a:t>
            </a:r>
            <a:r>
              <a:rPr lang="en-US" altLang="ko-KR" dirty="0"/>
              <a:t>, 16</a:t>
            </a:r>
            <a:r>
              <a:rPr lang="ko-KR" altLang="en-US" dirty="0"/>
              <a:t>진수 사용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dirty="0"/>
              <a:t>2</a:t>
            </a:r>
            <a:r>
              <a:rPr lang="ko-KR" altLang="en-US" dirty="0"/>
              <a:t>진수와 </a:t>
            </a:r>
            <a:r>
              <a:rPr lang="en-US" altLang="ko-KR" dirty="0"/>
              <a:t>16</a:t>
            </a:r>
            <a:r>
              <a:rPr lang="ko-KR" altLang="en-US" dirty="0"/>
              <a:t>진수</a:t>
            </a:r>
            <a:endParaRPr lang="en-US" altLang="ko-KR" dirty="0"/>
          </a:p>
          <a:p>
            <a:pPr lvl="1"/>
            <a:r>
              <a:rPr lang="ko-KR" altLang="en-US" dirty="0"/>
              <a:t>컴퓨터 내부 데이터 확인에 유용한 표기법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4272A-C09F-DF93-861E-E89A5A36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3.1.1 </a:t>
            </a:r>
            <a:r>
              <a:rPr lang="ko-KR" altLang="en-US" b="0" dirty="0"/>
              <a:t>데이터 표현 방식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23E49-20DC-F6B8-5E2B-230301A991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7DB4918B-4B81-9E18-BD9F-B24ECBAC4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2435379"/>
              </p:ext>
            </p:extLst>
          </p:nvPr>
        </p:nvGraphicFramePr>
        <p:xfrm>
          <a:off x="179512" y="980728"/>
          <a:ext cx="8640960" cy="4536504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2398622507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120242035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677004316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26278060"/>
                    </a:ext>
                  </a:extLst>
                </a:gridCol>
              </a:tblGrid>
              <a:tr h="56960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진법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접두사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예시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8991"/>
                  </a:ext>
                </a:extLst>
              </a:tr>
              <a:tr h="93915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진수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Decimal)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사람이 사용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123, 2048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532504"/>
                  </a:ext>
                </a:extLst>
              </a:tr>
              <a:tr h="105613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진수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Binary)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컴퓨터 내부 표현과 동일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(C23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이후 지원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0b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0b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101101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521316"/>
                  </a:ext>
                </a:extLst>
              </a:tr>
              <a:tr h="106636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진수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Octal)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3bit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단위 표현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  <a:p>
                      <a:pPr algn="just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권한 설정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owner, group, other)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에서 사용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755, </a:t>
                      </a:r>
                      <a:r>
                        <a:rPr lang="en-US" altLang="ko-KR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674313"/>
                  </a:ext>
                </a:extLst>
              </a:tr>
              <a:tr h="9052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진수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Hexadecimal)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4bit =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자리 대응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메모리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·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·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색상 값 표현에 사용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FF00CCAA</a:t>
                      </a:r>
                      <a:endParaRPr lang="en-US" sz="1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601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99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85AA9-072C-C383-F51E-105EC352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3.1.1 </a:t>
            </a:r>
            <a:r>
              <a:rPr lang="ko-KR" altLang="en-US" b="0" dirty="0"/>
              <a:t>데이터 표현 방식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58396-8D7C-FBE3-E2B6-BEB4AD6A9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같은 값을 다르게 표현하는 예</a:t>
            </a:r>
            <a:endParaRPr lang="en-US" altLang="ko-KR" dirty="0"/>
          </a:p>
          <a:p>
            <a:pPr lvl="1"/>
            <a:r>
              <a:rPr lang="en-US" altLang="ko-KR" b="0" dirty="0"/>
              <a:t>42 (10</a:t>
            </a:r>
            <a:r>
              <a:rPr lang="ko-KR" altLang="en-US" b="0" dirty="0"/>
              <a:t>진수</a:t>
            </a:r>
            <a:r>
              <a:rPr lang="en-US" altLang="ko-KR" b="0" dirty="0"/>
              <a:t>)</a:t>
            </a:r>
          </a:p>
          <a:p>
            <a:pPr lvl="1"/>
            <a:r>
              <a:rPr lang="en-US" altLang="ko-KR" b="0" dirty="0"/>
              <a:t>0b00101010 (2</a:t>
            </a:r>
            <a:r>
              <a:rPr lang="ko-KR" altLang="en-US" b="0" dirty="0"/>
              <a:t>진수</a:t>
            </a:r>
            <a:r>
              <a:rPr lang="en-US" altLang="ko-KR" b="0" dirty="0"/>
              <a:t>)</a:t>
            </a:r>
          </a:p>
          <a:p>
            <a:pPr lvl="1"/>
            <a:r>
              <a:rPr lang="en-US" altLang="ko-KR" b="0" dirty="0"/>
              <a:t>052 (8</a:t>
            </a:r>
            <a:r>
              <a:rPr lang="ko-KR" altLang="en-US" b="0" dirty="0"/>
              <a:t>진수</a:t>
            </a:r>
            <a:r>
              <a:rPr lang="en-US" altLang="ko-KR" b="0" dirty="0"/>
              <a:t>)</a:t>
            </a:r>
          </a:p>
          <a:p>
            <a:pPr lvl="1"/>
            <a:r>
              <a:rPr lang="en-US" altLang="ko-KR" b="0" dirty="0"/>
              <a:t>0x2A (16</a:t>
            </a:r>
            <a:r>
              <a:rPr lang="ko-KR" altLang="en-US" b="0" dirty="0"/>
              <a:t>진수</a:t>
            </a:r>
            <a:r>
              <a:rPr lang="en-US" altLang="ko-KR" b="0" dirty="0"/>
              <a:t>)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C56283-4783-901C-54BE-EFD894F845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697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D0FE-EAB8-1601-9D1E-13228D5E8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D9013-8D05-9C45-858A-44EA8231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3.1.2 </a:t>
            </a:r>
            <a:r>
              <a:rPr lang="ko-KR" altLang="en-US" b="0" dirty="0"/>
              <a:t>비트</a:t>
            </a:r>
            <a:r>
              <a:rPr lang="en-US" altLang="ko-KR" b="0" dirty="0"/>
              <a:t>(bit)</a:t>
            </a:r>
            <a:r>
              <a:rPr lang="ko-KR" altLang="en-US" b="0" dirty="0"/>
              <a:t>와 바이트</a:t>
            </a:r>
            <a:r>
              <a:rPr lang="en-US" altLang="ko-KR" b="0" dirty="0"/>
              <a:t>(byte)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56B0D0-39CF-B40E-863A-94531969B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비트</a:t>
            </a:r>
            <a:r>
              <a:rPr lang="en-US" altLang="ko-KR" sz="2000" dirty="0"/>
              <a:t>(bit)</a:t>
            </a:r>
          </a:p>
          <a:p>
            <a:pPr lvl="1"/>
            <a:r>
              <a:rPr lang="en-US" altLang="ko-KR" sz="1800" dirty="0"/>
              <a:t>binary digit</a:t>
            </a:r>
            <a:r>
              <a:rPr lang="ko-KR" altLang="en-US" sz="1800" dirty="0"/>
              <a:t>의 약자</a:t>
            </a:r>
            <a:endParaRPr lang="en-US" altLang="ko-KR" sz="1800" dirty="0"/>
          </a:p>
          <a:p>
            <a:pPr lvl="1"/>
            <a:r>
              <a:rPr lang="en-US" altLang="ko-KR" sz="1800" dirty="0"/>
              <a:t>0 </a:t>
            </a:r>
            <a:r>
              <a:rPr lang="ko-KR" altLang="en-US" sz="1800" dirty="0"/>
              <a:t>또는 </a:t>
            </a:r>
            <a:r>
              <a:rPr lang="en-US" altLang="ko-KR" sz="1800" dirty="0"/>
              <a:t>1</a:t>
            </a:r>
            <a:r>
              <a:rPr lang="ko-KR" altLang="en-US" sz="1800" dirty="0"/>
              <a:t>을 표현하는 최소 정보 단위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바이트</a:t>
            </a:r>
            <a:r>
              <a:rPr lang="en-US" altLang="ko-KR" sz="2000" dirty="0"/>
              <a:t>(byte)</a:t>
            </a:r>
          </a:p>
          <a:p>
            <a:pPr lvl="1"/>
            <a:r>
              <a:rPr lang="en-US" altLang="ko-KR" sz="1800" dirty="0"/>
              <a:t>8bit</a:t>
            </a:r>
            <a:r>
              <a:rPr lang="ko-KR" altLang="en-US" sz="1800" dirty="0"/>
              <a:t>로 구성된 기본 저장 단위</a:t>
            </a:r>
            <a:endParaRPr lang="en-US" altLang="ko-KR" sz="1800" dirty="0"/>
          </a:p>
          <a:p>
            <a:pPr lvl="1"/>
            <a:r>
              <a:rPr lang="en-US" altLang="ko-KR" sz="1800" dirty="0"/>
              <a:t>C</a:t>
            </a:r>
            <a:r>
              <a:rPr lang="ko-KR" altLang="en-US" sz="1800" dirty="0"/>
              <a:t>언어</a:t>
            </a:r>
            <a:r>
              <a:rPr lang="en-US" altLang="ko-KR" sz="1800" dirty="0"/>
              <a:t>, </a:t>
            </a:r>
            <a:r>
              <a:rPr lang="ko-KR" altLang="en-US" sz="1800" dirty="0"/>
              <a:t>시스템 데이터의 기본 단위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단위 관계</a:t>
            </a:r>
          </a:p>
          <a:p>
            <a:pPr lvl="1"/>
            <a:r>
              <a:rPr lang="en-US" altLang="ko-KR" sz="1800" dirty="0"/>
              <a:t>1 Byte = 8 bit</a:t>
            </a:r>
          </a:p>
          <a:p>
            <a:pPr lvl="1"/>
            <a:r>
              <a:rPr lang="en-US" altLang="ko-KR" sz="1800" dirty="0"/>
              <a:t>1 KB(kilo byte) = 1,024 Byte</a:t>
            </a:r>
          </a:p>
          <a:p>
            <a:pPr lvl="1"/>
            <a:r>
              <a:rPr lang="en-US" altLang="ko-KR" sz="1800" dirty="0"/>
              <a:t>1 MB(mega byte) = 1,024 KB</a:t>
            </a:r>
          </a:p>
          <a:p>
            <a:pPr lvl="1"/>
            <a:r>
              <a:rPr lang="en-US" altLang="ko-KR" sz="1800" dirty="0"/>
              <a:t>1 GB(giga byte) = 1,024 MB</a:t>
            </a:r>
          </a:p>
          <a:p>
            <a:pPr lvl="1"/>
            <a:r>
              <a:rPr lang="en-US" altLang="ko-KR" sz="1800" dirty="0"/>
              <a:t>1 TB(tera byte) = 1,024 GB</a:t>
            </a:r>
          </a:p>
          <a:p>
            <a:pPr lvl="1"/>
            <a:r>
              <a:rPr lang="en-US" altLang="ko-KR" sz="1800" dirty="0"/>
              <a:t>1 PB(</a:t>
            </a:r>
            <a:r>
              <a:rPr lang="en-US" altLang="ko-KR" sz="1800" dirty="0" err="1"/>
              <a:t>peta</a:t>
            </a:r>
            <a:r>
              <a:rPr lang="en-US" altLang="ko-KR" sz="1800" dirty="0"/>
              <a:t> byte) = 1,024 TB</a:t>
            </a:r>
          </a:p>
          <a:p>
            <a:pPr lvl="1"/>
            <a:r>
              <a:rPr lang="en-US" altLang="ko-KR" sz="1800" dirty="0"/>
              <a:t>1 EB(</a:t>
            </a:r>
            <a:r>
              <a:rPr lang="en-US" altLang="ko-KR" sz="1800" dirty="0" err="1"/>
              <a:t>exa</a:t>
            </a:r>
            <a:r>
              <a:rPr lang="en-US" altLang="ko-KR" sz="1800" dirty="0"/>
              <a:t> byte) = 1,024 PB</a:t>
            </a:r>
          </a:p>
          <a:p>
            <a:pPr lvl="1"/>
            <a:r>
              <a:rPr lang="en-US" altLang="ko-KR" sz="1800" dirty="0"/>
              <a:t>1 ZB(zetta byte) = 1,024 EB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D42018-5D77-3699-CC0F-8DE77CA7F3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5146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66868-B234-71C1-DC99-E00F42FB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3.1.3 ASCII </a:t>
            </a:r>
            <a:r>
              <a:rPr lang="ko-KR" altLang="en-US" b="0" dirty="0"/>
              <a:t>코드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49781-7409-1D6C-D7D3-4D2A0115C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ASCII (American Standard Code for Information Interchange)</a:t>
            </a:r>
          </a:p>
          <a:p>
            <a:pPr lvl="1"/>
            <a:r>
              <a:rPr lang="ko-KR" altLang="en-US" sz="1800" dirty="0"/>
              <a:t>문자</a:t>
            </a:r>
            <a:r>
              <a:rPr lang="en-US" altLang="ko-KR" sz="1800" dirty="0"/>
              <a:t>(</a:t>
            </a:r>
            <a:r>
              <a:rPr lang="ko-KR" altLang="en-US" sz="1800" dirty="0"/>
              <a:t>영문자</a:t>
            </a:r>
            <a:r>
              <a:rPr lang="en-US" altLang="ko-KR" sz="1800" dirty="0"/>
              <a:t>, </a:t>
            </a:r>
            <a:r>
              <a:rPr lang="ko-KR" altLang="en-US" sz="1800" dirty="0"/>
              <a:t>숫자</a:t>
            </a:r>
            <a:r>
              <a:rPr lang="en-US" altLang="ko-KR" sz="1800" dirty="0"/>
              <a:t>, </a:t>
            </a:r>
            <a:r>
              <a:rPr lang="ko-KR" altLang="en-US" sz="1800" dirty="0"/>
              <a:t>기호</a:t>
            </a:r>
            <a:r>
              <a:rPr lang="en-US" altLang="ko-KR" sz="1800" dirty="0"/>
              <a:t>)</a:t>
            </a:r>
            <a:r>
              <a:rPr lang="ko-KR" altLang="en-US" sz="1800" dirty="0"/>
              <a:t>를 숫자로 표현하는 문자 인코딩 표준</a:t>
            </a:r>
            <a:endParaRPr lang="en-US" altLang="ko-KR" sz="1800" dirty="0"/>
          </a:p>
          <a:p>
            <a:pPr lvl="2"/>
            <a:endParaRPr lang="en-US" altLang="ko-KR" sz="1600" dirty="0"/>
          </a:p>
          <a:p>
            <a:r>
              <a:rPr lang="ko-KR" altLang="en-US" sz="2000" dirty="0"/>
              <a:t>특징</a:t>
            </a:r>
          </a:p>
          <a:p>
            <a:pPr lvl="1"/>
            <a:r>
              <a:rPr lang="en-US" altLang="ko-KR" sz="1800" dirty="0"/>
              <a:t>7</a:t>
            </a:r>
            <a:r>
              <a:rPr lang="ko-KR" altLang="en-US" sz="1800" dirty="0"/>
              <a:t>비트</a:t>
            </a:r>
            <a:r>
              <a:rPr lang="en-US" altLang="ko-KR" sz="1800" dirty="0"/>
              <a:t>(0~127) </a:t>
            </a:r>
            <a:r>
              <a:rPr lang="ko-KR" altLang="en-US" sz="1800" dirty="0"/>
              <a:t>코드 사용</a:t>
            </a:r>
          </a:p>
          <a:p>
            <a:pPr lvl="1"/>
            <a:r>
              <a:rPr lang="ko-KR" altLang="en-US" sz="1800" dirty="0"/>
              <a:t>영문 대소문자</a:t>
            </a:r>
            <a:r>
              <a:rPr lang="en-US" altLang="ko-KR" sz="1800" dirty="0"/>
              <a:t>, </a:t>
            </a:r>
            <a:r>
              <a:rPr lang="ko-KR" altLang="en-US" sz="1800" dirty="0"/>
              <a:t>숫자</a:t>
            </a:r>
            <a:r>
              <a:rPr lang="en-US" altLang="ko-KR" sz="1800" dirty="0"/>
              <a:t>, </a:t>
            </a:r>
            <a:r>
              <a:rPr lang="ko-KR" altLang="en-US" sz="1800" dirty="0"/>
              <a:t>기호</a:t>
            </a:r>
            <a:r>
              <a:rPr lang="en-US" altLang="ko-KR" sz="1800" dirty="0"/>
              <a:t>, </a:t>
            </a:r>
            <a:r>
              <a:rPr lang="ko-KR" altLang="en-US" sz="1800" dirty="0"/>
              <a:t>제어 문자 포함</a:t>
            </a:r>
          </a:p>
          <a:p>
            <a:endParaRPr lang="ko-KR" altLang="en-US" sz="2000" dirty="0"/>
          </a:p>
          <a:p>
            <a:r>
              <a:rPr lang="ko-KR" altLang="en-US" sz="2000" dirty="0"/>
              <a:t>구성</a:t>
            </a:r>
            <a:endParaRPr lang="en-US" altLang="ko-KR" sz="2000" dirty="0"/>
          </a:p>
          <a:p>
            <a:pPr lvl="1"/>
            <a:r>
              <a:rPr lang="ko-KR" altLang="en-US" sz="1600" dirty="0"/>
              <a:t>제어</a:t>
            </a:r>
            <a:r>
              <a:rPr lang="en-US" altLang="ko-KR" sz="1600" dirty="0"/>
              <a:t>: </a:t>
            </a:r>
            <a:r>
              <a:rPr lang="en-US" altLang="ko-KR" sz="1400" dirty="0"/>
              <a:t>0(NULL)~31, 127(Delete)</a:t>
            </a:r>
          </a:p>
          <a:p>
            <a:pPr lvl="1"/>
            <a:r>
              <a:rPr lang="ko-KR" altLang="en-US" sz="1600" dirty="0"/>
              <a:t>기호</a:t>
            </a:r>
            <a:r>
              <a:rPr lang="en-US" altLang="ko-KR" sz="1600" dirty="0"/>
              <a:t>: 32 ~ 47, 58 ~ 64, 91 ~ 96, 123 ~ 126</a:t>
            </a:r>
          </a:p>
          <a:p>
            <a:pPr lvl="1"/>
            <a:r>
              <a:rPr lang="ko-KR" altLang="en-US" sz="1600" dirty="0"/>
              <a:t>숫자</a:t>
            </a:r>
            <a:r>
              <a:rPr lang="en-US" altLang="ko-KR" sz="1600" dirty="0"/>
              <a:t>: </a:t>
            </a:r>
            <a:r>
              <a:rPr lang="en-US" altLang="ko-KR" sz="1400" dirty="0"/>
              <a:t>48(0) ~ 57(9)</a:t>
            </a:r>
          </a:p>
          <a:p>
            <a:pPr lvl="1"/>
            <a:r>
              <a:rPr lang="ko-KR" altLang="en-US" sz="1600" dirty="0"/>
              <a:t>영문자</a:t>
            </a:r>
            <a:endParaRPr lang="en-US" altLang="ko-KR" sz="1600" dirty="0"/>
          </a:p>
          <a:p>
            <a:pPr lvl="2"/>
            <a:r>
              <a:rPr lang="ko-KR" altLang="en-US" sz="1400" dirty="0"/>
              <a:t>대문자</a:t>
            </a:r>
            <a:r>
              <a:rPr lang="en-US" altLang="ko-KR" sz="1400" dirty="0"/>
              <a:t>: 65(A) ~ 90(Z)</a:t>
            </a:r>
          </a:p>
          <a:p>
            <a:pPr lvl="2"/>
            <a:r>
              <a:rPr lang="ko-KR" altLang="en-US" sz="1400" dirty="0"/>
              <a:t>소문자</a:t>
            </a:r>
            <a:r>
              <a:rPr lang="en-US" altLang="ko-KR" sz="1400" dirty="0"/>
              <a:t>: 97(a) ~ 122(z)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1CA198-C9DB-1E15-DF92-7F85C704AC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907642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26C4C-DCE8-BC6C-E76F-4F4B2DAE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3.1.3 ASCII </a:t>
            </a:r>
            <a:r>
              <a:rPr lang="ko-KR" altLang="en-US" b="0" dirty="0"/>
              <a:t>코드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95E1F-F2A1-B26E-EA7B-C55FFE47F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제어 문자 출력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97C02-D24C-FC55-E1FB-151ED1A337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3D5-E2C7-C8A1-3919-73C46BE8539C}"/>
              </a:ext>
            </a:extLst>
          </p:cNvPr>
          <p:cNvSpPr txBox="1"/>
          <p:nvPr/>
        </p:nvSpPr>
        <p:spPr>
          <a:xfrm>
            <a:off x="575270" y="1340768"/>
            <a:ext cx="75251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"\\n : %d\n"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"\\t : %d\n"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'\t'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"\\0 : %d\n"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51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B2FEE-A411-1E2E-B5B5-AE441A2D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ECC6C-C42D-6F8C-EEEC-7436FC18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3.1.3 ASCII </a:t>
            </a:r>
            <a:r>
              <a:rPr lang="ko-KR" altLang="en-US" b="0" dirty="0"/>
              <a:t>코드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1C951-C27E-F495-267A-7F4092676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숫자에 대한 </a:t>
            </a:r>
            <a:r>
              <a:rPr lang="en-US" altLang="ko-KR" dirty="0"/>
              <a:t>ASCII </a:t>
            </a:r>
            <a:r>
              <a:rPr lang="ko-KR" altLang="en-US" dirty="0"/>
              <a:t>코드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80A5D5-D34B-7905-E63F-A812870513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7A0CB-5DFE-57BA-D5EF-8682549CF734}"/>
              </a:ext>
            </a:extLst>
          </p:cNvPr>
          <p:cNvSpPr txBox="1"/>
          <p:nvPr/>
        </p:nvSpPr>
        <p:spPr>
          <a:xfrm>
            <a:off x="683568" y="1484784"/>
            <a:ext cx="69665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"0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'0'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'1'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"2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'2'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"3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'3'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"4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'4'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"5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'5'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"6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'6'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"7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'7'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"8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'8'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"9 :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'9'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5226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FE248-BDBE-EB2E-D254-A14F5C9F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25863-10A2-5AC8-EB02-3F8CE0DD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3.1.3 ASCII </a:t>
            </a:r>
            <a:r>
              <a:rPr lang="ko-KR" altLang="en-US" b="0" dirty="0"/>
              <a:t>코드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C51D9-0526-1ABF-63D2-1EB68E032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영문자에 대한 </a:t>
            </a:r>
            <a:r>
              <a:rPr lang="en-US" altLang="ko-KR" dirty="0"/>
              <a:t>ASCII </a:t>
            </a:r>
            <a:r>
              <a:rPr lang="ko-KR" altLang="en-US" dirty="0"/>
              <a:t>코드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C477CC-506F-28BC-18B8-22298DE6B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18C50-46BA-3B87-A811-60AD1D84847B}"/>
              </a:ext>
            </a:extLst>
          </p:cNvPr>
          <p:cNvSpPr txBox="1"/>
          <p:nvPr/>
        </p:nvSpPr>
        <p:spPr>
          <a:xfrm>
            <a:off x="755576" y="1556792"/>
            <a:ext cx="4572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"B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"Z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'Z'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"b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"z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'z'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17508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12D7-FAF9-87B3-E8EB-D917910D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D7BCF-67BA-04B5-27BC-553BFF7C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3.1.3 ASCII </a:t>
            </a:r>
            <a:r>
              <a:rPr lang="ko-KR" altLang="en-US" b="0" dirty="0"/>
              <a:t>코드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0BC97-9563-E5DA-71E6-635B67DD5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영문자에 대한 </a:t>
            </a:r>
            <a:r>
              <a:rPr lang="en-US" altLang="ko-KR" dirty="0"/>
              <a:t>ASCII </a:t>
            </a:r>
            <a:r>
              <a:rPr lang="ko-KR" altLang="en-US" dirty="0"/>
              <a:t>코드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203F71-D5B1-A498-8CAA-F071E8C923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04448-8960-7480-EC72-4B9B3EEF1666}"/>
              </a:ext>
            </a:extLst>
          </p:cNvPr>
          <p:cNvSpPr txBox="1"/>
          <p:nvPr/>
        </p:nvSpPr>
        <p:spPr>
          <a:xfrm>
            <a:off x="683568" y="1844824"/>
            <a:ext cx="457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"!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"#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'#'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"@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'@'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'['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"{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'{'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20327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61B5-B55B-9C5D-4236-D57DB595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02F0D-055D-5D00-8F34-FCDFA11E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3.1.4 </a:t>
            </a:r>
            <a:r>
              <a:rPr lang="ko-KR" altLang="en-US" b="0" dirty="0"/>
              <a:t>정수 오버플로와 언더플로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F84F3F-03BE-15B6-F27B-595F91BD6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정수형은 정해진 비트 수로 값을 표현</a:t>
            </a:r>
          </a:p>
          <a:p>
            <a:r>
              <a:rPr lang="ko-KR" altLang="en-US" sz="2400" dirty="0"/>
              <a:t>표현 범위를 초과하면 값이 순환</a:t>
            </a:r>
            <a:r>
              <a:rPr lang="en-US" altLang="ko-KR" sz="2400" dirty="0"/>
              <a:t>(wrap-around)</a:t>
            </a:r>
          </a:p>
          <a:p>
            <a:endParaRPr lang="en-US" altLang="ko-KR" sz="2400" dirty="0"/>
          </a:p>
          <a:p>
            <a:r>
              <a:rPr lang="ko-KR" altLang="en-US" sz="2400" dirty="0"/>
              <a:t>오버플로</a:t>
            </a:r>
            <a:r>
              <a:rPr lang="en-US" altLang="ko-KR" sz="2400" dirty="0"/>
              <a:t>(Overflow)</a:t>
            </a:r>
          </a:p>
          <a:p>
            <a:pPr lvl="1"/>
            <a:r>
              <a:rPr lang="ko-KR" altLang="en-US" sz="2000" dirty="0"/>
              <a:t>정수형 값이 최대 범위를 초과할 때 발생</a:t>
            </a:r>
            <a:r>
              <a:rPr lang="en-US" altLang="ko-KR" sz="2000" dirty="0"/>
              <a:t>, </a:t>
            </a:r>
            <a:r>
              <a:rPr lang="ko-KR" altLang="en-US" sz="2000" dirty="0"/>
              <a:t>값이 가장 작은 값으로 순환</a:t>
            </a:r>
          </a:p>
          <a:p>
            <a:r>
              <a:rPr lang="ko-KR" altLang="en-US" sz="2400" dirty="0"/>
              <a:t>언더플로</a:t>
            </a:r>
            <a:r>
              <a:rPr lang="en-US" altLang="ko-KR" sz="2400" dirty="0"/>
              <a:t>(Underflow)</a:t>
            </a:r>
          </a:p>
          <a:p>
            <a:pPr lvl="1"/>
            <a:r>
              <a:rPr lang="ko-KR" altLang="en-US" sz="2000" dirty="0"/>
              <a:t>정수형 값이 최소 범위보다 작아질 때 발생</a:t>
            </a:r>
            <a:r>
              <a:rPr lang="en-US" altLang="ko-KR" sz="2000" dirty="0"/>
              <a:t>, </a:t>
            </a:r>
            <a:r>
              <a:rPr lang="ko-KR" altLang="en-US" sz="2000" dirty="0"/>
              <a:t>값이 가장 큰 값으로 순환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03241E-2CE7-66F3-B019-8533EE5B7A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F946A-6582-37C3-0ED2-25E6BDDF6B8E}"/>
              </a:ext>
            </a:extLst>
          </p:cNvPr>
          <p:cNvSpPr txBox="1"/>
          <p:nvPr/>
        </p:nvSpPr>
        <p:spPr>
          <a:xfrm>
            <a:off x="564482" y="4365104"/>
            <a:ext cx="7272808" cy="163121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n1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n1++;   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으로 돌아감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오버플로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signed 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n2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127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n2++;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8447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D86FC-9E18-E054-D28A-A6D56D86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3.1.5 </a:t>
            </a:r>
            <a:r>
              <a:rPr lang="ko-KR" altLang="en-US" b="0" dirty="0"/>
              <a:t>엔디안</a:t>
            </a:r>
            <a:r>
              <a:rPr lang="en-US" altLang="ko-KR" b="0" dirty="0"/>
              <a:t>(Endianness)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1A563-B232-A6DF-1D76-328D60055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엔디안</a:t>
            </a:r>
            <a:endParaRPr lang="en-US" altLang="ko-KR" sz="2400" dirty="0"/>
          </a:p>
          <a:p>
            <a:pPr lvl="1"/>
            <a:r>
              <a:rPr lang="ko-KR" altLang="en-US" sz="2000" dirty="0"/>
              <a:t>멀티바이트 자료형</a:t>
            </a:r>
            <a:r>
              <a:rPr lang="en-US" altLang="ko-KR" sz="2000" dirty="0"/>
              <a:t>(int, float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  <a:r>
              <a:rPr lang="ko-KR" altLang="en-US" sz="2000" dirty="0"/>
              <a:t>을 메모리에 저장하거나 읽을 때 바이트 배열 순서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Little Endian</a:t>
            </a:r>
          </a:p>
          <a:p>
            <a:pPr lvl="1"/>
            <a:r>
              <a:rPr lang="ko-KR" altLang="en-US" sz="2000" dirty="0"/>
              <a:t>하위 바이트 → 낮은 주소</a:t>
            </a:r>
          </a:p>
          <a:p>
            <a:pPr lvl="2"/>
            <a:r>
              <a:rPr lang="ko-KR" altLang="en-US" sz="1800" dirty="0"/>
              <a:t>예</a:t>
            </a:r>
            <a:r>
              <a:rPr lang="en-US" altLang="ko-KR" sz="1800" dirty="0"/>
              <a:t>: 0x12345678 → 78 56 34 12</a:t>
            </a:r>
          </a:p>
          <a:p>
            <a:pPr lvl="1"/>
            <a:r>
              <a:rPr lang="ko-KR" altLang="en-US" sz="2000" dirty="0"/>
              <a:t>대부분의 </a:t>
            </a:r>
            <a:r>
              <a:rPr lang="en-US" altLang="ko-KR" sz="2000" dirty="0"/>
              <a:t>CPU(x86, ARM) </a:t>
            </a:r>
            <a:r>
              <a:rPr lang="ko-KR" altLang="en-US" sz="2000" dirty="0"/>
              <a:t>사용</a:t>
            </a:r>
          </a:p>
          <a:p>
            <a:endParaRPr lang="ko-KR" altLang="en-US" sz="2400" dirty="0"/>
          </a:p>
          <a:p>
            <a:r>
              <a:rPr lang="en-US" altLang="ko-KR" sz="2400" dirty="0"/>
              <a:t>Big Endian</a:t>
            </a:r>
          </a:p>
          <a:p>
            <a:pPr lvl="1"/>
            <a:r>
              <a:rPr lang="ko-KR" altLang="en-US" sz="2000" dirty="0"/>
              <a:t>상위 바이트 → 낮은 주소</a:t>
            </a:r>
            <a:endParaRPr lang="en-US" altLang="ko-KR" sz="2000" dirty="0"/>
          </a:p>
          <a:p>
            <a:pPr lvl="2"/>
            <a:r>
              <a:rPr lang="ko-KR" altLang="en-US" sz="1800" dirty="0"/>
              <a:t>예</a:t>
            </a:r>
            <a:r>
              <a:rPr lang="en-US" altLang="ko-KR" sz="1800" dirty="0"/>
              <a:t>: 0x12345678 → 12 34 56 78</a:t>
            </a:r>
          </a:p>
          <a:p>
            <a:pPr lvl="1"/>
            <a:r>
              <a:rPr lang="ko-KR" altLang="en-US" sz="2000" dirty="0"/>
              <a:t>네트워크 통신 표준 </a:t>
            </a:r>
            <a:r>
              <a:rPr lang="en-US" altLang="ko-KR" sz="2000" dirty="0"/>
              <a:t>(Network Byte Order)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2309A0-2647-A013-2961-4C05F24403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5E3CC7-DA0A-4015-2DB9-13C8D935C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20" y="2097263"/>
            <a:ext cx="2161803" cy="19346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E2F95C-B599-597A-347A-B69A5DA8C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20" y="4310944"/>
            <a:ext cx="2161802" cy="19346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028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89C24-DEE5-4FFD-F029-46D021A0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3.2 </a:t>
            </a:r>
            <a:r>
              <a:rPr lang="ko-KR" altLang="en-US" b="0" dirty="0"/>
              <a:t>자료와 자료형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D86E6D-6600-01D7-1718-15C507B0B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자료 </a:t>
            </a:r>
            <a:r>
              <a:rPr lang="en-US" altLang="ko-KR" sz="2000" dirty="0"/>
              <a:t>(Data)</a:t>
            </a:r>
          </a:p>
          <a:p>
            <a:pPr lvl="1"/>
            <a:r>
              <a:rPr lang="ko-KR" altLang="en-US" sz="1800" dirty="0"/>
              <a:t>컴퓨터 메모리에 저장된 이진 데이터의 집합</a:t>
            </a:r>
          </a:p>
          <a:p>
            <a:pPr lvl="1"/>
            <a:r>
              <a:rPr lang="en-US" altLang="ko-KR" sz="1800" dirty="0"/>
              <a:t>0</a:t>
            </a:r>
            <a:r>
              <a:rPr lang="ko-KR" altLang="en-US" sz="1800" dirty="0"/>
              <a:t>과 </a:t>
            </a:r>
            <a:r>
              <a:rPr lang="en-US" altLang="ko-KR" sz="1800" dirty="0"/>
              <a:t>1</a:t>
            </a:r>
            <a:r>
              <a:rPr lang="ko-KR" altLang="en-US" sz="1800" dirty="0"/>
              <a:t>로 이루어진 </a:t>
            </a:r>
            <a:r>
              <a:rPr lang="en-US" altLang="ko-KR" sz="1800" dirty="0"/>
              <a:t>bit group</a:t>
            </a:r>
          </a:p>
          <a:p>
            <a:pPr lvl="1"/>
            <a:r>
              <a:rPr lang="ko-KR" altLang="en-US" sz="1800" dirty="0"/>
              <a:t>단순한 저장 상태</a:t>
            </a:r>
            <a:endParaRPr lang="en-US" altLang="ko-KR" sz="1800" dirty="0"/>
          </a:p>
          <a:p>
            <a:pPr lvl="2"/>
            <a:endParaRPr lang="ko-KR" altLang="en-US" sz="1600" dirty="0"/>
          </a:p>
          <a:p>
            <a:r>
              <a:rPr lang="ko-KR" altLang="en-US" sz="2000" dirty="0"/>
              <a:t>자료형 </a:t>
            </a:r>
            <a:r>
              <a:rPr lang="en-US" altLang="ko-KR" sz="2000" dirty="0"/>
              <a:t>(Data Type)</a:t>
            </a:r>
          </a:p>
          <a:p>
            <a:pPr lvl="1"/>
            <a:r>
              <a:rPr lang="en-US" altLang="ko-KR" sz="1800" dirty="0"/>
              <a:t>bit group(</a:t>
            </a:r>
            <a:r>
              <a:rPr lang="ko-KR" altLang="en-US" sz="1800" dirty="0"/>
              <a:t>저장 된 값</a:t>
            </a:r>
            <a:r>
              <a:rPr lang="en-US" altLang="ko-KR" sz="1800" dirty="0"/>
              <a:t>)</a:t>
            </a:r>
            <a:r>
              <a:rPr lang="ko-KR" altLang="en-US" sz="1800" dirty="0"/>
              <a:t>을 어떻게 해석할지 결정하는 규칙</a:t>
            </a:r>
          </a:p>
          <a:p>
            <a:pPr lvl="1"/>
            <a:r>
              <a:rPr lang="ko-KR" altLang="en-US" sz="1800" dirty="0"/>
              <a:t>같은 </a:t>
            </a:r>
            <a:r>
              <a:rPr lang="en-US" altLang="ko-KR" sz="1800" dirty="0"/>
              <a:t>bit group</a:t>
            </a:r>
            <a:r>
              <a:rPr lang="ko-KR" altLang="en-US" sz="1800" dirty="0"/>
              <a:t>이라도 자료형에 따라 의미가 달라짐</a:t>
            </a:r>
          </a:p>
          <a:p>
            <a:endParaRPr lang="en-US" altLang="ko-KR" sz="2000" dirty="0"/>
          </a:p>
          <a:p>
            <a:r>
              <a:rPr lang="ko-KR" altLang="en-US" sz="2000" dirty="0"/>
              <a:t>자료형 예</a:t>
            </a:r>
            <a:r>
              <a:rPr lang="en-US" altLang="ko-KR" sz="2000" dirty="0"/>
              <a:t>: 1078530011</a:t>
            </a:r>
            <a:endParaRPr lang="ko-KR" altLang="en-US" sz="2000" dirty="0"/>
          </a:p>
          <a:p>
            <a:pPr lvl="1"/>
            <a:r>
              <a:rPr lang="en-US" altLang="ko-KR" sz="2000" dirty="0"/>
              <a:t>int → 1078530011</a:t>
            </a:r>
          </a:p>
          <a:p>
            <a:pPr lvl="1"/>
            <a:r>
              <a:rPr lang="en-US" altLang="ko-KR" sz="2000" dirty="0"/>
              <a:t>float → 3.141593</a:t>
            </a:r>
          </a:p>
          <a:p>
            <a:pPr lvl="1"/>
            <a:r>
              <a:rPr lang="en-US" altLang="ko-KR" sz="2000" dirty="0"/>
              <a:t>pointer → 0x40490FDB (32bit) → </a:t>
            </a:r>
            <a:r>
              <a:rPr lang="ko-KR" altLang="en-US" sz="2000" dirty="0"/>
              <a:t>메모리 주소 </a:t>
            </a:r>
            <a:r>
              <a:rPr lang="en-US" altLang="ko-KR" sz="2000" dirty="0"/>
              <a:t>0x40490FDB</a:t>
            </a:r>
          </a:p>
          <a:p>
            <a:pPr lvl="1"/>
            <a:r>
              <a:rPr lang="ko-KR" altLang="en-US" sz="2000" dirty="0"/>
              <a:t>같은 </a:t>
            </a:r>
            <a:r>
              <a:rPr lang="en-US" altLang="ko-KR" sz="2000" dirty="0"/>
              <a:t>bit group</a:t>
            </a:r>
            <a:r>
              <a:rPr lang="ko-KR" altLang="en-US" sz="2000" dirty="0"/>
              <a:t>이라도 자료형에 따라 의미가 달라짐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E30C51-1D12-8E24-5E89-7138369CA8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888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50940-A933-9E81-FE81-C8185AA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3.3 </a:t>
            </a:r>
            <a:r>
              <a:rPr lang="ko-KR" altLang="en-US" b="0" dirty="0"/>
              <a:t>변수와 변수의 </a:t>
            </a:r>
            <a:r>
              <a:rPr lang="en-US" altLang="ko-KR" b="0" dirty="0"/>
              <a:t>6</a:t>
            </a:r>
            <a:r>
              <a:rPr lang="ko-KR" altLang="en-US" b="0" dirty="0"/>
              <a:t>가지 속성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FE939F-6B07-BDFE-0FFE-0FF4B59B2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</a:t>
            </a:r>
            <a:r>
              <a:rPr lang="en-US" altLang="ko-KR" dirty="0"/>
              <a:t>(Variable)</a:t>
            </a:r>
          </a:p>
          <a:p>
            <a:pPr lvl="1"/>
            <a:r>
              <a:rPr lang="ko-KR" altLang="en-US" dirty="0"/>
              <a:t>값을 저장하기 위해 이름이 붙은 메모리 공간</a:t>
            </a:r>
            <a:endParaRPr lang="en-US" altLang="ko-KR" dirty="0"/>
          </a:p>
          <a:p>
            <a:pPr lvl="1"/>
            <a:r>
              <a:rPr lang="ko-KR" altLang="en-US" dirty="0"/>
              <a:t>특정 자료형</a:t>
            </a:r>
            <a:r>
              <a:rPr lang="en-US" altLang="ko-KR" dirty="0"/>
              <a:t>(Type)</a:t>
            </a:r>
            <a:r>
              <a:rPr lang="ko-KR" altLang="en-US" dirty="0"/>
              <a:t>을 기반으로 생성</a:t>
            </a:r>
            <a:endParaRPr lang="en-US" altLang="ko-KR" dirty="0"/>
          </a:p>
          <a:p>
            <a:pPr lvl="1"/>
            <a:r>
              <a:rPr lang="ko-KR" altLang="en-US" dirty="0"/>
              <a:t>프로그램 실행 중 값을 읽고 변경 가능</a:t>
            </a:r>
            <a:endParaRPr lang="en-US" altLang="ko-KR" dirty="0"/>
          </a:p>
          <a:p>
            <a:pPr lvl="1"/>
            <a:r>
              <a:rPr lang="ko-KR" altLang="en-US" dirty="0"/>
              <a:t>프로그램의 상태</a:t>
            </a:r>
            <a:r>
              <a:rPr lang="en-US" altLang="ko-KR" dirty="0"/>
              <a:t>(state) </a:t>
            </a:r>
            <a:r>
              <a:rPr lang="ko-KR" altLang="en-US" dirty="0"/>
              <a:t>표현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상수</a:t>
            </a:r>
            <a:r>
              <a:rPr lang="en-US" altLang="ko-KR" dirty="0"/>
              <a:t>(Constant) </a:t>
            </a:r>
          </a:p>
          <a:p>
            <a:pPr lvl="1"/>
            <a:r>
              <a:rPr lang="ko-KR" altLang="en-US" dirty="0"/>
              <a:t>값이 변하지 않는 데이터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변수의 </a:t>
            </a:r>
            <a:r>
              <a:rPr lang="en-US" altLang="ko-KR" dirty="0"/>
              <a:t>6</a:t>
            </a:r>
            <a:r>
              <a:rPr lang="ko-KR" altLang="en-US" dirty="0"/>
              <a:t>가지 속성</a:t>
            </a:r>
            <a:endParaRPr lang="en-US" altLang="ko-KR" dirty="0"/>
          </a:p>
          <a:p>
            <a:pPr lvl="1"/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형식</a:t>
            </a:r>
            <a:r>
              <a:rPr lang="en-US" altLang="ko-KR" dirty="0"/>
              <a:t>, 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/>
              <a:t>저장 위치</a:t>
            </a:r>
            <a:r>
              <a:rPr lang="en-US" altLang="ko-KR" dirty="0"/>
              <a:t>, </a:t>
            </a:r>
            <a:r>
              <a:rPr lang="ko-KR" altLang="en-US" dirty="0"/>
              <a:t>범위</a:t>
            </a:r>
            <a:r>
              <a:rPr lang="en-US" altLang="ko-KR" dirty="0"/>
              <a:t>, </a:t>
            </a:r>
            <a:r>
              <a:rPr lang="ko-KR" altLang="en-US" dirty="0"/>
              <a:t>수명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9296F9-BE8B-26C7-E1BE-D836A9B054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42222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17145-DCA9-961C-EDF7-770AD5A1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3.3.1 </a:t>
            </a:r>
            <a:r>
              <a:rPr lang="ko-KR" altLang="en-US" b="0" dirty="0"/>
              <a:t>변수의 </a:t>
            </a:r>
            <a:r>
              <a:rPr lang="en-US" altLang="ko-KR" b="0" dirty="0"/>
              <a:t>6</a:t>
            </a:r>
            <a:r>
              <a:rPr lang="ko-KR" altLang="en-US" b="0" dirty="0"/>
              <a:t>가지 속성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4DE5C-EF63-4215-920D-629ED7937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이름 </a:t>
            </a:r>
            <a:r>
              <a:rPr lang="en-US" altLang="ko-KR" sz="2400" dirty="0"/>
              <a:t>(Name)</a:t>
            </a:r>
          </a:p>
          <a:p>
            <a:pPr lvl="1"/>
            <a:r>
              <a:rPr lang="ko-KR" altLang="en-US" sz="2000" dirty="0"/>
              <a:t>변수의 식별자</a:t>
            </a:r>
            <a:r>
              <a:rPr lang="en-US" altLang="ko-KR" sz="2000" dirty="0"/>
              <a:t>(identifier)</a:t>
            </a:r>
          </a:p>
          <a:p>
            <a:pPr lvl="1"/>
            <a:r>
              <a:rPr lang="ko-KR" altLang="en-US" sz="2000" dirty="0"/>
              <a:t>메모리 공간을 참조하기 위한 이름</a:t>
            </a:r>
          </a:p>
          <a:p>
            <a:pPr lvl="1"/>
            <a:r>
              <a:rPr lang="ko-KR" altLang="en-US" sz="2000" dirty="0"/>
              <a:t>규칙</a:t>
            </a:r>
          </a:p>
          <a:p>
            <a:pPr lvl="2"/>
            <a:r>
              <a:rPr lang="ko-KR" altLang="en-US" sz="1800" dirty="0"/>
              <a:t>알파벳</a:t>
            </a:r>
            <a:r>
              <a:rPr lang="en-US" altLang="ko-KR" sz="1800" dirty="0"/>
              <a:t>, </a:t>
            </a:r>
            <a:r>
              <a:rPr lang="ko-KR" altLang="en-US" sz="1800" dirty="0"/>
              <a:t>숫자</a:t>
            </a:r>
            <a:r>
              <a:rPr lang="en-US" altLang="ko-KR" sz="1800" dirty="0"/>
              <a:t>, _ </a:t>
            </a:r>
            <a:r>
              <a:rPr lang="ko-KR" altLang="en-US" sz="1800" dirty="0"/>
              <a:t>사용</a:t>
            </a:r>
            <a:endParaRPr lang="en-US" altLang="ko-KR" sz="1800" dirty="0"/>
          </a:p>
          <a:p>
            <a:pPr lvl="2"/>
            <a:r>
              <a:rPr lang="ko-KR" altLang="en-US" sz="1800" dirty="0"/>
              <a:t>숫자로 시작 불가</a:t>
            </a:r>
            <a:endParaRPr lang="en-US" altLang="ko-KR" sz="1800" dirty="0"/>
          </a:p>
          <a:p>
            <a:pPr lvl="2"/>
            <a:r>
              <a:rPr lang="ko-KR" altLang="en-US" sz="1800" dirty="0"/>
              <a:t>대소문자 구분</a:t>
            </a:r>
            <a:endParaRPr lang="en-US" altLang="ko-KR" sz="1800" dirty="0"/>
          </a:p>
          <a:p>
            <a:pPr lvl="2"/>
            <a:r>
              <a:rPr lang="ko-KR" altLang="en-US" sz="1800" dirty="0"/>
              <a:t>키워드 사용 불가</a:t>
            </a:r>
          </a:p>
          <a:p>
            <a:endParaRPr lang="ko-KR" altLang="en-US" sz="2400" dirty="0"/>
          </a:p>
          <a:p>
            <a:r>
              <a:rPr lang="en-US" altLang="ko-KR" sz="2400" dirty="0"/>
              <a:t>2. </a:t>
            </a:r>
            <a:r>
              <a:rPr lang="ko-KR" altLang="en-US" sz="2400" dirty="0"/>
              <a:t>형식 </a:t>
            </a:r>
            <a:r>
              <a:rPr lang="en-US" altLang="ko-KR" sz="2400" dirty="0"/>
              <a:t>(Type)</a:t>
            </a:r>
          </a:p>
          <a:p>
            <a:pPr lvl="1"/>
            <a:r>
              <a:rPr lang="ko-KR" altLang="en-US" sz="2000" dirty="0"/>
              <a:t>변수의 자료형</a:t>
            </a:r>
            <a:r>
              <a:rPr lang="en-US" altLang="ko-KR" sz="2000" dirty="0"/>
              <a:t>(data type)</a:t>
            </a:r>
          </a:p>
          <a:p>
            <a:pPr lvl="1"/>
            <a:r>
              <a:rPr lang="ko-KR" altLang="en-US" sz="2000" dirty="0"/>
              <a:t>메모리 크기 </a:t>
            </a:r>
            <a:r>
              <a:rPr lang="en-US" altLang="ko-KR" sz="2000" dirty="0"/>
              <a:t>/ </a:t>
            </a:r>
            <a:r>
              <a:rPr lang="ko-KR" altLang="en-US" sz="2000" dirty="0"/>
              <a:t>해석 방식 </a:t>
            </a:r>
            <a:r>
              <a:rPr lang="en-US" altLang="ko-KR" sz="2000" dirty="0"/>
              <a:t>/ </a:t>
            </a:r>
            <a:r>
              <a:rPr lang="ko-KR" altLang="en-US" sz="2000" dirty="0"/>
              <a:t>연산 규칙 결정</a:t>
            </a:r>
          </a:p>
          <a:p>
            <a:pPr lvl="1"/>
            <a:r>
              <a:rPr lang="ko-KR" altLang="en-US" sz="2000" dirty="0"/>
              <a:t>예</a:t>
            </a:r>
            <a:endParaRPr lang="en-US" altLang="ko-KR" sz="2000" dirty="0"/>
          </a:p>
          <a:p>
            <a:pPr lvl="2"/>
            <a:r>
              <a:rPr lang="en-US" altLang="ko-KR" sz="1800" dirty="0"/>
              <a:t>int   → </a:t>
            </a:r>
            <a:r>
              <a:rPr lang="ko-KR" altLang="en-US" sz="1800" dirty="0"/>
              <a:t>정수</a:t>
            </a:r>
            <a:endParaRPr lang="en-US" altLang="ko-KR" sz="1800" dirty="0"/>
          </a:p>
          <a:p>
            <a:pPr lvl="2"/>
            <a:r>
              <a:rPr lang="en-US" altLang="ko-KR" sz="1800" dirty="0"/>
              <a:t>float → </a:t>
            </a:r>
            <a:r>
              <a:rPr lang="ko-KR" altLang="en-US" sz="1800" dirty="0"/>
              <a:t>실수</a:t>
            </a:r>
            <a:endParaRPr lang="en-US" altLang="ko-KR" sz="1800" dirty="0"/>
          </a:p>
          <a:p>
            <a:pPr lvl="2"/>
            <a:r>
              <a:rPr lang="en-US" altLang="ko-KR" sz="1800" dirty="0"/>
              <a:t>char  → </a:t>
            </a:r>
            <a:r>
              <a:rPr lang="ko-KR" altLang="en-US" sz="1800" dirty="0"/>
              <a:t>문자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3BBEB6-F42A-F73F-6B97-ACC3F017F7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922881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3F91-752F-3CF8-D888-AFB097D9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7066F-2830-5ECE-4A69-3A1DD9A2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3.3.1 </a:t>
            </a:r>
            <a:r>
              <a:rPr lang="ko-KR" altLang="en-US" b="0" dirty="0"/>
              <a:t>변수의 </a:t>
            </a:r>
            <a:r>
              <a:rPr lang="en-US" altLang="ko-KR" b="0" dirty="0"/>
              <a:t>6</a:t>
            </a:r>
            <a:r>
              <a:rPr lang="ko-KR" altLang="en-US" b="0" dirty="0"/>
              <a:t>가지 속성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186046-D165-9115-9034-E01E7736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3. </a:t>
            </a:r>
            <a:r>
              <a:rPr lang="ko-KR" altLang="en-US" sz="2400" dirty="0"/>
              <a:t>값 </a:t>
            </a:r>
            <a:r>
              <a:rPr lang="en-US" altLang="ko-KR" sz="2400" dirty="0"/>
              <a:t>(Value)</a:t>
            </a:r>
          </a:p>
          <a:p>
            <a:pPr lvl="1"/>
            <a:r>
              <a:rPr lang="ko-KR" altLang="en-US" sz="2000" dirty="0"/>
              <a:t>자료형을 기준으로 해석된 의미 있는 데이터</a:t>
            </a:r>
          </a:p>
          <a:p>
            <a:pPr lvl="1"/>
            <a:r>
              <a:rPr lang="ko-KR" altLang="en-US" sz="2000" dirty="0"/>
              <a:t>예</a:t>
            </a:r>
          </a:p>
          <a:p>
            <a:pPr lvl="2"/>
            <a:r>
              <a:rPr lang="en-US" altLang="ko-KR" sz="1800" dirty="0"/>
              <a:t>int n = 65;   → </a:t>
            </a:r>
            <a:r>
              <a:rPr lang="ko-KR" altLang="en-US" sz="1800" dirty="0"/>
              <a:t>숫자 </a:t>
            </a:r>
            <a:r>
              <a:rPr lang="en-US" altLang="ko-KR" sz="1800" dirty="0"/>
              <a:t>65</a:t>
            </a:r>
          </a:p>
          <a:p>
            <a:pPr lvl="2"/>
            <a:r>
              <a:rPr lang="en-US" altLang="ko-KR" sz="1800" dirty="0"/>
              <a:t>char c = 65;  → </a:t>
            </a:r>
            <a:r>
              <a:rPr lang="ko-KR" altLang="en-US" sz="1800" dirty="0"/>
              <a:t>문자 </a:t>
            </a:r>
            <a:r>
              <a:rPr lang="en-US" altLang="ko-KR" sz="1800" dirty="0"/>
              <a:t>'A'</a:t>
            </a:r>
          </a:p>
          <a:p>
            <a:pPr lvl="3"/>
            <a:endParaRPr lang="en-US" altLang="ko-KR" sz="1600" dirty="0"/>
          </a:p>
          <a:p>
            <a:r>
              <a:rPr lang="en-US" altLang="ko-KR" sz="2400" dirty="0"/>
              <a:t>4. </a:t>
            </a:r>
            <a:r>
              <a:rPr lang="ko-KR" altLang="en-US" sz="2400" dirty="0"/>
              <a:t>저장 위치 </a:t>
            </a:r>
            <a:r>
              <a:rPr lang="en-US" altLang="ko-KR" sz="2400" dirty="0"/>
              <a:t>(Storage Location)</a:t>
            </a:r>
          </a:p>
          <a:p>
            <a:pPr lvl="1"/>
            <a:r>
              <a:rPr lang="ko-KR" altLang="en-US" sz="2000" dirty="0"/>
              <a:t>변수가 저장되는 메모리 영역</a:t>
            </a:r>
          </a:p>
          <a:p>
            <a:pPr lvl="1"/>
            <a:r>
              <a:rPr lang="en-US" altLang="ko-KR" sz="2000" dirty="0"/>
              <a:t>Stack</a:t>
            </a:r>
          </a:p>
          <a:p>
            <a:pPr lvl="2"/>
            <a:r>
              <a:rPr lang="ko-KR" altLang="en-US" sz="1800" dirty="0"/>
              <a:t>지역 변수</a:t>
            </a:r>
          </a:p>
          <a:p>
            <a:pPr lvl="2"/>
            <a:r>
              <a:rPr lang="ko-KR" altLang="en-US" sz="1800" dirty="0"/>
              <a:t>함수 매개변수</a:t>
            </a:r>
          </a:p>
          <a:p>
            <a:pPr lvl="1"/>
            <a:r>
              <a:rPr lang="en-US" altLang="ko-KR" sz="2000" dirty="0"/>
              <a:t>Heap</a:t>
            </a:r>
          </a:p>
          <a:p>
            <a:pPr lvl="2"/>
            <a:r>
              <a:rPr lang="en-US" altLang="ko-KR" sz="1800" dirty="0"/>
              <a:t>malloc(), calloc(), realloc() </a:t>
            </a:r>
            <a:r>
              <a:rPr lang="ko-KR" altLang="en-US" sz="1800" dirty="0"/>
              <a:t>등 동적으로 할당한 메모리</a:t>
            </a:r>
          </a:p>
          <a:p>
            <a:pPr lvl="1"/>
            <a:r>
              <a:rPr lang="en-US" altLang="ko-KR" sz="2000" dirty="0"/>
              <a:t>Data Segment</a:t>
            </a:r>
          </a:p>
          <a:p>
            <a:pPr lvl="2"/>
            <a:r>
              <a:rPr lang="ko-KR" altLang="en-US" sz="1800" dirty="0"/>
              <a:t>전역 변수</a:t>
            </a:r>
            <a:endParaRPr lang="en-US" altLang="ko-KR" sz="1800" dirty="0"/>
          </a:p>
          <a:p>
            <a:pPr lvl="2"/>
            <a:r>
              <a:rPr lang="en-US" altLang="ko-KR" sz="1800" dirty="0"/>
              <a:t>static </a:t>
            </a:r>
            <a:r>
              <a:rPr lang="ko-KR" altLang="en-US" sz="1800" dirty="0"/>
              <a:t>변수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C3C56B-9344-8E91-5D33-8E89105E09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96110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20B32-2C38-9CE5-1A13-C7CD0EE2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A3636-41BC-6653-6273-4267C161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3.3.1 </a:t>
            </a:r>
            <a:r>
              <a:rPr lang="ko-KR" altLang="en-US" b="0" dirty="0"/>
              <a:t>변수의 </a:t>
            </a:r>
            <a:r>
              <a:rPr lang="en-US" altLang="ko-KR" b="0" dirty="0"/>
              <a:t>6</a:t>
            </a:r>
            <a:r>
              <a:rPr lang="ko-KR" altLang="en-US" b="0" dirty="0"/>
              <a:t>가지 속성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31F97-0CF1-604C-19F3-B8E68C8E1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5. </a:t>
            </a:r>
            <a:r>
              <a:rPr lang="ko-KR" altLang="en-US" sz="2400" dirty="0"/>
              <a:t>범위 </a:t>
            </a:r>
            <a:r>
              <a:rPr lang="en-US" altLang="ko-KR" sz="2400" dirty="0"/>
              <a:t>(Scope)</a:t>
            </a:r>
          </a:p>
          <a:p>
            <a:pPr lvl="1"/>
            <a:r>
              <a:rPr lang="ko-KR" altLang="en-US" sz="2000" dirty="0"/>
              <a:t>변수에 접근 가능한 코드 영역</a:t>
            </a:r>
          </a:p>
          <a:p>
            <a:pPr lvl="1"/>
            <a:r>
              <a:rPr lang="en-US" altLang="ko-KR" sz="2000" dirty="0"/>
              <a:t>Block Scope → { } </a:t>
            </a:r>
            <a:r>
              <a:rPr lang="ko-KR" altLang="en-US" sz="2000" dirty="0"/>
              <a:t>내부</a:t>
            </a:r>
          </a:p>
          <a:p>
            <a:pPr lvl="1"/>
            <a:r>
              <a:rPr lang="en-US" altLang="ko-KR" sz="2000" dirty="0"/>
              <a:t>File Scope → </a:t>
            </a:r>
            <a:r>
              <a:rPr lang="ko-KR" altLang="en-US" sz="2000" dirty="0"/>
              <a:t>전역 변수</a:t>
            </a:r>
          </a:p>
          <a:p>
            <a:pPr lvl="1"/>
            <a:r>
              <a:rPr lang="en-US" altLang="ko-KR" sz="2000" dirty="0"/>
              <a:t>Function Scope → goto </a:t>
            </a:r>
            <a:r>
              <a:rPr lang="ko-KR" altLang="en-US" sz="2000" dirty="0"/>
              <a:t>레이블</a:t>
            </a:r>
            <a:endParaRPr lang="en-US" altLang="ko-KR" sz="2000" dirty="0"/>
          </a:p>
          <a:p>
            <a:pPr lvl="3"/>
            <a:endParaRPr lang="ko-KR" altLang="en-US" sz="1600" dirty="0"/>
          </a:p>
          <a:p>
            <a:r>
              <a:rPr lang="en-US" altLang="ko-KR" sz="2400" dirty="0"/>
              <a:t>6. </a:t>
            </a:r>
            <a:r>
              <a:rPr lang="ko-KR" altLang="en-US" sz="2400" dirty="0"/>
              <a:t>수명 </a:t>
            </a:r>
            <a:r>
              <a:rPr lang="en-US" altLang="ko-KR" sz="2400" dirty="0"/>
              <a:t>(Lifetime)</a:t>
            </a:r>
          </a:p>
          <a:p>
            <a:pPr lvl="1"/>
            <a:r>
              <a:rPr lang="ko-KR" altLang="en-US" sz="2000" dirty="0"/>
              <a:t>변수가 메모리에 존재하는 기간</a:t>
            </a:r>
          </a:p>
          <a:p>
            <a:pPr lvl="1"/>
            <a:r>
              <a:rPr lang="ko-KR" altLang="en-US" sz="2000" dirty="0"/>
              <a:t>자동</a:t>
            </a:r>
            <a:r>
              <a:rPr lang="en-US" altLang="ko-KR" sz="2000" dirty="0"/>
              <a:t>(Automatic) </a:t>
            </a:r>
            <a:r>
              <a:rPr lang="ko-KR" altLang="en-US" sz="2000" dirty="0"/>
              <a:t>변수</a:t>
            </a:r>
            <a:endParaRPr lang="en-US" altLang="ko-KR" sz="2000" dirty="0"/>
          </a:p>
          <a:p>
            <a:pPr lvl="2"/>
            <a:r>
              <a:rPr lang="ko-KR" altLang="en-US" sz="1800" dirty="0"/>
              <a:t>코드 블록 시작</a:t>
            </a:r>
            <a:r>
              <a:rPr lang="en-US" altLang="ko-KR" sz="1800" dirty="0"/>
              <a:t>({)</a:t>
            </a:r>
            <a:r>
              <a:rPr lang="ko-KR" altLang="en-US" sz="1800" dirty="0"/>
              <a:t> </a:t>
            </a:r>
            <a:r>
              <a:rPr lang="en-US" altLang="ko-KR" sz="1800" dirty="0"/>
              <a:t>~ </a:t>
            </a:r>
            <a:r>
              <a:rPr lang="ko-KR" altLang="en-US" sz="1800" dirty="0"/>
              <a:t>블록 종료</a:t>
            </a:r>
            <a:r>
              <a:rPr lang="en-US" altLang="ko-KR" sz="1800" dirty="0"/>
              <a:t>(})</a:t>
            </a:r>
          </a:p>
          <a:p>
            <a:pPr lvl="1"/>
            <a:r>
              <a:rPr lang="ko-KR" altLang="en-US" sz="2000" dirty="0"/>
              <a:t>정적</a:t>
            </a:r>
            <a:r>
              <a:rPr lang="en-US" altLang="ko-KR" sz="2000" dirty="0"/>
              <a:t>(Static) </a:t>
            </a:r>
            <a:r>
              <a:rPr lang="ko-KR" altLang="en-US" sz="2000" dirty="0"/>
              <a:t>변수</a:t>
            </a:r>
            <a:endParaRPr lang="en-US" altLang="ko-KR" sz="2000" dirty="0"/>
          </a:p>
          <a:p>
            <a:pPr lvl="2"/>
            <a:r>
              <a:rPr lang="ko-KR" altLang="en-US" sz="1800" dirty="0"/>
              <a:t>프로그램 시작 </a:t>
            </a:r>
            <a:r>
              <a:rPr lang="en-US" altLang="ko-KR" sz="1800" dirty="0"/>
              <a:t>~ </a:t>
            </a:r>
            <a:r>
              <a:rPr lang="ko-KR" altLang="en-US" sz="1800" dirty="0"/>
              <a:t>종료</a:t>
            </a:r>
          </a:p>
          <a:p>
            <a:pPr lvl="1"/>
            <a:r>
              <a:rPr lang="ko-KR" altLang="en-US" sz="2000" dirty="0"/>
              <a:t>동적</a:t>
            </a:r>
            <a:r>
              <a:rPr lang="en-US" altLang="ko-KR" sz="2000" dirty="0"/>
              <a:t>(Dynamic) </a:t>
            </a:r>
            <a:r>
              <a:rPr lang="ko-KR" altLang="en-US" sz="2000" dirty="0"/>
              <a:t>변수</a:t>
            </a:r>
            <a:endParaRPr lang="en-US" altLang="ko-KR" sz="2000" dirty="0"/>
          </a:p>
          <a:p>
            <a:pPr lvl="2"/>
            <a:r>
              <a:rPr lang="en-US" altLang="ko-KR" sz="1800" dirty="0"/>
              <a:t>malloc/free</a:t>
            </a:r>
            <a:r>
              <a:rPr lang="ko-KR" altLang="en-US" sz="1800" dirty="0"/>
              <a:t>로 직접 관리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AB8609-0FC7-06A9-E32F-4D740A44A9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90634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8323-DCFB-82DB-D930-A424AA4E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3D682-5705-3A50-D619-EA6385D0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3.4 C</a:t>
            </a:r>
            <a:r>
              <a:rPr lang="ko-KR" altLang="en-US" b="0" dirty="0"/>
              <a:t>언어 키워드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9A8598-B018-6BBE-128F-6BA2282F1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C </a:t>
            </a:r>
            <a:r>
              <a:rPr lang="ko-KR" altLang="en-US" sz="2400" dirty="0"/>
              <a:t>언어 표준 키워드 </a:t>
            </a:r>
            <a:r>
              <a:rPr lang="en-US" altLang="ko-KR" sz="2400" dirty="0"/>
              <a:t>32</a:t>
            </a:r>
            <a:r>
              <a:rPr lang="ko-KR" altLang="en-US" sz="2400" dirty="0"/>
              <a:t>개</a:t>
            </a:r>
            <a:endParaRPr lang="en-US" altLang="ko-KR" sz="2400" dirty="0"/>
          </a:p>
          <a:p>
            <a:pPr lvl="1"/>
            <a:r>
              <a:rPr lang="en-US" altLang="ko-KR" sz="2000" dirty="0"/>
              <a:t>auto break case char const continue default do double</a:t>
            </a:r>
          </a:p>
          <a:p>
            <a:pPr lvl="1"/>
            <a:r>
              <a:rPr lang="en-US" altLang="ko-KR" sz="2000" dirty="0"/>
              <a:t>else enum extern float for goto  if int long register</a:t>
            </a:r>
          </a:p>
          <a:p>
            <a:pPr lvl="1"/>
            <a:r>
              <a:rPr lang="en-US" altLang="ko-KR" sz="2000" dirty="0"/>
              <a:t>restrict return short signed sizeof</a:t>
            </a:r>
          </a:p>
          <a:p>
            <a:pPr lvl="1"/>
            <a:r>
              <a:rPr lang="en-US" altLang="ko-KR" sz="2000" dirty="0"/>
              <a:t>static struct switch typedef union unsigned void volatile</a:t>
            </a:r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C11 </a:t>
            </a:r>
            <a:r>
              <a:rPr lang="ko-KR" altLang="en-US" sz="2400" dirty="0"/>
              <a:t>에서 추가된 키워드</a:t>
            </a:r>
            <a:endParaRPr lang="en-US" altLang="ko-KR" sz="2400" dirty="0"/>
          </a:p>
          <a:p>
            <a:pPr lvl="1"/>
            <a:r>
              <a:rPr lang="en-US" altLang="ko-KR" sz="2000" dirty="0"/>
              <a:t>_Alignas _Alignof _Atomic _Bool _Generic</a:t>
            </a:r>
          </a:p>
          <a:p>
            <a:pPr lvl="1"/>
            <a:r>
              <a:rPr lang="en-US" altLang="ko-KR" sz="2000" dirty="0"/>
              <a:t>_Noreturn _Static_assert _Thread_local</a:t>
            </a:r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C23 </a:t>
            </a:r>
            <a:r>
              <a:rPr lang="ko-KR" altLang="en-US" sz="2400" dirty="0"/>
              <a:t>에서 추가된 키워드</a:t>
            </a:r>
            <a:endParaRPr lang="en-US" altLang="ko-KR" sz="2400" dirty="0"/>
          </a:p>
          <a:p>
            <a:pPr lvl="1"/>
            <a:r>
              <a:rPr lang="en-US" altLang="ko-KR" sz="2000" dirty="0"/>
              <a:t>bool true false alignas alignof thread_local</a:t>
            </a:r>
            <a:br>
              <a:rPr lang="en-US" altLang="ko-KR" sz="2000" dirty="0"/>
            </a:b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693002-C5DE-C0D5-43A4-93136AC3F9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87078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6408A-E8E7-2179-65F2-A024EE55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3.5 </a:t>
            </a:r>
            <a:r>
              <a:rPr lang="ko-KR" altLang="en-US" b="0" dirty="0"/>
              <a:t>변수 선언과 코드 블록에서의 위치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A8F9C-284C-6083-480F-C5DE6A7DA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변수 선언 </a:t>
            </a:r>
            <a:r>
              <a:rPr lang="en-US" altLang="ko-KR" sz="2400" dirty="0"/>
              <a:t>(Variable Declaration)</a:t>
            </a:r>
          </a:p>
          <a:p>
            <a:pPr lvl="1"/>
            <a:r>
              <a:rPr lang="ko-KR" altLang="en-US" sz="2000" dirty="0"/>
              <a:t>데이터를 저장할 메모리 공간의 이름과 자료형을 지정하는 과정</a:t>
            </a:r>
          </a:p>
          <a:p>
            <a:pPr lvl="1"/>
            <a:r>
              <a:rPr lang="ko-KR" altLang="en-US" sz="2000" dirty="0"/>
              <a:t>변수는 코드 블록 </a:t>
            </a:r>
            <a:r>
              <a:rPr lang="en-US" altLang="ko-KR" sz="2000" dirty="0"/>
              <a:t>{ } </a:t>
            </a:r>
            <a:r>
              <a:rPr lang="ko-KR" altLang="en-US" sz="2000" dirty="0"/>
              <a:t>내부에서 선언</a:t>
            </a:r>
          </a:p>
          <a:p>
            <a:pPr lvl="1"/>
            <a:r>
              <a:rPr lang="en-US" altLang="ko-KR" sz="1800" dirty="0"/>
              <a:t>C99 </a:t>
            </a:r>
            <a:r>
              <a:rPr lang="ko-KR" altLang="en-US" sz="1800" dirty="0"/>
              <a:t>이후 사용 위치와 가까운 곳에서 선언하는 방식이 일반적</a:t>
            </a:r>
          </a:p>
          <a:p>
            <a:endParaRPr lang="ko-KR" altLang="en-US" sz="2400" dirty="0"/>
          </a:p>
          <a:p>
            <a:r>
              <a:rPr lang="ko-KR" altLang="en-US" sz="2400" dirty="0"/>
              <a:t>변수 선언 기본 형태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예</a:t>
            </a:r>
            <a:endParaRPr lang="en-US" altLang="ko-KR" sz="2400" dirty="0"/>
          </a:p>
          <a:p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C4711D-85E1-9AC9-F1D9-7B10A2F1DA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4293F-833F-DB47-776B-FCB56B2C5A15}"/>
              </a:ext>
            </a:extLst>
          </p:cNvPr>
          <p:cNvSpPr txBox="1"/>
          <p:nvPr/>
        </p:nvSpPr>
        <p:spPr>
          <a:xfrm>
            <a:off x="660825" y="3356992"/>
            <a:ext cx="4572000" cy="461665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변수이름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15004-EE30-5555-9ABC-778E632E171F}"/>
              </a:ext>
            </a:extLst>
          </p:cNvPr>
          <p:cNvSpPr txBox="1"/>
          <p:nvPr/>
        </p:nvSpPr>
        <p:spPr>
          <a:xfrm>
            <a:off x="660825" y="4965521"/>
            <a:ext cx="4617486" cy="120032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age;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height;</a:t>
            </a:r>
          </a:p>
          <a:p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 level;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4626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1B53-E573-2AE9-BEA7-3D0176F8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352DB-B3A7-6713-6B6C-B357C64D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3.5 </a:t>
            </a:r>
            <a:r>
              <a:rPr lang="ko-KR" altLang="en-US" b="0" dirty="0"/>
              <a:t>변수 선언과 코드 블록에서의 위치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1E3C4-AC49-1FA8-4DF4-70BD19A64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초기화하지 않은 지역 변수 </a:t>
            </a:r>
            <a:r>
              <a:rPr lang="en-US" altLang="ko-KR" sz="2000" dirty="0"/>
              <a:t>(Uninitialized Value)</a:t>
            </a:r>
            <a:endParaRPr lang="ko-KR" altLang="en-US" sz="2000" dirty="0"/>
          </a:p>
          <a:p>
            <a:pPr lvl="1"/>
            <a:r>
              <a:rPr lang="ko-KR" altLang="en-US" sz="1600" dirty="0"/>
              <a:t>선언만 하고 초기화하지 않으면 메모리 값이 불확정</a:t>
            </a:r>
            <a:r>
              <a:rPr lang="en-US" altLang="ko-KR" sz="1600" dirty="0"/>
              <a:t>(Indeterminate Value)</a:t>
            </a:r>
          </a:p>
          <a:p>
            <a:pPr lvl="1"/>
            <a:r>
              <a:rPr lang="ko-KR" altLang="en-US" sz="1600" dirty="0"/>
              <a:t>이전 메모리 값이 남아 있을 수 있음</a:t>
            </a:r>
            <a:endParaRPr lang="ko-KR" altLang="en-US" sz="2000" dirty="0"/>
          </a:p>
          <a:p>
            <a:pPr lvl="1"/>
            <a:r>
              <a:rPr lang="ko-KR" altLang="en-US" sz="1600" dirty="0"/>
              <a:t>실행 환경마다 값이 달라질 수 있음</a:t>
            </a:r>
            <a:endParaRPr lang="ko-KR" altLang="en-US" sz="2000" dirty="0"/>
          </a:p>
          <a:p>
            <a:pPr lvl="1"/>
            <a:r>
              <a:rPr lang="en-US" altLang="ko-KR" sz="1600" dirty="0"/>
              <a:t>Visual Studio Debug </a:t>
            </a:r>
            <a:r>
              <a:rPr lang="ko-KR" altLang="en-US" sz="1600" dirty="0"/>
              <a:t>모드</a:t>
            </a:r>
            <a:endParaRPr lang="en-US" altLang="ko-KR" sz="1600" dirty="0"/>
          </a:p>
          <a:p>
            <a:pPr lvl="2"/>
            <a:r>
              <a:rPr lang="ko-KR" altLang="en-US" sz="1600" dirty="0"/>
              <a:t>미초기화 메모리에 </a:t>
            </a:r>
            <a:r>
              <a:rPr lang="en-US" altLang="ko-KR" sz="1600" dirty="0"/>
              <a:t>0xCC </a:t>
            </a:r>
            <a:r>
              <a:rPr lang="ko-KR" altLang="en-US" sz="1600" dirty="0"/>
              <a:t>패턴을 채우기도 함</a:t>
            </a:r>
            <a:endParaRPr lang="en-US" altLang="ko-KR" sz="1600" dirty="0"/>
          </a:p>
          <a:p>
            <a:pPr lvl="1"/>
            <a:r>
              <a:rPr lang="en-US" altLang="ko-KR" sz="1600" dirty="0"/>
              <a:t>※ </a:t>
            </a:r>
            <a:r>
              <a:rPr lang="ko-KR" altLang="en-US" sz="1600" dirty="0"/>
              <a:t>쓰레기 값</a:t>
            </a:r>
            <a:r>
              <a:rPr lang="en-US" altLang="ko-KR" sz="1600" dirty="0"/>
              <a:t>(garbage value) </a:t>
            </a:r>
            <a:r>
              <a:rPr lang="ko-KR" altLang="en-US" sz="1600" dirty="0"/>
              <a:t>으로 채운다고 설명하는 것은 잘못된 표현임</a:t>
            </a:r>
            <a:endParaRPr lang="en-US" altLang="ko-KR" sz="1600" dirty="0"/>
          </a:p>
          <a:p>
            <a:pPr lvl="3"/>
            <a:endParaRPr lang="ko-KR" altLang="en-US" sz="1400" dirty="0"/>
          </a:p>
          <a:p>
            <a:r>
              <a:rPr lang="ko-KR" altLang="en-US" sz="2000" dirty="0"/>
              <a:t>선언과 동시에 초기화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4EFDE2-97D5-9779-1ED4-DFD4F7F25A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B6115-2907-14C8-6332-7F272668CBAB}"/>
              </a:ext>
            </a:extLst>
          </p:cNvPr>
          <p:cNvSpPr txBox="1"/>
          <p:nvPr/>
        </p:nvSpPr>
        <p:spPr>
          <a:xfrm>
            <a:off x="503548" y="3608387"/>
            <a:ext cx="6516724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변수이름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초기 값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800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같은 자료형인 경우 콤마 연산자를 사용해서 초기화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변수이름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초기 값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변수이름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초기 값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893C2-7B4B-E5B7-E1F3-41D235A8FC01}"/>
              </a:ext>
            </a:extLst>
          </p:cNvPr>
          <p:cNvSpPr txBox="1"/>
          <p:nvPr/>
        </p:nvSpPr>
        <p:spPr>
          <a:xfrm>
            <a:off x="503548" y="5229200"/>
            <a:ext cx="6516724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800" dirty="0">
                <a:solidFill>
                  <a:srgbClr val="383A42"/>
                </a:solidFill>
                <a:latin typeface="Consolas" panose="020B0609020204030204" pitchFamily="49" charset="0"/>
              </a:rPr>
              <a:t> level=100;</a:t>
            </a:r>
            <a:endParaRPr lang="en-US" altLang="ko-KR" sz="1800" b="0" i="0" u="none" strike="noStrike" dirty="0">
              <a:solidFill>
                <a:schemeClr val="bg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age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money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width=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isAlive = </a:t>
            </a:r>
            <a:r>
              <a:rPr lang="en-US" altLang="ko-KR" sz="18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C23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이후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진수 허용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52752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D7666-A026-E3EB-7475-DEC79240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3.5.1 C90 </a:t>
            </a:r>
            <a:r>
              <a:rPr lang="ko-KR" altLang="en-US" dirty="0"/>
              <a:t>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B00931-C2BA-0568-C051-DF5F38C96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초기 </a:t>
            </a:r>
            <a:r>
              <a:rPr lang="en-US" altLang="ko-KR" sz="2000" dirty="0"/>
              <a:t>C </a:t>
            </a:r>
            <a:r>
              <a:rPr lang="ko-KR" altLang="en-US" sz="2000" dirty="0"/>
              <a:t>표준 </a:t>
            </a:r>
            <a:r>
              <a:rPr lang="en-US" altLang="ko-KR" sz="2000" dirty="0"/>
              <a:t>C90</a:t>
            </a:r>
            <a:r>
              <a:rPr lang="ko-KR" altLang="en-US" sz="2000" dirty="0"/>
              <a:t>에서는 변수 선언을 코드 블록의 시작 부분에서만 허용</a:t>
            </a:r>
          </a:p>
          <a:p>
            <a:r>
              <a:rPr lang="ko-KR" altLang="en-US" sz="2000" dirty="0"/>
              <a:t>실행 문장이 시작된 이후에는 새로운 변수 선언 불가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블록 중간 선언은 </a:t>
            </a:r>
            <a:r>
              <a:rPr lang="en-US" altLang="ko-KR" sz="2000" dirty="0"/>
              <a:t>C90</a:t>
            </a:r>
            <a:r>
              <a:rPr lang="ko-KR" altLang="en-US" sz="2000" dirty="0"/>
              <a:t>에서 허용되지 않음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E69794-ED33-F107-A432-2280B2652B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6B692-A60C-C105-268A-FDE314FC0D9B}"/>
              </a:ext>
            </a:extLst>
          </p:cNvPr>
          <p:cNvSpPr txBox="1"/>
          <p:nvPr/>
        </p:nvSpPr>
        <p:spPr>
          <a:xfrm>
            <a:off x="467544" y="1484784"/>
            <a:ext cx="7632848" cy="203132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a;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C90: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블록 시작 부분에서 선언해야 함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DC4D26-F5B2-242B-BDFE-8874E0C973D4}"/>
              </a:ext>
            </a:extLst>
          </p:cNvPr>
          <p:cNvSpPr txBox="1"/>
          <p:nvPr/>
        </p:nvSpPr>
        <p:spPr>
          <a:xfrm>
            <a:off x="495940" y="4534634"/>
            <a:ext cx="7560642" cy="163121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"start\n"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C90: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오류 발생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41237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3EB71-08B5-C320-389E-E4355DDA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DCC8C-D25E-235A-D4B6-42920CDF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3.5.2 C99 </a:t>
            </a:r>
            <a:r>
              <a:rPr lang="ko-KR" altLang="en-US" b="0" dirty="0"/>
              <a:t>이후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B9C993-A285-70BA-E7FA-FDEBD2E1E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C99 </a:t>
            </a:r>
            <a:r>
              <a:rPr lang="ko-KR" altLang="en-US" sz="2000" dirty="0"/>
              <a:t>이후</a:t>
            </a:r>
            <a:r>
              <a:rPr lang="en-US" altLang="ko-KR" sz="2000" dirty="0"/>
              <a:t>(C99, C11, C17, C23) </a:t>
            </a:r>
            <a:r>
              <a:rPr lang="ko-KR" altLang="en-US" sz="2000" dirty="0"/>
              <a:t>변수 선언을 코드 블록의 중간에서도 허용</a:t>
            </a:r>
          </a:p>
          <a:p>
            <a:r>
              <a:rPr lang="ko-KR" altLang="en-US" sz="2000" dirty="0"/>
              <a:t>필요한 위치에서 변수를 바로 선언 가능</a:t>
            </a:r>
          </a:p>
          <a:p>
            <a:r>
              <a:rPr lang="ko-KR" altLang="en-US" sz="2000" dirty="0"/>
              <a:t>현대 </a:t>
            </a:r>
            <a:r>
              <a:rPr lang="en-US" altLang="ko-KR" sz="2000" dirty="0"/>
              <a:t>C </a:t>
            </a:r>
            <a:r>
              <a:rPr lang="ko-KR" altLang="en-US" sz="2000" dirty="0"/>
              <a:t>언어에서는 이 방식을 일반적으로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84B9E8-5881-497D-FED2-7AF7324C1B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B96F7-DAD4-34E6-74DA-AE12A5D31584}"/>
              </a:ext>
            </a:extLst>
          </p:cNvPr>
          <p:cNvSpPr txBox="1"/>
          <p:nvPr/>
        </p:nvSpPr>
        <p:spPr>
          <a:xfrm>
            <a:off x="503647" y="2708920"/>
            <a:ext cx="8136706" cy="224676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"start\n"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hp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C99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이후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중간 선언 가능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hp);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37142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4A7A-D226-AB15-B994-01D1D952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8C6A5-6CA8-87CD-B120-71EA3B8F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3.5.3 </a:t>
            </a:r>
            <a:r>
              <a:rPr lang="ko-KR" altLang="en-US" b="0" dirty="0"/>
              <a:t>권장되는 선언 방식</a:t>
            </a:r>
            <a:r>
              <a:rPr lang="en-US" altLang="ko-KR" b="0" dirty="0"/>
              <a:t>(</a:t>
            </a:r>
            <a:r>
              <a:rPr lang="ko-KR" altLang="en-US" b="0" dirty="0"/>
              <a:t>최신 </a:t>
            </a:r>
            <a:r>
              <a:rPr lang="en-US" altLang="ko-KR" b="0" dirty="0"/>
              <a:t>C </a:t>
            </a:r>
            <a:r>
              <a:rPr lang="ko-KR" altLang="en-US" b="0" dirty="0"/>
              <a:t>스타일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930B0-516D-0E22-F5FF-98756B813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Visual Studio(MSVC)</a:t>
            </a:r>
            <a:r>
              <a:rPr lang="ko-KR" altLang="en-US" sz="2000" dirty="0"/>
              <a:t>도 현재 </a:t>
            </a:r>
            <a:r>
              <a:rPr lang="en-US" altLang="ko-KR" sz="2000" dirty="0"/>
              <a:t>C99 </a:t>
            </a:r>
            <a:r>
              <a:rPr lang="ko-KR" altLang="en-US" sz="2000" dirty="0"/>
              <a:t>스타일 변수 선언을 대부분 지원</a:t>
            </a:r>
          </a:p>
          <a:p>
            <a:r>
              <a:rPr lang="ko-KR" altLang="en-US" sz="2000" dirty="0"/>
              <a:t>사용되는 위치와 가까운 곳에서 변수 선언 권장</a:t>
            </a:r>
          </a:p>
          <a:p>
            <a:r>
              <a:rPr lang="ko-KR" altLang="en-US" sz="2000" dirty="0"/>
              <a:t>변수의 의미가 명확해지고 가독성 향상</a:t>
            </a:r>
          </a:p>
          <a:p>
            <a:r>
              <a:rPr lang="ko-KR" altLang="en-US" sz="2000" dirty="0"/>
              <a:t>블록 앞부분에 불필요하게 변수를 모아 두지 않는 것이 좋음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반복문에서 변수 선언</a:t>
            </a:r>
            <a:endParaRPr lang="en-US" altLang="ko-KR" sz="2000" dirty="0"/>
          </a:p>
          <a:p>
            <a:pPr lvl="1"/>
            <a:r>
              <a:rPr lang="en-US" altLang="ko-KR" sz="1600" dirty="0"/>
              <a:t>for </a:t>
            </a:r>
            <a:r>
              <a:rPr lang="ko-KR" altLang="en-US" sz="1600" dirty="0"/>
              <a:t>문의 초기식에서 변수 선언 권장</a:t>
            </a:r>
            <a:endParaRPr lang="en-US" altLang="ko-KR" sz="1600" dirty="0"/>
          </a:p>
          <a:p>
            <a:pPr lvl="1"/>
            <a:endParaRPr lang="en-US" altLang="ko-KR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55EDA-EB3E-1C01-5037-F02D66000D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7B387-A43E-183B-F82F-31C30395EB72}"/>
              </a:ext>
            </a:extLst>
          </p:cNvPr>
          <p:cNvSpPr txBox="1"/>
          <p:nvPr/>
        </p:nvSpPr>
        <p:spPr>
          <a:xfrm>
            <a:off x="539750" y="3655290"/>
            <a:ext cx="7992690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j=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++i, ++j)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i, j);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2192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CE1BF-981B-4084-6F6F-CAAEEDF1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3.6 </a:t>
            </a:r>
            <a:r>
              <a:rPr lang="ko-KR" altLang="en-US" b="0" dirty="0"/>
              <a:t>기본 자료형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5AFB9-9F22-9FC4-94F8-D47C74A07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자료형</a:t>
            </a:r>
            <a:endParaRPr lang="en-US" altLang="ko-KR" dirty="0"/>
          </a:p>
          <a:p>
            <a:pPr lvl="1"/>
            <a:r>
              <a:rPr lang="en-US" altLang="ko-KR" dirty="0"/>
              <a:t>CPU</a:t>
            </a:r>
            <a:r>
              <a:rPr lang="ko-KR" altLang="en-US" dirty="0"/>
              <a:t>의 기본 연산 단위</a:t>
            </a:r>
            <a:r>
              <a:rPr lang="en-US" altLang="ko-KR" dirty="0"/>
              <a:t>(32bit / 64bit)</a:t>
            </a:r>
            <a:r>
              <a:rPr lang="ko-KR" altLang="en-US" dirty="0"/>
              <a:t>를 기반으로 정의된 기초 자료형</a:t>
            </a:r>
          </a:p>
          <a:p>
            <a:pPr lvl="1"/>
            <a:r>
              <a:rPr lang="ko-KR" altLang="en-US" dirty="0"/>
              <a:t>정수</a:t>
            </a:r>
            <a:r>
              <a:rPr lang="en-US" altLang="ko-KR" dirty="0"/>
              <a:t>, </a:t>
            </a:r>
            <a:r>
              <a:rPr lang="ko-KR" altLang="en-US" dirty="0"/>
              <a:t>실수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, </a:t>
            </a:r>
            <a:r>
              <a:rPr lang="ko-KR" altLang="en-US" dirty="0"/>
              <a:t>논리 값 등의 기본 데이터를 표현</a:t>
            </a:r>
          </a:p>
          <a:p>
            <a:endParaRPr lang="ko-KR" altLang="en-US" dirty="0"/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다양한 정수 크기</a:t>
            </a:r>
            <a:r>
              <a:rPr lang="en-US" altLang="ko-KR" dirty="0"/>
              <a:t>(char, short, int, long) </a:t>
            </a:r>
            <a:r>
              <a:rPr lang="ko-KR" altLang="en-US" dirty="0"/>
              <a:t>제공</a:t>
            </a:r>
          </a:p>
          <a:p>
            <a:pPr lvl="1"/>
            <a:r>
              <a:rPr lang="ko-KR" altLang="en-US" dirty="0"/>
              <a:t>메모리 효율성과 데이터 표현의 유연성 제공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sz="2000" dirty="0"/>
              <a:t>※ </a:t>
            </a:r>
            <a:r>
              <a:rPr lang="ko-KR" altLang="en-US" sz="2000" dirty="0"/>
              <a:t>기본 자료형 </a:t>
            </a:r>
            <a:r>
              <a:rPr lang="en-US" altLang="ko-KR" sz="2000" dirty="0"/>
              <a:t>= CPU </a:t>
            </a:r>
            <a:r>
              <a:rPr lang="ko-KR" altLang="en-US" sz="2000" dirty="0"/>
              <a:t>데이터 폭을 기반으로 데이터 표현의 최소 단위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3CAB57-95B0-6A9C-A233-26F9F515E8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1104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15BAE-BF78-CFE9-6C4E-871E501A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3.7 </a:t>
            </a:r>
            <a:r>
              <a:rPr lang="ko-KR" altLang="en-US" b="0" dirty="0"/>
              <a:t>논리형</a:t>
            </a:r>
            <a:r>
              <a:rPr lang="en-US" altLang="ko-KR" b="0" dirty="0"/>
              <a:t>(boolean types)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701789-C127-9378-072B-FC4ED2A24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논리형 </a:t>
            </a:r>
            <a:r>
              <a:rPr lang="en-US" altLang="ko-KR" sz="1800" dirty="0"/>
              <a:t>(Boolean Type)</a:t>
            </a:r>
          </a:p>
          <a:p>
            <a:pPr lvl="1"/>
            <a:r>
              <a:rPr lang="ko-KR" altLang="en-US" sz="1600" dirty="0"/>
              <a:t>참</a:t>
            </a:r>
            <a:r>
              <a:rPr lang="en-US" altLang="ko-KR" sz="1600" dirty="0"/>
              <a:t>(true) / </a:t>
            </a:r>
            <a:r>
              <a:rPr lang="ko-KR" altLang="en-US" sz="1600" dirty="0"/>
              <a:t>거짓</a:t>
            </a:r>
            <a:r>
              <a:rPr lang="en-US" altLang="ko-KR" sz="1600" dirty="0"/>
              <a:t>(false) </a:t>
            </a:r>
            <a:r>
              <a:rPr lang="ko-KR" altLang="en-US" sz="1600" dirty="0"/>
              <a:t>을 표현하는 자료형</a:t>
            </a:r>
            <a:endParaRPr lang="ko-KR" altLang="en-US" sz="1800" dirty="0"/>
          </a:p>
          <a:p>
            <a:r>
              <a:rPr lang="en-US" altLang="ko-KR" sz="1800" dirty="0"/>
              <a:t>C90</a:t>
            </a:r>
          </a:p>
          <a:p>
            <a:pPr lvl="1"/>
            <a:r>
              <a:rPr lang="ko-KR" altLang="en-US" sz="1600" dirty="0"/>
              <a:t>별도의 논리형 없음</a:t>
            </a:r>
          </a:p>
          <a:p>
            <a:pPr lvl="1"/>
            <a:r>
              <a:rPr lang="en-US" altLang="ko-KR" sz="1600" dirty="0"/>
              <a:t>0 → false, 0</a:t>
            </a:r>
            <a:r>
              <a:rPr lang="ko-KR" altLang="en-US" sz="1600" dirty="0"/>
              <a:t>이 아닌 값 → </a:t>
            </a:r>
            <a:r>
              <a:rPr lang="en-US" altLang="ko-KR" sz="1600" dirty="0"/>
              <a:t>true</a:t>
            </a:r>
          </a:p>
          <a:p>
            <a:pPr lvl="1"/>
            <a:r>
              <a:rPr lang="en-US" altLang="ko-KR" sz="1600" dirty="0"/>
              <a:t>int</a:t>
            </a:r>
            <a:r>
              <a:rPr lang="ko-KR" altLang="en-US" sz="1600" dirty="0"/>
              <a:t>를 논리값처럼 사용</a:t>
            </a:r>
            <a:endParaRPr lang="en-US" altLang="ko-KR" sz="1600" dirty="0"/>
          </a:p>
          <a:p>
            <a:pPr lvl="1"/>
            <a:r>
              <a:rPr lang="ko-KR" altLang="en-US" sz="1600" dirty="0"/>
              <a:t>매크로 기반</a:t>
            </a:r>
          </a:p>
          <a:p>
            <a:pPr lvl="2"/>
            <a:r>
              <a:rPr lang="en-US" altLang="ko-KR" sz="1200" dirty="0"/>
              <a:t>#define TRUE 1</a:t>
            </a:r>
          </a:p>
          <a:p>
            <a:pPr lvl="2"/>
            <a:r>
              <a:rPr lang="en-US" altLang="ko-KR" sz="1200" dirty="0"/>
              <a:t>#define FALSE 0</a:t>
            </a:r>
            <a:endParaRPr lang="ko-KR" altLang="en-US" sz="1800" dirty="0"/>
          </a:p>
          <a:p>
            <a:r>
              <a:rPr lang="en-US" altLang="ko-KR" sz="1800" dirty="0"/>
              <a:t>C99</a:t>
            </a:r>
          </a:p>
          <a:p>
            <a:pPr lvl="1"/>
            <a:r>
              <a:rPr lang="en-US" altLang="ko-KR" sz="1600" dirty="0"/>
              <a:t>&lt;stdbool.h&gt; </a:t>
            </a:r>
            <a:r>
              <a:rPr lang="ko-KR" altLang="en-US" sz="1600" dirty="0"/>
              <a:t>헤더 도입</a:t>
            </a:r>
          </a:p>
          <a:p>
            <a:pPr lvl="1"/>
            <a:r>
              <a:rPr lang="en-US" altLang="ko-KR" sz="1600" dirty="0"/>
              <a:t>bool, true, false </a:t>
            </a:r>
            <a:r>
              <a:rPr lang="ko-KR" altLang="en-US" sz="1600" dirty="0"/>
              <a:t>사용 가능</a:t>
            </a:r>
          </a:p>
          <a:p>
            <a:r>
              <a:rPr lang="en-US" altLang="ko-KR" sz="1800" dirty="0"/>
              <a:t>C23</a:t>
            </a:r>
          </a:p>
          <a:p>
            <a:pPr lvl="1"/>
            <a:r>
              <a:rPr lang="en-US" altLang="ko-KR" sz="1600" dirty="0"/>
              <a:t>bool, true, false</a:t>
            </a:r>
            <a:r>
              <a:rPr lang="ko-KR" altLang="en-US" sz="1600" dirty="0"/>
              <a:t>가 정식 키워드로 추가</a:t>
            </a:r>
          </a:p>
          <a:p>
            <a:pPr lvl="1"/>
            <a:r>
              <a:rPr lang="ko-KR" altLang="en-US" sz="1600" dirty="0"/>
              <a:t>헤더 없이 사용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0CA87D-4CBC-DE4E-99AD-5F7DEEE642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902987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E3B0-628B-34F2-2B2D-5FD11A55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25DA8-7B84-3D90-F5F9-4D9E334D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3.7 </a:t>
            </a:r>
            <a:r>
              <a:rPr lang="ko-KR" altLang="en-US" b="0" dirty="0"/>
              <a:t>논리형</a:t>
            </a:r>
            <a:r>
              <a:rPr lang="en-US" altLang="ko-KR" b="0" dirty="0"/>
              <a:t>(boolean types)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802EC6-FC7C-5D0E-0D3A-EA437787A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0" dirty="0"/>
              <a:t>&lt;</a:t>
            </a:r>
            <a:r>
              <a:rPr lang="ko-KR" altLang="en-US" sz="2000" b="0" dirty="0"/>
              <a:t>예</a:t>
            </a:r>
            <a:r>
              <a:rPr lang="en-US" altLang="ko-KR" sz="2000" b="0" dirty="0"/>
              <a:t>: boolean&gt;</a:t>
            </a:r>
            <a:endParaRPr lang="ko-KR" altLang="en-US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8A2378-0589-6D9C-595F-44BEEAFE7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D282A-3D15-6EAD-7FC2-64D2BF271968}"/>
              </a:ext>
            </a:extLst>
          </p:cNvPr>
          <p:cNvSpPr txBox="1"/>
          <p:nvPr/>
        </p:nvSpPr>
        <p:spPr>
          <a:xfrm>
            <a:off x="467519" y="1344325"/>
            <a:ext cx="8208962" cy="34778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&lt;stdbool.h&gt;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isReady = </a:t>
            </a:r>
            <a:r>
              <a:rPr lang="en-US" altLang="ko-KR" sz="20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isActive=</a:t>
            </a:r>
            <a:r>
              <a:rPr lang="en-US" altLang="ko-KR" sz="20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"value isReady: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isReady);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"value isActive: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isActive);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69425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1CA08-D61F-EBB8-18D8-F911CB7B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3.8 </a:t>
            </a:r>
            <a:r>
              <a:rPr lang="ko-KR" altLang="en-US" dirty="0"/>
              <a:t>정수형 </a:t>
            </a:r>
            <a:r>
              <a:rPr lang="en-US" altLang="ko-KR" dirty="0"/>
              <a:t>(Integer Types)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FCB543-75A7-CDBC-CB8F-119E3D672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C </a:t>
            </a:r>
            <a:r>
              <a:rPr lang="ko-KR" altLang="en-US" sz="2000" dirty="0"/>
              <a:t>언어 정수형과 표준 최소 크기 </a:t>
            </a:r>
            <a:r>
              <a:rPr lang="en-US" altLang="ko-KR" sz="2000" dirty="0"/>
              <a:t>/ </a:t>
            </a:r>
            <a:r>
              <a:rPr lang="ko-KR" altLang="en-US" sz="2000" dirty="0"/>
              <a:t>현대 시스템 일반 크기</a:t>
            </a:r>
            <a:endParaRPr lang="en-US" altLang="ko-KR" sz="2000" dirty="0"/>
          </a:p>
          <a:p>
            <a:pPr lvl="1"/>
            <a:r>
              <a:rPr lang="en-US" altLang="ko-KR" sz="1800" dirty="0"/>
              <a:t>C </a:t>
            </a:r>
            <a:r>
              <a:rPr lang="ko-KR" altLang="en-US" sz="1800" dirty="0"/>
              <a:t>표준은 최소 크기만 보장</a:t>
            </a:r>
            <a:r>
              <a:rPr lang="en-US" altLang="ko-KR" sz="1800" dirty="0"/>
              <a:t>, </a:t>
            </a:r>
            <a:r>
              <a:rPr lang="ko-KR" altLang="en-US" sz="1800" dirty="0"/>
              <a:t>실제 크기는 시스템과 컴파일러에 따라 달라짐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ko-KR" altLang="en-US" sz="2200" dirty="0"/>
              <a:t>정수형 종류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CA8B2-B84C-930E-EDC2-6A341A2857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A1BD42A-2D74-DA0B-31F4-EB966B226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77524"/>
              </p:ext>
            </p:extLst>
          </p:nvPr>
        </p:nvGraphicFramePr>
        <p:xfrm>
          <a:off x="539750" y="2204864"/>
          <a:ext cx="7776666" cy="4032450"/>
        </p:xfrm>
        <a:graphic>
          <a:graphicData uri="http://schemas.openxmlformats.org/drawingml/2006/table">
            <a:tbl>
              <a:tblPr/>
              <a:tblGrid>
                <a:gridCol w="1788217">
                  <a:extLst>
                    <a:ext uri="{9D8B030D-6E8A-4147-A177-3AD203B41FA5}">
                      <a16:colId xmlns:a16="http://schemas.microsoft.com/office/drawing/2014/main" val="1607562632"/>
                    </a:ext>
                  </a:extLst>
                </a:gridCol>
                <a:gridCol w="2640740">
                  <a:extLst>
                    <a:ext uri="{9D8B030D-6E8A-4147-A177-3AD203B41FA5}">
                      <a16:colId xmlns:a16="http://schemas.microsoft.com/office/drawing/2014/main" val="331287844"/>
                    </a:ext>
                  </a:extLst>
                </a:gridCol>
                <a:gridCol w="3347709">
                  <a:extLst>
                    <a:ext uri="{9D8B030D-6E8A-4147-A177-3AD203B41FA5}">
                      <a16:colId xmlns:a16="http://schemas.microsoft.com/office/drawing/2014/main" val="2552490842"/>
                    </a:ext>
                  </a:extLst>
                </a:gridCol>
              </a:tblGrid>
              <a:tr h="6720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자료형</a:t>
                      </a:r>
                      <a:endParaRPr lang="ko-KR" alt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표준 최소 크기</a:t>
                      </a:r>
                      <a:endParaRPr lang="ko-KR" alt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현대 시스템 일반 크기</a:t>
                      </a:r>
                      <a:endParaRPr lang="ko-KR" alt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116361"/>
                  </a:ext>
                </a:extLst>
              </a:tr>
              <a:tr h="6720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bit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byte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81211"/>
                  </a:ext>
                </a:extLst>
              </a:tr>
              <a:tr h="6720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short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bit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byte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342682"/>
                  </a:ext>
                </a:extLst>
              </a:tr>
              <a:tr h="6720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bit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byte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490755"/>
                  </a:ext>
                </a:extLst>
              </a:tr>
              <a:tr h="6720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bit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byte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667590"/>
                  </a:ext>
                </a:extLst>
              </a:tr>
              <a:tr h="6720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bit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byte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06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856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84D9-A5AF-9540-C18D-73954DB9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3E42E-199D-03AD-4D4D-F860CF5C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3.8.1 </a:t>
            </a:r>
            <a:r>
              <a:rPr lang="ko-KR" altLang="en-US" dirty="0"/>
              <a:t>정수형 데이터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52A031-1732-3DA7-05A3-13807E02C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정수형 </a:t>
            </a:r>
            <a:r>
              <a:rPr lang="en-US" altLang="ko-KR" sz="1800" dirty="0"/>
              <a:t>signed / unsigned </a:t>
            </a:r>
            <a:r>
              <a:rPr lang="ko-KR" altLang="en-US" sz="1800" dirty="0"/>
              <a:t>범위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938B6A-F27C-BCFA-C6AA-8973151ED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9FD817D-2E36-6874-BB54-44850B7E4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85189"/>
              </p:ext>
            </p:extLst>
          </p:nvPr>
        </p:nvGraphicFramePr>
        <p:xfrm>
          <a:off x="323528" y="1628800"/>
          <a:ext cx="8568952" cy="3420835"/>
        </p:xfrm>
        <a:graphic>
          <a:graphicData uri="http://schemas.openxmlformats.org/drawingml/2006/table">
            <a:tbl>
              <a:tblPr/>
              <a:tblGrid>
                <a:gridCol w="1056863">
                  <a:extLst>
                    <a:ext uri="{9D8B030D-6E8A-4147-A177-3AD203B41FA5}">
                      <a16:colId xmlns:a16="http://schemas.microsoft.com/office/drawing/2014/main" val="2337961999"/>
                    </a:ext>
                  </a:extLst>
                </a:gridCol>
                <a:gridCol w="3767673">
                  <a:extLst>
                    <a:ext uri="{9D8B030D-6E8A-4147-A177-3AD203B41FA5}">
                      <a16:colId xmlns:a16="http://schemas.microsoft.com/office/drawing/2014/main" val="646674483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797253199"/>
                    </a:ext>
                  </a:extLst>
                </a:gridCol>
              </a:tblGrid>
              <a:tr h="68416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signed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unsigned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870647"/>
                  </a:ext>
                </a:extLst>
              </a:tr>
              <a:tr h="68416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byte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-128 ~ 127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~ 255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564072"/>
                  </a:ext>
                </a:extLst>
              </a:tr>
              <a:tr h="68416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byte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-32,768 ~ 32,767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~ 65,535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771215"/>
                  </a:ext>
                </a:extLst>
              </a:tr>
              <a:tr h="68416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byte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-2,147,483,648 ~ 2,147,483,647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~ 4,294,967,295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115366"/>
                  </a:ext>
                </a:extLst>
              </a:tr>
              <a:tr h="68416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byte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-9.22e18 ~ 9.22e18</a:t>
                      </a:r>
                      <a:endParaRPr lang="en-US" sz="18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~ 1.84e19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441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055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7FB9-97D0-724C-5BC7-07C364CD8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4A8FC-1E71-726E-BAA2-68A9B58F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3.8.2 </a:t>
            </a:r>
            <a:r>
              <a:rPr lang="ko-KR" altLang="en-US" dirty="0"/>
              <a:t>정수형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9F47F7-D79C-26DD-4827-CEE8956D5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0" dirty="0"/>
              <a:t>&lt;</a:t>
            </a:r>
            <a:r>
              <a:rPr lang="ko-KR" altLang="en-US" sz="1800" b="0" dirty="0"/>
              <a:t>예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정수형</a:t>
            </a:r>
            <a:r>
              <a:rPr lang="en-US" altLang="ko-KR" sz="1800" b="0" dirty="0"/>
              <a:t>&gt;</a:t>
            </a:r>
            <a:endParaRPr lang="ko-KR" altLang="en-US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8E2484-3BC8-A6B6-3707-F03C57A171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E1BDE-375B-FF06-BBBD-D409729E45C2}"/>
              </a:ext>
            </a:extLst>
          </p:cNvPr>
          <p:cNvSpPr txBox="1"/>
          <p:nvPr/>
        </p:nvSpPr>
        <p:spPr>
          <a:xfrm>
            <a:off x="539750" y="1196752"/>
            <a:ext cx="8136706" cy="504753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ch0=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ch1=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number1, number2;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number3=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1111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number4=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2222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"ch0: %d, ch0: %c 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ch0, ch0);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"ch1: %d, ch1: %c 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ch1, ch1);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최신 컴파일러에서는 초기화 </a:t>
            </a:r>
            <a:r>
              <a:rPr lang="ko-KR" altLang="en-US" sz="14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안하면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컴파일 에러가 발생하나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오래된 컴파일러는 문제 없이 </a:t>
            </a:r>
            <a:r>
              <a:rPr lang="ko-KR" altLang="en-US" sz="14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넘어감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"number1: %d, number2: %d 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,number1,number2);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number1=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6666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number2=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7777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"number1: %d, number2: %d 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,number1,number2);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"number3: %d, number4: %d 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,number3,number4);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47039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C9541-78C5-EB15-E181-10E87695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3.8.3 </a:t>
            </a:r>
            <a:r>
              <a:rPr lang="ko-KR" altLang="en-US" b="0" dirty="0"/>
              <a:t>부호 있는 정수의 표현 방식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38BCE2-0244-8763-63EC-679D7B218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부호</a:t>
            </a:r>
            <a:r>
              <a:rPr lang="en-US" altLang="ko-KR" sz="2000" dirty="0"/>
              <a:t>: MSB(Most Significant Bit)</a:t>
            </a:r>
          </a:p>
          <a:p>
            <a:pPr lvl="1"/>
            <a:r>
              <a:rPr lang="ko-KR" altLang="en-US" sz="1800" dirty="0"/>
              <a:t>양수</a:t>
            </a:r>
            <a:r>
              <a:rPr lang="en-US" altLang="ko-KR" sz="1800" dirty="0"/>
              <a:t>: 0, </a:t>
            </a:r>
            <a:r>
              <a:rPr lang="ko-KR" altLang="en-US" sz="1800" dirty="0"/>
              <a:t>음수</a:t>
            </a:r>
            <a:r>
              <a:rPr lang="en-US" altLang="ko-KR" sz="1800" dirty="0"/>
              <a:t>: 1</a:t>
            </a:r>
          </a:p>
          <a:p>
            <a:r>
              <a:rPr lang="ko-KR" altLang="en-US" sz="2000" dirty="0"/>
              <a:t>음수</a:t>
            </a:r>
            <a:endParaRPr lang="en-US" altLang="ko-KR" sz="2000" dirty="0"/>
          </a:p>
          <a:p>
            <a:pPr lvl="1"/>
            <a:r>
              <a:rPr lang="en-US" altLang="ko-KR" sz="1800" dirty="0"/>
              <a:t>2</a:t>
            </a:r>
            <a:r>
              <a:rPr lang="ko-KR" altLang="en-US" sz="1800" dirty="0"/>
              <a:t>의 보수를 이용</a:t>
            </a:r>
            <a:endParaRPr lang="en-US" altLang="ko-KR" sz="1800" dirty="0"/>
          </a:p>
          <a:p>
            <a:r>
              <a:rPr lang="ko-KR" altLang="en-US" sz="2000" dirty="0"/>
              <a:t>예</a:t>
            </a:r>
            <a:r>
              <a:rPr lang="en-US" altLang="ko-KR" sz="2000" dirty="0"/>
              <a:t>: -5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6015C0-9FCA-0B14-ACFB-2622DCDC53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1857C-9E3A-50D9-6C65-0EF08C2F6846}"/>
              </a:ext>
            </a:extLst>
          </p:cNvPr>
          <p:cNvSpPr txBox="1"/>
          <p:nvPr/>
        </p:nvSpPr>
        <p:spPr>
          <a:xfrm>
            <a:off x="539750" y="2492896"/>
            <a:ext cx="6768554" cy="169277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00000101    </a:t>
            </a: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2000" dirty="0">
                <a:solidFill>
                  <a:srgbClr val="986801"/>
                </a:solidFill>
                <a:latin typeface="Consolas" panose="020B0609020204030204" pitchFamily="49" charset="0"/>
              </a:rPr>
              <a:t>5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↓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11111010    </a:t>
            </a:r>
            <a:r>
              <a:rPr lang="en-US" altLang="ko-KR" sz="2000" dirty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의 보수</a:t>
            </a:r>
            <a:b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↓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11111011    </a:t>
            </a: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2000" dirty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을 추가해서 </a:t>
            </a:r>
            <a:r>
              <a:rPr lang="en-US" altLang="ko-KR" sz="2000" dirty="0">
                <a:solidFill>
                  <a:srgbClr val="986801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의 보수로 변경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8A0ECD-C8BA-5276-288E-99467E81BF88}"/>
              </a:ext>
            </a:extLst>
          </p:cNvPr>
          <p:cNvSpPr txBox="1"/>
          <p:nvPr/>
        </p:nvSpPr>
        <p:spPr>
          <a:xfrm>
            <a:off x="539750" y="4277856"/>
            <a:ext cx="6768554" cy="224676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&lt;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검증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&gt;</a:t>
            </a:r>
          </a:p>
          <a:p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00000101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(+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+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11111011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----------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20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00000000</a:t>
            </a:r>
          </a:p>
          <a:p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↑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올림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(carry)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값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버림</a:t>
            </a:r>
          </a:p>
        </p:txBody>
      </p:sp>
    </p:spTree>
    <p:extLst>
      <p:ext uri="{BB962C8B-B14F-4D97-AF65-F5344CB8AC3E}">
        <p14:creationId xmlns:p14="http://schemas.microsoft.com/office/powerpoint/2010/main" val="420040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EC2F3-54C2-646F-B07A-CA5F3EFD9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77132-E9F2-B098-1C5D-FF79D80D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3.8.4 </a:t>
            </a:r>
            <a:r>
              <a:rPr lang="ko-KR" altLang="en-US" b="0" dirty="0"/>
              <a:t>데이터 모델</a:t>
            </a:r>
            <a:r>
              <a:rPr lang="en-US" altLang="ko-KR" b="0" dirty="0"/>
              <a:t>(Data Model)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12C381-59FC-6EF7-80B5-8EAFAD7D1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데이터 모델 </a:t>
            </a:r>
            <a:r>
              <a:rPr lang="en-US" altLang="ko-KR" sz="2400" dirty="0"/>
              <a:t>(Data Model)</a:t>
            </a:r>
          </a:p>
          <a:p>
            <a:pPr lvl="1"/>
            <a:r>
              <a:rPr lang="en-US" altLang="ko-KR" sz="1800" dirty="0"/>
              <a:t>int, long, pointer</a:t>
            </a:r>
            <a:r>
              <a:rPr lang="ko-KR" altLang="en-US" sz="1800" dirty="0"/>
              <a:t>의 크기를 정의하는 규약</a:t>
            </a:r>
            <a:endParaRPr lang="en-US" altLang="ko-KR" sz="1800" dirty="0"/>
          </a:p>
          <a:p>
            <a:r>
              <a:rPr lang="en-US" altLang="ko-KR" sz="2000" dirty="0"/>
              <a:t>long </a:t>
            </a:r>
            <a:r>
              <a:rPr lang="ko-KR" altLang="en-US" sz="2000" dirty="0"/>
              <a:t>크기 차이</a:t>
            </a:r>
          </a:p>
          <a:p>
            <a:pPr lvl="1"/>
            <a:r>
              <a:rPr lang="ko-KR" altLang="en-US" sz="1800" dirty="0"/>
              <a:t>정수형 중 플랫폼 차이가 가장 큰 자료형은 </a:t>
            </a:r>
            <a:r>
              <a:rPr lang="en-US" altLang="ko-KR" sz="1800" dirty="0"/>
              <a:t>long</a:t>
            </a:r>
            <a:endParaRPr lang="ko-KR" altLang="en-US" sz="1800" dirty="0"/>
          </a:p>
          <a:p>
            <a:pPr lvl="1"/>
            <a:r>
              <a:rPr lang="en-US" altLang="ko-KR" sz="1800" dirty="0">
                <a:solidFill>
                  <a:srgbClr val="C00000"/>
                </a:solidFill>
              </a:rPr>
              <a:t>Android/iOS/macOS/Linux: long = 8</a:t>
            </a:r>
            <a:r>
              <a:rPr lang="ko-KR" altLang="en-US" sz="1800" dirty="0">
                <a:solidFill>
                  <a:srgbClr val="C00000"/>
                </a:solidFill>
              </a:rPr>
              <a:t>바이트</a:t>
            </a:r>
          </a:p>
          <a:p>
            <a:pPr lvl="1"/>
            <a:r>
              <a:rPr lang="en-US" altLang="ko-KR" sz="1800" dirty="0">
                <a:solidFill>
                  <a:srgbClr val="C00000"/>
                </a:solidFill>
              </a:rPr>
              <a:t>Windows MSVC: long = 4</a:t>
            </a:r>
            <a:r>
              <a:rPr lang="ko-KR" altLang="en-US" sz="1800" dirty="0">
                <a:solidFill>
                  <a:srgbClr val="C00000"/>
                </a:solidFill>
              </a:rPr>
              <a:t>바이트</a:t>
            </a:r>
            <a:endParaRPr lang="en-US" altLang="ko-KR" sz="1800" dirty="0">
              <a:solidFill>
                <a:srgbClr val="C00000"/>
              </a:solidFill>
            </a:endParaRPr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데이터 모델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E4C325-BED6-9F22-865B-F430A8DB58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2F5D12-C2BE-18D4-2FC0-F4736B02D13E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3608387"/>
          <a:ext cx="8136706" cy="2771351"/>
        </p:xfrm>
        <a:graphic>
          <a:graphicData uri="http://schemas.openxmlformats.org/drawingml/2006/table">
            <a:tbl>
              <a:tblPr/>
              <a:tblGrid>
                <a:gridCol w="929191">
                  <a:extLst>
                    <a:ext uri="{9D8B030D-6E8A-4147-A177-3AD203B41FA5}">
                      <a16:colId xmlns:a16="http://schemas.microsoft.com/office/drawing/2014/main" val="1450576972"/>
                    </a:ext>
                  </a:extLst>
                </a:gridCol>
                <a:gridCol w="816182">
                  <a:extLst>
                    <a:ext uri="{9D8B030D-6E8A-4147-A177-3AD203B41FA5}">
                      <a16:colId xmlns:a16="http://schemas.microsoft.com/office/drawing/2014/main" val="3637295322"/>
                    </a:ext>
                  </a:extLst>
                </a:gridCol>
                <a:gridCol w="918725">
                  <a:extLst>
                    <a:ext uri="{9D8B030D-6E8A-4147-A177-3AD203B41FA5}">
                      <a16:colId xmlns:a16="http://schemas.microsoft.com/office/drawing/2014/main" val="254572952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031071042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732253399"/>
                    </a:ext>
                  </a:extLst>
                </a:gridCol>
              </a:tblGrid>
              <a:tr h="5645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모델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pointer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 환경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137056"/>
                  </a:ext>
                </a:extLst>
              </a:tr>
              <a:tr h="65961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ILP32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임베디드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Win32, 32bit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976266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LP64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·64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bit: Android, iOS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macOS, Linux 64bit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6200"/>
                  </a:ext>
                </a:extLst>
              </a:tr>
              <a:tr h="75512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LLP64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Windows 64bit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6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445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53685-6E0A-69BA-F1CE-9EB7B04E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3.8.5 </a:t>
            </a:r>
            <a:r>
              <a:rPr lang="ko-KR" altLang="en-US" b="0" dirty="0" err="1"/>
              <a:t>고정폭</a:t>
            </a:r>
            <a:r>
              <a:rPr lang="ko-KR" altLang="en-US" b="0" dirty="0"/>
              <a:t> 정수형</a:t>
            </a:r>
            <a:r>
              <a:rPr lang="en-US" altLang="ko-KR" b="0" dirty="0"/>
              <a:t>(</a:t>
            </a:r>
            <a:r>
              <a:rPr lang="en-US" altLang="ko-KR" b="0" dirty="0" err="1"/>
              <a:t>stdint.h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90477-FD73-EDC2-1016-3B1E2490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정확한 크기의 정수</a:t>
            </a:r>
            <a:endParaRPr lang="en-US" altLang="ko-KR" b="0" dirty="0"/>
          </a:p>
          <a:p>
            <a:pPr lvl="1"/>
            <a:r>
              <a:rPr lang="en-US" altLang="ko-KR" b="0" dirty="0"/>
              <a:t>#include &lt;</a:t>
            </a:r>
            <a:r>
              <a:rPr lang="en-US" altLang="ko-KR" b="0" dirty="0" err="1"/>
              <a:t>stdint.h</a:t>
            </a:r>
            <a:r>
              <a:rPr lang="en-US" altLang="ko-KR" b="0" dirty="0"/>
              <a:t>&gt; </a:t>
            </a:r>
            <a:r>
              <a:rPr lang="ko-KR" altLang="en-US" b="0" dirty="0"/>
              <a:t>추가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870B48-52EC-C603-4030-EF463806A4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C4DAADA-FF16-64CC-D19D-0072A8F76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577583"/>
              </p:ext>
            </p:extLst>
          </p:nvPr>
        </p:nvGraphicFramePr>
        <p:xfrm>
          <a:off x="683568" y="1844824"/>
          <a:ext cx="7416823" cy="3960440"/>
        </p:xfrm>
        <a:graphic>
          <a:graphicData uri="http://schemas.openxmlformats.org/drawingml/2006/table">
            <a:tbl>
              <a:tblPr/>
              <a:tblGrid>
                <a:gridCol w="1210910">
                  <a:extLst>
                    <a:ext uri="{9D8B030D-6E8A-4147-A177-3AD203B41FA5}">
                      <a16:colId xmlns:a16="http://schemas.microsoft.com/office/drawing/2014/main" val="228134216"/>
                    </a:ext>
                  </a:extLst>
                </a:gridCol>
                <a:gridCol w="2300729">
                  <a:extLst>
                    <a:ext uri="{9D8B030D-6E8A-4147-A177-3AD203B41FA5}">
                      <a16:colId xmlns:a16="http://schemas.microsoft.com/office/drawing/2014/main" val="710793012"/>
                    </a:ext>
                  </a:extLst>
                </a:gridCol>
                <a:gridCol w="1347137">
                  <a:extLst>
                    <a:ext uri="{9D8B030D-6E8A-4147-A177-3AD203B41FA5}">
                      <a16:colId xmlns:a16="http://schemas.microsoft.com/office/drawing/2014/main" val="2474834658"/>
                    </a:ext>
                  </a:extLst>
                </a:gridCol>
                <a:gridCol w="2558047">
                  <a:extLst>
                    <a:ext uri="{9D8B030D-6E8A-4147-A177-3AD203B41FA5}">
                      <a16:colId xmlns:a16="http://schemas.microsoft.com/office/drawing/2014/main" val="4188353591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타입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크기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타입</a:t>
                      </a:r>
                      <a:endParaRPr lang="ko-KR" alt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크기</a:t>
                      </a:r>
                      <a:endParaRPr lang="ko-KR" alt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854186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int8_t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8bit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uint8_t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8bit</a:t>
                      </a:r>
                      <a:endParaRPr 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969298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int16_t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16bit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uint16_t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16bit</a:t>
                      </a:r>
                      <a:endParaRPr 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131358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int32_t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uint32_t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32bit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605614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int64_t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64bit</a:t>
                      </a:r>
                      <a:endParaRPr 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uint64_t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64bit</a:t>
                      </a:r>
                      <a:endParaRPr 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55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13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6D912-85DB-8B96-14FD-61EB01CE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3.9 </a:t>
            </a:r>
            <a:r>
              <a:rPr lang="ko-KR" altLang="en-US" b="0" dirty="0"/>
              <a:t>실수형</a:t>
            </a:r>
            <a:r>
              <a:rPr lang="en-US" altLang="ko-KR" b="0" dirty="0"/>
              <a:t>(Floating Types)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7B3519-91A9-A18A-3C8E-D18F93CE0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실수형</a:t>
            </a:r>
            <a:endParaRPr lang="en-US" altLang="ko-KR" sz="2400" dirty="0"/>
          </a:p>
          <a:p>
            <a:pPr lvl="1"/>
            <a:r>
              <a:rPr lang="ko-KR" altLang="en-US" sz="2000" dirty="0"/>
              <a:t>실수를 표현하는 자료형</a:t>
            </a:r>
          </a:p>
          <a:p>
            <a:pPr lvl="1"/>
            <a:r>
              <a:rPr lang="ko-KR" altLang="en-US" sz="2000" dirty="0"/>
              <a:t>부동소수점</a:t>
            </a:r>
            <a:r>
              <a:rPr lang="en-US" altLang="ko-KR" sz="2000" dirty="0"/>
              <a:t>(Floating-Point) </a:t>
            </a:r>
            <a:r>
              <a:rPr lang="ko-KR" altLang="en-US" sz="2000" dirty="0"/>
              <a:t>방식 사용</a:t>
            </a:r>
          </a:p>
          <a:p>
            <a:pPr lvl="1"/>
            <a:r>
              <a:rPr lang="en-US" altLang="ko-KR" sz="2000" dirty="0"/>
              <a:t>IEEE 754 </a:t>
            </a:r>
            <a:r>
              <a:rPr lang="ko-KR" altLang="en-US" sz="2000" dirty="0"/>
              <a:t>표준 기반</a:t>
            </a:r>
          </a:p>
          <a:p>
            <a:pPr lvl="1"/>
            <a:r>
              <a:rPr lang="ko-KR" altLang="en-US" sz="2000" dirty="0"/>
              <a:t>실수 계산 → </a:t>
            </a:r>
            <a:r>
              <a:rPr lang="en-US" altLang="ko-KR" sz="2000" dirty="0"/>
              <a:t>FPU (Floating Point Unit)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실수형의 종류와 크기</a:t>
            </a:r>
            <a:endParaRPr lang="en-US" altLang="ko-KR" sz="2400" dirty="0"/>
          </a:p>
          <a:p>
            <a:pPr lvl="1"/>
            <a:r>
              <a:rPr lang="en-US" altLang="ko-KR" sz="2000" b="0" dirty="0" err="1"/>
              <a:t>Windows·Linux·macOS</a:t>
            </a:r>
            <a:r>
              <a:rPr lang="ko-KR" altLang="en-US" sz="2000" b="0" dirty="0"/>
              <a:t>는 </a:t>
            </a:r>
            <a:r>
              <a:rPr lang="en-US" altLang="ko-KR" sz="2000" b="0" dirty="0"/>
              <a:t>double</a:t>
            </a:r>
            <a:r>
              <a:rPr lang="ko-KR" altLang="en-US" sz="2000" b="0" dirty="0"/>
              <a:t>을 </a:t>
            </a:r>
            <a:r>
              <a:rPr lang="en-US" altLang="ko-KR" sz="2000" b="0" dirty="0"/>
              <a:t>64</a:t>
            </a:r>
            <a:r>
              <a:rPr lang="ko-KR" altLang="en-US" sz="2000" b="0" dirty="0"/>
              <a:t>비트로 동일</a:t>
            </a:r>
            <a:endParaRPr lang="en-US" altLang="ko-KR" sz="2000" b="0" dirty="0"/>
          </a:p>
          <a:p>
            <a:pPr lvl="1"/>
            <a:r>
              <a:rPr lang="en-US" altLang="ko-KR" sz="2000" b="0" dirty="0"/>
              <a:t>long double</a:t>
            </a:r>
            <a:r>
              <a:rPr lang="ko-KR" altLang="en-US" sz="2000" b="0" dirty="0"/>
              <a:t>은 플랫폼마다 </a:t>
            </a:r>
            <a:r>
              <a:rPr lang="en-US" altLang="ko-KR" sz="2000" b="0" dirty="0"/>
              <a:t>80</a:t>
            </a:r>
            <a:r>
              <a:rPr lang="ko-KR" altLang="en-US" sz="2000" b="0" dirty="0"/>
              <a:t>비트</a:t>
            </a:r>
            <a:r>
              <a:rPr lang="en-US" altLang="ko-KR" sz="2000" b="0" dirty="0"/>
              <a:t>/64</a:t>
            </a:r>
            <a:r>
              <a:rPr lang="ko-KR" altLang="en-US" sz="2000" b="0" dirty="0"/>
              <a:t>비트</a:t>
            </a:r>
            <a:r>
              <a:rPr lang="en-US" altLang="ko-KR" sz="2000" b="0" dirty="0"/>
              <a:t>/128</a:t>
            </a:r>
            <a:r>
              <a:rPr lang="ko-KR" altLang="en-US" sz="2000" b="0" dirty="0"/>
              <a:t>비트 등 다양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57A30D-D37B-9396-F345-B742ACFEAD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B035BA-A019-8D46-597C-C896A0778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232062"/>
              </p:ext>
            </p:extLst>
          </p:nvPr>
        </p:nvGraphicFramePr>
        <p:xfrm>
          <a:off x="539750" y="4310627"/>
          <a:ext cx="8064698" cy="2213998"/>
        </p:xfrm>
        <a:graphic>
          <a:graphicData uri="http://schemas.openxmlformats.org/drawingml/2006/table">
            <a:tbl>
              <a:tblPr/>
              <a:tblGrid>
                <a:gridCol w="1727994">
                  <a:extLst>
                    <a:ext uri="{9D8B030D-6E8A-4147-A177-3AD203B41FA5}">
                      <a16:colId xmlns:a16="http://schemas.microsoft.com/office/drawing/2014/main" val="96463766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820825219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40448505"/>
                    </a:ext>
                  </a:extLst>
                </a:gridCol>
              </a:tblGrid>
              <a:tr h="3574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자료형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크기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641251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float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바이트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단정도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single precision)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963948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double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(8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바이트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배정도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double precision)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520092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 double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 의존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확장 정밀도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extended precision)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475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661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93526-63B2-5C03-B59A-2531887D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3.9.2 IEEE 754 </a:t>
            </a:r>
            <a:r>
              <a:rPr lang="ko-KR" altLang="en-US" b="0" dirty="0"/>
              <a:t>부동소수점 표준 개요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0520E2-B753-4A9B-072B-7D7A0E3BC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/>
              <a:t>IEEE 754</a:t>
            </a:r>
            <a:r>
              <a:rPr lang="ko-KR" altLang="en-US" sz="2400" b="0" dirty="0"/>
              <a:t> 실수 표현</a:t>
            </a:r>
            <a:endParaRPr lang="en-US" altLang="ko-KR" sz="2400" b="0" dirty="0"/>
          </a:p>
          <a:p>
            <a:endParaRPr lang="en-US" altLang="ko-KR" sz="2400" b="0" dirty="0"/>
          </a:p>
          <a:p>
            <a:endParaRPr lang="en-US" altLang="ko-KR" sz="2400" b="0" dirty="0"/>
          </a:p>
          <a:p>
            <a:endParaRPr lang="en-US" altLang="ko-KR" sz="2400" b="0" dirty="0"/>
          </a:p>
          <a:p>
            <a:r>
              <a:rPr lang="en-US" altLang="ko-KR" sz="2400" b="0" dirty="0"/>
              <a:t>32bit </a:t>
            </a:r>
            <a:r>
              <a:rPr lang="ko-KR" altLang="en-US" sz="2400" b="0" dirty="0"/>
              <a:t>부동 소수점 메모리 구조</a:t>
            </a:r>
            <a:endParaRPr lang="en-US" altLang="ko-KR" sz="2400" b="0" dirty="0"/>
          </a:p>
          <a:p>
            <a:endParaRPr lang="en-US" altLang="ko-KR" sz="2400" b="0" dirty="0"/>
          </a:p>
          <a:p>
            <a:endParaRPr lang="en-US" altLang="ko-KR" sz="2400" b="0" dirty="0"/>
          </a:p>
          <a:p>
            <a:endParaRPr lang="en-US" altLang="ko-KR" sz="2400" b="0" dirty="0"/>
          </a:p>
          <a:p>
            <a:r>
              <a:rPr lang="ko-KR" altLang="en-US" sz="2400" b="0" dirty="0"/>
              <a:t>구성 요소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DA94F5-2A92-DC22-41FF-441EEDB663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170" name="Picture 2" descr="AIMATH_FORMULA::v1::N = (-1)^{sign} \times 2^{(exponent - 127)} \times (1 + \frac{mantissa\_bits}{2^{23}})">
            <a:extLst>
              <a:ext uri="{FF2B5EF4-FFF2-40B4-BE49-F238E27FC236}">
                <a16:creationId xmlns:a16="http://schemas.microsoft.com/office/drawing/2014/main" id="{560E2833-27F0-CB39-6548-4BE615D2B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760"/>
            <a:ext cx="689615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8A2F31CA-DE0B-9F4C-8B5A-52C7EECEA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6562"/>
            <a:ext cx="7115175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BC0E87-8821-AF96-0E9C-3F26A67B6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517891"/>
              </p:ext>
            </p:extLst>
          </p:nvPr>
        </p:nvGraphicFramePr>
        <p:xfrm>
          <a:off x="539750" y="4824457"/>
          <a:ext cx="8064698" cy="1727200"/>
        </p:xfrm>
        <a:graphic>
          <a:graphicData uri="http://schemas.openxmlformats.org/drawingml/2006/table">
            <a:tbl>
              <a:tblPr/>
              <a:tblGrid>
                <a:gridCol w="2989391">
                  <a:extLst>
                    <a:ext uri="{9D8B030D-6E8A-4147-A177-3AD203B41FA5}">
                      <a16:colId xmlns:a16="http://schemas.microsoft.com/office/drawing/2014/main" val="513182141"/>
                    </a:ext>
                  </a:extLst>
                </a:gridCol>
                <a:gridCol w="1265351">
                  <a:extLst>
                    <a:ext uri="{9D8B030D-6E8A-4147-A177-3AD203B41FA5}">
                      <a16:colId xmlns:a16="http://schemas.microsoft.com/office/drawing/2014/main" val="1877668614"/>
                    </a:ext>
                  </a:extLst>
                </a:gridCol>
                <a:gridCol w="1439337">
                  <a:extLst>
                    <a:ext uri="{9D8B030D-6E8A-4147-A177-3AD203B41FA5}">
                      <a16:colId xmlns:a16="http://schemas.microsoft.com/office/drawing/2014/main" val="107376094"/>
                    </a:ext>
                  </a:extLst>
                </a:gridCol>
                <a:gridCol w="2370619">
                  <a:extLst>
                    <a:ext uri="{9D8B030D-6E8A-4147-A177-3AD203B41FA5}">
                      <a16:colId xmlns:a16="http://schemas.microsoft.com/office/drawing/2014/main" val="2157749347"/>
                    </a:ext>
                  </a:extLst>
                </a:gridCol>
              </a:tblGrid>
              <a:tr h="2214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 요소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float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double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120160"/>
                  </a:ext>
                </a:extLst>
              </a:tr>
              <a:tr h="2214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부호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sign)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= 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양수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1 = 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음수</a:t>
                      </a:r>
                      <a:endParaRPr lang="ko-KR" alt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841407"/>
                  </a:ext>
                </a:extLst>
              </a:tr>
              <a:tr h="2214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지수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exponent)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지수 승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208253"/>
                  </a:ext>
                </a:extLst>
              </a:tr>
              <a:tr h="2214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가수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fraction, mantissa)</a:t>
                      </a:r>
                      <a:endParaRPr 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소수 부분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59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704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611C0-8E32-DDA7-14B2-35FECC5A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3.9.3 float/double </a:t>
            </a:r>
            <a:r>
              <a:rPr lang="ko-KR" altLang="en-US" b="0" dirty="0"/>
              <a:t>정밀도와 표현 범위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364A600-113D-6C62-58A8-C4D10B228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348748"/>
              </p:ext>
            </p:extLst>
          </p:nvPr>
        </p:nvGraphicFramePr>
        <p:xfrm>
          <a:off x="323627" y="1196752"/>
          <a:ext cx="8496745" cy="4044388"/>
        </p:xfrm>
        <a:graphic>
          <a:graphicData uri="http://schemas.openxmlformats.org/drawingml/2006/table">
            <a:tbl>
              <a:tblPr/>
              <a:tblGrid>
                <a:gridCol w="2918271">
                  <a:extLst>
                    <a:ext uri="{9D8B030D-6E8A-4147-A177-3AD203B41FA5}">
                      <a16:colId xmlns:a16="http://schemas.microsoft.com/office/drawing/2014/main" val="3838826947"/>
                    </a:ext>
                  </a:extLst>
                </a:gridCol>
                <a:gridCol w="2526264">
                  <a:extLst>
                    <a:ext uri="{9D8B030D-6E8A-4147-A177-3AD203B41FA5}">
                      <a16:colId xmlns:a16="http://schemas.microsoft.com/office/drawing/2014/main" val="2021960820"/>
                    </a:ext>
                  </a:extLst>
                </a:gridCol>
                <a:gridCol w="3052210">
                  <a:extLst>
                    <a:ext uri="{9D8B030D-6E8A-4147-A177-3AD203B41FA5}">
                      <a16:colId xmlns:a16="http://schemas.microsoft.com/office/drawing/2014/main" val="3737832151"/>
                    </a:ext>
                  </a:extLst>
                </a:gridCol>
              </a:tblGrid>
              <a:tr h="462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float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단정도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32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double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배정도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64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712180"/>
                  </a:ext>
                </a:extLst>
              </a:tr>
              <a:tr h="5948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 비트 수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비트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142394"/>
                  </a:ext>
                </a:extLst>
              </a:tr>
              <a:tr h="5948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정밀도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6~7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자리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15~16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자리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160193"/>
                  </a:ext>
                </a:extLst>
              </a:tr>
              <a:tr h="5948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지수 범위</a:t>
                      </a:r>
                      <a:endParaRPr lang="ko-KR" altLang="en-US" sz="2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-126 ~ +127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-1022 ~ +1023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212142"/>
                  </a:ext>
                </a:extLst>
              </a:tr>
              <a:tr h="60110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표현 가능한 양수 최소값</a:t>
                      </a:r>
                      <a:endParaRPr lang="ko-KR" altLang="en-US" sz="2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1.18 × 10^⁻38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2.23 × 10^⁻308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319915"/>
                  </a:ext>
                </a:extLst>
              </a:tr>
              <a:tr h="60110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표현 가능한 양수 최대값</a:t>
                      </a:r>
                      <a:endParaRPr lang="ko-KR" altLang="en-US" sz="2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3.40 × 10^38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1.79 × 10^308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200461"/>
                  </a:ext>
                </a:extLst>
              </a:tr>
              <a:tr h="5948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특수값</a:t>
                      </a:r>
                      <a:endParaRPr lang="ko-KR" altLang="en-US" sz="2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±0, ±∞, NaN</a:t>
                      </a:r>
                      <a:endParaRPr 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±0, ±∞, NaN</a:t>
                      </a:r>
                      <a:endParaRPr 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041221"/>
                  </a:ext>
                </a:extLst>
              </a:tr>
            </a:tbl>
          </a:graphicData>
        </a:graphic>
      </p:graphicFrame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EEBC06-0988-F082-AEDA-116516370E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63191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4F90C-3943-5909-ABF3-5EA3156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3.9.4 </a:t>
            </a:r>
            <a:r>
              <a:rPr lang="ko-KR" altLang="en-US" b="0" dirty="0"/>
              <a:t>부동소수점의 </a:t>
            </a:r>
            <a:r>
              <a:rPr lang="ko-KR" altLang="en-US" b="0" dirty="0" err="1"/>
              <a:t>특수값</a:t>
            </a:r>
            <a:r>
              <a:rPr lang="ko-KR" altLang="en-US" b="0" dirty="0"/>
              <a:t> 과 선택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35EF6-BDFD-EB1E-9F2C-43AC36C34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부동소수점의 </a:t>
            </a:r>
            <a:r>
              <a:rPr lang="ko-KR" altLang="en-US" dirty="0" err="1"/>
              <a:t>특수값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float, double </a:t>
            </a:r>
            <a:r>
              <a:rPr lang="ko-KR" altLang="en-US" dirty="0"/>
              <a:t>선택 기준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FD2214-3464-8A37-EAD9-53380DC5F6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1D9C5EC-0BAC-A858-D3A1-D4137B0C3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241069"/>
              </p:ext>
            </p:extLst>
          </p:nvPr>
        </p:nvGraphicFramePr>
        <p:xfrm>
          <a:off x="539750" y="1268760"/>
          <a:ext cx="8208714" cy="1872207"/>
        </p:xfrm>
        <a:graphic>
          <a:graphicData uri="http://schemas.openxmlformats.org/drawingml/2006/table">
            <a:tbl>
              <a:tblPr/>
              <a:tblGrid>
                <a:gridCol w="1504518">
                  <a:extLst>
                    <a:ext uri="{9D8B030D-6E8A-4147-A177-3AD203B41FA5}">
                      <a16:colId xmlns:a16="http://schemas.microsoft.com/office/drawing/2014/main" val="3571669282"/>
                    </a:ext>
                  </a:extLst>
                </a:gridCol>
                <a:gridCol w="6704196">
                  <a:extLst>
                    <a:ext uri="{9D8B030D-6E8A-4147-A177-3AD203B41FA5}">
                      <a16:colId xmlns:a16="http://schemas.microsoft.com/office/drawing/2014/main" val="1428977522"/>
                    </a:ext>
                  </a:extLst>
                </a:gridCol>
              </a:tblGrid>
              <a:tr h="39216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값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282631"/>
                  </a:ext>
                </a:extLst>
              </a:tr>
              <a:tr h="4933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 / -0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부호가 있는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226603"/>
                  </a:ext>
                </a:extLst>
              </a:tr>
              <a:tr h="4933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+∞ / -∞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오버플로우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1/0.0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582517"/>
                  </a:ext>
                </a:extLst>
              </a:tr>
              <a:tr h="4933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NaN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연산 불능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(Not a Number), 0/0,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음수의 제곱근 등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05993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98BBA88-0E77-2787-663B-99C4020F2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37248"/>
              </p:ext>
            </p:extLst>
          </p:nvPr>
        </p:nvGraphicFramePr>
        <p:xfrm>
          <a:off x="567937" y="3861049"/>
          <a:ext cx="8180775" cy="2592344"/>
        </p:xfrm>
        <a:graphic>
          <a:graphicData uri="http://schemas.openxmlformats.org/drawingml/2006/table">
            <a:tbl>
              <a:tblPr/>
              <a:tblGrid>
                <a:gridCol w="1250838">
                  <a:extLst>
                    <a:ext uri="{9D8B030D-6E8A-4147-A177-3AD203B41FA5}">
                      <a16:colId xmlns:a16="http://schemas.microsoft.com/office/drawing/2014/main" val="3476193147"/>
                    </a:ext>
                  </a:extLst>
                </a:gridCol>
                <a:gridCol w="2723920">
                  <a:extLst>
                    <a:ext uri="{9D8B030D-6E8A-4147-A177-3AD203B41FA5}">
                      <a16:colId xmlns:a16="http://schemas.microsoft.com/office/drawing/2014/main" val="1058469782"/>
                    </a:ext>
                  </a:extLst>
                </a:gridCol>
                <a:gridCol w="4206017">
                  <a:extLst>
                    <a:ext uri="{9D8B030D-6E8A-4147-A177-3AD203B41FA5}">
                      <a16:colId xmlns:a16="http://schemas.microsoft.com/office/drawing/2014/main" val="1205694439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float</a:t>
                      </a:r>
                      <a:endParaRPr 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double</a:t>
                      </a:r>
                      <a:endParaRPr 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099063"/>
                  </a:ext>
                </a:extLst>
              </a:tr>
              <a:tr h="4522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메모리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B)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크다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(8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B)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946744"/>
                  </a:ext>
                </a:extLst>
              </a:tr>
              <a:tr h="49418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연산 속도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빠름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특히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GPU·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float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보다 느림</a:t>
                      </a:r>
                      <a:endParaRPr lang="ko-KR" altLang="en-US" sz="180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885989"/>
                  </a:ext>
                </a:extLst>
              </a:tr>
              <a:tr h="59940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정밀도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자리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자리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740801"/>
                  </a:ext>
                </a:extLst>
              </a:tr>
              <a:tr h="67560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 용도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실시간 게임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GPU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연산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물리 시뮬레이션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금융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과학 계산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 누적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084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236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2BD4A-C388-25B8-4DB3-F91B59A7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3.9.6 </a:t>
            </a:r>
            <a:r>
              <a:rPr lang="ko-KR" altLang="en-US" b="0" dirty="0"/>
              <a:t>부동 소수점 주의 사항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1070D8-4361-C09B-42CC-55118AA7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1) NaN</a:t>
            </a:r>
            <a:r>
              <a:rPr lang="ko-KR" altLang="en-US" sz="2000" dirty="0"/>
              <a:t>은 알 수 없음 상태</a:t>
            </a:r>
            <a:r>
              <a:rPr lang="en-US" altLang="ko-KR" sz="2000" dirty="0"/>
              <a:t>. </a:t>
            </a:r>
            <a:r>
              <a:rPr lang="ko-KR" altLang="en-US" sz="2000" dirty="0"/>
              <a:t>어떤 </a:t>
            </a:r>
            <a:r>
              <a:rPr lang="ko-KR" altLang="en-US" sz="2000" dirty="0" err="1"/>
              <a:t>값과도</a:t>
            </a:r>
            <a:r>
              <a:rPr lang="ko-KR" altLang="en-US" sz="2000" dirty="0"/>
              <a:t> 불 일치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2) </a:t>
            </a:r>
            <a:r>
              <a:rPr lang="ko-KR" altLang="en-US" sz="2000" dirty="0"/>
              <a:t>실수형 비교 시 주의사항</a:t>
            </a:r>
          </a:p>
          <a:p>
            <a:pPr lvl="1"/>
            <a:r>
              <a:rPr lang="en-US" altLang="ko-KR" sz="1800" dirty="0"/>
              <a:t>== </a:t>
            </a:r>
            <a:r>
              <a:rPr lang="ko-KR" altLang="en-US" sz="1800" dirty="0"/>
              <a:t>비교는 대부분 실패</a:t>
            </a:r>
            <a:endParaRPr lang="en-US" altLang="ko-KR" sz="1800" dirty="0"/>
          </a:p>
          <a:p>
            <a:pPr lvl="1"/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0C5525-704D-9E2F-B610-A5AC2660E6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24F4E-B5B6-3070-4920-79029DD1A1E5}"/>
              </a:ext>
            </a:extLst>
          </p:cNvPr>
          <p:cNvSpPr txBox="1"/>
          <p:nvPr/>
        </p:nvSpPr>
        <p:spPr>
          <a:xfrm>
            <a:off x="683568" y="1196752"/>
            <a:ext cx="4752528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(x == x)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x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이면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false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9401C-FF6A-C3C1-40D9-85B9EAE491A0}"/>
              </a:ext>
            </a:extLst>
          </p:cNvPr>
          <p:cNvSpPr txBox="1"/>
          <p:nvPr/>
        </p:nvSpPr>
        <p:spPr>
          <a:xfrm>
            <a:off x="683568" y="2708920"/>
            <a:ext cx="4752528" cy="224676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잘못된 예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 == b) { ... }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입실론 값을  사용해서 판단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//...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fabs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 - b) &lt;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1e-6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 ... 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74141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B959-0376-CA27-3C9B-41D8BBB6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07181-C5C3-F69F-914D-09D0E626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3.9.6 </a:t>
            </a:r>
            <a:r>
              <a:rPr lang="ko-KR" altLang="en-US" b="0" dirty="0"/>
              <a:t>부동 소수점 주의 사항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2ECF28-CB92-70FD-EAD9-31204FB07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3) </a:t>
            </a:r>
            <a:r>
              <a:rPr lang="ko-KR" altLang="en-US" sz="2000" dirty="0"/>
              <a:t>부동소수점 연산 규칙의 특징</a:t>
            </a:r>
          </a:p>
          <a:p>
            <a:pPr lvl="1"/>
            <a:r>
              <a:rPr lang="ko-KR" altLang="en-US" sz="1600" dirty="0"/>
              <a:t>오차 누적 순서가 달라지기 때문에 덧셈</a:t>
            </a:r>
            <a:r>
              <a:rPr lang="en-US" altLang="ko-KR" sz="1600" dirty="0"/>
              <a:t>/</a:t>
            </a:r>
            <a:r>
              <a:rPr lang="ko-KR" altLang="en-US" sz="1600" dirty="0"/>
              <a:t>뺄셈은 교환법칙이 성립하지 않음</a:t>
            </a:r>
            <a:endParaRPr lang="en-US" altLang="ko-KR" sz="1600" dirty="0"/>
          </a:p>
          <a:p>
            <a:pPr lvl="1"/>
            <a:r>
              <a:rPr lang="pt-BR" altLang="ko-KR" sz="1600" dirty="0"/>
              <a:t>(a + b) + c ≠ a + (b + c)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062A65-692F-E994-2176-0905F5686A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AAC8C-26BB-36AE-297E-2B470445860C}"/>
              </a:ext>
            </a:extLst>
          </p:cNvPr>
          <p:cNvSpPr txBox="1"/>
          <p:nvPr/>
        </p:nvSpPr>
        <p:spPr>
          <a:xfrm>
            <a:off x="395537" y="1852156"/>
            <a:ext cx="8353176" cy="452431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1e16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-1e16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"%f\n"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(a + b) + c);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800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매우 큰 값과 작은 값을 더할 때</a:t>
            </a:r>
            <a:endParaRPr lang="en-US" altLang="ko-KR" sz="1800" b="0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작은 값이 반올림으로 사라질 수 있음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"%f\n"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 + (b + c));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부동소수점 반복 연산 오차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0.1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은 이진 부동소수점으로 정확한 표현이 안됨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반복 덧셈을 하면 오차가 누적</a:t>
            </a:r>
            <a:endParaRPr lang="en-US" altLang="ko-KR" sz="1800" b="0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stored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stored +=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0.1F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"%f 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stored);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74869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16AA-825F-BB65-B05E-9C82A05E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F2FB1-F061-089F-3BE8-AA76711F0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3.9.6 </a:t>
            </a:r>
            <a:r>
              <a:rPr lang="ko-KR" altLang="en-US" b="0" dirty="0"/>
              <a:t>부동 소수점 주의 사항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41709-E4BA-E5E2-9A4B-D311CC16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4) </a:t>
            </a:r>
            <a:r>
              <a:rPr lang="ko-KR" altLang="en-US" sz="2000" dirty="0"/>
              <a:t>정수형과 혼합 연산할 때 주의</a:t>
            </a:r>
          </a:p>
          <a:p>
            <a:pPr lvl="1"/>
            <a:r>
              <a:rPr lang="ko-KR" altLang="en-US" sz="1600" dirty="0"/>
              <a:t>실수형 정밀도 제한 → 일정 범위 정수만 정확히 표현</a:t>
            </a:r>
            <a:endParaRPr lang="en-US" altLang="ko-KR" sz="1600" dirty="0"/>
          </a:p>
          <a:p>
            <a:pPr lvl="1"/>
            <a:r>
              <a:rPr lang="ko-KR" altLang="en-US" sz="1600" dirty="0"/>
              <a:t>예</a:t>
            </a:r>
            <a:r>
              <a:rPr lang="en-US" altLang="ko-KR" sz="1600" dirty="0"/>
              <a:t>) float</a:t>
            </a:r>
            <a:r>
              <a:rPr lang="ko-KR" altLang="en-US" sz="1600" dirty="0"/>
              <a:t> → 약 </a:t>
            </a:r>
            <a:r>
              <a:rPr lang="en-US" altLang="ko-KR" sz="1600" dirty="0"/>
              <a:t>7 </a:t>
            </a:r>
            <a:r>
              <a:rPr lang="ko-KR" altLang="en-US" sz="1600" dirty="0" err="1"/>
              <a:t>자리까지만</a:t>
            </a:r>
            <a:r>
              <a:rPr lang="ko-KR" altLang="en-US" sz="1600" dirty="0"/>
              <a:t> 정확히 표현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F01024-CD6A-13BC-B0CC-DECC18DD30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02528-52CB-45CA-2697-AF98D7B44E45}"/>
              </a:ext>
            </a:extLst>
          </p:cNvPr>
          <p:cNvSpPr txBox="1"/>
          <p:nvPr/>
        </p:nvSpPr>
        <p:spPr>
          <a:xfrm>
            <a:off x="539749" y="1896060"/>
            <a:ext cx="8208963" cy="163121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1234567890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 = 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int → float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변환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정밀도 손실 가능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"int  : %d\n"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"float: %.0f\n"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f);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반올림된 값 출력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4036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2DB41-CF78-39B6-D7BB-9E3BD3C3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3.10 enum </a:t>
            </a:r>
            <a:r>
              <a:rPr lang="ko-KR" altLang="en-US" b="0" dirty="0"/>
              <a:t>형 </a:t>
            </a:r>
            <a:r>
              <a:rPr lang="en-US" altLang="ko-KR" b="0" dirty="0"/>
              <a:t>(</a:t>
            </a:r>
            <a:r>
              <a:rPr lang="ko-KR" altLang="en-US" b="0" dirty="0"/>
              <a:t>열거형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B109C0-DA55-29B9-E025-7AFCB143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enum</a:t>
            </a:r>
          </a:p>
          <a:p>
            <a:pPr lvl="1"/>
            <a:r>
              <a:rPr lang="ko-KR" altLang="en-US" dirty="0"/>
              <a:t>사용자가 정의한 의미 있는 이름을 가진 정수 상수들의 집합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4C3F10-EAFE-9988-AC2B-D7E40C0CC2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0D334-5E9D-3E3B-3720-F1AA06600B6C}"/>
              </a:ext>
            </a:extLst>
          </p:cNvPr>
          <p:cNvSpPr txBox="1"/>
          <p:nvPr/>
        </p:nvSpPr>
        <p:spPr>
          <a:xfrm>
            <a:off x="611560" y="2132856"/>
            <a:ext cx="7920880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Direction { LEFT, RIGHT, UP, DOWN };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GAME_STATE { NONE, BEGIN, PLAY, END };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9906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6E094-0EE1-5A58-25A2-4B814AEB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3.11 </a:t>
            </a:r>
            <a:r>
              <a:rPr lang="ko-KR" altLang="en-US" b="0" dirty="0"/>
              <a:t>배열 형 </a:t>
            </a:r>
            <a:r>
              <a:rPr lang="en-US" altLang="ko-KR" b="0" dirty="0"/>
              <a:t>(Array)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DE8BBB-6110-10BE-EE74-BA62D6E9C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배열형</a:t>
            </a:r>
            <a:endParaRPr lang="en-US" altLang="ko-KR" sz="2400" dirty="0"/>
          </a:p>
          <a:p>
            <a:pPr lvl="1"/>
            <a:r>
              <a:rPr lang="ko-KR" altLang="en-US" sz="2000" dirty="0"/>
              <a:t>기본 자료형 기반 파생형 자료구조</a:t>
            </a:r>
            <a:endParaRPr lang="en-US" altLang="ko-KR" sz="2000" dirty="0"/>
          </a:p>
          <a:p>
            <a:pPr lvl="1"/>
            <a:r>
              <a:rPr lang="ko-KR" altLang="en-US" sz="2000" dirty="0"/>
              <a:t>동일한 자료형의 값을 연속된 메모리 공간에 저장하는 자료 구조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특징</a:t>
            </a:r>
          </a:p>
          <a:p>
            <a:pPr lvl="1"/>
            <a:r>
              <a:rPr lang="ko-KR" altLang="en-US" sz="2000" dirty="0"/>
              <a:t>하나의 이름으로 여러 데이터를 관리</a:t>
            </a:r>
          </a:p>
          <a:p>
            <a:pPr lvl="1"/>
            <a:r>
              <a:rPr lang="ko-KR" altLang="en-US" sz="2000" dirty="0"/>
              <a:t>같은 자료형만 저장 가능</a:t>
            </a:r>
          </a:p>
          <a:p>
            <a:pPr lvl="1"/>
            <a:r>
              <a:rPr lang="ko-KR" altLang="en-US" sz="2000" dirty="0"/>
              <a:t>다수의 데이터를 처리할 때 유용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4B67C2-8B70-4635-D50D-84F8990E6A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E5742-B3B3-E294-9695-D64C19350790}"/>
              </a:ext>
            </a:extLst>
          </p:cNvPr>
          <p:cNvSpPr txBox="1"/>
          <p:nvPr/>
        </p:nvSpPr>
        <p:spPr>
          <a:xfrm>
            <a:off x="683568" y="4221088"/>
            <a:ext cx="6480720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items[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846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4B4B1-2EEA-B683-ECA5-1492A1DE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3.12 </a:t>
            </a:r>
            <a:r>
              <a:rPr lang="ko-KR" altLang="en-US" b="0" dirty="0"/>
              <a:t>포인터형 </a:t>
            </a:r>
            <a:r>
              <a:rPr lang="en-US" altLang="ko-KR" b="0" dirty="0"/>
              <a:t>(Pointer)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F77B3-35F2-D3D5-147F-CE4F1D4B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포인터</a:t>
            </a:r>
            <a:endParaRPr lang="en-US" altLang="ko-KR" sz="2400" dirty="0"/>
          </a:p>
          <a:p>
            <a:pPr lvl="1"/>
            <a:r>
              <a:rPr lang="ko-KR" altLang="en-US" sz="2000" dirty="0"/>
              <a:t>파생형 자료구조</a:t>
            </a:r>
            <a:endParaRPr lang="en-US" altLang="ko-KR" sz="2000" dirty="0"/>
          </a:p>
          <a:p>
            <a:pPr lvl="1"/>
            <a:r>
              <a:rPr lang="ko-KR" altLang="en-US" sz="2000" dirty="0"/>
              <a:t>메모리의 </a:t>
            </a:r>
            <a:r>
              <a:rPr lang="en-US" altLang="ko-KR" sz="2000" dirty="0"/>
              <a:t>"</a:t>
            </a:r>
            <a:r>
              <a:rPr lang="ko-KR" altLang="en-US" sz="2000" dirty="0"/>
              <a:t>주소</a:t>
            </a:r>
            <a:r>
              <a:rPr lang="en-US" altLang="ko-KR" sz="2000" dirty="0"/>
              <a:t>(address)" </a:t>
            </a:r>
            <a:r>
              <a:rPr lang="ko-KR" altLang="en-US" sz="2000" dirty="0"/>
              <a:t>를 저장하는 자료형</a:t>
            </a:r>
            <a:endParaRPr lang="en-US" altLang="ko-KR" sz="2000" dirty="0"/>
          </a:p>
          <a:p>
            <a:pPr lvl="1"/>
            <a:r>
              <a:rPr lang="ko-KR" altLang="en-US" sz="2000" dirty="0"/>
              <a:t>값이 저장된 메모리 위치를 가리킴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void* (</a:t>
            </a:r>
            <a:r>
              <a:rPr lang="ko-KR" altLang="en-US" sz="2400" dirty="0"/>
              <a:t>범용 포인터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어떤 자료형의 주소도 저장 가능</a:t>
            </a:r>
          </a:p>
          <a:p>
            <a:pPr lvl="1"/>
            <a:r>
              <a:rPr lang="ko-KR" altLang="en-US" sz="2000" dirty="0"/>
              <a:t>자료형이 정해지지 않아 직접 값 접근 불가</a:t>
            </a:r>
          </a:p>
          <a:p>
            <a:pPr lvl="1"/>
            <a:r>
              <a:rPr lang="ko-KR" altLang="en-US" sz="2000" dirty="0"/>
              <a:t>사용 시 적절한 포인터 타입으로 캐스팅 필요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74A772-6D09-B21F-CB15-2678935305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BAF27-8BAF-51CD-73A9-79F137F05AFF}"/>
              </a:ext>
            </a:extLst>
          </p:cNvPr>
          <p:cNvSpPr txBox="1"/>
          <p:nvPr/>
        </p:nvSpPr>
        <p:spPr>
          <a:xfrm>
            <a:off x="683568" y="4625260"/>
            <a:ext cx="4572000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 = &amp;x;</a:t>
            </a:r>
            <a:endParaRPr lang="ko-KR" altLang="en-US" sz="18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0C477-7BE4-832F-B91E-CE4DCD5E2CA0}"/>
              </a:ext>
            </a:extLst>
          </p:cNvPr>
          <p:cNvSpPr txBox="1"/>
          <p:nvPr/>
        </p:nvSpPr>
        <p:spPr>
          <a:xfrm>
            <a:off x="683568" y="5086925"/>
            <a:ext cx="7704856" cy="64633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vp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&amp;x;    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어떤 자료형의 주소 든 저장 가능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 = *(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vp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void* → int*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로 캐스팅 후 값 읽기</a:t>
            </a:r>
            <a:endParaRPr lang="ko-KR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87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8B9A8-FBB8-51DD-652E-21D5D2C24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3.13 </a:t>
            </a:r>
            <a:r>
              <a:rPr lang="ko-KR" altLang="en-US" b="0" dirty="0"/>
              <a:t>구조체</a:t>
            </a:r>
            <a:r>
              <a:rPr lang="en-US" altLang="ko-KR" b="0" dirty="0"/>
              <a:t>(struct)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25C9A-E2C8-1AED-B5B2-E8EA05D34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구조체 </a:t>
            </a:r>
            <a:r>
              <a:rPr lang="en-US" altLang="ko-KR" sz="2400" dirty="0"/>
              <a:t>(struct)</a:t>
            </a:r>
          </a:p>
          <a:p>
            <a:pPr lvl="1"/>
            <a:r>
              <a:rPr lang="ko-KR" altLang="en-US" sz="2000" dirty="0"/>
              <a:t>서로 다른 자료형을 하나의 묶음으로 구성하는 사용자 정의 자료형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특징</a:t>
            </a:r>
          </a:p>
          <a:p>
            <a:pPr lvl="1"/>
            <a:r>
              <a:rPr lang="ko-KR" altLang="en-US" sz="2000" dirty="0"/>
              <a:t>여러 데이터를 하나의 단위로 관리</a:t>
            </a:r>
          </a:p>
          <a:p>
            <a:pPr lvl="1"/>
            <a:r>
              <a:rPr lang="ko-KR" altLang="en-US" sz="2000" dirty="0"/>
              <a:t>각 멤버는 독립된 메모리 공간을 가짐</a:t>
            </a:r>
          </a:p>
          <a:p>
            <a:pPr lvl="1"/>
            <a:r>
              <a:rPr lang="ko-KR" altLang="en-US" sz="2000" dirty="0"/>
              <a:t>서로 다른 자료형을 하나로 결합 가능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E58422-9E3D-1222-01E7-10DA9EAE4D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6B0BA-5218-5A49-85A1-483A5D9A958C}"/>
              </a:ext>
            </a:extLst>
          </p:cNvPr>
          <p:cNvSpPr txBox="1"/>
          <p:nvPr/>
        </p:nvSpPr>
        <p:spPr>
          <a:xfrm>
            <a:off x="611560" y="3933056"/>
            <a:ext cx="5544418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endParaRPr lang="en-US" altLang="ko-KR" b="0" dirty="0">
              <a:effectLst/>
            </a:endParaRPr>
          </a:p>
          <a:p>
            <a:pPr>
              <a:buNone/>
            </a:pP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hp;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speed;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5398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E1737-C6C6-CEAA-C0DB-49FD0232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3.14 </a:t>
            </a:r>
            <a:r>
              <a:rPr lang="ko-KR" altLang="en-US" b="0" dirty="0"/>
              <a:t>공용체</a:t>
            </a:r>
            <a:r>
              <a:rPr lang="en-US" altLang="ko-KR" b="0" dirty="0"/>
              <a:t>(union)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54653A-E46B-3572-3E50-49947AFE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공용체</a:t>
            </a:r>
            <a:endParaRPr lang="en-US" altLang="ko-KR" sz="2400" dirty="0"/>
          </a:p>
          <a:p>
            <a:pPr lvl="1"/>
            <a:r>
              <a:rPr lang="ko-KR" altLang="en-US" sz="2000" dirty="0"/>
              <a:t>여러 자료형이 하나의 메모리 공간을 공유하는 사용자 정의 자료형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특징</a:t>
            </a:r>
          </a:p>
          <a:p>
            <a:pPr lvl="1"/>
            <a:r>
              <a:rPr lang="ko-KR" altLang="en-US" sz="2000" dirty="0"/>
              <a:t>모든 멤버가 같은 메모리 영역 사용</a:t>
            </a:r>
          </a:p>
          <a:p>
            <a:pPr lvl="1"/>
            <a:r>
              <a:rPr lang="ko-KR" altLang="en-US" sz="2000" dirty="0"/>
              <a:t>동시에 하나의 멤버만 유효</a:t>
            </a:r>
          </a:p>
          <a:p>
            <a:pPr lvl="1"/>
            <a:r>
              <a:rPr lang="ko-KR" altLang="en-US" sz="2000" dirty="0"/>
              <a:t>크기 → 가장 큰 멤버 기준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5A4E2F-E54E-AF19-6128-2F2C7430D5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254983-81A6-533F-ED24-E76FCB52C775}"/>
              </a:ext>
            </a:extLst>
          </p:cNvPr>
          <p:cNvSpPr txBox="1"/>
          <p:nvPr/>
        </p:nvSpPr>
        <p:spPr>
          <a:xfrm>
            <a:off x="683568" y="3861048"/>
            <a:ext cx="4572000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Data 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6684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89AD6-E61F-3529-8C11-EE62B4B0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3.15 typedef (</a:t>
            </a:r>
            <a:r>
              <a:rPr lang="ko-KR" altLang="en-US" dirty="0"/>
              <a:t>형 별칭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16647-5756-71B4-1FCC-99282FED1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typedef (</a:t>
            </a:r>
            <a:r>
              <a:rPr lang="ko-KR" altLang="en-US" sz="2400" dirty="0"/>
              <a:t>형 별칭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기존 자료형에 새로운 이름</a:t>
            </a:r>
            <a:r>
              <a:rPr lang="en-US" altLang="ko-KR" sz="2000" dirty="0"/>
              <a:t>(</a:t>
            </a:r>
            <a:r>
              <a:rPr lang="ko-KR" altLang="en-US" sz="2000" dirty="0"/>
              <a:t>별칭</a:t>
            </a:r>
            <a:r>
              <a:rPr lang="en-US" altLang="ko-KR" sz="2000" dirty="0"/>
              <a:t>, alias)</a:t>
            </a:r>
            <a:r>
              <a:rPr lang="ko-KR" altLang="en-US" sz="2000" dirty="0"/>
              <a:t> 을 부여하는 기능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특징</a:t>
            </a:r>
          </a:p>
          <a:p>
            <a:pPr lvl="1"/>
            <a:r>
              <a:rPr lang="ko-KR" altLang="en-US" sz="2000" dirty="0"/>
              <a:t>새로운 자료형을 만드는 것이 아니라 기존 자료형의 이름을 재정의</a:t>
            </a:r>
          </a:p>
          <a:p>
            <a:pPr lvl="1"/>
            <a:r>
              <a:rPr lang="ko-KR" altLang="en-US" sz="2000" dirty="0"/>
              <a:t>복잡한 선언을 읽기 쉽고 관리하기 쉽게 만듦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8761C7-0E35-1E6F-AF82-2E7C695AC2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D5A1F-C257-4D62-2860-8EFE6C008E3F}"/>
              </a:ext>
            </a:extLst>
          </p:cNvPr>
          <p:cNvSpPr txBox="1"/>
          <p:nvPr/>
        </p:nvSpPr>
        <p:spPr>
          <a:xfrm>
            <a:off x="755576" y="3356992"/>
            <a:ext cx="7056784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UINT;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Money;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CHUNK[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PPLAYER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31829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CE4BB-F905-89C2-3028-556A0380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3.16 </a:t>
            </a:r>
            <a:r>
              <a:rPr lang="ko-KR" altLang="en-US" b="0" dirty="0"/>
              <a:t>상수</a:t>
            </a:r>
            <a:r>
              <a:rPr lang="en-US" altLang="ko-KR" b="0" dirty="0"/>
              <a:t>(Constant)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1B0EB-C27F-242B-EAAC-856352DF0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상수</a:t>
            </a:r>
            <a:r>
              <a:rPr lang="en-US" altLang="ko-KR" dirty="0"/>
              <a:t>(Constant)</a:t>
            </a:r>
          </a:p>
          <a:p>
            <a:pPr lvl="1"/>
            <a:r>
              <a:rPr lang="ko-KR" altLang="en-US" dirty="0"/>
              <a:t>프로그램 실행 동안 값이 변하지 않는 데이터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읽기 전용</a:t>
            </a:r>
            <a:r>
              <a:rPr lang="en-US" altLang="ko-KR" dirty="0"/>
              <a:t>(Read-only) </a:t>
            </a:r>
            <a:r>
              <a:rPr lang="ko-KR" altLang="en-US" dirty="0"/>
              <a:t>값</a:t>
            </a:r>
          </a:p>
          <a:p>
            <a:pPr lvl="1"/>
            <a:r>
              <a:rPr lang="ko-KR" altLang="en-US" dirty="0"/>
              <a:t>값 변경 방지 → 코드 안정성 향상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상수의 종류</a:t>
            </a:r>
          </a:p>
          <a:p>
            <a:pPr lvl="1"/>
            <a:r>
              <a:rPr lang="ko-KR" altLang="en-US" dirty="0"/>
              <a:t>기호 상수 </a:t>
            </a:r>
            <a:r>
              <a:rPr lang="en-US" altLang="ko-KR" dirty="0"/>
              <a:t>(Symbolic Constant)</a:t>
            </a:r>
          </a:p>
          <a:p>
            <a:pPr lvl="1"/>
            <a:r>
              <a:rPr lang="ko-KR" altLang="en-US" dirty="0"/>
              <a:t>리터럴 상수 </a:t>
            </a:r>
            <a:r>
              <a:rPr lang="en-US" altLang="ko-KR" dirty="0"/>
              <a:t>(Literal Constant)</a:t>
            </a:r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908EF0-0C26-8B77-DC07-6770EA2C98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948751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7DA87-9790-539C-57FF-FA93CC9D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3.16.1 </a:t>
            </a:r>
            <a:r>
              <a:rPr lang="ko-KR" altLang="en-US" b="0" dirty="0"/>
              <a:t>기호</a:t>
            </a:r>
            <a:r>
              <a:rPr lang="en-US" altLang="ko-KR" b="0" dirty="0"/>
              <a:t>(Symbolic) </a:t>
            </a:r>
            <a:r>
              <a:rPr lang="ko-KR" altLang="en-US" b="0" dirty="0"/>
              <a:t>상수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49430A-C75C-F95F-4904-2CA2D71BC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기호 상수 </a:t>
            </a:r>
            <a:r>
              <a:rPr lang="en-US" altLang="ko-KR" sz="2000" dirty="0"/>
              <a:t>(Symbolic Constant)</a:t>
            </a:r>
          </a:p>
          <a:p>
            <a:pPr lvl="1"/>
            <a:r>
              <a:rPr lang="ko-KR" altLang="en-US" sz="1800" dirty="0"/>
              <a:t>값 대신 의미 있는 이름을 사용하는 상수</a:t>
            </a:r>
          </a:p>
          <a:p>
            <a:r>
              <a:rPr lang="ko-KR" altLang="en-US" sz="2000" dirty="0"/>
              <a:t>형태</a:t>
            </a:r>
          </a:p>
          <a:p>
            <a:pPr lvl="1"/>
            <a:r>
              <a:rPr lang="en-US" altLang="ko-KR" sz="1800" dirty="0"/>
              <a:t>const </a:t>
            </a:r>
            <a:r>
              <a:rPr lang="ko-KR" altLang="en-US" sz="1800" dirty="0"/>
              <a:t>상수</a:t>
            </a:r>
            <a:r>
              <a:rPr lang="en-US" altLang="ko-KR" sz="1800" dirty="0"/>
              <a:t>, </a:t>
            </a:r>
            <a:r>
              <a:rPr lang="ko-KR" altLang="en-US" sz="1800" dirty="0"/>
              <a:t>매크로 상수 </a:t>
            </a:r>
            <a:r>
              <a:rPr lang="en-US" altLang="ko-KR" sz="1800" dirty="0"/>
              <a:t>(#define)</a:t>
            </a:r>
            <a:endParaRPr lang="en-US" altLang="ko-KR" sz="2000" dirty="0"/>
          </a:p>
          <a:p>
            <a:r>
              <a:rPr lang="en-US" altLang="ko-KR" sz="2000" dirty="0"/>
              <a:t>const </a:t>
            </a:r>
            <a:r>
              <a:rPr lang="ko-KR" altLang="en-US" sz="2000" dirty="0"/>
              <a:t>상수</a:t>
            </a:r>
          </a:p>
          <a:p>
            <a:pPr lvl="1"/>
            <a:r>
              <a:rPr lang="ko-KR" altLang="en-US" sz="1800" dirty="0"/>
              <a:t>읽기 전용 변수</a:t>
            </a:r>
            <a:r>
              <a:rPr lang="en-US" altLang="ko-KR" sz="1800" dirty="0"/>
              <a:t>. </a:t>
            </a:r>
            <a:r>
              <a:rPr lang="ko-KR" altLang="en-US" sz="1800" dirty="0"/>
              <a:t>선언 시 초기값 필요</a:t>
            </a:r>
            <a:r>
              <a:rPr lang="en-US" altLang="ko-KR" sz="1800" dirty="0"/>
              <a:t>. </a:t>
            </a:r>
            <a:r>
              <a:rPr lang="ko-KR" altLang="en-US" sz="1800" dirty="0"/>
              <a:t>이후 값 변경 시 컴파일 오류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ko-KR" altLang="en-US" sz="2200" dirty="0"/>
              <a:t>매크로 상수</a:t>
            </a:r>
            <a:endParaRPr lang="en-US" altLang="ko-KR" sz="2200" dirty="0"/>
          </a:p>
          <a:p>
            <a:pPr lvl="1"/>
            <a:r>
              <a:rPr lang="ko-KR" altLang="en-US" sz="1800" dirty="0"/>
              <a:t>전처리기</a:t>
            </a:r>
            <a:r>
              <a:rPr lang="en-US" altLang="ko-KR" sz="1800" dirty="0"/>
              <a:t>(preprocessor) </a:t>
            </a:r>
            <a:r>
              <a:rPr lang="ko-KR" altLang="en-US" sz="1800" dirty="0"/>
              <a:t>단계에서 처리</a:t>
            </a:r>
          </a:p>
          <a:p>
            <a:pPr lvl="1"/>
            <a:r>
              <a:rPr lang="ko-KR" altLang="en-US" sz="1800" dirty="0"/>
              <a:t>컴파일 전에 단순 치환</a:t>
            </a:r>
            <a:endParaRPr lang="en-US" altLang="ko-KR" sz="1800" dirty="0"/>
          </a:p>
          <a:p>
            <a:pPr lvl="1"/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D2D0B3-4811-4F8D-9FEB-9109E2AEB7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282DF-BEB7-131B-97EF-880D49CACB36}"/>
              </a:ext>
            </a:extLst>
          </p:cNvPr>
          <p:cNvSpPr txBox="1"/>
          <p:nvPr/>
        </p:nvSpPr>
        <p:spPr>
          <a:xfrm>
            <a:off x="963236" y="3314601"/>
            <a:ext cx="5264948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PrintMessage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msg)</a:t>
            </a:r>
            <a:endParaRPr lang="en-US" altLang="ko-KR" sz="2000" b="0" dirty="0">
              <a:effectLst/>
            </a:endParaRPr>
          </a:p>
          <a:p>
            <a:pPr>
              <a:buNone/>
            </a:pP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msg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를 변경할 수 없음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E7BCAA-8369-F307-A1A2-2B2F0DDEC907}"/>
              </a:ext>
            </a:extLst>
          </p:cNvPr>
          <p:cNvSpPr txBox="1"/>
          <p:nvPr/>
        </p:nvSpPr>
        <p:spPr>
          <a:xfrm>
            <a:off x="971600" y="2852936"/>
            <a:ext cx="5264948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MAX_WIDTH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E0B16-05F8-8F1F-CCEA-8AE70F65B57F}"/>
              </a:ext>
            </a:extLst>
          </p:cNvPr>
          <p:cNvSpPr txBox="1"/>
          <p:nvPr/>
        </p:nvSpPr>
        <p:spPr>
          <a:xfrm>
            <a:off x="3419872" y="5724405"/>
            <a:ext cx="3816424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#define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MAX_ITEM 128</a:t>
            </a:r>
            <a:endParaRPr lang="en-US" altLang="ko-KR" b="0" dirty="0">
              <a:effectLst/>
            </a:endParaRPr>
          </a:p>
          <a:p>
            <a:pPr>
              <a:buNone/>
            </a:pP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#define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MAX_LENGTH 32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005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526C0-8D6D-2CA6-E798-40568342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BC195-C9B9-8BF0-5AE6-8E6FBFD3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3.16.2 </a:t>
            </a:r>
            <a:r>
              <a:rPr lang="ko-KR" altLang="en-US" b="0" dirty="0"/>
              <a:t>리터럴</a:t>
            </a:r>
            <a:r>
              <a:rPr lang="en-US" altLang="ko-KR" b="0" dirty="0"/>
              <a:t>(Literal)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B4DC8-54D7-D9BF-4ECA-FFB8C662D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리터럴</a:t>
            </a:r>
            <a:endParaRPr lang="en-US" altLang="ko-KR" dirty="0"/>
          </a:p>
          <a:p>
            <a:pPr lvl="1"/>
            <a:r>
              <a:rPr lang="ko-KR" altLang="en-US" dirty="0"/>
              <a:t>코드에 직접 작성된 값 자체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종류</a:t>
            </a:r>
          </a:p>
          <a:p>
            <a:pPr lvl="1"/>
            <a:r>
              <a:rPr lang="ko-KR" altLang="en-US" dirty="0"/>
              <a:t>정수 리터럴</a:t>
            </a:r>
            <a:r>
              <a:rPr lang="en-US" altLang="ko-KR" dirty="0"/>
              <a:t>, </a:t>
            </a:r>
            <a:r>
              <a:rPr lang="ko-KR" altLang="en-US" dirty="0"/>
              <a:t>실수 리터럴</a:t>
            </a:r>
            <a:r>
              <a:rPr lang="en-US" altLang="ko-KR" dirty="0"/>
              <a:t>, </a:t>
            </a:r>
            <a:r>
              <a:rPr lang="ko-KR" altLang="en-US" dirty="0"/>
              <a:t>문자 리터럴</a:t>
            </a:r>
            <a:r>
              <a:rPr lang="en-US" altLang="ko-KR" dirty="0"/>
              <a:t>, </a:t>
            </a:r>
            <a:r>
              <a:rPr lang="ko-KR" altLang="en-US" dirty="0"/>
              <a:t>문자열 리터럴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기본 규칙</a:t>
            </a:r>
          </a:p>
          <a:p>
            <a:pPr lvl="1"/>
            <a:r>
              <a:rPr lang="ko-KR" altLang="en-US" sz="2000" dirty="0"/>
              <a:t>소수점 없음 → 정수 리터럴</a:t>
            </a:r>
          </a:p>
          <a:p>
            <a:pPr lvl="1"/>
            <a:r>
              <a:rPr lang="ko-KR" altLang="en-US" sz="2000" dirty="0"/>
              <a:t>소수점 있음 → </a:t>
            </a:r>
            <a:r>
              <a:rPr lang="en-US" altLang="ko-KR" sz="2000" dirty="0"/>
              <a:t>double </a:t>
            </a:r>
            <a:r>
              <a:rPr lang="ko-KR" altLang="en-US" sz="2000" dirty="0"/>
              <a:t>리터럴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dirty="0"/>
              <a:t>지수형 리터럴</a:t>
            </a:r>
          </a:p>
          <a:p>
            <a:pPr lvl="1"/>
            <a:r>
              <a:rPr lang="en-US" altLang="ko-KR" sz="2000" dirty="0"/>
              <a:t>e</a:t>
            </a:r>
            <a:r>
              <a:rPr lang="ko-KR" altLang="en-US" sz="2000" dirty="0"/>
              <a:t> 또는 </a:t>
            </a:r>
            <a:r>
              <a:rPr lang="en-US" altLang="ko-KR" sz="2000" dirty="0"/>
              <a:t>E</a:t>
            </a:r>
            <a:r>
              <a:rPr lang="ko-KR" altLang="en-US" sz="2000" dirty="0"/>
              <a:t> 사용</a:t>
            </a:r>
          </a:p>
          <a:p>
            <a:pPr lvl="2"/>
            <a:r>
              <a:rPr lang="en-US" altLang="ko-KR" sz="1600" dirty="0"/>
              <a:t>1.23e3  → 1.23 × 10³</a:t>
            </a:r>
          </a:p>
          <a:p>
            <a:pPr lvl="2"/>
            <a:r>
              <a:rPr lang="en-US" altLang="ko-KR" sz="1600" dirty="0"/>
              <a:t>5.0e-2  → 5.0 × 10</a:t>
            </a:r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C2E41D-1A29-7A69-7E66-A2D00D900D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157146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E0633-C208-0011-5942-3762B43B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0539E-06B0-B3F3-7436-84E2AE66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3.16.2 </a:t>
            </a:r>
            <a:r>
              <a:rPr lang="ko-KR" altLang="en-US" b="0" dirty="0"/>
              <a:t>리터럴</a:t>
            </a:r>
            <a:r>
              <a:rPr lang="en-US" altLang="ko-KR" b="0" dirty="0"/>
              <a:t>(Literal)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FD63B5-1263-F499-757D-C1BE11391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리터럴 접두사</a:t>
            </a:r>
            <a:r>
              <a:rPr lang="en-US" altLang="ko-KR" dirty="0"/>
              <a:t>(Prefix)·</a:t>
            </a:r>
            <a:r>
              <a:rPr lang="ko-KR" altLang="en-US" dirty="0"/>
              <a:t>접미사</a:t>
            </a:r>
            <a:r>
              <a:rPr lang="en-US" altLang="ko-KR" dirty="0"/>
              <a:t>(Suffix)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6EE9B2-5E42-5295-067C-E2AA2B8CDB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AEDEC2-76BF-D327-462A-317066900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325532"/>
              </p:ext>
            </p:extLst>
          </p:nvPr>
        </p:nvGraphicFramePr>
        <p:xfrm>
          <a:off x="539750" y="1412776"/>
          <a:ext cx="8064698" cy="4968552"/>
        </p:xfrm>
        <a:graphic>
          <a:graphicData uri="http://schemas.openxmlformats.org/drawingml/2006/table">
            <a:tbl>
              <a:tblPr/>
              <a:tblGrid>
                <a:gridCol w="1326868">
                  <a:extLst>
                    <a:ext uri="{9D8B030D-6E8A-4147-A177-3AD203B41FA5}">
                      <a16:colId xmlns:a16="http://schemas.microsoft.com/office/drawing/2014/main" val="2306195764"/>
                    </a:ext>
                  </a:extLst>
                </a:gridCol>
                <a:gridCol w="1327148">
                  <a:extLst>
                    <a:ext uri="{9D8B030D-6E8A-4147-A177-3AD203B41FA5}">
                      <a16:colId xmlns:a16="http://schemas.microsoft.com/office/drawing/2014/main" val="384054970"/>
                    </a:ext>
                  </a:extLst>
                </a:gridCol>
                <a:gridCol w="3062650">
                  <a:extLst>
                    <a:ext uri="{9D8B030D-6E8A-4147-A177-3AD203B41FA5}">
                      <a16:colId xmlns:a16="http://schemas.microsoft.com/office/drawing/2014/main" val="2501905559"/>
                    </a:ext>
                  </a:extLst>
                </a:gridCol>
                <a:gridCol w="2348032">
                  <a:extLst>
                    <a:ext uri="{9D8B030D-6E8A-4147-A177-3AD203B41FA5}">
                      <a16:colId xmlns:a16="http://schemas.microsoft.com/office/drawing/2014/main" val="2585594975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종류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형태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62179"/>
                  </a:ext>
                </a:extLst>
              </a:tr>
              <a:tr h="414046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접두사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0b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C23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0b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1011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68493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진수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77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689633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진수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28202"/>
                  </a:ext>
                </a:extLst>
              </a:tr>
              <a:tr h="414046">
                <a:tc rowSpan="8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접미사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 / U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unsigned int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U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847512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 / L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20127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ul / UL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unsigned long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UL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48246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ll / LL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 long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</a:t>
                      </a: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LL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874453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없음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소수점 없음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signed int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256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451595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소수점 있음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double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3.14</a:t>
                      </a:r>
                      <a:endParaRPr lang="ko-KR" alt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683415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 / F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float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3.14</a:t>
                      </a: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3.14</a:t>
                      </a:r>
                      <a:r>
                        <a:rPr lang="en-US" altLang="ko-KR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569278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 / L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long double</a:t>
                      </a:r>
                      <a:endParaRPr lang="en-US" sz="1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1.23</a:t>
                      </a:r>
                      <a:r>
                        <a:rPr lang="en-US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495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995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89CB2-75B2-4FFE-DF3E-A3EA134A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3.16.2 </a:t>
            </a:r>
            <a:r>
              <a:rPr lang="ko-KR" altLang="en-US" b="0" dirty="0"/>
              <a:t>리터럴</a:t>
            </a:r>
            <a:r>
              <a:rPr lang="en-US" altLang="ko-KR" b="0" dirty="0"/>
              <a:t>(Literal)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369B1A5-7750-ECEE-12AA-9096DDC2A1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F5F53-BD83-2907-852B-D72DE896CD61}"/>
              </a:ext>
            </a:extLst>
          </p:cNvPr>
          <p:cNvSpPr txBox="1"/>
          <p:nvPr/>
        </p:nvSpPr>
        <p:spPr>
          <a:xfrm>
            <a:off x="575556" y="764704"/>
            <a:ext cx="7992888" cy="501675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a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1.2345678e3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F;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1.23 × 10^3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9.0e-4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9.0 × 10^-4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디폴트 출력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1.234568e+03, 1.234568E+03,</a:t>
            </a:r>
          </a:p>
          <a:p>
            <a:r>
              <a:rPr lang="en-US" altLang="ko-KR" sz="2000" i="1" dirty="0">
                <a:solidFill>
                  <a:srgbClr val="A0A1A7"/>
                </a:solidFill>
                <a:latin typeface="Consolas" panose="020B0609020204030204" pitchFamily="49" charset="0"/>
              </a:rPr>
              <a:t>    //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9.000000e-04, 9.000000E-04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"%e, %E, %e, %E\n"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a, a, b, b);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소수점 자리수 제한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1.235e+03, 1.235E+03,</a:t>
            </a:r>
          </a:p>
          <a:p>
            <a:r>
              <a:rPr lang="en-US" altLang="ko-KR" sz="2000" i="1" dirty="0">
                <a:solidFill>
                  <a:srgbClr val="A0A1A7"/>
                </a:solidFill>
                <a:latin typeface="Consolas" panose="020B0609020204030204" pitchFamily="49" charset="0"/>
              </a:rPr>
              <a:t>    //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9.0000e-04, 9.0000E-04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"%.3e, %.3E, %.4e, %.4E\n"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a, a, b, b);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18164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94258-8969-51CE-E26B-922847E1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3.16.2 </a:t>
            </a:r>
            <a:r>
              <a:rPr lang="ko-KR" altLang="en-US" b="0" dirty="0"/>
              <a:t>리터럴</a:t>
            </a:r>
            <a:r>
              <a:rPr lang="en-US" altLang="ko-KR" b="0" dirty="0"/>
              <a:t>(Literal)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29CEF6-2BC1-6F86-EC79-8FF7D75C7B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131F8-42C8-829D-AA87-81FE8C248907}"/>
              </a:ext>
            </a:extLst>
          </p:cNvPr>
          <p:cNvSpPr txBox="1"/>
          <p:nvPr/>
        </p:nvSpPr>
        <p:spPr>
          <a:xfrm>
            <a:off x="539750" y="692695"/>
            <a:ext cx="7992690" cy="535531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정수형 리터럴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int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진수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int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진수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0775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 8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진수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0b1011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boolean C23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이후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진수 허용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실수형 리터럴</a:t>
            </a:r>
            <a:endParaRPr lang="ko-KR" altLang="en-US" sz="1800" b="0" dirty="0">
              <a:effectLst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3.  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double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리터럴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과 같다</a:t>
            </a:r>
            <a:endParaRPr lang="ko-KR" altLang="en-US" sz="1800" b="0" dirty="0">
              <a:effectLst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3.0 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double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리터럴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과 같다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double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리터럴 지수 표현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1.0e-3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double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리터럴</a:t>
            </a:r>
            <a:endParaRPr lang="ko-KR" altLang="en-US" sz="1800" b="0" dirty="0">
              <a:effectLst/>
            </a:endParaRPr>
          </a:p>
          <a:p>
            <a:pPr>
              <a:buNone/>
            </a:pP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1.23L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long double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리터럴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3.14F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float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리터럴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2.217f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float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리터럴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리터럴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 리터럴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읽기 전용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리터럴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"ab\nxy"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읽기 전용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리터럴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401814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C1C31-3014-DB3C-60DC-91DC8588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3.16.2 </a:t>
            </a:r>
            <a:r>
              <a:rPr lang="ko-KR" altLang="en-US" b="0" dirty="0"/>
              <a:t>리터럴</a:t>
            </a:r>
            <a:r>
              <a:rPr lang="en-US" altLang="ko-KR" b="0" dirty="0"/>
              <a:t>(Literal)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BC3F3-3990-0BA6-0628-53EE1758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리터럴의 자료형 해석</a:t>
            </a:r>
          </a:p>
          <a:p>
            <a:pPr lvl="1"/>
            <a:r>
              <a:rPr lang="ko-KR" altLang="en-US" dirty="0"/>
              <a:t>리터럴은 특정 자료형으로 자동 해석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문자열 리터럴</a:t>
            </a:r>
          </a:p>
          <a:p>
            <a:pPr lvl="1"/>
            <a:r>
              <a:rPr lang="ko-KR" altLang="en-US" dirty="0"/>
              <a:t>읽기 전용 메모리</a:t>
            </a:r>
            <a:r>
              <a:rPr lang="en-US" altLang="ko-KR" dirty="0"/>
              <a:t>(RODATA)</a:t>
            </a:r>
            <a:r>
              <a:rPr lang="ko-KR" altLang="en-US" dirty="0"/>
              <a:t>에 저장</a:t>
            </a:r>
          </a:p>
          <a:p>
            <a:pPr lvl="1"/>
            <a:r>
              <a:rPr lang="ko-KR" altLang="en-US" dirty="0"/>
              <a:t>수정 불가</a:t>
            </a:r>
          </a:p>
          <a:p>
            <a:pPr lvl="1"/>
            <a:r>
              <a:rPr lang="ko-KR" altLang="en-US" dirty="0"/>
              <a:t>내부적으로 널 문자</a:t>
            </a:r>
            <a:r>
              <a:rPr lang="en-US" altLang="ko-KR" dirty="0"/>
              <a:t>('\0') </a:t>
            </a:r>
            <a:r>
              <a:rPr lang="ko-KR" altLang="en-US" dirty="0"/>
              <a:t>포함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3CE8FA-02D8-B2D2-592A-860E1D53CD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8165E-3A98-730D-509D-23420523D5B2}"/>
              </a:ext>
            </a:extLst>
          </p:cNvPr>
          <p:cNvSpPr txBox="1"/>
          <p:nvPr/>
        </p:nvSpPr>
        <p:spPr>
          <a:xfrm>
            <a:off x="755576" y="4204370"/>
            <a:ext cx="7056784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3.14F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읽기 전용 메모리에 저장된 문자열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61118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74288-21D2-80FE-FA9C-36CFCE16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3.16.3 NULL </a:t>
            </a:r>
            <a:r>
              <a:rPr lang="ko-KR" altLang="en-US" dirty="0"/>
              <a:t>포인터</a:t>
            </a:r>
            <a:r>
              <a:rPr lang="en-US" altLang="ko-KR" dirty="0"/>
              <a:t>, NULL </a:t>
            </a:r>
            <a:r>
              <a:rPr lang="ko-KR" altLang="en-US" dirty="0"/>
              <a:t>문자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71C57-8C8D-FD3D-30DE-4526D1B35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0/NULL </a:t>
            </a:r>
            <a:r>
              <a:rPr lang="ko-KR" altLang="en-US" sz="2400" dirty="0"/>
              <a:t>포인터 </a:t>
            </a:r>
            <a:r>
              <a:rPr lang="en-US" altLang="ko-KR" sz="2400" dirty="0"/>
              <a:t>/ NULL </a:t>
            </a:r>
            <a:r>
              <a:rPr lang="ko-KR" altLang="en-US" sz="2400" dirty="0"/>
              <a:t>문자</a:t>
            </a:r>
            <a:endParaRPr lang="en-US" altLang="ko-KR" sz="2400" dirty="0"/>
          </a:p>
          <a:p>
            <a:pPr lvl="1"/>
            <a:r>
              <a:rPr lang="ko-KR" altLang="en-US" sz="2000" dirty="0"/>
              <a:t>값 </a:t>
            </a:r>
            <a:r>
              <a:rPr lang="en-US" altLang="ko-KR" sz="2000" dirty="0"/>
              <a:t>0</a:t>
            </a:r>
            <a:r>
              <a:rPr lang="ko-KR" altLang="en-US" sz="2000" dirty="0"/>
              <a:t>은 문맥에 따라 다른 의미로 해석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NULL </a:t>
            </a:r>
            <a:r>
              <a:rPr lang="ko-KR" altLang="en-US" sz="2400" dirty="0"/>
              <a:t>포인터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NULL</a:t>
            </a:r>
            <a:r>
              <a:rPr lang="ko-KR" altLang="en-US" sz="2400" dirty="0"/>
              <a:t> 문자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A72B27-16F9-FF37-B7C6-41A4FFB110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8FCE5D7-EB31-9D95-B97D-FE7F539CD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5044"/>
              </p:ext>
            </p:extLst>
          </p:nvPr>
        </p:nvGraphicFramePr>
        <p:xfrm>
          <a:off x="899592" y="1772008"/>
          <a:ext cx="5256584" cy="1872207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val="4008161900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765154689"/>
                    </a:ext>
                  </a:extLst>
                </a:gridCol>
              </a:tblGrid>
              <a:tr h="39216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표현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484920"/>
                  </a:ext>
                </a:extLst>
              </a:tr>
              <a:tr h="4933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dirty="0"/>
                        <a:t>정수 </a:t>
                      </a:r>
                      <a:r>
                        <a:rPr lang="en-US" altLang="ko-KR" sz="2000" dirty="0"/>
                        <a:t>0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976826"/>
                  </a:ext>
                </a:extLst>
              </a:tr>
              <a:tr h="4933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dirty="0"/>
                        <a:t>아무 것도 가리키지 않는 포인터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504114"/>
                  </a:ext>
                </a:extLst>
              </a:tr>
              <a:tr h="4933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50A14F"/>
                          </a:solidFill>
                          <a:effectLst/>
                          <a:latin typeface="Consolas" panose="020B0609020204030204" pitchFamily="49" charset="0"/>
                        </a:rPr>
                        <a:t>'\0'</a:t>
                      </a:r>
                      <a:endParaRPr 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000" dirty="0"/>
                        <a:t>문자열 종료 문자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0374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5C7DB7-978C-12C3-1822-CA236E0C6FF2}"/>
              </a:ext>
            </a:extLst>
          </p:cNvPr>
          <p:cNvSpPr txBox="1"/>
          <p:nvPr/>
        </p:nvSpPr>
        <p:spPr>
          <a:xfrm>
            <a:off x="899592" y="4556516"/>
            <a:ext cx="4572000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 = </a:t>
            </a:r>
            <a:r>
              <a:rPr lang="en-US" altLang="ko-KR" sz="20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137CB-D657-2FCD-6756-932DA99A5501}"/>
              </a:ext>
            </a:extLst>
          </p:cNvPr>
          <p:cNvSpPr txBox="1"/>
          <p:nvPr/>
        </p:nvSpPr>
        <p:spPr>
          <a:xfrm>
            <a:off x="899592" y="5786611"/>
            <a:ext cx="7056784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s[] =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s[] = {'H', 'e', 'l', 'l', 'o', '\0'};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와 동일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06590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BEAA9-7E2A-EF6F-DA4D-BA43EC7E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3.17 </a:t>
            </a:r>
            <a:r>
              <a:rPr lang="ko-KR" altLang="en-US" b="0" dirty="0"/>
              <a:t>중괄호 </a:t>
            </a:r>
            <a:r>
              <a:rPr lang="en-US" altLang="ko-KR" b="0" dirty="0"/>
              <a:t>{}</a:t>
            </a:r>
            <a:r>
              <a:rPr lang="ko-KR" altLang="en-US" b="0" dirty="0"/>
              <a:t>를 이용한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B03567-F819-7F3C-35A7-2445B9245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C </a:t>
            </a:r>
            <a:r>
              <a:rPr lang="ko-KR" altLang="en-US" sz="2400" dirty="0"/>
              <a:t>언어 변수 초기화 방식</a:t>
            </a:r>
            <a:endParaRPr lang="en-US" altLang="ko-KR" sz="2400" dirty="0"/>
          </a:p>
          <a:p>
            <a:pPr lvl="1"/>
            <a:r>
              <a:rPr lang="ko-KR" altLang="en-US" sz="2000" dirty="0"/>
              <a:t>스칼라 타입 </a:t>
            </a:r>
            <a:r>
              <a:rPr lang="en-US" altLang="ko-KR" sz="2000" dirty="0"/>
              <a:t>(Scalar Type), </a:t>
            </a:r>
            <a:r>
              <a:rPr lang="ko-KR" altLang="en-US" sz="2000" dirty="0"/>
              <a:t>집계 타입 </a:t>
            </a:r>
            <a:r>
              <a:rPr lang="en-US" altLang="ko-KR" sz="2000" dirty="0"/>
              <a:t>(Aggregate Type)</a:t>
            </a:r>
          </a:p>
          <a:p>
            <a:pPr lvl="1"/>
            <a:r>
              <a:rPr lang="en-US" altLang="ko-KR" sz="2000" dirty="0"/>
              <a:t>C99: </a:t>
            </a:r>
            <a:r>
              <a:rPr lang="ko-KR" altLang="en-US" sz="2000" dirty="0"/>
              <a:t>스칼라 타입에 중괄호 </a:t>
            </a:r>
            <a:r>
              <a:rPr lang="en-US" altLang="ko-KR" sz="2000" dirty="0"/>
              <a:t>{} </a:t>
            </a:r>
            <a:r>
              <a:rPr lang="ko-KR" altLang="en-US" sz="2000" dirty="0"/>
              <a:t>초기화 허용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스칼라 타입 </a:t>
            </a:r>
            <a:r>
              <a:rPr lang="en-US" altLang="ko-KR" sz="2400" dirty="0"/>
              <a:t>(Scalar Type)</a:t>
            </a:r>
          </a:p>
          <a:p>
            <a:pPr lvl="1"/>
            <a:r>
              <a:rPr lang="ko-KR" altLang="en-US" sz="2000" dirty="0"/>
              <a:t>단일 값을 가지는 자료형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F40F0B-BDB7-7229-C812-B0FFC9B163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14B1A-B6C9-5BF9-AEFD-C0B96D5C243D}"/>
              </a:ext>
            </a:extLst>
          </p:cNvPr>
          <p:cNvSpPr txBox="1"/>
          <p:nvPr/>
        </p:nvSpPr>
        <p:spPr>
          <a:xfrm>
            <a:off x="544706" y="3418716"/>
            <a:ext cx="8131750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a = {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ko-KR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    a2= {</a:t>
            </a:r>
            <a:r>
              <a:rPr lang="en-US" altLang="ko-KR" dirty="0">
                <a:solidFill>
                  <a:srgbClr val="986801"/>
                </a:solidFill>
                <a:latin typeface="Consolas" panose="020B0609020204030204" pitchFamily="49" charset="0"/>
              </a:rPr>
              <a:t>100, 200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};</a:t>
            </a:r>
            <a:r>
              <a:rPr lang="en-US" altLang="ko-KR" i="1" dirty="0">
                <a:solidFill>
                  <a:srgbClr val="A0A1A7"/>
                </a:solidFill>
                <a:latin typeface="Consolas" panose="020B0609020204030204" pitchFamily="49" charset="0"/>
              </a:rPr>
              <a:t> // </a:t>
            </a:r>
            <a:r>
              <a:rPr lang="ko-KR" altLang="en-US" i="1" dirty="0">
                <a:solidFill>
                  <a:srgbClr val="A0A1A7"/>
                </a:solidFill>
                <a:latin typeface="Consolas" panose="020B0609020204030204" pitchFamily="49" charset="0"/>
              </a:rPr>
              <a:t>오류</a:t>
            </a:r>
            <a:r>
              <a:rPr lang="en-US" altLang="ko-KR" i="1" dirty="0">
                <a:solidFill>
                  <a:srgbClr val="A0A1A7"/>
                </a:solidFill>
                <a:latin typeface="Consolas" panose="020B0609020204030204" pitchFamily="49" charset="0"/>
              </a:rPr>
              <a:t>: </a:t>
            </a:r>
            <a:r>
              <a:rPr lang="ko-KR" altLang="en-US" i="1" dirty="0">
                <a:solidFill>
                  <a:srgbClr val="A0A1A7"/>
                </a:solidFill>
                <a:latin typeface="Consolas" panose="020B0609020204030204" pitchFamily="49" charset="0"/>
              </a:rPr>
              <a:t>단일 값만 허용</a:t>
            </a:r>
            <a:endParaRPr lang="en-US" altLang="ko-KR" b="0" dirty="0">
              <a:effectLst/>
            </a:endParaRPr>
          </a:p>
          <a:p>
            <a:pPr>
              <a:buNone/>
            </a:pP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b = {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 c = {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 = {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c = {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  p = {</a:t>
            </a:r>
            <a:r>
              <a:rPr lang="en-US" altLang="ko-KR" sz="24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25620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5C7A4-0118-3B91-58E8-B13455FF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9D450-1AD6-8E2D-38A2-682C4B49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3.17 </a:t>
            </a:r>
            <a:r>
              <a:rPr lang="ko-KR" altLang="en-US" b="0" dirty="0"/>
              <a:t>중괄호 </a:t>
            </a:r>
            <a:r>
              <a:rPr lang="en-US" altLang="ko-KR" b="0" dirty="0"/>
              <a:t>{}</a:t>
            </a:r>
            <a:r>
              <a:rPr lang="ko-KR" altLang="en-US" b="0" dirty="0"/>
              <a:t>를 이용한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EC8FC-0B1B-CD87-D47D-CC5C2F89A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집계 타입 </a:t>
            </a:r>
            <a:r>
              <a:rPr lang="en-US" altLang="ko-KR" sz="2400" dirty="0"/>
              <a:t>(Aggregate Type)</a:t>
            </a:r>
          </a:p>
          <a:p>
            <a:pPr lvl="1"/>
            <a:r>
              <a:rPr lang="ko-KR" altLang="en-US" sz="2000" dirty="0"/>
              <a:t>여러 값을 묶어 저장하는 자료형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613BCD-DEE4-CB6E-2324-A9D3D40D3C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74D041-03A4-61B9-E699-953602F9CD00}"/>
              </a:ext>
            </a:extLst>
          </p:cNvPr>
          <p:cNvSpPr txBox="1"/>
          <p:nvPr/>
        </p:nvSpPr>
        <p:spPr>
          <a:xfrm>
            <a:off x="647564" y="1916832"/>
            <a:ext cx="7848872" cy="255454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구조체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x;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y;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z; };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공용체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Data {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i;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f; };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Data d = {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i = 10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으로 초기화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830902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E3DE3-E7D6-EBE7-580A-51C1FDA9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3.17.3 Zero Initialization (</a:t>
            </a:r>
            <a:r>
              <a:rPr lang="ko-KR" altLang="en-US" b="0" dirty="0"/>
              <a:t>자동 </a:t>
            </a:r>
            <a:r>
              <a:rPr lang="en-US" altLang="ko-KR" b="0" dirty="0"/>
              <a:t>0 </a:t>
            </a:r>
            <a:r>
              <a:rPr lang="ko-KR" altLang="en-US" b="0" dirty="0"/>
              <a:t>초기화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6C93BF-6C49-1EE5-D2E9-E2048BC7E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Zero Initialization </a:t>
            </a:r>
            <a:r>
              <a:rPr lang="ko-KR" altLang="en-US" sz="2400" dirty="0"/>
              <a:t>규칙</a:t>
            </a:r>
            <a:endParaRPr lang="en-US" altLang="ko-KR" sz="2400" dirty="0"/>
          </a:p>
          <a:p>
            <a:pPr lvl="1"/>
            <a:r>
              <a:rPr lang="ko-KR" altLang="en-US" sz="2000" dirty="0"/>
              <a:t>초기화 리스트 </a:t>
            </a:r>
            <a:r>
              <a:rPr lang="en-US" altLang="ko-KR" sz="2000" dirty="0"/>
              <a:t>{}</a:t>
            </a:r>
            <a:r>
              <a:rPr lang="ko-KR" altLang="en-US" sz="2000" dirty="0"/>
              <a:t> 에서 모든 값을 제공하지 않으면 남은 요소는 자동으로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초기화</a:t>
            </a:r>
            <a:endParaRPr lang="en-US" altLang="ko-KR" sz="2000" dirty="0"/>
          </a:p>
          <a:p>
            <a:pPr lvl="1"/>
            <a:r>
              <a:rPr lang="en-US" altLang="ko-KR" sz="2000" dirty="0"/>
              <a:t>Zero Initialization</a:t>
            </a:r>
            <a:r>
              <a:rPr lang="ko-KR" altLang="en-US" sz="2000" dirty="0"/>
              <a:t>은 중괄호 초기화가 사용될 때만 적용</a:t>
            </a:r>
            <a:endParaRPr lang="en-US" altLang="ko-KR" sz="2000" dirty="0"/>
          </a:p>
          <a:p>
            <a:pPr lvl="1"/>
            <a:r>
              <a:rPr lang="ko-KR" altLang="en-US" sz="2000" dirty="0"/>
              <a:t>지역 변수의 자동 초기화와 혼동해서는 안됨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60FF93-D611-9AF2-62D6-C16608B0C6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8BC31F5-F4A9-F734-2800-0635617EF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976456"/>
              </p:ext>
            </p:extLst>
          </p:nvPr>
        </p:nvGraphicFramePr>
        <p:xfrm>
          <a:off x="827584" y="2674938"/>
          <a:ext cx="6984776" cy="3886200"/>
        </p:xfrm>
        <a:graphic>
          <a:graphicData uri="http://schemas.openxmlformats.org/drawingml/2006/table">
            <a:tbl>
              <a:tblPr/>
              <a:tblGrid>
                <a:gridCol w="2035921">
                  <a:extLst>
                    <a:ext uri="{9D8B030D-6E8A-4147-A177-3AD203B41FA5}">
                      <a16:colId xmlns:a16="http://schemas.microsoft.com/office/drawing/2014/main" val="1072002436"/>
                    </a:ext>
                  </a:extLst>
                </a:gridCol>
                <a:gridCol w="4948855">
                  <a:extLst>
                    <a:ext uri="{9D8B030D-6E8A-4147-A177-3AD203B41FA5}">
                      <a16:colId xmlns:a16="http://schemas.microsoft.com/office/drawing/2014/main" val="2636150075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타입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초기값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6391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정수형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77315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실수형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70417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문자형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char)</a:t>
                      </a:r>
                      <a:endParaRPr 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'\0'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44025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논리형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(_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Bool)</a:t>
                      </a:r>
                      <a:endParaRPr 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(false)</a:t>
                      </a:r>
                      <a:endParaRPr 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14944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포인터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  <a:endParaRPr 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435558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구조체 멤버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각 멤버 타입에 따라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46908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배열 요소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09761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공용체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초기화된 멤버만 의미를 가짐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903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777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AD6C-CF9C-1FC4-2770-F9906E0F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DAD0C-8285-D004-58D6-569C931E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3.17.3 Zero Initialization (</a:t>
            </a:r>
            <a:r>
              <a:rPr lang="ko-KR" altLang="en-US" b="0" dirty="0"/>
              <a:t>자동 </a:t>
            </a:r>
            <a:r>
              <a:rPr lang="en-US" altLang="ko-KR" b="0" dirty="0"/>
              <a:t>0 </a:t>
            </a:r>
            <a:r>
              <a:rPr lang="ko-KR" altLang="en-US" b="0" dirty="0"/>
              <a:t>초기화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D8293C-89BA-73E3-C71E-F9973DAD8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배열 예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구조체 예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중첩 구조체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E61D26-0EE4-3300-9281-B74490EFA5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82C0C-9642-34F5-7A20-ED6693D853E2}"/>
              </a:ext>
            </a:extLst>
          </p:cNvPr>
          <p:cNvSpPr txBox="1"/>
          <p:nvPr/>
        </p:nvSpPr>
        <p:spPr>
          <a:xfrm>
            <a:off x="539750" y="1271999"/>
            <a:ext cx="6480522" cy="5847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[1, 2, 0, 0, 0]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93A7F6-7285-108A-1066-56A8F35AFC7D}"/>
              </a:ext>
            </a:extLst>
          </p:cNvPr>
          <p:cNvSpPr txBox="1"/>
          <p:nvPr/>
        </p:nvSpPr>
        <p:spPr>
          <a:xfrm>
            <a:off x="539750" y="2564904"/>
            <a:ext cx="6480522" cy="5847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p.x = 10, p.y = 20, p.z = 0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178564-0F3D-0807-89E5-84E38777544F}"/>
              </a:ext>
            </a:extLst>
          </p:cNvPr>
          <p:cNvSpPr txBox="1"/>
          <p:nvPr/>
        </p:nvSpPr>
        <p:spPr>
          <a:xfrm>
            <a:off x="539750" y="4005064"/>
            <a:ext cx="6552530" cy="206210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x, y; };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hp;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hp = 100, </a:t>
            </a:r>
            <a:r>
              <a:rPr lang="en-US" altLang="ko-KR" sz="16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pos.x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= 0.0f, </a:t>
            </a:r>
            <a:r>
              <a:rPr lang="en-US" altLang="ko-KR" sz="16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pos.y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= 0.0f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122054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E22EE-AB82-8B4B-C887-F438A3E2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 </a:t>
            </a:r>
            <a:r>
              <a:rPr lang="ko-KR" altLang="en-US" b="0" dirty="0"/>
              <a:t>형 변환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9A2B4-0D60-7AA2-B64B-BC832FE05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형 변환</a:t>
            </a:r>
            <a:endParaRPr lang="en-US" altLang="ko-KR" sz="2400" dirty="0"/>
          </a:p>
          <a:p>
            <a:pPr lvl="1"/>
            <a:r>
              <a:rPr lang="ko-KR" altLang="en-US" sz="2000" dirty="0"/>
              <a:t>형 변환은 한 자료형의 값을 다른 자료형으로 바꾸는 과정</a:t>
            </a:r>
            <a:endParaRPr lang="en-US" altLang="ko-KR" sz="2000" dirty="0"/>
          </a:p>
          <a:p>
            <a:pPr lvl="1"/>
            <a:r>
              <a:rPr lang="ko-KR" altLang="en-US" sz="2000" dirty="0"/>
              <a:t>암시적 형 변환</a:t>
            </a:r>
            <a:r>
              <a:rPr lang="en-US" altLang="ko-KR" sz="2000" dirty="0"/>
              <a:t>, </a:t>
            </a:r>
            <a:r>
              <a:rPr lang="ko-KR" altLang="en-US" sz="2000" dirty="0"/>
              <a:t>명시적 형 변환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암시적 형 변환 </a:t>
            </a:r>
            <a:r>
              <a:rPr lang="en-US" altLang="ko-KR" sz="2400" dirty="0"/>
              <a:t>(Implicit Conversion)</a:t>
            </a:r>
          </a:p>
          <a:p>
            <a:pPr lvl="1"/>
            <a:r>
              <a:rPr lang="ko-KR" altLang="en-US" sz="2000" dirty="0"/>
              <a:t>컴파일러가 자동으로 수행하는 형 변환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명시적 형 변환 </a:t>
            </a:r>
            <a:r>
              <a:rPr lang="en-US" altLang="ko-KR" sz="2400" dirty="0"/>
              <a:t>(Explicit</a:t>
            </a:r>
            <a:r>
              <a:rPr lang="ko-KR" altLang="en-US" sz="2400" dirty="0"/>
              <a:t> </a:t>
            </a:r>
            <a:r>
              <a:rPr lang="en-US" altLang="ko-KR" sz="2400" dirty="0"/>
              <a:t>Conversion)</a:t>
            </a:r>
          </a:p>
          <a:p>
            <a:pPr lvl="1"/>
            <a:r>
              <a:rPr lang="ko-KR" altLang="en-US" sz="2000" dirty="0"/>
              <a:t>프로그래머가 타입 변환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CC208D-3D55-24AC-4376-46FA039E7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40677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BAB8C-CC38-E353-C119-4C3BB185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08439-6CB5-03E0-079E-AAE2CE0B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3.18.1 </a:t>
            </a:r>
            <a:r>
              <a:rPr lang="ko-KR" altLang="en-US" b="0" dirty="0"/>
              <a:t>형 변환 </a:t>
            </a:r>
            <a:r>
              <a:rPr lang="en-US" altLang="ko-KR" b="0" dirty="0"/>
              <a:t>- </a:t>
            </a:r>
            <a:r>
              <a:rPr lang="ko-KR" altLang="en-US" b="0" dirty="0"/>
              <a:t>암시적 형 변환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F8EA97-5DD1-84D8-98F8-9129A852F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컴파일러가 자동으로 수행</a:t>
            </a:r>
            <a:endParaRPr lang="en-US" altLang="ko-KR" sz="2400" dirty="0"/>
          </a:p>
          <a:p>
            <a:pPr lvl="1"/>
            <a:r>
              <a:rPr lang="ko-KR" altLang="en-US" sz="2000" dirty="0"/>
              <a:t>서로 다른 자료형이 연산에 사용될 때</a:t>
            </a:r>
          </a:p>
          <a:p>
            <a:pPr lvl="1"/>
            <a:r>
              <a:rPr lang="ko-KR" altLang="en-US" sz="2000" dirty="0"/>
              <a:t>대입 연산에서 좌변과 우변의 자료형이 다를 때</a:t>
            </a:r>
          </a:p>
          <a:p>
            <a:pPr lvl="1"/>
            <a:r>
              <a:rPr lang="ko-KR" altLang="en-US" sz="2000" dirty="0"/>
              <a:t>함수 호출 시 인자의 자료형이 매개변수 타입과 다를 때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정수 승격 </a:t>
            </a:r>
            <a:r>
              <a:rPr lang="en-US" altLang="ko-KR" sz="2400" dirty="0"/>
              <a:t>(Integer</a:t>
            </a:r>
            <a:r>
              <a:rPr lang="ko-KR" altLang="en-US" sz="2400" dirty="0"/>
              <a:t> </a:t>
            </a:r>
            <a:r>
              <a:rPr lang="en-US" altLang="ko-KR" sz="2400" dirty="0"/>
              <a:t>Promotion)</a:t>
            </a:r>
          </a:p>
          <a:p>
            <a:pPr lvl="1"/>
            <a:r>
              <a:rPr lang="ko-KR" altLang="en-US" sz="2000" dirty="0"/>
              <a:t>표현 범위가 더 큰 자료형으로 형 변환</a:t>
            </a:r>
            <a:endParaRPr lang="en-US" altLang="ko-KR" sz="2000" dirty="0"/>
          </a:p>
          <a:p>
            <a:pPr lvl="1"/>
            <a:r>
              <a:rPr lang="ko-KR" altLang="en-US" sz="2000" dirty="0"/>
              <a:t>값의 손실 없이 수행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축소 변환</a:t>
            </a:r>
            <a:r>
              <a:rPr lang="en-US" altLang="ko-KR" sz="2400" dirty="0"/>
              <a:t>(Narrowing Conversion)</a:t>
            </a:r>
          </a:p>
          <a:p>
            <a:pPr lvl="1"/>
            <a:r>
              <a:rPr lang="ko-KR" altLang="en-US" sz="2000" dirty="0"/>
              <a:t>표현 범위가 더 작은 자료형으로 형 변환</a:t>
            </a:r>
            <a:endParaRPr lang="en-US" altLang="ko-KR" sz="2000" dirty="0"/>
          </a:p>
          <a:p>
            <a:pPr lvl="1"/>
            <a:r>
              <a:rPr lang="ko-KR" altLang="en-US" sz="2000" dirty="0"/>
              <a:t>값의 손실 발생 가능</a:t>
            </a:r>
            <a:r>
              <a:rPr lang="en-US" altLang="ko-KR" sz="2000" dirty="0"/>
              <a:t>, </a:t>
            </a:r>
            <a:r>
              <a:rPr lang="ko-KR" altLang="en-US" sz="2000" dirty="0"/>
              <a:t>컴파일러에서 경고 발생 가능 </a:t>
            </a:r>
            <a:r>
              <a:rPr lang="en-US" altLang="ko-KR" sz="2000" dirty="0"/>
              <a:t>(Narrowing warning)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C59A8D-4CED-8058-4125-D6429299DD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45123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E1E57-48CD-7811-641A-E68B39E9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14B88-54CB-04FB-848B-588A2FC6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3.18.1 </a:t>
            </a:r>
            <a:r>
              <a:rPr lang="ko-KR" altLang="en-US" b="0" dirty="0"/>
              <a:t>형 변환 </a:t>
            </a:r>
            <a:r>
              <a:rPr lang="en-US" altLang="ko-KR" b="0" dirty="0"/>
              <a:t>- </a:t>
            </a:r>
            <a:r>
              <a:rPr lang="ko-KR" altLang="en-US" b="0" dirty="0"/>
              <a:t>암시적 형 변환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A1F30-E013-291C-6202-FF591BC01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정수 승격</a:t>
            </a:r>
            <a:r>
              <a:rPr lang="en-US" altLang="ko-KR" sz="2000" dirty="0"/>
              <a:t>(Integer</a:t>
            </a:r>
            <a:r>
              <a:rPr lang="ko-KR" altLang="en-US" sz="2000" dirty="0"/>
              <a:t> </a:t>
            </a:r>
            <a:r>
              <a:rPr lang="en-US" altLang="ko-KR" sz="2000" dirty="0"/>
              <a:t>Promotion)</a:t>
            </a:r>
          </a:p>
          <a:p>
            <a:pPr lvl="1"/>
            <a:r>
              <a:rPr lang="ko-KR" altLang="en-US" sz="1800" dirty="0"/>
              <a:t>암시적 형 변환</a:t>
            </a:r>
            <a:r>
              <a:rPr lang="en-US" altLang="ko-KR" sz="1800" dirty="0"/>
              <a:t>. </a:t>
            </a:r>
            <a:r>
              <a:rPr lang="ko-KR" altLang="en-US" sz="1800" dirty="0"/>
              <a:t> </a:t>
            </a:r>
            <a:r>
              <a:rPr lang="en-US" altLang="ko-KR" sz="1800" dirty="0"/>
              <a:t>int</a:t>
            </a:r>
            <a:r>
              <a:rPr lang="ko-KR" altLang="en-US" sz="1800" dirty="0"/>
              <a:t>보다 작은 정수형이 연산에 사용되기 전 </a:t>
            </a:r>
            <a:r>
              <a:rPr lang="en-US" altLang="ko-KR" sz="1800" dirty="0"/>
              <a:t>int</a:t>
            </a:r>
            <a:r>
              <a:rPr lang="ko-KR" altLang="en-US" sz="1800" dirty="0"/>
              <a:t>형</a:t>
            </a:r>
            <a:r>
              <a:rPr lang="en-US" altLang="ko-KR" sz="1800" dirty="0"/>
              <a:t>(</a:t>
            </a:r>
            <a:r>
              <a:rPr lang="ko-KR" altLang="en-US" sz="1800" dirty="0"/>
              <a:t>또는 </a:t>
            </a:r>
            <a:r>
              <a:rPr lang="en-US" altLang="ko-KR" sz="1800" dirty="0"/>
              <a:t>unsigned int</a:t>
            </a:r>
            <a:r>
              <a:rPr lang="ko-KR" altLang="en-US" sz="1800" dirty="0"/>
              <a:t>형</a:t>
            </a:r>
            <a:r>
              <a:rPr lang="en-US" altLang="ko-KR" sz="1800" dirty="0"/>
              <a:t>)</a:t>
            </a:r>
            <a:r>
              <a:rPr lang="ko-KR" altLang="en-US" sz="1800" dirty="0"/>
              <a:t>으로 변환</a:t>
            </a:r>
            <a:endParaRPr lang="en-US" altLang="ko-KR" sz="1800" dirty="0"/>
          </a:p>
          <a:p>
            <a:pPr lvl="1"/>
            <a:r>
              <a:rPr lang="en-US" altLang="ko-KR" sz="1800" dirty="0"/>
              <a:t> </a:t>
            </a:r>
            <a:r>
              <a:rPr lang="ko-KR" altLang="en-US" sz="1800" dirty="0"/>
              <a:t>정수</a:t>
            </a:r>
            <a:r>
              <a:rPr lang="en-US" altLang="ko-KR" sz="1800" dirty="0"/>
              <a:t>, _Bool, enum </a:t>
            </a:r>
            <a:r>
              <a:rPr lang="ko-KR" altLang="en-US" sz="1800" dirty="0"/>
              <a:t>등에도 적용</a:t>
            </a:r>
            <a:endParaRPr lang="en-US" altLang="ko-KR" sz="1800" dirty="0"/>
          </a:p>
          <a:p>
            <a:pPr lvl="1"/>
            <a:r>
              <a:rPr lang="ko-KR" altLang="en-US" sz="1800" dirty="0"/>
              <a:t>정수 승격 이후 피연사자의 타입을 맞추기 위해 산술 형 변환 진행</a:t>
            </a:r>
            <a:endParaRPr lang="en-US" altLang="ko-KR" sz="1800" dirty="0"/>
          </a:p>
          <a:p>
            <a:pPr lvl="1"/>
            <a:r>
              <a:rPr lang="ko-KR" altLang="en-US" sz="1800" dirty="0"/>
              <a:t>값이 </a:t>
            </a:r>
            <a:r>
              <a:rPr lang="en-US" altLang="ko-KR" sz="1800" dirty="0"/>
              <a:t>int</a:t>
            </a:r>
            <a:r>
              <a:rPr lang="ko-KR" altLang="en-US" sz="1800" dirty="0"/>
              <a:t>로 표현 가능하면 → </a:t>
            </a:r>
            <a:r>
              <a:rPr lang="en-US" altLang="ko-KR" sz="1800" dirty="0"/>
              <a:t>int</a:t>
            </a:r>
            <a:br>
              <a:rPr lang="ko-KR" altLang="en-US" sz="1800" dirty="0"/>
            </a:br>
            <a:r>
              <a:rPr lang="ko-KR" altLang="en-US" sz="1800" dirty="0"/>
              <a:t>표현 범위를 초과하면   → </a:t>
            </a:r>
            <a:r>
              <a:rPr lang="en-US" altLang="ko-KR" sz="1800" dirty="0"/>
              <a:t>unsigned</a:t>
            </a:r>
            <a:r>
              <a:rPr lang="ko-KR" altLang="en-US" sz="1800" dirty="0"/>
              <a:t> </a:t>
            </a:r>
            <a:r>
              <a:rPr lang="en-US" altLang="ko-KR" sz="1800" dirty="0"/>
              <a:t>int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945939-805F-597E-0173-DD6A4EF5BE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4C329-6964-12EF-2BE7-CFC01E4AB997}"/>
              </a:ext>
            </a:extLst>
          </p:cNvPr>
          <p:cNvSpPr txBox="1"/>
          <p:nvPr/>
        </p:nvSpPr>
        <p:spPr>
          <a:xfrm>
            <a:off x="414428" y="3429000"/>
            <a:ext cx="8315143" cy="255454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A0A1A7"/>
                </a:solidFill>
                <a:latin typeface="Consolas" panose="020B0609020204030204" pitchFamily="49" charset="0"/>
              </a:rPr>
              <a:t>정수 승격 </a:t>
            </a:r>
            <a:r>
              <a:rPr lang="en-US" altLang="ko-KR" sz="1600" dirty="0">
                <a:solidFill>
                  <a:srgbClr val="A0A1A7"/>
                </a:solidFill>
                <a:latin typeface="Consolas" panose="020B0609020204030204" pitchFamily="49" charset="0"/>
              </a:rPr>
              <a:t>signed → unsigned </a:t>
            </a:r>
          </a:p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"sizeof(a +10)  =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"sizeof(a + b)  =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 + b));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0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정수 승격 </a:t>
            </a:r>
            <a:r>
              <a:rPr lang="en-US" altLang="ko-KR" sz="1600" b="0" i="0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signed → unsigned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"sizeof(c + d)  =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 %d + %u = %u\n"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c+d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c, d, </a:t>
            </a:r>
            <a:r>
              <a:rPr lang="en-US" altLang="ko-KR" sz="16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c+d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657281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7FAE-1E67-890B-1731-7F367ED8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70436-E734-E93E-3449-A0E3CAD1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3.18.1 </a:t>
            </a:r>
            <a:r>
              <a:rPr lang="ko-KR" altLang="en-US" b="0" dirty="0"/>
              <a:t>형 변환 </a:t>
            </a:r>
            <a:r>
              <a:rPr lang="en-US" altLang="ko-KR" b="0" dirty="0"/>
              <a:t>- </a:t>
            </a:r>
            <a:r>
              <a:rPr lang="ko-KR" altLang="en-US" dirty="0"/>
              <a:t>정수 승격</a:t>
            </a:r>
            <a:r>
              <a:rPr lang="en-US" altLang="ko-KR" dirty="0"/>
              <a:t> </a:t>
            </a:r>
            <a:r>
              <a:rPr lang="ko-KR" altLang="en-US" dirty="0"/>
              <a:t>필요성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550A6D-2FDF-FA05-79EC-BB608624B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200" dirty="0"/>
              <a:t>하드웨어 효율성과 설계 단순화</a:t>
            </a:r>
          </a:p>
          <a:p>
            <a:pPr lvl="1"/>
            <a:r>
              <a:rPr lang="en-US" altLang="ko-KR" sz="1800" dirty="0"/>
              <a:t>CPU</a:t>
            </a:r>
            <a:r>
              <a:rPr lang="ko-KR" altLang="en-US" sz="1800" dirty="0"/>
              <a:t>의 </a:t>
            </a:r>
            <a:r>
              <a:rPr lang="en-US" altLang="ko-KR" sz="1800" dirty="0"/>
              <a:t>ALU</a:t>
            </a:r>
            <a:r>
              <a:rPr lang="ko-KR" altLang="en-US" sz="1800" dirty="0"/>
              <a:t>는 일정한 워드 크기 기준으로 최적화</a:t>
            </a:r>
          </a:p>
          <a:p>
            <a:pPr lvl="1"/>
            <a:r>
              <a:rPr lang="ko-KR" altLang="en-US" sz="1800" dirty="0"/>
              <a:t>모든 정수형 연산 장치를 따로 두지 않고 </a:t>
            </a:r>
            <a:r>
              <a:rPr lang="en-US" altLang="ko-KR" sz="1800" dirty="0"/>
              <a:t>int </a:t>
            </a:r>
            <a:r>
              <a:rPr lang="ko-KR" altLang="en-US" sz="1800" dirty="0"/>
              <a:t>단위로 통합 처리</a:t>
            </a:r>
            <a:endParaRPr lang="en-US" altLang="ko-KR" sz="1800" dirty="0"/>
          </a:p>
          <a:p>
            <a:pPr lvl="1"/>
            <a:r>
              <a:rPr lang="ko-KR" altLang="en-US" sz="1800" dirty="0"/>
              <a:t>작은 자료형도 레지스터 크기로 확장하여 연산</a:t>
            </a:r>
            <a:endParaRPr lang="en-US" altLang="ko-KR" sz="1800" dirty="0"/>
          </a:p>
          <a:p>
            <a:pPr lvl="1"/>
            <a:r>
              <a:rPr lang="ko-KR" altLang="en-US" sz="1800" dirty="0"/>
              <a:t>규격화</a:t>
            </a:r>
            <a:r>
              <a:rPr lang="en-US" altLang="ko-KR" sz="1800" dirty="0"/>
              <a:t>, </a:t>
            </a:r>
            <a:r>
              <a:rPr lang="ko-KR" altLang="en-US" sz="1800" dirty="0"/>
              <a:t>설계 단순화 </a:t>
            </a:r>
            <a:r>
              <a:rPr lang="en-US" altLang="ko-KR" sz="1800" dirty="0"/>
              <a:t>→</a:t>
            </a:r>
            <a:r>
              <a:rPr lang="en-US" altLang="ko-KR" sz="1800" dirty="0"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sym typeface="Wingdings" panose="05000000000000000000" pitchFamily="2" charset="2"/>
              </a:rPr>
              <a:t>비용 절감</a:t>
            </a:r>
            <a:endParaRPr lang="en-US" altLang="ko-KR" sz="1800" dirty="0"/>
          </a:p>
          <a:p>
            <a:pPr lvl="1"/>
            <a:endParaRPr lang="ko-KR" altLang="en-US" sz="1800" dirty="0"/>
          </a:p>
          <a:p>
            <a:r>
              <a:rPr lang="ko-KR" altLang="en-US" sz="2200" dirty="0"/>
              <a:t>연산 안정성과 결과 일관성</a:t>
            </a:r>
          </a:p>
          <a:p>
            <a:pPr lvl="1"/>
            <a:r>
              <a:rPr lang="ko-KR" altLang="en-US" sz="1800" dirty="0"/>
              <a:t>연산 중 중간값 범위 확장으로 오버플로 위험 감소</a:t>
            </a:r>
          </a:p>
          <a:p>
            <a:pPr lvl="1"/>
            <a:r>
              <a:rPr lang="ko-KR" altLang="en-US" sz="1800" dirty="0"/>
              <a:t>서로 다른 자료형 연산을 표준 크기로 변환하여 일관성 유지</a:t>
            </a:r>
            <a:endParaRPr lang="en-US" altLang="ko-KR" sz="1800" dirty="0"/>
          </a:p>
          <a:p>
            <a:pPr lvl="1"/>
            <a:endParaRPr lang="ko-KR" altLang="en-US" sz="1800" dirty="0"/>
          </a:p>
          <a:p>
            <a:r>
              <a:rPr lang="ko-KR" altLang="en-US" sz="2200" dirty="0"/>
              <a:t>데이터 확장 메커니즘</a:t>
            </a:r>
          </a:p>
          <a:p>
            <a:pPr lvl="1"/>
            <a:r>
              <a:rPr lang="ko-KR" altLang="en-US" sz="1800" dirty="0"/>
              <a:t>현대 시스템에서도 </a:t>
            </a:r>
            <a:r>
              <a:rPr lang="en-US" altLang="ko-KR" sz="1800" dirty="0"/>
              <a:t>int(</a:t>
            </a:r>
            <a:r>
              <a:rPr lang="ko-KR" altLang="en-US" sz="1800" dirty="0"/>
              <a:t>보통 </a:t>
            </a:r>
            <a:r>
              <a:rPr lang="en-US" altLang="ko-KR" sz="1800" dirty="0"/>
              <a:t>32</a:t>
            </a:r>
            <a:r>
              <a:rPr lang="ko-KR" altLang="en-US" sz="1800" dirty="0"/>
              <a:t>비트</a:t>
            </a:r>
            <a:r>
              <a:rPr lang="en-US" altLang="ko-KR" sz="1800" dirty="0"/>
              <a:t>)</a:t>
            </a:r>
            <a:r>
              <a:rPr lang="ko-KR" altLang="en-US" sz="1800" dirty="0"/>
              <a:t>가 기본 연산 단위</a:t>
            </a:r>
          </a:p>
          <a:p>
            <a:pPr lvl="1"/>
            <a:r>
              <a:rPr lang="en-US" altLang="ko-KR" sz="1800" dirty="0"/>
              <a:t>signed → </a:t>
            </a:r>
            <a:r>
              <a:rPr lang="ko-KR" altLang="en-US" sz="1800" dirty="0"/>
              <a:t>부호 확장</a:t>
            </a:r>
            <a:r>
              <a:rPr lang="en-US" altLang="ko-KR" sz="1800" dirty="0"/>
              <a:t>(Sign Extension)</a:t>
            </a:r>
          </a:p>
          <a:p>
            <a:pPr lvl="2"/>
            <a:r>
              <a:rPr lang="ko-KR" altLang="en-US" sz="1400" dirty="0"/>
              <a:t>확장한 상위 비트를 </a:t>
            </a:r>
            <a:r>
              <a:rPr lang="en-US" altLang="ko-KR" sz="1400" dirty="0"/>
              <a:t>1</a:t>
            </a:r>
            <a:r>
              <a:rPr lang="ko-KR" altLang="en-US" sz="1400" dirty="0"/>
              <a:t>로 채워 부호 유지</a:t>
            </a:r>
            <a:endParaRPr lang="en-US" altLang="ko-KR" sz="1400" dirty="0"/>
          </a:p>
          <a:p>
            <a:pPr lvl="1"/>
            <a:r>
              <a:rPr lang="en-US" altLang="ko-KR" sz="1800" dirty="0"/>
              <a:t>unsigned → </a:t>
            </a:r>
            <a:r>
              <a:rPr lang="ko-KR" altLang="en-US" sz="1800" dirty="0"/>
              <a:t>제로 확장</a:t>
            </a:r>
            <a:r>
              <a:rPr lang="en-US" altLang="ko-KR" sz="1800" dirty="0"/>
              <a:t>(Zero Extension) </a:t>
            </a:r>
          </a:p>
          <a:p>
            <a:pPr lvl="2"/>
            <a:r>
              <a:rPr lang="ko-KR" altLang="en-US" sz="1400" dirty="0"/>
              <a:t>확장한 상위 비트를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채워 값 유지</a:t>
            </a:r>
            <a:endParaRPr lang="en-US" altLang="ko-KR" sz="1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5B6497-22F4-06C9-166A-4896E95104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45082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F6EB-1820-215A-27DA-879440C3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D0087-D0A9-9D7F-A677-AAAC1996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3.18.1 </a:t>
            </a:r>
            <a:r>
              <a:rPr lang="ko-KR" altLang="en-US" b="0" dirty="0"/>
              <a:t>형 변환 </a:t>
            </a:r>
            <a:r>
              <a:rPr lang="en-US" altLang="ko-KR" b="0" dirty="0"/>
              <a:t>– </a:t>
            </a:r>
            <a:r>
              <a:rPr lang="ko-KR" altLang="en-US" dirty="0"/>
              <a:t>산술 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B872B-3CC4-5888-E932-2CD0C0730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산술 형 변환 </a:t>
            </a:r>
            <a:r>
              <a:rPr lang="en-US" altLang="ko-KR" sz="2400" dirty="0"/>
              <a:t>(Usual Arithmetic Conversions)</a:t>
            </a:r>
          </a:p>
          <a:p>
            <a:pPr lvl="1"/>
            <a:r>
              <a:rPr lang="ko-KR" altLang="en-US" sz="2000" dirty="0"/>
              <a:t>다른 자료형의 피연산자 사이 연산에서 타입을 공통 타입</a:t>
            </a:r>
            <a:r>
              <a:rPr lang="en-US" altLang="ko-KR" sz="2000" dirty="0"/>
              <a:t>(Common Type)</a:t>
            </a:r>
            <a:r>
              <a:rPr lang="ko-KR" altLang="en-US" sz="2000" dirty="0"/>
              <a:t>으로 일치시키는 과정</a:t>
            </a:r>
            <a:endParaRPr lang="en-US" altLang="ko-KR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4934B-A3F7-7466-31A8-4B35C6D32B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F6D80-1569-5643-50D5-069006C3C666}"/>
              </a:ext>
            </a:extLst>
          </p:cNvPr>
          <p:cNvSpPr txBox="1"/>
          <p:nvPr/>
        </p:nvSpPr>
        <p:spPr>
          <a:xfrm>
            <a:off x="529495" y="2204864"/>
            <a:ext cx="8219217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→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로 변환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→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로 변환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로 변환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</a:t>
            </a:r>
          </a:p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으로 변환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567087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A7815-2E12-A1F5-E2F4-13319B98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46936-E69D-BD3F-35FC-22D67004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3.18.1 </a:t>
            </a:r>
            <a:r>
              <a:rPr lang="ko-KR" altLang="en-US" b="0" dirty="0"/>
              <a:t>형 변환 </a:t>
            </a:r>
            <a:r>
              <a:rPr lang="en-US" altLang="ko-KR" b="0" dirty="0"/>
              <a:t>– </a:t>
            </a:r>
            <a:r>
              <a:rPr lang="ko-KR" altLang="en-US" dirty="0"/>
              <a:t>정수의 실수형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63CA2B-7F43-FDD1-ECB2-534B29456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Floating Type Conversion</a:t>
            </a:r>
            <a:endParaRPr lang="en-US" altLang="ko-KR" sz="2400" dirty="0"/>
          </a:p>
          <a:p>
            <a:pPr lvl="1"/>
            <a:r>
              <a:rPr lang="ko-KR" altLang="en-US" dirty="0"/>
              <a:t>정수형과 실수형 연산에서 더 넓은 실수형으로 변환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실수형 변수 </a:t>
            </a:r>
            <a:r>
              <a:rPr lang="en-US" altLang="ko-KR" dirty="0"/>
              <a:t>= </a:t>
            </a:r>
            <a:r>
              <a:rPr lang="ko-KR" altLang="en-US" dirty="0"/>
              <a:t>정수 값  → 정수 값이 실수형 값으로 변환</a:t>
            </a:r>
            <a:endParaRPr lang="en-US" altLang="ko-KR" dirty="0"/>
          </a:p>
          <a:p>
            <a:pPr lvl="1"/>
            <a:endParaRPr lang="en-US" altLang="ko-KR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531390-3441-3131-ACCD-4653615348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AA122-DBCA-2060-7DE2-96E9C953C2F8}"/>
              </a:ext>
            </a:extLst>
          </p:cNvPr>
          <p:cNvSpPr txBox="1"/>
          <p:nvPr/>
        </p:nvSpPr>
        <p:spPr>
          <a:xfrm>
            <a:off x="683568" y="3429000"/>
            <a:ext cx="7560642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→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로 변환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로 변환</a:t>
            </a:r>
            <a:endParaRPr lang="en-US" altLang="ko-KR" sz="2400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8678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C3D8-1C76-0B65-2640-D5CE2ADC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A5D58-200A-62A6-C66F-1CEEE0774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3.18.1 </a:t>
            </a:r>
            <a:r>
              <a:rPr lang="ko-KR" altLang="en-US" b="0" dirty="0"/>
              <a:t>형 변환 </a:t>
            </a:r>
            <a:r>
              <a:rPr lang="en-US" altLang="ko-KR" b="0" dirty="0"/>
              <a:t>– </a:t>
            </a:r>
            <a:r>
              <a:rPr lang="ko-KR" altLang="en-US" dirty="0"/>
              <a:t>축소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8777C6-81FD-73C5-0C73-B3F8471C7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축소 변환 </a:t>
            </a:r>
            <a:r>
              <a:rPr lang="en-US" altLang="ko-KR" dirty="0"/>
              <a:t>(Narrowing Conversion)</a:t>
            </a:r>
          </a:p>
          <a:p>
            <a:pPr lvl="1"/>
            <a:r>
              <a:rPr lang="ko-KR" altLang="en-US" dirty="0"/>
              <a:t>정밀도</a:t>
            </a:r>
            <a:r>
              <a:rPr lang="en-US" altLang="ko-KR" dirty="0"/>
              <a:t>, </a:t>
            </a:r>
            <a:r>
              <a:rPr lang="ko-KR" altLang="en-US" dirty="0"/>
              <a:t>자료형 크기의 축소로 값 손실</a:t>
            </a:r>
            <a:endParaRPr lang="en-US" altLang="ko-KR" dirty="0"/>
          </a:p>
          <a:p>
            <a:pPr lvl="1"/>
            <a:r>
              <a:rPr lang="ko-KR" altLang="en-US" dirty="0"/>
              <a:t>컴파일러 경고 </a:t>
            </a:r>
            <a:r>
              <a:rPr lang="en-US" altLang="ko-KR" dirty="0"/>
              <a:t>(Narrowing Warning)</a:t>
            </a:r>
            <a:endParaRPr lang="en-US" altLang="ko-KR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31A980-65C4-B687-8FEB-3760466BC4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49DD4A-31AF-BE79-0534-98D8F2C1B92C}"/>
              </a:ext>
            </a:extLst>
          </p:cNvPr>
          <p:cNvSpPr txBox="1"/>
          <p:nvPr/>
        </p:nvSpPr>
        <p:spPr>
          <a:xfrm>
            <a:off x="539750" y="2636912"/>
            <a:ext cx="7200602" cy="163121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1234567890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정수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1234567890 → float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타입으로 변환</a:t>
            </a:r>
            <a:endParaRPr lang="en-US" altLang="ko-KR" sz="2000" b="0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"%f\n"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f);</a:t>
            </a:r>
          </a:p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1234567936.000000 (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정밀도 손실 발생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62FCC-5C34-D292-C178-50F13E79A5EE}"/>
              </a:ext>
            </a:extLst>
          </p:cNvPr>
          <p:cNvSpPr txBox="1"/>
          <p:nvPr/>
        </p:nvSpPr>
        <p:spPr>
          <a:xfrm>
            <a:off x="539750" y="4869160"/>
            <a:ext cx="7200602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d;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3.14 → 3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20875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E7BC-5B68-4C50-42F6-EFF3A33B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FB1BF-95E8-1C91-5F5D-FAC0C836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3.18.2 </a:t>
            </a:r>
            <a:r>
              <a:rPr lang="ko-KR" altLang="en-US" b="0" dirty="0"/>
              <a:t>형 변환 </a:t>
            </a:r>
            <a:r>
              <a:rPr lang="en-US" altLang="ko-KR" b="0" dirty="0"/>
              <a:t>- </a:t>
            </a:r>
            <a:r>
              <a:rPr lang="ko-KR" altLang="en-US" dirty="0"/>
              <a:t>명시적 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98C9E0-2D3E-51B7-99C2-D1EAC0D01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명시적 형 변환 </a:t>
            </a:r>
            <a:r>
              <a:rPr lang="en-US" altLang="ko-KR" dirty="0"/>
              <a:t>(Explicit Casting)</a:t>
            </a:r>
          </a:p>
          <a:p>
            <a:pPr lvl="1"/>
            <a:r>
              <a:rPr lang="ko-KR" altLang="en-US" dirty="0"/>
              <a:t>프로그래머가 직접 형 변환을 지정하는 방식</a:t>
            </a:r>
            <a:endParaRPr lang="en-US" altLang="ko-KR" dirty="0"/>
          </a:p>
          <a:p>
            <a:pPr lvl="1"/>
            <a:r>
              <a:rPr lang="ko-KR" altLang="en-US" dirty="0"/>
              <a:t>큰 자료형을 작은 자료형으로 변환할 때 값 손실</a:t>
            </a:r>
            <a:endParaRPr lang="en-US" altLang="ko-KR" dirty="0"/>
          </a:p>
          <a:p>
            <a:pPr lvl="1"/>
            <a:r>
              <a:rPr lang="ko-KR" altLang="en-US" dirty="0"/>
              <a:t>이에 대한 인지를 컴파일러에게 명확히 전달</a:t>
            </a:r>
            <a:endParaRPr lang="en-US" altLang="ko-KR" dirty="0"/>
          </a:p>
          <a:p>
            <a:pPr lvl="1"/>
            <a:r>
              <a:rPr lang="ko-KR" altLang="en-US" dirty="0"/>
              <a:t>컴파일러 </a:t>
            </a:r>
            <a:r>
              <a:rPr lang="ko-KR" altLang="en-US" dirty="0" err="1"/>
              <a:t>워닝</a:t>
            </a:r>
            <a:r>
              <a:rPr lang="en-US" altLang="ko-KR" dirty="0"/>
              <a:t>(Warning)</a:t>
            </a:r>
            <a:r>
              <a:rPr lang="ko-KR" altLang="en-US" dirty="0"/>
              <a:t> 축소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 사항</a:t>
            </a:r>
            <a:endParaRPr lang="en-US" altLang="ko-KR" dirty="0"/>
          </a:p>
          <a:p>
            <a:pPr lvl="1"/>
            <a:r>
              <a:rPr lang="ko-KR" altLang="en-US" dirty="0"/>
              <a:t> 값 손실 가능성</a:t>
            </a:r>
            <a:endParaRPr lang="en-US" altLang="ko-KR" dirty="0"/>
          </a:p>
          <a:p>
            <a:pPr lvl="1"/>
            <a:r>
              <a:rPr lang="ko-KR" altLang="en-US" dirty="0" err="1"/>
              <a:t>형변환</a:t>
            </a:r>
            <a:r>
              <a:rPr lang="ko-KR" altLang="en-US" dirty="0"/>
              <a:t> 위치에 따른 연산 순서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F0E4DF-0BA3-1508-0099-09A972AC9F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7888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204B-B5D3-F6A8-D532-0F3DF778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7BAFD-1A97-A544-16CD-702484F9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3.18.2 </a:t>
            </a:r>
            <a:r>
              <a:rPr lang="ko-KR" altLang="en-US" b="0" dirty="0"/>
              <a:t>형 변환 </a:t>
            </a:r>
            <a:r>
              <a:rPr lang="en-US" altLang="ko-KR" b="0" dirty="0"/>
              <a:t>- </a:t>
            </a:r>
            <a:r>
              <a:rPr lang="ko-KR" altLang="en-US" dirty="0"/>
              <a:t>명시적 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4BA85-B71D-3A65-1E6B-3349F29A7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42937"/>
            <a:ext cx="8928992" cy="5832475"/>
          </a:xfrm>
        </p:spPr>
        <p:txBody>
          <a:bodyPr/>
          <a:lstStyle/>
          <a:p>
            <a:r>
              <a:rPr lang="ko-KR" altLang="en-US" sz="2400" dirty="0"/>
              <a:t>캐스팅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명시적 형 변환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6604D-F6CE-7D05-9C75-27F067F09F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B5069-C8FC-3A0A-C2CF-6E60FE56D6C6}"/>
              </a:ext>
            </a:extLst>
          </p:cNvPr>
          <p:cNvSpPr txBox="1"/>
          <p:nvPr/>
        </p:nvSpPr>
        <p:spPr>
          <a:xfrm>
            <a:off x="323528" y="1384111"/>
            <a:ext cx="6912768" cy="147732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a; 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3.1415926535897932384626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   = f;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"b = %</a:t>
            </a:r>
            <a:r>
              <a:rPr lang="en-US" altLang="ko-KR" sz="18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lld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 %d 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b,n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12AD5-A3FE-67F2-14BB-1162E7FA4466}"/>
              </a:ext>
            </a:extLst>
          </p:cNvPr>
          <p:cNvSpPr txBox="1"/>
          <p:nvPr/>
        </p:nvSpPr>
        <p:spPr>
          <a:xfrm>
            <a:off x="323528" y="3007099"/>
            <a:ext cx="6912768" cy="64633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 fontAlgn="base"/>
            <a:r>
              <a: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경고 발생</a:t>
            </a:r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/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(6,1): warning C4305: '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초기화 중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': 'double'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에서 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'float'(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으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로 잘립니다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rtl="0" fontAlgn="base"/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(7,12): warning C4244: '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초기화 중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': 'float'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에서 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'int'(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으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로 변환하면서 데이터가 손실될 수 있습니다</a:t>
            </a:r>
            <a:r>
              <a:rPr lang="en-US" altLang="ko-KR" sz="12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AA0DA-5D48-F900-07B6-F02F9C6DD298}"/>
              </a:ext>
            </a:extLst>
          </p:cNvPr>
          <p:cNvSpPr txBox="1"/>
          <p:nvPr/>
        </p:nvSpPr>
        <p:spPr>
          <a:xfrm>
            <a:off x="323528" y="4755236"/>
            <a:ext cx="8352730" cy="5847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 =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3.1415926535897932384626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double → float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명시적 변환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n =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)f;                        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float → int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명시적 변환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506726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B5FFB-8364-3F2C-411E-052826802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E460F-FEA3-4592-9FBA-0935672C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3.18.2 </a:t>
            </a:r>
            <a:r>
              <a:rPr lang="ko-KR" altLang="en-US" b="0" dirty="0"/>
              <a:t>형 변환 </a:t>
            </a:r>
            <a:r>
              <a:rPr lang="en-US" altLang="ko-KR" b="0" dirty="0"/>
              <a:t>- </a:t>
            </a:r>
            <a:r>
              <a:rPr lang="ko-KR" altLang="en-US" dirty="0"/>
              <a:t>명시적 형 변환 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2CF86-558A-A6C4-14BC-CF3846BD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42937"/>
            <a:ext cx="8928992" cy="5832475"/>
          </a:xfrm>
        </p:spPr>
        <p:txBody>
          <a:bodyPr/>
          <a:lstStyle/>
          <a:p>
            <a:r>
              <a:rPr lang="ko-KR" altLang="en-US" dirty="0"/>
              <a:t>값 손실 가능성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dirty="0"/>
              <a:t>형 변환 위치에 따른 연산 순서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6C5A0D-463A-7C15-040C-DA124D82A4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C1965-050F-708F-50CB-49F2F8910FF1}"/>
              </a:ext>
            </a:extLst>
          </p:cNvPr>
          <p:cNvSpPr txBox="1"/>
          <p:nvPr/>
        </p:nvSpPr>
        <p:spPr>
          <a:xfrm>
            <a:off x="539750" y="1268760"/>
            <a:ext cx="6264498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big_val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4294967296L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L;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2^32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truncated = 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big_val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상위 비트 잘려 다른 값이 저장됨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1E2F6-4ECA-0A0E-7463-430F168DDFC5}"/>
              </a:ext>
            </a:extLst>
          </p:cNvPr>
          <p:cNvSpPr txBox="1"/>
          <p:nvPr/>
        </p:nvSpPr>
        <p:spPr>
          <a:xfrm>
            <a:off x="539750" y="4077072"/>
            <a:ext cx="6264498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fr-FR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x1 = </a:t>
            </a:r>
            <a:r>
              <a:rPr lang="fr-FR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x2 = </a:t>
            </a:r>
            <a:r>
              <a:rPr lang="fr-FR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y1 = (</a:t>
            </a:r>
            <a:r>
              <a:rPr lang="fr-FR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)x1 / x2;</a:t>
            </a:r>
            <a:b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y2 = (</a:t>
            </a:r>
            <a:r>
              <a:rPr lang="fr-FR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)(x1 / x2);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494875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4746C-AC23-E47B-7449-5D4D3654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3CDD6-D229-41DC-BC84-AA4F7B953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데이터 표현과 메모리 단위</a:t>
            </a:r>
          </a:p>
          <a:p>
            <a:pPr lvl="1"/>
            <a:r>
              <a:rPr lang="en-US" altLang="ko-KR" sz="1600" dirty="0"/>
              <a:t>bit, byte, 2</a:t>
            </a:r>
            <a:r>
              <a:rPr lang="ko-KR" altLang="en-US" sz="1600" dirty="0"/>
              <a:t>진수</a:t>
            </a:r>
            <a:r>
              <a:rPr lang="en-US" altLang="ko-KR" sz="1600" dirty="0"/>
              <a:t>, 10</a:t>
            </a:r>
            <a:r>
              <a:rPr lang="ko-KR" altLang="en-US" sz="1600" dirty="0"/>
              <a:t>진수</a:t>
            </a:r>
            <a:r>
              <a:rPr lang="en-US" altLang="ko-KR" sz="1600" dirty="0"/>
              <a:t>, 16</a:t>
            </a:r>
            <a:r>
              <a:rPr lang="ko-KR" altLang="en-US" sz="1600" dirty="0"/>
              <a:t>진수 표현 방법</a:t>
            </a:r>
            <a:endParaRPr lang="ko-KR" altLang="en-US" sz="1800" dirty="0"/>
          </a:p>
          <a:p>
            <a:r>
              <a:rPr lang="ko-KR" altLang="en-US" sz="2000" dirty="0"/>
              <a:t>자료와 자료형</a:t>
            </a:r>
          </a:p>
          <a:p>
            <a:pPr lvl="1"/>
            <a:r>
              <a:rPr lang="ko-KR" altLang="en-US" sz="1600" dirty="0"/>
              <a:t>자료는 컴퓨터에 저장된 </a:t>
            </a:r>
            <a:r>
              <a:rPr lang="en-US" altLang="ko-KR" sz="1600" dirty="0"/>
              <a:t>bit group</a:t>
            </a:r>
          </a:p>
          <a:p>
            <a:pPr lvl="1"/>
            <a:r>
              <a:rPr lang="ko-KR" altLang="en-US" sz="1600" dirty="0"/>
              <a:t>자료를 해석하고 처리하는 방식을 규정하는 것이 자료형</a:t>
            </a:r>
            <a:r>
              <a:rPr lang="en-US" altLang="ko-KR" sz="1600" dirty="0"/>
              <a:t>(Data Type)</a:t>
            </a:r>
          </a:p>
          <a:p>
            <a:pPr lvl="2"/>
            <a:endParaRPr lang="ko-KR" altLang="en-US" sz="1800" dirty="0"/>
          </a:p>
          <a:p>
            <a:r>
              <a:rPr lang="ko-KR" altLang="en-US" sz="2000" dirty="0"/>
              <a:t>변수와 기본 속성</a:t>
            </a:r>
          </a:p>
          <a:p>
            <a:pPr lvl="1"/>
            <a:r>
              <a:rPr lang="ko-KR" altLang="en-US" sz="1600" dirty="0"/>
              <a:t>변수는 이름이 붙은 메모리 공간</a:t>
            </a:r>
            <a:endParaRPr lang="en-US" altLang="ko-KR" sz="1600" dirty="0"/>
          </a:p>
          <a:p>
            <a:pPr lvl="1"/>
            <a:r>
              <a:rPr lang="ko-KR" altLang="en-US" sz="1600" dirty="0"/>
              <a:t>프로그램의 상태</a:t>
            </a:r>
            <a:r>
              <a:rPr lang="en-US" altLang="ko-KR" sz="1600" dirty="0"/>
              <a:t>(state)</a:t>
            </a:r>
            <a:r>
              <a:rPr lang="ko-KR" altLang="en-US" sz="1600" dirty="0"/>
              <a:t> 표현</a:t>
            </a:r>
            <a:endParaRPr lang="en-US" altLang="ko-KR" sz="1600" dirty="0"/>
          </a:p>
          <a:p>
            <a:pPr lvl="1"/>
            <a:r>
              <a:rPr lang="en-US" altLang="ko-KR" sz="1600" dirty="0"/>
              <a:t>6</a:t>
            </a:r>
            <a:r>
              <a:rPr lang="ko-KR" altLang="en-US" sz="1600" dirty="0"/>
              <a:t>가지 속성</a:t>
            </a:r>
            <a:r>
              <a:rPr lang="en-US" altLang="ko-KR" sz="1600" dirty="0"/>
              <a:t>: </a:t>
            </a:r>
            <a:r>
              <a:rPr lang="ko-KR" altLang="en-US" sz="1600" dirty="0"/>
              <a:t>이름</a:t>
            </a:r>
            <a:r>
              <a:rPr lang="en-US" altLang="ko-KR" sz="1600" dirty="0"/>
              <a:t>(Name), </a:t>
            </a:r>
            <a:r>
              <a:rPr lang="ko-KR" altLang="en-US" sz="1600" dirty="0"/>
              <a:t>자료형</a:t>
            </a:r>
            <a:r>
              <a:rPr lang="en-US" altLang="ko-KR" sz="1600" dirty="0"/>
              <a:t>(Type), </a:t>
            </a:r>
            <a:r>
              <a:rPr lang="ko-KR" altLang="en-US" sz="1600" dirty="0"/>
              <a:t>값</a:t>
            </a:r>
            <a:r>
              <a:rPr lang="en-US" altLang="ko-KR" sz="1600" dirty="0"/>
              <a:t>(Value), </a:t>
            </a:r>
            <a:r>
              <a:rPr lang="ko-KR" altLang="en-US" sz="1600" dirty="0"/>
              <a:t>저장 위치</a:t>
            </a:r>
            <a:r>
              <a:rPr lang="en-US" altLang="ko-KR" sz="1600" dirty="0"/>
              <a:t>(Storage),</a:t>
            </a:r>
            <a:br>
              <a:rPr lang="en-US" altLang="ko-KR" sz="1600" dirty="0"/>
            </a:br>
            <a:r>
              <a:rPr lang="ko-KR" altLang="en-US" sz="1600" dirty="0"/>
              <a:t>범위</a:t>
            </a:r>
            <a:r>
              <a:rPr lang="en-US" altLang="ko-KR" sz="1600" dirty="0"/>
              <a:t>(Scope), </a:t>
            </a:r>
            <a:r>
              <a:rPr lang="ko-KR" altLang="en-US" sz="1600" dirty="0"/>
              <a:t>수명</a:t>
            </a:r>
            <a:r>
              <a:rPr lang="en-US" altLang="ko-KR" sz="1600" dirty="0"/>
              <a:t>(Lifetime)</a:t>
            </a:r>
          </a:p>
          <a:p>
            <a:pPr lvl="2"/>
            <a:endParaRPr lang="ko-KR" altLang="en-US" sz="1200" dirty="0"/>
          </a:p>
          <a:p>
            <a:r>
              <a:rPr lang="en-US" altLang="ko-KR" sz="2000" dirty="0"/>
              <a:t>C </a:t>
            </a:r>
            <a:r>
              <a:rPr lang="ko-KR" altLang="en-US" sz="2000" dirty="0"/>
              <a:t>언어 자료형</a:t>
            </a:r>
          </a:p>
          <a:p>
            <a:pPr lvl="1"/>
            <a:r>
              <a:rPr lang="ko-KR" altLang="en-US" sz="1600" dirty="0"/>
              <a:t>기본 자료형</a:t>
            </a:r>
            <a:r>
              <a:rPr lang="en-US" altLang="ko-KR" sz="1600" dirty="0"/>
              <a:t>: </a:t>
            </a:r>
            <a:r>
              <a:rPr lang="ko-KR" altLang="en-US" sz="1600" dirty="0"/>
              <a:t>논리형</a:t>
            </a:r>
            <a:r>
              <a:rPr lang="en-US" altLang="ko-KR" sz="1600" dirty="0"/>
              <a:t>(boolean), </a:t>
            </a:r>
            <a:r>
              <a:rPr lang="ko-KR" altLang="en-US" sz="1600" dirty="0"/>
              <a:t>정수형</a:t>
            </a:r>
            <a:r>
              <a:rPr lang="en-US" altLang="ko-KR" sz="1600" dirty="0"/>
              <a:t>(integer), </a:t>
            </a:r>
            <a:r>
              <a:rPr lang="ko-KR" altLang="en-US" sz="1600" dirty="0"/>
              <a:t>실수형</a:t>
            </a:r>
            <a:r>
              <a:rPr lang="en-US" altLang="ko-KR" sz="1600" dirty="0"/>
              <a:t>(floating)</a:t>
            </a:r>
          </a:p>
          <a:p>
            <a:pPr lvl="1"/>
            <a:r>
              <a:rPr lang="ko-KR" altLang="en-US" sz="1600" dirty="0"/>
              <a:t>파생형</a:t>
            </a:r>
            <a:r>
              <a:rPr lang="en-US" altLang="ko-KR" sz="1600" dirty="0"/>
              <a:t>: </a:t>
            </a:r>
            <a:r>
              <a:rPr lang="ko-KR" altLang="en-US" sz="1600" dirty="0"/>
              <a:t>배열</a:t>
            </a:r>
            <a:r>
              <a:rPr lang="en-US" altLang="ko-KR" sz="1600" dirty="0"/>
              <a:t>(array), </a:t>
            </a:r>
            <a:r>
              <a:rPr lang="ko-KR" altLang="en-US" sz="1600" dirty="0"/>
              <a:t>포인터</a:t>
            </a:r>
            <a:r>
              <a:rPr lang="en-US" altLang="ko-KR" sz="1600" dirty="0"/>
              <a:t>(pointer)</a:t>
            </a:r>
          </a:p>
          <a:p>
            <a:pPr lvl="1"/>
            <a:r>
              <a:rPr lang="ko-KR" altLang="en-US" sz="1600" dirty="0"/>
              <a:t>사용자 정의 자료형</a:t>
            </a:r>
            <a:r>
              <a:rPr lang="en-US" altLang="ko-KR" sz="1600" dirty="0"/>
              <a:t>: </a:t>
            </a:r>
            <a:r>
              <a:rPr lang="ko-KR" altLang="en-US" sz="1600" dirty="0"/>
              <a:t>구조체</a:t>
            </a:r>
            <a:r>
              <a:rPr lang="en-US" altLang="ko-KR" sz="1600" dirty="0"/>
              <a:t>(struct), </a:t>
            </a:r>
            <a:r>
              <a:rPr lang="ko-KR" altLang="en-US" sz="1600" dirty="0"/>
              <a:t>공용체</a:t>
            </a:r>
            <a:r>
              <a:rPr lang="en-US" altLang="ko-KR" sz="1600" dirty="0"/>
              <a:t>(union), </a:t>
            </a:r>
            <a:r>
              <a:rPr lang="ko-KR" altLang="en-US" sz="1600" dirty="0"/>
              <a:t>열거형</a:t>
            </a:r>
            <a:r>
              <a:rPr lang="en-US" altLang="ko-KR" sz="1600" dirty="0"/>
              <a:t>(enum)</a:t>
            </a:r>
          </a:p>
          <a:p>
            <a:pPr lvl="1"/>
            <a:r>
              <a:rPr lang="ko-KR" altLang="en-US" sz="1600" dirty="0"/>
              <a:t>형 별칭</a:t>
            </a:r>
            <a:r>
              <a:rPr lang="en-US" altLang="ko-KR" sz="1600" dirty="0"/>
              <a:t>: typedef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C23AB7-3033-5E4C-1E9B-A0C6336271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58591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95F4-7934-CFB6-DC55-A27CF9BC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1772F-36E2-325E-138E-3BD45124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9E89ED-4C28-0085-187D-AB17A6C4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상수</a:t>
            </a:r>
            <a:r>
              <a:rPr lang="en-US" altLang="ko-KR" sz="2400" dirty="0"/>
              <a:t>(Constant)</a:t>
            </a:r>
            <a:endParaRPr lang="ko-KR" altLang="en-US" sz="2400" dirty="0"/>
          </a:p>
          <a:p>
            <a:pPr lvl="1"/>
            <a:r>
              <a:rPr lang="ko-KR" altLang="en-US" sz="1800" dirty="0"/>
              <a:t>상수는 실행 중 값이 변하지 않는 데이터</a:t>
            </a:r>
            <a:endParaRPr lang="en-US" altLang="ko-KR" sz="1800" dirty="0"/>
          </a:p>
          <a:p>
            <a:pPr lvl="1"/>
            <a:r>
              <a:rPr lang="en-US" altLang="ko-KR" sz="1800" dirty="0"/>
              <a:t>const </a:t>
            </a:r>
            <a:r>
              <a:rPr lang="ko-KR" altLang="en-US" sz="1800" dirty="0"/>
              <a:t>키워드를 사용한 상수</a:t>
            </a:r>
            <a:r>
              <a:rPr lang="en-US" altLang="ko-KR" sz="1800" dirty="0"/>
              <a:t>, #define,</a:t>
            </a:r>
            <a:r>
              <a:rPr lang="ko-KR" altLang="en-US" sz="1800" dirty="0"/>
              <a:t> 리터럴</a:t>
            </a:r>
            <a:r>
              <a:rPr lang="en-US" altLang="ko-KR" sz="1800" dirty="0"/>
              <a:t>(literal)</a:t>
            </a:r>
          </a:p>
          <a:p>
            <a:pPr lvl="1"/>
            <a:endParaRPr lang="ko-KR" altLang="en-US" dirty="0"/>
          </a:p>
          <a:p>
            <a:r>
              <a:rPr lang="ko-KR" altLang="en-US" sz="2400" dirty="0"/>
              <a:t>형 변환</a:t>
            </a:r>
          </a:p>
          <a:p>
            <a:pPr lvl="1"/>
            <a:r>
              <a:rPr lang="ko-KR" altLang="en-US" sz="1800" dirty="0"/>
              <a:t>자료형의 값을 다른 자료형으로 변경하는 과정</a:t>
            </a:r>
            <a:endParaRPr lang="en-US" altLang="ko-KR" sz="1800" dirty="0"/>
          </a:p>
          <a:p>
            <a:pPr lvl="1"/>
            <a:r>
              <a:rPr lang="ko-KR" altLang="en-US" sz="1800" dirty="0"/>
              <a:t>암시적 형 변환 </a:t>
            </a:r>
            <a:r>
              <a:rPr lang="en-US" altLang="ko-KR" sz="1800" dirty="0"/>
              <a:t>(Implicit Conversion)</a:t>
            </a:r>
          </a:p>
          <a:p>
            <a:pPr lvl="1"/>
            <a:r>
              <a:rPr lang="ko-KR" altLang="en-US" sz="1800" dirty="0"/>
              <a:t>명시적 형 변환 </a:t>
            </a:r>
            <a:r>
              <a:rPr lang="en-US" altLang="ko-KR" sz="1800" dirty="0"/>
              <a:t>(Explicit Casting)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34B8BB-971B-50EB-4E7A-E79EB1C149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6679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4ACD7-6D14-36A0-D78E-63082FDD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실습 과제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70889-6696-92AF-B63E-F587184C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1: </a:t>
            </a:r>
            <a:r>
              <a:rPr lang="ko-KR" altLang="en-US" dirty="0"/>
              <a:t>게임 캐릭터의 상태 출력하기</a:t>
            </a:r>
            <a:endParaRPr lang="en-US" altLang="ko-KR" dirty="0"/>
          </a:p>
          <a:p>
            <a:pPr lvl="1"/>
            <a:r>
              <a:rPr lang="ko-KR" altLang="en-US" dirty="0"/>
              <a:t>기사</a:t>
            </a:r>
            <a:r>
              <a:rPr lang="en-US" altLang="ko-KR" dirty="0"/>
              <a:t>(Knight), </a:t>
            </a:r>
            <a:r>
              <a:rPr lang="ko-KR" altLang="en-US" dirty="0"/>
              <a:t>마법사</a:t>
            </a:r>
            <a:r>
              <a:rPr lang="en-US" altLang="ko-KR" dirty="0"/>
              <a:t>(Mage), </a:t>
            </a:r>
            <a:r>
              <a:rPr lang="ko-KR" altLang="en-US" dirty="0"/>
              <a:t>성직자</a:t>
            </a:r>
            <a:r>
              <a:rPr lang="en-US" altLang="ko-KR" dirty="0"/>
              <a:t>(Priest) </a:t>
            </a:r>
            <a:r>
              <a:rPr lang="ko-KR" altLang="en-US" dirty="0"/>
              <a:t>세 캐릭터를 준비하고 각 캐릭터의 </a:t>
            </a:r>
            <a:r>
              <a:rPr lang="en-US" altLang="ko-KR" dirty="0"/>
              <a:t>HP, MP, EXP</a:t>
            </a:r>
            <a:r>
              <a:rPr lang="ko-KR" altLang="en-US" dirty="0"/>
              <a:t>를 변수로 선언한 뒤 다음과 같은 형식으로 출력</a:t>
            </a:r>
          </a:p>
          <a:p>
            <a:pPr lvl="1"/>
            <a:r>
              <a:rPr lang="ko-KR" altLang="en-US" dirty="0"/>
              <a:t>각 수치는 </a:t>
            </a:r>
            <a:r>
              <a:rPr lang="en-US" altLang="ko-KR" dirty="0"/>
              <a:t>float </a:t>
            </a:r>
            <a:r>
              <a:rPr lang="ko-KR" altLang="en-US" dirty="0"/>
              <a:t>형을 사용</a:t>
            </a:r>
            <a:br>
              <a:rPr lang="ko-KR" altLang="en-US" dirty="0"/>
            </a:b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과제 </a:t>
            </a:r>
            <a:r>
              <a:rPr lang="en-US" altLang="ko-KR" dirty="0"/>
              <a:t>2: </a:t>
            </a:r>
            <a:r>
              <a:rPr lang="ko-KR" altLang="en-US" dirty="0"/>
              <a:t>좋아하는 캐릭터 출력</a:t>
            </a:r>
            <a:endParaRPr lang="en-US" altLang="ko-KR" dirty="0"/>
          </a:p>
          <a:p>
            <a:pPr lvl="1"/>
            <a:r>
              <a:rPr lang="ko-KR" altLang="en-US" dirty="0"/>
              <a:t>콘솔 화면에 </a:t>
            </a:r>
            <a:r>
              <a:rPr lang="en-US" altLang="ko-KR" dirty="0"/>
              <a:t>32 × 32 </a:t>
            </a:r>
            <a:r>
              <a:rPr lang="ko-KR" altLang="en-US" dirty="0"/>
              <a:t>크기의 문자 그래픽으로 자신이 좋아하는 게임 캐릭터 </a:t>
            </a:r>
            <a:r>
              <a:rPr lang="en-US" altLang="ko-KR" dirty="0"/>
              <a:t>3</a:t>
            </a:r>
            <a:r>
              <a:rPr lang="ko-KR" altLang="en-US" dirty="0"/>
              <a:t>개를 출력하는 프로그램을 작성</a:t>
            </a:r>
          </a:p>
          <a:p>
            <a:pPr lvl="1"/>
            <a:r>
              <a:rPr lang="ko-KR" altLang="en-US" dirty="0"/>
              <a:t>각 캐릭터는 서로 다른 모습이 되도록 구성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835288-FFFB-CFC2-87C9-E8F475AD65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67887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3406</TotalTime>
  <Words>5978</Words>
  <Application>Microsoft Office PowerPoint</Application>
  <PresentationFormat>화면 슬라이드 쇼(4:3)</PresentationFormat>
  <Paragraphs>966</Paragraphs>
  <Slides>70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7" baseType="lpstr">
      <vt:lpstr>Wingdings</vt:lpstr>
      <vt:lpstr>가을체</vt:lpstr>
      <vt:lpstr>Arial</vt:lpstr>
      <vt:lpstr>굴림</vt:lpstr>
      <vt:lpstr>HY견고딕</vt:lpstr>
      <vt:lpstr>Consolas</vt:lpstr>
      <vt:lpstr>기본 디자인</vt:lpstr>
      <vt:lpstr>03. 자료형과 변수</vt:lpstr>
      <vt:lpstr>3.1 데이터 표현과 메모리 단위</vt:lpstr>
      <vt:lpstr>3.1.1 데이터 표현 방식</vt:lpstr>
      <vt:lpstr>3.1.1 데이터 표현 방식</vt:lpstr>
      <vt:lpstr>3.1.2 비트(bit)와 바이트(byte)</vt:lpstr>
      <vt:lpstr>3.1.3 ASCII 코드</vt:lpstr>
      <vt:lpstr>3.1.3 ASCII 코드</vt:lpstr>
      <vt:lpstr>3.1.3 ASCII 코드</vt:lpstr>
      <vt:lpstr>3.1.3 ASCII 코드</vt:lpstr>
      <vt:lpstr>3.1.3 ASCII 코드</vt:lpstr>
      <vt:lpstr>3.1.4 정수 오버플로와 언더플로</vt:lpstr>
      <vt:lpstr>3.1.5 엔디안(Endianness)</vt:lpstr>
      <vt:lpstr>3.2 자료와 자료형</vt:lpstr>
      <vt:lpstr>3.3 변수와 변수의 6가지 속성</vt:lpstr>
      <vt:lpstr>3.3.1 변수의 6가지 속성</vt:lpstr>
      <vt:lpstr>3.3.1 변수의 6가지 속성</vt:lpstr>
      <vt:lpstr>3.3.1 변수의 6가지 속성</vt:lpstr>
      <vt:lpstr>3.4 C언어 키워드</vt:lpstr>
      <vt:lpstr>3.5 변수 선언과 코드 블록에서의 위치</vt:lpstr>
      <vt:lpstr>3.5 변수 선언과 코드 블록에서의 위치</vt:lpstr>
      <vt:lpstr>3.5.1 C90 스타일</vt:lpstr>
      <vt:lpstr>3.5.2 C99 이후</vt:lpstr>
      <vt:lpstr>3.5.3 권장되는 선언 방식(최신 C 스타일)</vt:lpstr>
      <vt:lpstr>3.6 기본 자료형</vt:lpstr>
      <vt:lpstr>3.7 논리형(boolean types)</vt:lpstr>
      <vt:lpstr>3.7 논리형(boolean types)</vt:lpstr>
      <vt:lpstr>3.8 정수형 (Integer Types)</vt:lpstr>
      <vt:lpstr>3.8.1 정수형 데이터 범위</vt:lpstr>
      <vt:lpstr>3.8.2 정수형 출력</vt:lpstr>
      <vt:lpstr>3.8.3 부호 있는 정수의 표현 방식</vt:lpstr>
      <vt:lpstr>3.8.4 데이터 모델(Data Model)</vt:lpstr>
      <vt:lpstr>3.8.5 고정폭 정수형(stdint.h)</vt:lpstr>
      <vt:lpstr>3.9 실수형(Floating Types)</vt:lpstr>
      <vt:lpstr>3.9.2 IEEE 754 부동소수점 표준 개요</vt:lpstr>
      <vt:lpstr>3.9.3 float/double 정밀도와 표현 범위</vt:lpstr>
      <vt:lpstr>3.9.4 부동소수점의 특수값 과 선택</vt:lpstr>
      <vt:lpstr>3.9.6 부동 소수점 주의 사항</vt:lpstr>
      <vt:lpstr>3.9.6 부동 소수점 주의 사항</vt:lpstr>
      <vt:lpstr>3.9.6 부동 소수점 주의 사항</vt:lpstr>
      <vt:lpstr>3.10 enum 형 (열거형)</vt:lpstr>
      <vt:lpstr>3.11 배열 형 (Array)</vt:lpstr>
      <vt:lpstr>3.12 포인터형 (Pointer)</vt:lpstr>
      <vt:lpstr>3.13 구조체(struct)</vt:lpstr>
      <vt:lpstr>3.14 공용체(union)</vt:lpstr>
      <vt:lpstr>3.15 typedef (형 별칭)</vt:lpstr>
      <vt:lpstr>3.16 상수(Constant)</vt:lpstr>
      <vt:lpstr>3.16.1 기호(Symbolic) 상수</vt:lpstr>
      <vt:lpstr>3.16.2 리터럴(Literal)</vt:lpstr>
      <vt:lpstr>3.16.2 리터럴(Literal)</vt:lpstr>
      <vt:lpstr>3.16.2 리터럴(Literal)</vt:lpstr>
      <vt:lpstr>3.16.2 리터럴(Literal)</vt:lpstr>
      <vt:lpstr>3.16.2 리터럴(Literal)</vt:lpstr>
      <vt:lpstr>3.16.3 NULL 포인터, NULL 문자</vt:lpstr>
      <vt:lpstr>3.17 중괄호 {}를 이용한 초기화</vt:lpstr>
      <vt:lpstr>3.17 중괄호 {}를 이용한 초기화</vt:lpstr>
      <vt:lpstr>3.17.3 Zero Initialization (자동 0 초기화)</vt:lpstr>
      <vt:lpstr>3.17.3 Zero Initialization (자동 0 초기화)</vt:lpstr>
      <vt:lpstr>3.18 형 변환</vt:lpstr>
      <vt:lpstr>3.18.1 형 변환 - 암시적 형 변환</vt:lpstr>
      <vt:lpstr>3.18.1 형 변환 - 암시적 형 변환</vt:lpstr>
      <vt:lpstr>3.18.1 형 변환 - 정수 승격 필요성</vt:lpstr>
      <vt:lpstr>3.18.1 형 변환 – 산술 형 변환</vt:lpstr>
      <vt:lpstr>3.18.1 형 변환 – 정수의 실수형 변환</vt:lpstr>
      <vt:lpstr>3.18.1 형 변환 – 축소 변환</vt:lpstr>
      <vt:lpstr>3.18.2 형 변환 - 명시적 형 변환</vt:lpstr>
      <vt:lpstr>3.18.2 형 변환 - 명시적 형 변환</vt:lpstr>
      <vt:lpstr>3.18.2 형 변환 - 명시적 형 변환 주의 사항</vt:lpstr>
      <vt:lpstr>학습 정리</vt:lpstr>
      <vt:lpstr>학습 정리</vt:lpstr>
      <vt:lpstr>실습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195</cp:revision>
  <dcterms:created xsi:type="dcterms:W3CDTF">2003-11-30T16:03:20Z</dcterms:created>
  <dcterms:modified xsi:type="dcterms:W3CDTF">2026-04-05T13:14:27Z</dcterms:modified>
</cp:coreProperties>
</file>