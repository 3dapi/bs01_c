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HY견고딕" panose="02030600000101010101" pitchFamily="18" charset="-127"/>
      <p:regular r:id="rId14"/>
    </p:embeddedFont>
    <p:embeddedFont>
      <p:font typeface="가을체" panose="02030600000101010101" pitchFamily="18" charset="-127"/>
      <p:regular r:id="rId15"/>
    </p:embeddedFont>
    <p:embeddedFont>
      <p:font typeface="나눔바른고딕" panose="020B0603020101020101" pitchFamily="50" charset="-127"/>
      <p:regular r:id="rId16"/>
      <p:bold r:id="rId1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84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/>
            </a:lvl1pPr>
            <a:lvl2pPr>
              <a:buSzPct val="60000"/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pPr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kern="100" dirty="0"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14. </a:t>
            </a:r>
            <a:r>
              <a:rPr lang="ko-KR" altLang="ko-KR" kern="100" dirty="0"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운영체제와 자원관리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FE356-61C0-4B82-8EDE-2354BCF5E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100" dirty="0"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14.1 </a:t>
            </a:r>
            <a:r>
              <a:rPr lang="ko-KR" altLang="en-US" b="1" dirty="0"/>
              <a:t>운영체제와 프로그램 자원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0BEE67-8D66-4596-99F7-8D680D305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운영체제가 관리하는 자원</a:t>
            </a:r>
          </a:p>
          <a:p>
            <a:pPr lvl="1"/>
            <a:r>
              <a:rPr lang="ko-KR" altLang="en-US" dirty="0"/>
              <a:t>메모리</a:t>
            </a:r>
          </a:p>
          <a:p>
            <a:pPr lvl="1"/>
            <a:r>
              <a:rPr lang="ko-KR" altLang="en-US" dirty="0"/>
              <a:t>파일</a:t>
            </a:r>
          </a:p>
          <a:p>
            <a:pPr lvl="1"/>
            <a:r>
              <a:rPr lang="ko-KR" altLang="en-US" dirty="0"/>
              <a:t>네트워크 소켓</a:t>
            </a:r>
          </a:p>
          <a:p>
            <a:pPr lvl="1"/>
            <a:r>
              <a:rPr lang="ko-KR" altLang="en-US" dirty="0"/>
              <a:t>프로세스 </a:t>
            </a:r>
            <a:r>
              <a:rPr lang="en-US" altLang="ko-KR" dirty="0"/>
              <a:t>/ </a:t>
            </a:r>
            <a:r>
              <a:rPr lang="ko-KR" altLang="en-US" dirty="0"/>
              <a:t>스레드</a:t>
            </a:r>
          </a:p>
          <a:p>
            <a:pPr lvl="1"/>
            <a:r>
              <a:rPr lang="ko-KR" altLang="en-US" dirty="0"/>
              <a:t>동기화 객체</a:t>
            </a:r>
          </a:p>
          <a:p>
            <a:pPr lvl="1"/>
            <a:r>
              <a:rPr lang="ko-KR" altLang="en-US" dirty="0"/>
              <a:t>입출력 장치</a:t>
            </a:r>
          </a:p>
          <a:p>
            <a:pPr lvl="1"/>
            <a:r>
              <a:rPr lang="ko-KR" altLang="en-US" dirty="0"/>
              <a:t>그래픽 자원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/>
              <a:t>프로그램 → 자원 직접 소유하지 않음</a:t>
            </a:r>
          </a:p>
          <a:p>
            <a:pPr lvl="1"/>
            <a:r>
              <a:rPr lang="ko-KR" altLang="en-US" dirty="0"/>
              <a:t>필요 시 요청 → 사용 → 반환 구조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A968E9-3D3E-40B0-A6A7-FF1DAA5122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416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EBDE5-341A-4303-9A25-7418464E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100" dirty="0"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  <a:cs typeface="Times New Roman" panose="02020603050405020304" pitchFamily="18" charset="0"/>
              </a:rPr>
              <a:t>14.2 </a:t>
            </a:r>
            <a:r>
              <a:rPr lang="ko-KR" altLang="en-US" b="1" dirty="0"/>
              <a:t>자원 요청 모델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5B076-D88D-43CF-B023-67F599DCB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자원 사용 방식</a:t>
            </a:r>
            <a:endParaRPr lang="en-US" altLang="ko-KR" dirty="0"/>
          </a:p>
          <a:p>
            <a:pPr lvl="1"/>
            <a:r>
              <a:rPr lang="ko-KR" altLang="en-US" dirty="0"/>
              <a:t>운영체제에 요청</a:t>
            </a:r>
            <a:endParaRPr lang="en-US" altLang="ko-KR" dirty="0"/>
          </a:p>
          <a:p>
            <a:pPr lvl="1"/>
            <a:r>
              <a:rPr lang="ko-KR" altLang="en-US" dirty="0"/>
              <a:t>사용 후 반환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주요 특징</a:t>
            </a:r>
            <a:endParaRPr lang="en-US" altLang="ko-KR" dirty="0"/>
          </a:p>
          <a:p>
            <a:pPr lvl="1"/>
            <a:r>
              <a:rPr lang="ko-KR" altLang="en-US" dirty="0"/>
              <a:t>자원은 제한됨</a:t>
            </a:r>
            <a:endParaRPr lang="en-US" altLang="ko-KR" dirty="0"/>
          </a:p>
          <a:p>
            <a:pPr lvl="1"/>
            <a:r>
              <a:rPr lang="ko-KR" altLang="en-US" dirty="0"/>
              <a:t>요청 실패 가능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ko-KR" altLang="en-US" dirty="0"/>
              <a:t>자원 요청에 대한 학습</a:t>
            </a:r>
            <a:endParaRPr lang="en-US" altLang="ko-KR" dirty="0"/>
          </a:p>
          <a:p>
            <a:pPr lvl="1"/>
            <a:r>
              <a:rPr lang="ko-KR" altLang="en-US" dirty="0"/>
              <a:t>동적 메모리 할당</a:t>
            </a:r>
            <a:endParaRPr lang="en-US" altLang="ko-KR" dirty="0"/>
          </a:p>
          <a:p>
            <a:pPr lvl="1"/>
            <a:r>
              <a:rPr lang="ko-KR" altLang="en-US" dirty="0"/>
              <a:t>파일 입출력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32D555-8AB1-4AA7-BEAB-9DD2F93433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897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BB6A4-BE52-463E-BA26-208B4164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14.3 </a:t>
            </a:r>
            <a:r>
              <a:rPr lang="ko-KR" altLang="en-US" dirty="0"/>
              <a:t>포인터와 자원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45F59-4753-4460-A859-40E58DA8F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자원 표현</a:t>
            </a:r>
            <a:endParaRPr lang="en-US" altLang="ko-KR" dirty="0"/>
          </a:p>
          <a:p>
            <a:pPr lvl="1"/>
            <a:r>
              <a:rPr lang="ko-KR" altLang="en-US" dirty="0"/>
              <a:t>자원 표현 방식은 동일하지 않음</a:t>
            </a:r>
            <a:endParaRPr lang="en-US" altLang="ko-KR" dirty="0"/>
          </a:p>
          <a:p>
            <a:pPr lvl="1"/>
            <a:r>
              <a:rPr lang="ko-KR" altLang="en-US" dirty="0"/>
              <a:t>자원 종류마다 표현 방식 다름</a:t>
            </a:r>
            <a:endParaRPr lang="en-US" altLang="ko-KR" dirty="0"/>
          </a:p>
          <a:p>
            <a:pPr lvl="1"/>
            <a:r>
              <a:rPr lang="ko-KR" altLang="en-US" dirty="0"/>
              <a:t>많은 자원이 포인터 형태로 전달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메모리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반환 값 → 실제 메모리 주소</a:t>
            </a:r>
            <a:endParaRPr lang="en-US" altLang="ko-KR" dirty="0"/>
          </a:p>
          <a:p>
            <a:pPr lvl="1"/>
            <a:r>
              <a:rPr lang="ko-KR" altLang="en-US" dirty="0"/>
              <a:t>포인터</a:t>
            </a:r>
            <a:r>
              <a:rPr lang="en-US" altLang="ko-KR" dirty="0"/>
              <a:t>(pointer)</a:t>
            </a:r>
            <a:r>
              <a:rPr lang="ko-KR" altLang="en-US" dirty="0"/>
              <a:t>포인터 연산 가능</a:t>
            </a:r>
            <a:endParaRPr lang="en-US" altLang="ko-KR" dirty="0"/>
          </a:p>
          <a:p>
            <a:pPr lvl="1"/>
            <a:r>
              <a:rPr lang="ko-KR" altLang="en-US" dirty="0"/>
              <a:t>메모리 직접 접근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52875B-C08B-45FD-A461-7B4E70C689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DAD50F-72B3-4FFD-9FB2-E5685EF3CF6D}"/>
              </a:ext>
            </a:extLst>
          </p:cNvPr>
          <p:cNvSpPr txBox="1"/>
          <p:nvPr/>
        </p:nvSpPr>
        <p:spPr>
          <a:xfrm>
            <a:off x="683568" y="3429000"/>
            <a:ext cx="7200800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* p = </a:t>
            </a:r>
            <a:r>
              <a:rPr lang="en-US" altLang="ko-KR" sz="2400" b="0" i="0" u="none" strike="noStrike" dirty="0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numBlock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80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99C6-3F39-4FC0-9FD1-66834EA27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14.4 </a:t>
            </a:r>
            <a:r>
              <a:rPr lang="ko-KR" altLang="en-US" dirty="0"/>
              <a:t>자원 표현 </a:t>
            </a:r>
            <a:r>
              <a:rPr lang="en-US" altLang="ko-KR" dirty="0"/>
              <a:t>- </a:t>
            </a:r>
            <a:r>
              <a:rPr lang="ko-KR" altLang="en-US" dirty="0"/>
              <a:t>파일 </a:t>
            </a:r>
            <a:r>
              <a:rPr lang="ko-KR" altLang="en-US" dirty="0" err="1"/>
              <a:t>디스크립터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487F4-469A-4DBD-A3B2-BEBE34BEF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FD(low</a:t>
            </a:r>
            <a:r>
              <a:rPr lang="ko-KR" altLang="en-US" sz="2400" dirty="0"/>
              <a:t> </a:t>
            </a:r>
            <a:r>
              <a:rPr lang="en-US" altLang="ko-KR" sz="2400" dirty="0"/>
              <a:t>-level)</a:t>
            </a:r>
          </a:p>
          <a:p>
            <a:pPr lvl="1"/>
            <a:r>
              <a:rPr lang="ko-KR" altLang="en-US" sz="2000" dirty="0"/>
              <a:t>의미 → 파일 식별 번호</a:t>
            </a:r>
            <a:r>
              <a:rPr lang="en-US" altLang="ko-KR" sz="2000" dirty="0"/>
              <a:t>(int)</a:t>
            </a:r>
          </a:p>
          <a:p>
            <a:pPr lvl="1"/>
            <a:r>
              <a:rPr lang="ko-KR" altLang="en-US" sz="2000" dirty="0"/>
              <a:t>운영체제 내부</a:t>
            </a:r>
            <a:endParaRPr lang="en-US" altLang="ko-KR" sz="2000" dirty="0"/>
          </a:p>
          <a:p>
            <a:pPr lvl="2"/>
            <a:r>
              <a:rPr lang="ko-KR" altLang="en-US" sz="1800" dirty="0"/>
              <a:t>자원 테이블 존재</a:t>
            </a:r>
            <a:endParaRPr lang="en-US" altLang="ko-KR" sz="1800" dirty="0"/>
          </a:p>
          <a:p>
            <a:pPr lvl="2"/>
            <a:r>
              <a:rPr lang="en-US" altLang="ko-KR" sz="1800" dirty="0" err="1"/>
              <a:t>fd</a:t>
            </a:r>
            <a:r>
              <a:rPr lang="en-US" altLang="ko-KR" sz="1800" dirty="0"/>
              <a:t> → </a:t>
            </a:r>
            <a:r>
              <a:rPr lang="ko-KR" altLang="en-US" sz="1800" dirty="0"/>
              <a:t>테이블 인덱스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FILE* (High-Level)</a:t>
            </a:r>
          </a:p>
          <a:p>
            <a:pPr lvl="1"/>
            <a:r>
              <a:rPr lang="ko-KR" altLang="en-US" sz="1800" dirty="0"/>
              <a:t>타입 → 구조체 포인터</a:t>
            </a:r>
            <a:endParaRPr lang="en-US" altLang="ko-KR" sz="1800" dirty="0"/>
          </a:p>
          <a:p>
            <a:pPr lvl="1"/>
            <a:r>
              <a:rPr lang="ko-KR" altLang="en-US" sz="1800" dirty="0"/>
              <a:t>파일을 표현하는 객체</a:t>
            </a:r>
            <a:endParaRPr lang="en-US" altLang="ko-KR" sz="1800" dirty="0"/>
          </a:p>
          <a:p>
            <a:pPr lvl="1"/>
            <a:r>
              <a:rPr lang="ko-KR" altLang="en-US" sz="1800" dirty="0"/>
              <a:t>내부적으로 </a:t>
            </a:r>
            <a:r>
              <a:rPr lang="en-US" altLang="ko-KR" sz="1800" dirty="0" err="1"/>
              <a:t>fd</a:t>
            </a:r>
            <a:r>
              <a:rPr lang="ko-KR" altLang="en-US" sz="1800" dirty="0"/>
              <a:t>와 연관되어 동작</a:t>
            </a:r>
            <a:endParaRPr lang="en-US" altLang="ko-KR" sz="1800" dirty="0"/>
          </a:p>
          <a:p>
            <a:pPr lvl="1"/>
            <a:r>
              <a:rPr lang="ko-KR" altLang="en-US" sz="1800" dirty="0"/>
              <a:t>포인터 형태</a:t>
            </a:r>
            <a:r>
              <a:rPr lang="en-US" altLang="ko-KR" sz="1800" dirty="0"/>
              <a:t>, </a:t>
            </a:r>
            <a:r>
              <a:rPr lang="ko-KR" altLang="en-US" sz="1800" dirty="0"/>
              <a:t>실제 자원은 </a:t>
            </a:r>
            <a:r>
              <a:rPr lang="en-US" altLang="ko-KR" sz="1800" dirty="0"/>
              <a:t>OS</a:t>
            </a:r>
            <a:r>
              <a:rPr lang="ko-KR" altLang="en-US" sz="1800" dirty="0"/>
              <a:t>가 관리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945EB6-7609-4006-A0C7-3E6FBADE3A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D315E-E551-4332-9B92-853FE7AB8291}"/>
              </a:ext>
            </a:extLst>
          </p:cNvPr>
          <p:cNvSpPr txBox="1"/>
          <p:nvPr/>
        </p:nvSpPr>
        <p:spPr>
          <a:xfrm>
            <a:off x="1115615" y="2636912"/>
            <a:ext cx="6270495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open(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"test.txt"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O_RDONLY);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E67FE-54BA-472F-8D08-73F20F750996}"/>
              </a:ext>
            </a:extLst>
          </p:cNvPr>
          <p:cNvSpPr txBox="1"/>
          <p:nvPr/>
        </p:nvSpPr>
        <p:spPr>
          <a:xfrm>
            <a:off x="1115616" y="5703639"/>
            <a:ext cx="6264696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FILE*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400" b="0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"test.txt"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i="0" u="none" strike="noStrike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"r"</a:t>
            </a:r>
            <a:r>
              <a:rPr lang="en-US" altLang="ko-KR" sz="2400" b="0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582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8FB45-1153-412F-9ABF-9772AF13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14.5 </a:t>
            </a:r>
            <a:r>
              <a:rPr lang="ko-KR" altLang="en-US" dirty="0"/>
              <a:t>윈도우 자원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729114-CDDC-44C6-8684-85BCD40CE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Windows → HANDLE </a:t>
            </a:r>
            <a:r>
              <a:rPr lang="ko-KR" altLang="en-US" dirty="0"/>
              <a:t>사용</a:t>
            </a:r>
          </a:p>
          <a:p>
            <a:r>
              <a:rPr lang="ko-KR" altLang="en-US" dirty="0"/>
              <a:t>대상</a:t>
            </a:r>
          </a:p>
          <a:p>
            <a:pPr lvl="1"/>
            <a:r>
              <a:rPr lang="ko-KR" altLang="en-US" dirty="0"/>
              <a:t>파일</a:t>
            </a:r>
          </a:p>
          <a:p>
            <a:pPr lvl="1"/>
            <a:r>
              <a:rPr lang="ko-KR" altLang="en-US" dirty="0"/>
              <a:t>윈도우 객체</a:t>
            </a:r>
          </a:p>
          <a:p>
            <a:pPr lvl="1"/>
            <a:r>
              <a:rPr lang="ko-KR" altLang="en-US" dirty="0"/>
              <a:t>이벤트</a:t>
            </a:r>
          </a:p>
          <a:p>
            <a:pPr lvl="1"/>
            <a:r>
              <a:rPr lang="ko-KR" altLang="en-US" dirty="0"/>
              <a:t>스레드</a:t>
            </a:r>
          </a:p>
          <a:p>
            <a:r>
              <a:rPr lang="ko-KR" altLang="en-US" dirty="0"/>
              <a:t>특징</a:t>
            </a:r>
          </a:p>
          <a:p>
            <a:pPr lvl="1"/>
            <a:r>
              <a:rPr lang="ko-KR" altLang="en-US" dirty="0"/>
              <a:t>포인터 형태</a:t>
            </a:r>
          </a:p>
          <a:p>
            <a:pPr lvl="1"/>
            <a:r>
              <a:rPr lang="en-US" altLang="ko-KR" dirty="0"/>
              <a:t>OS </a:t>
            </a:r>
            <a:r>
              <a:rPr lang="ko-KR" altLang="en-US" dirty="0"/>
              <a:t>자원 식별 값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D3F0AD-A0CB-4070-9819-FA61023A01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538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398F2-6617-41A8-980D-724D1F53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14.6 </a:t>
            </a:r>
            <a:r>
              <a:rPr lang="ko-KR" altLang="en-US" dirty="0"/>
              <a:t>자원 표현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9EA7A6-3398-48BC-93E7-D07562A2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96" y="692150"/>
            <a:ext cx="4176464" cy="5832475"/>
          </a:xfrm>
        </p:spPr>
        <p:txBody>
          <a:bodyPr/>
          <a:lstStyle/>
          <a:p>
            <a:r>
              <a:rPr lang="ko-KR" altLang="en-US" sz="2400" dirty="0"/>
              <a:t>자원표현</a:t>
            </a:r>
            <a:endParaRPr lang="en-US" altLang="ko-KR" sz="2400" dirty="0"/>
          </a:p>
          <a:p>
            <a:pPr lvl="1"/>
            <a:r>
              <a:rPr lang="ko-KR" altLang="en-US" sz="2000" dirty="0"/>
              <a:t>모두 운영체제 자원 접근 수단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ko-KR" altLang="en-US" sz="2000" dirty="0"/>
              <a:t>직접 자원 소유 아님</a:t>
            </a:r>
            <a:endParaRPr lang="en-US" altLang="ko-KR" sz="2000" dirty="0"/>
          </a:p>
          <a:p>
            <a:pPr lvl="2"/>
            <a:r>
              <a:rPr lang="ko-KR" altLang="en-US" sz="1800" dirty="0"/>
              <a:t>메모리 → 포인터</a:t>
            </a:r>
          </a:p>
          <a:p>
            <a:pPr lvl="2"/>
            <a:r>
              <a:rPr lang="ko-KR" altLang="en-US" sz="1800" dirty="0"/>
              <a:t>파일</a:t>
            </a:r>
            <a:r>
              <a:rPr lang="en-US" altLang="ko-KR" sz="1800" dirty="0"/>
              <a:t>(</a:t>
            </a:r>
            <a:r>
              <a:rPr lang="en-US" altLang="ko-KR" sz="1800" dirty="0" err="1"/>
              <a:t>fd</a:t>
            </a:r>
            <a:r>
              <a:rPr lang="en-US" altLang="ko-KR" sz="1800" dirty="0"/>
              <a:t>) → </a:t>
            </a:r>
            <a:r>
              <a:rPr lang="ko-KR" altLang="en-US" sz="1800" dirty="0"/>
              <a:t>정수</a:t>
            </a:r>
          </a:p>
          <a:p>
            <a:pPr lvl="2"/>
            <a:r>
              <a:rPr lang="ko-KR" altLang="en-US" sz="1800" dirty="0"/>
              <a:t>파일</a:t>
            </a:r>
            <a:r>
              <a:rPr lang="en-US" altLang="ko-KR" sz="1800" dirty="0"/>
              <a:t>(FILE*) → </a:t>
            </a:r>
            <a:r>
              <a:rPr lang="ko-KR" altLang="en-US" sz="1800" dirty="0"/>
              <a:t>구조체 포인터</a:t>
            </a:r>
          </a:p>
          <a:p>
            <a:pPr lvl="2"/>
            <a:r>
              <a:rPr lang="en-US" altLang="ko-KR" sz="1800" dirty="0"/>
              <a:t>Windows → HANDLE</a:t>
            </a:r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자원 관리 기본 원칙</a:t>
            </a:r>
          </a:p>
          <a:p>
            <a:pPr lvl="1"/>
            <a:r>
              <a:rPr lang="ko-KR" altLang="en-US" sz="2000" dirty="0"/>
              <a:t>자원 요청</a:t>
            </a:r>
          </a:p>
          <a:p>
            <a:pPr lvl="1"/>
            <a:r>
              <a:rPr lang="ko-KR" altLang="en-US" sz="2000" dirty="0"/>
              <a:t>성공 여부 확인</a:t>
            </a:r>
          </a:p>
          <a:p>
            <a:pPr lvl="1"/>
            <a:r>
              <a:rPr lang="ko-KR" altLang="en-US" sz="2000" dirty="0"/>
              <a:t>자원 사용</a:t>
            </a:r>
          </a:p>
          <a:p>
            <a:pPr lvl="1"/>
            <a:r>
              <a:rPr lang="ko-KR" altLang="en-US" sz="2000" dirty="0"/>
              <a:t>자원 반환</a:t>
            </a:r>
            <a:endParaRPr lang="en-US" altLang="ko-KR" sz="2000" dirty="0"/>
          </a:p>
          <a:p>
            <a:pPr lvl="1"/>
            <a:r>
              <a:rPr lang="ko-KR" altLang="en-US" sz="2000" dirty="0"/>
              <a:t>요청 → 확인 → 사용 → 반환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18AC7C-795D-451F-A259-4F3ECF9561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A3BF828-9A81-429A-8A7C-4DF80C1BBFE1}"/>
              </a:ext>
            </a:extLst>
          </p:cNvPr>
          <p:cNvSpPr txBox="1">
            <a:spLocks/>
          </p:cNvSpPr>
          <p:nvPr/>
        </p:nvSpPr>
        <p:spPr bwMode="auto">
          <a:xfrm>
            <a:off x="4283968" y="692150"/>
            <a:ext cx="4803551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CC"/>
              </a:buClr>
              <a:buSzPct val="80000"/>
              <a:buFont typeface="Wingdings" panose="05000000000000000000" pitchFamily="2" charset="2"/>
              <a:buChar char="u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40000"/>
              <a:buFont typeface="Wingdings" panose="05000000000000000000" pitchFamily="2" charset="2"/>
              <a:buChar char="§"/>
              <a:defRPr kumimoji="1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buChar char="v"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/>
              <a:t>자원 누수</a:t>
            </a:r>
            <a:endParaRPr lang="en-US" altLang="ko-KR" sz="2400" dirty="0"/>
          </a:p>
          <a:p>
            <a:pPr lvl="1"/>
            <a:r>
              <a:rPr lang="ko-KR" altLang="en-US" sz="2000" dirty="0"/>
              <a:t> 반환하지 않음 → 누수 발생</a:t>
            </a:r>
            <a:endParaRPr lang="en-US" altLang="ko-KR" sz="2000" dirty="0"/>
          </a:p>
          <a:p>
            <a:pPr lvl="1"/>
            <a:r>
              <a:rPr lang="ko-KR" altLang="en-US" sz="2000" dirty="0"/>
              <a:t>영향</a:t>
            </a:r>
            <a:endParaRPr lang="en-US" altLang="ko-KR" sz="2000" dirty="0"/>
          </a:p>
          <a:p>
            <a:pPr lvl="2"/>
            <a:r>
              <a:rPr lang="ko-KR" altLang="en-US" sz="1800" dirty="0"/>
              <a:t>메모리 부족</a:t>
            </a:r>
            <a:endParaRPr lang="en-US" altLang="ko-KR" sz="1800" dirty="0"/>
          </a:p>
          <a:p>
            <a:pPr lvl="2"/>
            <a:r>
              <a:rPr lang="ko-KR" altLang="en-US" sz="1800" dirty="0"/>
              <a:t>성능 저하</a:t>
            </a:r>
            <a:endParaRPr lang="en-US" altLang="ko-KR" sz="1800" dirty="0"/>
          </a:p>
          <a:p>
            <a:pPr lvl="2"/>
            <a:r>
              <a:rPr lang="ko-KR" altLang="en-US" sz="1800" dirty="0"/>
              <a:t>시스템 불안정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특징</a:t>
            </a:r>
            <a:endParaRPr lang="en-US" altLang="ko-KR" sz="2400" dirty="0"/>
          </a:p>
          <a:p>
            <a:pPr lvl="1"/>
            <a:r>
              <a:rPr lang="ko-KR" altLang="en-US" sz="2000" dirty="0"/>
              <a:t>프로그램 종료 시 </a:t>
            </a:r>
            <a:r>
              <a:rPr lang="en-US" altLang="ko-KR" sz="2000" dirty="0"/>
              <a:t>OS</a:t>
            </a:r>
            <a:r>
              <a:rPr lang="ko-KR" altLang="en-US" sz="2000" dirty="0"/>
              <a:t>가 대부분 정리</a:t>
            </a:r>
            <a:endParaRPr lang="en-US" altLang="ko-KR" sz="2000" dirty="0"/>
          </a:p>
          <a:p>
            <a:pPr lvl="1"/>
            <a:r>
              <a:rPr lang="ko-KR" altLang="en-US" sz="2000" dirty="0"/>
              <a:t>완전한 회수는 보장되지 않음</a:t>
            </a:r>
            <a:endParaRPr lang="en-US" altLang="ko-KR" sz="2000" dirty="0"/>
          </a:p>
          <a:p>
            <a:pPr lvl="1"/>
            <a:r>
              <a:rPr lang="ko-KR" altLang="en-US" sz="2000" dirty="0"/>
              <a:t>실행 중에는 자동으로 반환되지 않음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87611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나눔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7540</TotalTime>
  <Words>335</Words>
  <Application>Microsoft Office PowerPoint</Application>
  <PresentationFormat>화면 슬라이드 쇼(4:3)</PresentationFormat>
  <Paragraphs>100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나눔바른고딕</vt:lpstr>
      <vt:lpstr>굴림</vt:lpstr>
      <vt:lpstr>HY견고딕</vt:lpstr>
      <vt:lpstr>Arial</vt:lpstr>
      <vt:lpstr>Consolas</vt:lpstr>
      <vt:lpstr>Wingdings</vt:lpstr>
      <vt:lpstr>가을체</vt:lpstr>
      <vt:lpstr>기본 디자인</vt:lpstr>
      <vt:lpstr>14. 운영체제와 자원관리</vt:lpstr>
      <vt:lpstr>14.1 운영체제와 프로그램 자원</vt:lpstr>
      <vt:lpstr>14.2 자원 요청 모델</vt:lpstr>
      <vt:lpstr>14.3 포인터와 자원 표현</vt:lpstr>
      <vt:lpstr>14.4 자원 표현 - 파일 디스크립터</vt:lpstr>
      <vt:lpstr>14.5 윈도우 자원 표현</vt:lpstr>
      <vt:lpstr>14.6 자원 표현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277</cp:revision>
  <dcterms:created xsi:type="dcterms:W3CDTF">2003-11-30T16:03:20Z</dcterms:created>
  <dcterms:modified xsi:type="dcterms:W3CDTF">2026-04-17T01:18:09Z</dcterms:modified>
</cp:coreProperties>
</file>