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328" r:id="rId2"/>
    <p:sldId id="330" r:id="rId3"/>
    <p:sldId id="364" r:id="rId4"/>
    <p:sldId id="365" r:id="rId5"/>
    <p:sldId id="363" r:id="rId6"/>
    <p:sldId id="331" r:id="rId7"/>
    <p:sldId id="366" r:id="rId8"/>
    <p:sldId id="332" r:id="rId9"/>
    <p:sldId id="367" r:id="rId10"/>
    <p:sldId id="333" r:id="rId11"/>
    <p:sldId id="368" r:id="rId12"/>
    <p:sldId id="335" r:id="rId13"/>
    <p:sldId id="336" r:id="rId14"/>
    <p:sldId id="369" r:id="rId15"/>
    <p:sldId id="337" r:id="rId16"/>
    <p:sldId id="370" r:id="rId17"/>
    <p:sldId id="338" r:id="rId18"/>
    <p:sldId id="339" r:id="rId19"/>
    <p:sldId id="341" r:id="rId20"/>
    <p:sldId id="340" r:id="rId21"/>
    <p:sldId id="371" r:id="rId22"/>
    <p:sldId id="342" r:id="rId23"/>
    <p:sldId id="343" r:id="rId24"/>
    <p:sldId id="344" r:id="rId25"/>
    <p:sldId id="345" r:id="rId26"/>
    <p:sldId id="346" r:id="rId27"/>
    <p:sldId id="348" r:id="rId28"/>
    <p:sldId id="349" r:id="rId29"/>
    <p:sldId id="350" r:id="rId30"/>
    <p:sldId id="352" r:id="rId31"/>
    <p:sldId id="353" r:id="rId32"/>
    <p:sldId id="354" r:id="rId33"/>
    <p:sldId id="356" r:id="rId34"/>
    <p:sldId id="357" r:id="rId35"/>
    <p:sldId id="358" r:id="rId36"/>
    <p:sldId id="359" r:id="rId37"/>
    <p:sldId id="360" r:id="rId38"/>
    <p:sldId id="361" r:id="rId39"/>
    <p:sldId id="372" r:id="rId40"/>
    <p:sldId id="373" r:id="rId41"/>
    <p:sldId id="374" r:id="rId42"/>
    <p:sldId id="362" r:id="rId43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D2Coding" panose="020B0609020101020101" pitchFamily="49" charset="-127"/>
      <p:regular r:id="rId49"/>
      <p:bold r:id="rId50"/>
    </p:embeddedFont>
    <p:embeddedFont>
      <p:font typeface="HY견고딕" panose="02030600000101010101" pitchFamily="18" charset="-127"/>
      <p:regular r:id="rId51"/>
    </p:embeddedFont>
    <p:embeddedFont>
      <p:font typeface="가을체" panose="02030600000101010101" pitchFamily="18" charset="-127"/>
      <p:regular r:id="rId52"/>
    </p:embeddedFont>
    <p:embeddedFont>
      <p:font typeface="나눔바른고딕" panose="020B0603020101020101" pitchFamily="50" charset="-127"/>
      <p:regular r:id="rId53"/>
      <p:bold r:id="rId5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98989"/>
    <a:srgbClr val="0000FF"/>
    <a:srgbClr val="0099FF"/>
    <a:srgbClr val="CC00CC"/>
    <a:srgbClr val="383A42"/>
    <a:srgbClr val="88898B"/>
    <a:srgbClr val="FF00FF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16. </a:t>
            </a:r>
            <a:r>
              <a:rPr lang="ko-KR" altLang="en-US" dirty="0"/>
              <a:t>자료와 파일 입출력</a:t>
            </a:r>
            <a:br>
              <a:rPr lang="en-US" altLang="ko-KR" dirty="0"/>
            </a:br>
            <a:r>
              <a:rPr lang="en-US" altLang="ko-KR" sz="2800" dirty="0"/>
              <a:t>(Data</a:t>
            </a:r>
            <a:r>
              <a:rPr lang="ko-KR" altLang="en-US" sz="2800" dirty="0"/>
              <a:t> </a:t>
            </a:r>
            <a:r>
              <a:rPr lang="en-US" altLang="ko-KR" sz="2800" dirty="0"/>
              <a:t>Structure and File I/O)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</a:t>
            </a:r>
            <a:r>
              <a:rPr lang="ko-KR" altLang="en-US" dirty="0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스트림</a:t>
            </a:r>
          </a:p>
          <a:p>
            <a:pPr lvl="1"/>
            <a:r>
              <a:rPr lang="ko-KR" altLang="en-US" dirty="0"/>
              <a:t>연속된 바이트의 흐름</a:t>
            </a:r>
            <a:endParaRPr lang="en-US" altLang="ko-KR" dirty="0"/>
          </a:p>
          <a:p>
            <a:pPr lvl="1"/>
            <a:r>
              <a:rPr lang="ko-KR" altLang="en-US" dirty="0"/>
              <a:t>입출력 대상 → 스트림</a:t>
            </a:r>
            <a:r>
              <a:rPr lang="en-US" altLang="ko-KR" dirty="0"/>
              <a:t>(Stream) </a:t>
            </a:r>
            <a:r>
              <a:rPr lang="ko-KR" altLang="en-US" dirty="0"/>
              <a:t>으로 표현</a:t>
            </a:r>
            <a:endParaRPr lang="en-US" altLang="ko-KR" dirty="0"/>
          </a:p>
          <a:p>
            <a:pPr lvl="1"/>
            <a:r>
              <a:rPr lang="ko-KR" altLang="en-US" dirty="0"/>
              <a:t>장치 독립성</a:t>
            </a:r>
          </a:p>
          <a:p>
            <a:pPr lvl="2"/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콘솔</a:t>
            </a:r>
            <a:r>
              <a:rPr lang="en-US" altLang="ko-KR" dirty="0"/>
              <a:t>, </a:t>
            </a:r>
            <a:r>
              <a:rPr lang="ko-KR" altLang="en-US" dirty="0"/>
              <a:t>네트워크 등 다양한 장치들의 입출력을 동일한 방식으로 처리 </a:t>
            </a:r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파일 출력 </a:t>
            </a:r>
            <a:r>
              <a:rPr lang="en-US" altLang="ko-KR" dirty="0"/>
              <a:t>, </a:t>
            </a:r>
            <a:r>
              <a:rPr lang="ko-KR" altLang="en-US" dirty="0"/>
              <a:t>콘솔 출력 → 코드 구조 유지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스트림과 버퍼</a:t>
            </a:r>
          </a:p>
          <a:p>
            <a:pPr lvl="1"/>
            <a:r>
              <a:rPr lang="ko-KR" altLang="en-US" dirty="0"/>
              <a:t>스트림은 내부적으로 버퍼</a:t>
            </a:r>
            <a:r>
              <a:rPr lang="en-US" altLang="ko-KR" dirty="0"/>
              <a:t>(Buffer: </a:t>
            </a:r>
            <a:r>
              <a:rPr lang="ko-KR" altLang="en-US" dirty="0"/>
              <a:t>임시 저장 공간</a:t>
            </a:r>
            <a:r>
              <a:rPr lang="en-US" altLang="ko-KR" dirty="0"/>
              <a:t>)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ko-KR" altLang="en-US" dirty="0"/>
              <a:t>버퍼를 사용하는 이유</a:t>
            </a:r>
          </a:p>
          <a:p>
            <a:pPr marL="914400" lvl="2" indent="0">
              <a:buNone/>
            </a:pPr>
            <a:r>
              <a:rPr lang="en-US" altLang="ko-KR" dirty="0"/>
              <a:t>CPU/</a:t>
            </a:r>
            <a:r>
              <a:rPr lang="ko-KR" altLang="en-US" dirty="0"/>
              <a:t>메모리 → 매우 빠름 </a:t>
            </a:r>
            <a:r>
              <a:rPr lang="en-US" altLang="ko-KR" dirty="0"/>
              <a:t>, </a:t>
            </a:r>
            <a:r>
              <a:rPr lang="ko-KR" altLang="en-US" dirty="0"/>
              <a:t>디스크</a:t>
            </a:r>
            <a:r>
              <a:rPr lang="en-US" altLang="ko-KR" dirty="0"/>
              <a:t>/</a:t>
            </a:r>
            <a:r>
              <a:rPr lang="ko-KR" altLang="en-US" dirty="0"/>
              <a:t>네트워크 → 느림</a:t>
            </a:r>
            <a:br>
              <a:rPr lang="en-US" altLang="ko-KR" dirty="0"/>
            </a:br>
            <a:r>
              <a:rPr lang="ko-KR" altLang="en-US" dirty="0"/>
              <a:t>→ 속도 차이 발생 → 버퍼로 데이터를 모아서 처리</a:t>
            </a:r>
            <a:br>
              <a:rPr lang="ko-KR" altLang="en-US" dirty="0"/>
            </a:br>
            <a:r>
              <a:rPr lang="ko-KR" altLang="en-US" dirty="0"/>
              <a:t>→ 장치 접근 횟수 감소 → 성능 향상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647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BF96-BDE4-84FD-0FC6-A983D8910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2CD0-5E27-0A07-66FC-0CC20E88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</a:t>
            </a:r>
            <a:r>
              <a:rPr lang="ko-KR" altLang="en-US" dirty="0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C933F-A45B-8E5F-A0E0-2CDCCD7DB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출력 동작</a:t>
            </a:r>
          </a:p>
          <a:p>
            <a:pPr lvl="1"/>
            <a:r>
              <a:rPr lang="ko-KR" altLang="en-US" sz="2000" dirty="0"/>
              <a:t>프로그램 → 데이터를 버퍼에 저장</a:t>
            </a:r>
          </a:p>
          <a:p>
            <a:pPr lvl="1"/>
            <a:r>
              <a:rPr lang="ko-KR" altLang="en-US" sz="2000" dirty="0"/>
              <a:t>다음 경우 실제 장치로 전달됨</a:t>
            </a:r>
          </a:p>
          <a:p>
            <a:pPr lvl="1"/>
            <a:r>
              <a:rPr lang="ko-KR" altLang="en-US" sz="2000" dirty="0"/>
              <a:t>버퍼가 가득 찼을 때</a:t>
            </a:r>
            <a:endParaRPr lang="en-US" altLang="ko-KR" sz="2000" dirty="0"/>
          </a:p>
          <a:p>
            <a:pPr lvl="1"/>
            <a:r>
              <a:rPr lang="ko-KR" altLang="en-US" sz="2000" dirty="0"/>
              <a:t>개행 문자 출력 시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fflush</a:t>
            </a:r>
            <a:r>
              <a:rPr lang="en-US" altLang="ko-KR" sz="2000" dirty="0"/>
              <a:t> </a:t>
            </a:r>
            <a:r>
              <a:rPr lang="ko-KR" altLang="en-US" sz="2000" dirty="0"/>
              <a:t>호출 시</a:t>
            </a:r>
            <a:endParaRPr lang="en-US" altLang="ko-KR" sz="2000" dirty="0"/>
          </a:p>
          <a:p>
            <a:pPr lvl="1"/>
            <a:r>
              <a:rPr lang="ko-KR" altLang="en-US" sz="2000" dirty="0"/>
              <a:t>스트림 종료 시</a:t>
            </a:r>
            <a:endParaRPr lang="en-US" altLang="ko-KR" sz="2000" dirty="0"/>
          </a:p>
          <a:p>
            <a:pPr lvl="2"/>
            <a:endParaRPr lang="ko-KR" altLang="en-US" dirty="0"/>
          </a:p>
          <a:p>
            <a:r>
              <a:rPr lang="ko-KR" altLang="en-US" sz="2400" dirty="0"/>
              <a:t>입력 동작</a:t>
            </a:r>
            <a:endParaRPr lang="en-US" altLang="ko-KR" sz="2400" dirty="0"/>
          </a:p>
          <a:p>
            <a:pPr lvl="1"/>
            <a:r>
              <a:rPr lang="ko-KR" altLang="en-US" sz="2000" dirty="0"/>
              <a:t>장치 → 데이터를 한 번에 읽어서 버퍼 저장</a:t>
            </a:r>
            <a:endParaRPr lang="en-US" altLang="ko-KR" sz="2000" dirty="0"/>
          </a:p>
          <a:p>
            <a:pPr lvl="1"/>
            <a:r>
              <a:rPr lang="ko-KR" altLang="en-US" sz="2000" dirty="0"/>
              <a:t>프로그램 → 버퍼에서 필요한 만큼 사용</a:t>
            </a:r>
            <a:endParaRPr lang="en-US" altLang="ko-KR" sz="2000" dirty="0"/>
          </a:p>
          <a:p>
            <a:pPr lvl="1"/>
            <a:r>
              <a:rPr lang="ko-KR" altLang="en-US" sz="2000" dirty="0"/>
              <a:t>장치 접근 횟수 감소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A35B53-7AC8-8082-AA02-8D80B5C596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D15A85-A6B2-212F-5809-18C539019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556792"/>
            <a:ext cx="4170065" cy="198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81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FA1AD-1039-D5AA-C0DA-506C189A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16.1 </a:t>
            </a:r>
            <a:r>
              <a:rPr lang="ko-KR" altLang="en-US" dirty="0"/>
              <a:t>스트림</a:t>
            </a:r>
            <a:r>
              <a:rPr lang="en-US" altLang="ko-KR" dirty="0"/>
              <a:t>(Stream)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58D34-A986-1079-0DA4-69965472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스트림 종류</a:t>
            </a:r>
          </a:p>
          <a:p>
            <a:pPr lvl="1"/>
            <a:r>
              <a:rPr lang="ko-KR" altLang="en-US" sz="2000" dirty="0"/>
              <a:t>텍스트 스트림</a:t>
            </a:r>
          </a:p>
          <a:p>
            <a:pPr lvl="2"/>
            <a:r>
              <a:rPr lang="ko-KR" altLang="en-US" sz="1800" dirty="0"/>
              <a:t>문자 기반 입출력</a:t>
            </a:r>
          </a:p>
          <a:p>
            <a:pPr lvl="2"/>
            <a:r>
              <a:rPr lang="ko-KR" altLang="en-US" sz="1800" dirty="0"/>
              <a:t>사람이 읽기 쉬움</a:t>
            </a:r>
          </a:p>
          <a:p>
            <a:pPr lvl="1"/>
            <a:r>
              <a:rPr lang="ko-KR" altLang="en-US" sz="2000" dirty="0"/>
              <a:t>바이너리 스트림</a:t>
            </a:r>
          </a:p>
          <a:p>
            <a:pPr lvl="2"/>
            <a:r>
              <a:rPr lang="ko-KR" altLang="en-US" sz="1800" dirty="0"/>
              <a:t>데이터를 그대로 입출력</a:t>
            </a:r>
          </a:p>
          <a:p>
            <a:pPr lvl="2"/>
            <a:r>
              <a:rPr lang="ko-KR" altLang="en-US" sz="1800" dirty="0"/>
              <a:t>구조체</a:t>
            </a:r>
            <a:r>
              <a:rPr lang="en-US" altLang="ko-KR" sz="1800" dirty="0"/>
              <a:t>, </a:t>
            </a:r>
            <a:r>
              <a:rPr lang="ko-KR" altLang="en-US" sz="1800" dirty="0"/>
              <a:t>게임 데이터 등에 사용</a:t>
            </a:r>
            <a:endParaRPr lang="en-US" altLang="ko-KR" sz="1800" dirty="0"/>
          </a:p>
          <a:p>
            <a:pPr lvl="3"/>
            <a:endParaRPr lang="ko-KR" altLang="en-US" sz="1600" dirty="0"/>
          </a:p>
          <a:p>
            <a:r>
              <a:rPr lang="ko-KR" altLang="en-US" sz="2400" dirty="0"/>
              <a:t>표준 스트림</a:t>
            </a:r>
          </a:p>
          <a:p>
            <a:pPr lvl="1"/>
            <a:r>
              <a:rPr lang="ko-KR" altLang="en-US" sz="2000" dirty="0"/>
              <a:t>프로그램 시작 시 자동 생성</a:t>
            </a:r>
          </a:p>
          <a:p>
            <a:pPr lvl="1"/>
            <a:r>
              <a:rPr lang="en-US" altLang="ko-KR" sz="2000" dirty="0"/>
              <a:t>stdin : </a:t>
            </a:r>
            <a:r>
              <a:rPr lang="ko-KR" altLang="en-US" sz="2000" dirty="0"/>
              <a:t>표준 입력 </a:t>
            </a:r>
          </a:p>
          <a:p>
            <a:pPr lvl="1"/>
            <a:r>
              <a:rPr lang="en-US" altLang="ko-KR" sz="2000" dirty="0" err="1"/>
              <a:t>stdout</a:t>
            </a:r>
            <a:r>
              <a:rPr lang="en-US" altLang="ko-KR" sz="2000" dirty="0"/>
              <a:t> : </a:t>
            </a:r>
            <a:r>
              <a:rPr lang="ko-KR" altLang="en-US" sz="2000" dirty="0"/>
              <a:t>표준 출력 </a:t>
            </a:r>
          </a:p>
          <a:p>
            <a:pPr lvl="1"/>
            <a:r>
              <a:rPr lang="en-US" altLang="ko-KR" sz="2000" dirty="0"/>
              <a:t>stderr : </a:t>
            </a:r>
            <a:r>
              <a:rPr lang="ko-KR" altLang="en-US" sz="2000" dirty="0"/>
              <a:t>표준 에러 출력</a:t>
            </a:r>
            <a:endParaRPr lang="en-US" altLang="ko-KR" sz="2000" dirty="0"/>
          </a:p>
          <a:p>
            <a:pPr lvl="3"/>
            <a:endParaRPr lang="en-US" altLang="ko-KR" sz="1400" dirty="0"/>
          </a:p>
          <a:p>
            <a:r>
              <a:rPr lang="en-US" altLang="ko-KR" sz="2400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4078F2"/>
                </a:solidFill>
                <a:latin typeface="Consolas" panose="020B0609020204030204" pitchFamily="49" charset="0"/>
              </a:rPr>
              <a:t>fflush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(FILE *stream)</a:t>
            </a:r>
            <a:endParaRPr lang="en-US" altLang="ko-KR" sz="2400" dirty="0"/>
          </a:p>
          <a:p>
            <a:pPr lvl="1"/>
            <a:r>
              <a:rPr lang="ko-KR" altLang="en-US" sz="2000" dirty="0"/>
              <a:t>출력 버퍼를 즉시 비움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EDFBA-079B-B20A-B11F-481A614BC8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F44884-ECFA-DB55-B5A0-1087C308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638" y="3645024"/>
            <a:ext cx="4410075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E91BBD-E9D5-D9CF-5EE4-BAB2AB304842}"/>
              </a:ext>
            </a:extLst>
          </p:cNvPr>
          <p:cNvSpPr txBox="1"/>
          <p:nvPr/>
        </p:nvSpPr>
        <p:spPr>
          <a:xfrm>
            <a:off x="4788024" y="5683975"/>
            <a:ext cx="417646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"Loading..."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fflush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즉시 화면에 출력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3511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3E57-C08F-1DB0-586A-0A1A9DE8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33D51-3C3C-087B-9C40-22A5A9CB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 </a:t>
            </a:r>
            <a:r>
              <a:rPr lang="ko-KR" altLang="en-US" dirty="0"/>
              <a:t>파일 스트림 생성</a:t>
            </a:r>
            <a:r>
              <a:rPr lang="en-US" altLang="ko-KR" dirty="0"/>
              <a:t>/</a:t>
            </a:r>
            <a:r>
              <a:rPr lang="ko-KR" altLang="en-US" dirty="0"/>
              <a:t>종료</a:t>
            </a:r>
            <a:r>
              <a:rPr lang="en-US" altLang="ko-KR" dirty="0"/>
              <a:t> fopen, fclose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B1B859-900C-39A8-92B2-B16CA974B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파일 스트림의 생성과 종료</a:t>
            </a:r>
          </a:p>
          <a:p>
            <a:pPr lvl="1"/>
            <a:r>
              <a:rPr lang="ko-KR" altLang="en-US" sz="2000" dirty="0"/>
              <a:t>파일은 운영체제가 관리하는 시스템 자원</a:t>
            </a:r>
            <a:br>
              <a:rPr lang="en-US" altLang="ko-KR" sz="2000" dirty="0"/>
            </a:br>
            <a:r>
              <a:rPr lang="ko-KR" altLang="en-US" sz="2000" dirty="0"/>
              <a:t>→ 사용 후 반드시 반환 필요 </a:t>
            </a:r>
            <a:r>
              <a:rPr lang="en-US" altLang="ko-KR" sz="2000" dirty="0"/>
              <a:t>(fclose) → </a:t>
            </a:r>
            <a:r>
              <a:rPr lang="ko-KR" altLang="en-US" sz="2000" dirty="0"/>
              <a:t>장시간 실행 시 자원 누수 발생</a:t>
            </a:r>
            <a:endParaRPr lang="en-US" altLang="ko-KR" sz="2000" dirty="0"/>
          </a:p>
          <a:p>
            <a:pPr lvl="3"/>
            <a:endParaRPr lang="ko-KR" altLang="en-US" dirty="0"/>
          </a:p>
          <a:p>
            <a:r>
              <a:rPr lang="ko-KR" altLang="en-US" sz="2400" dirty="0"/>
              <a:t>자원 해제</a:t>
            </a:r>
          </a:p>
          <a:p>
            <a:pPr lvl="1"/>
            <a:r>
              <a:rPr lang="ko-KR" altLang="en-US" sz="2000" dirty="0"/>
              <a:t>동적 메모리</a:t>
            </a:r>
            <a:r>
              <a:rPr lang="en-US" altLang="ko-KR" sz="2000" dirty="0"/>
              <a:t>: </a:t>
            </a:r>
            <a:r>
              <a:rPr lang="en-US" altLang="ko-KR" sz="2000" dirty="0">
                <a:solidFill>
                  <a:srgbClr val="0099FF"/>
                </a:solidFill>
              </a:rPr>
              <a:t>malloc</a:t>
            </a:r>
            <a:r>
              <a:rPr lang="en-US" altLang="ko-KR" sz="2000" dirty="0"/>
              <a:t> → </a:t>
            </a:r>
            <a:r>
              <a:rPr lang="en-US" altLang="ko-KR" sz="2000" dirty="0">
                <a:solidFill>
                  <a:srgbClr val="0099FF"/>
                </a:solidFill>
              </a:rPr>
              <a:t>free</a:t>
            </a:r>
          </a:p>
          <a:p>
            <a:pPr lvl="1"/>
            <a:r>
              <a:rPr lang="ko-KR" altLang="en-US" sz="2000" dirty="0"/>
              <a:t>파일 스트림</a:t>
            </a:r>
            <a:r>
              <a:rPr lang="en-US" altLang="ko-KR" sz="2000" dirty="0"/>
              <a:t>: </a:t>
            </a:r>
            <a:r>
              <a:rPr lang="en-US" altLang="ko-KR" sz="2800" dirty="0">
                <a:solidFill>
                  <a:srgbClr val="0000FF"/>
                </a:solidFill>
              </a:rPr>
              <a:t>fopen</a:t>
            </a:r>
            <a:r>
              <a:rPr lang="en-US" altLang="ko-KR" sz="2000" dirty="0"/>
              <a:t> → </a:t>
            </a:r>
            <a:r>
              <a:rPr lang="en-US" altLang="ko-KR" sz="2800" dirty="0">
                <a:solidFill>
                  <a:srgbClr val="0000FF"/>
                </a:solidFill>
              </a:rPr>
              <a:t>fclose</a:t>
            </a:r>
            <a:endParaRPr lang="en-US" altLang="ko-KR" sz="2000" dirty="0">
              <a:solidFill>
                <a:srgbClr val="0000FF"/>
              </a:solidFill>
            </a:endParaRPr>
          </a:p>
          <a:p>
            <a:pPr lvl="3"/>
            <a:endParaRPr lang="en-US" altLang="ko-KR" dirty="0"/>
          </a:p>
          <a:p>
            <a:r>
              <a:rPr lang="ko-KR" altLang="en-US" sz="2400" dirty="0"/>
              <a:t>기본 흐름</a:t>
            </a:r>
          </a:p>
          <a:p>
            <a:pPr lvl="1"/>
            <a:r>
              <a:rPr lang="en-US" altLang="ko-KR" sz="2000" dirty="0"/>
              <a:t>fopen (</a:t>
            </a:r>
            <a:r>
              <a:rPr lang="ko-KR" altLang="en-US" sz="2000" dirty="0"/>
              <a:t>열기</a:t>
            </a:r>
            <a:r>
              <a:rPr lang="en-US" altLang="ko-KR" sz="2000" dirty="0"/>
              <a:t>) → </a:t>
            </a:r>
            <a:r>
              <a:rPr lang="ko-KR" altLang="en-US" sz="2000" dirty="0"/>
              <a:t>읽기 → 활용 → </a:t>
            </a:r>
            <a:r>
              <a:rPr lang="en-US" altLang="ko-KR" sz="2000" dirty="0" err="1"/>
              <a:t>fclose</a:t>
            </a:r>
            <a:r>
              <a:rPr lang="en-US" altLang="ko-KR" sz="2000" dirty="0"/>
              <a:t> (</a:t>
            </a:r>
            <a:r>
              <a:rPr lang="ko-KR" altLang="en-US" sz="2000" dirty="0"/>
              <a:t>닫기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/>
              <a:t>		           </a:t>
            </a:r>
            <a:r>
              <a:rPr lang="ko-KR" altLang="en-US" sz="2000" dirty="0"/>
              <a:t>쓰기               → </a:t>
            </a:r>
            <a:r>
              <a:rPr lang="en-US" altLang="ko-KR" sz="2000" dirty="0"/>
              <a:t>fclose (</a:t>
            </a:r>
            <a:r>
              <a:rPr lang="ko-KR" altLang="en-US" sz="2000" dirty="0"/>
              <a:t>닫기</a:t>
            </a:r>
            <a:r>
              <a:rPr lang="en-US" altLang="ko-KR" sz="2000" dirty="0"/>
              <a:t>)</a:t>
            </a:r>
          </a:p>
          <a:p>
            <a:pPr lvl="3"/>
            <a:endParaRPr lang="en-US" altLang="ko-KR" dirty="0"/>
          </a:p>
          <a:p>
            <a:pPr lvl="1"/>
            <a:r>
              <a:rPr lang="ko-KR" altLang="en-US" sz="2000" dirty="0"/>
              <a:t>내부 동작</a:t>
            </a:r>
            <a:endParaRPr lang="en-US" altLang="ko-KR" sz="2000" dirty="0"/>
          </a:p>
          <a:p>
            <a:pPr lvl="2"/>
            <a:r>
              <a:rPr lang="en-US" altLang="ko-KR" sz="1600" dirty="0"/>
              <a:t>OS: </a:t>
            </a:r>
            <a:r>
              <a:rPr lang="ko-KR" altLang="en-US" sz="1600" dirty="0"/>
              <a:t>파일 </a:t>
            </a:r>
            <a:r>
              <a:rPr lang="ko-KR" altLang="en-US" sz="1600" dirty="0" err="1"/>
              <a:t>디스크립터</a:t>
            </a:r>
            <a:r>
              <a:rPr lang="en-US" altLang="ko-KR" sz="1600" dirty="0"/>
              <a:t>, </a:t>
            </a:r>
            <a:r>
              <a:rPr lang="ko-KR" altLang="en-US" sz="1600" dirty="0"/>
              <a:t>버퍼 등 자원 할당</a:t>
            </a:r>
            <a:br>
              <a:rPr lang="en-US" altLang="ko-KR" sz="1600" dirty="0"/>
            </a:br>
            <a:r>
              <a:rPr lang="en-US" altLang="ko-KR" sz="1600" dirty="0"/>
              <a:t>→ </a:t>
            </a:r>
            <a:r>
              <a:rPr lang="ko-KR" altLang="en-US" sz="1600" dirty="0"/>
              <a:t>파일 스트림</a:t>
            </a:r>
            <a:r>
              <a:rPr lang="en-US" altLang="ko-KR" sz="1600" dirty="0"/>
              <a:t>(FILE) </a:t>
            </a:r>
            <a:r>
              <a:rPr lang="ko-KR" altLang="en-US" sz="1600" dirty="0"/>
              <a:t>으로 관리</a:t>
            </a:r>
            <a:endParaRPr lang="ko-KR" altLang="en-US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46A322-FE7C-28C2-8CF1-29A958452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818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 </a:t>
            </a:r>
            <a:r>
              <a:rPr lang="ko-KR" altLang="en-US" dirty="0"/>
              <a:t>파일 열기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Windows  </a:t>
            </a:r>
            <a:r>
              <a:rPr lang="ko-KR" altLang="en-US" sz="1800" dirty="0"/>
              <a:t>텍스트 모드</a:t>
            </a:r>
            <a:r>
              <a:rPr lang="en-US" altLang="ko-KR" sz="1800" dirty="0"/>
              <a:t> </a:t>
            </a:r>
            <a:r>
              <a:rPr lang="ko-KR" altLang="en-US" sz="1800" dirty="0"/>
              <a:t>주의</a:t>
            </a:r>
            <a:endParaRPr lang="en-US" altLang="ko-KR" sz="1800" dirty="0"/>
          </a:p>
          <a:p>
            <a:pPr lvl="1"/>
            <a:r>
              <a:rPr lang="ko-KR" altLang="en-US" sz="1600" dirty="0"/>
              <a:t>줄바꿈 자동 변환 </a:t>
            </a:r>
            <a:r>
              <a:rPr lang="en-US" altLang="ko-KR" sz="1600" dirty="0"/>
              <a:t>(\n ↔ \r\n)</a:t>
            </a:r>
            <a:r>
              <a:rPr lang="ko-KR" altLang="en-US" sz="1600" dirty="0"/>
              <a:t> → 바이너리 모드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7" name="내용 개체 틀 4">
            <a:extLst>
              <a:ext uri="{FF2B5EF4-FFF2-40B4-BE49-F238E27FC236}">
                <a16:creationId xmlns:a16="http://schemas.microsoft.com/office/drawing/2014/main" id="{05500048-47E9-FBFA-FF13-5A74445C97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4731957"/>
              </p:ext>
            </p:extLst>
          </p:nvPr>
        </p:nvGraphicFramePr>
        <p:xfrm>
          <a:off x="467544" y="1484784"/>
          <a:ext cx="8532949" cy="4559552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6507107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647291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7276749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2404782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233713190"/>
                    </a:ext>
                  </a:extLst>
                </a:gridCol>
                <a:gridCol w="3492389">
                  <a:extLst>
                    <a:ext uri="{9D8B030D-6E8A-4147-A177-3AD203B41FA5}">
                      <a16:colId xmlns:a16="http://schemas.microsoft.com/office/drawing/2014/main" val="1515882383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모드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읽기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쓰기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존재 조건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텍스트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바이너리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파일에 저장된 기존 내용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244981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"r"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반드시 존재해야 함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(rt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7972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"w"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alt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wt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기존 데이터 모두 삭제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(truncate) 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후 새로 작성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28134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"a"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(at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 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파일 끝에 추가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6612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"r+"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반드시 존재해야 함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(r+t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21490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"w+"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alt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w+t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모두 삭제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(truncate)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 새로 작성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29858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"a+"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텍스트 모드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alt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a+t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와 동일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쓰기 위치는 항상 끝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24780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r>
                        <a:rPr lang="en-US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rb</a:t>
                      </a: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반드시 존재해야 함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04377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r>
                        <a:rPr lang="en-US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wb</a:t>
                      </a: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기존 데이터 모두 삭제</a:t>
                      </a:r>
                      <a:r>
                        <a:rPr lang="en-US" altLang="ko-KR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(truncate) </a:t>
                      </a:r>
                      <a:r>
                        <a:rPr lang="ko-KR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후 새로 작성</a:t>
                      </a:r>
                      <a:endParaRPr lang="ko-KR" altLang="en-US" sz="24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72506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"ab"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끝에 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918511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r+b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반드시 존재해야 함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71731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w+b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모두 삭제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(truncate)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 새로 작성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5849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a+b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endParaRPr 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없으면 생성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바이너리 모드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(b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데이터 유지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쓰기 위치는 항상 끝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827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45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4FB28-E4D5-0319-2E92-73ED9808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16.2.1 </a:t>
            </a:r>
            <a:r>
              <a:rPr lang="ko-KR" altLang="en-US" dirty="0"/>
              <a:t>파일 열기 모드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BF073-A821-1960-715A-EC31B02B0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&lt;</a:t>
            </a:r>
            <a:r>
              <a:rPr lang="ko-KR" altLang="en-US" sz="2000" dirty="0"/>
              <a:t>파일 열기 모드 사용 예제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F3D6C1-594F-9AD9-5F5D-5D3EFB6413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B7B1B-A78A-B576-5B3A-821A3996DA8E}"/>
              </a:ext>
            </a:extLst>
          </p:cNvPr>
          <p:cNvSpPr txBox="1"/>
          <p:nvPr/>
        </p:nvSpPr>
        <p:spPr>
          <a:xfrm>
            <a:off x="683568" y="1196752"/>
            <a:ext cx="7416824" cy="50783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열기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쓰기 모드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FILE* fp = fopen(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유효 체크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(!fp)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"fopen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실패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또는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("fopen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실패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");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986801"/>
                </a:solidFill>
                <a:latin typeface="Consolas" panose="020B0609020204030204" pitchFamily="49" charset="0"/>
              </a:rPr>
              <a:t>error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파일에 데이터 기록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 File\n"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4.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닫기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자원 반환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fclose(fp);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 = 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018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EOF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End Of File</a:t>
            </a:r>
          </a:p>
          <a:p>
            <a:pPr lvl="1"/>
            <a:r>
              <a:rPr lang="ko-KR" altLang="en-US" dirty="0"/>
              <a:t>더 이상 읽을 데이터가 없는 상태</a:t>
            </a:r>
          </a:p>
          <a:p>
            <a:pPr lvl="1"/>
            <a:r>
              <a:rPr lang="ko-KR" altLang="en-US" dirty="0"/>
              <a:t>음수 값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-1)</a:t>
            </a:r>
            <a:r>
              <a:rPr lang="ko-KR" altLang="en-US" dirty="0"/>
              <a:t>으로 정의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입력 함수 </a:t>
            </a:r>
            <a:r>
              <a:rPr lang="en-US" altLang="ko-KR" dirty="0"/>
              <a:t>(</a:t>
            </a:r>
            <a:r>
              <a:rPr lang="en-US" altLang="ko-KR" dirty="0" err="1"/>
              <a:t>fgetc</a:t>
            </a:r>
            <a:r>
              <a:rPr lang="en-US" altLang="ko-KR" dirty="0"/>
              <a:t>, </a:t>
            </a:r>
            <a:r>
              <a:rPr lang="en-US" altLang="ko-KR" dirty="0" err="1"/>
              <a:t>getchar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반환형이 </a:t>
            </a:r>
            <a:r>
              <a:rPr lang="en-US" altLang="ko-KR" dirty="0">
                <a:solidFill>
                  <a:srgbClr val="0099FF"/>
                </a:solidFill>
              </a:rPr>
              <a:t>int</a:t>
            </a:r>
            <a:r>
              <a:rPr lang="ko-KR" altLang="en-US" dirty="0"/>
              <a:t> → 데이터 없음 시 </a:t>
            </a:r>
            <a:r>
              <a:rPr lang="en-US" altLang="ko-KR" dirty="0">
                <a:solidFill>
                  <a:srgbClr val="0099FF"/>
                </a:solidFill>
              </a:rPr>
              <a:t>EOF</a:t>
            </a:r>
            <a:r>
              <a:rPr lang="en-US" altLang="ko-KR" dirty="0"/>
              <a:t> </a:t>
            </a:r>
            <a:r>
              <a:rPr lang="ko-KR" altLang="en-US" dirty="0"/>
              <a:t>반환</a:t>
            </a:r>
          </a:p>
          <a:p>
            <a:pPr lvl="2"/>
            <a:endParaRPr lang="ko-KR" altLang="en-US" dirty="0"/>
          </a:p>
          <a:p>
            <a:r>
              <a:rPr lang="ko-KR" altLang="en-US" dirty="0"/>
              <a:t>콘솔 </a:t>
            </a:r>
            <a:r>
              <a:rPr lang="en-US" altLang="ko-KR" dirty="0"/>
              <a:t>EOF </a:t>
            </a:r>
            <a:r>
              <a:rPr lang="ko-KR" altLang="en-US" dirty="0"/>
              <a:t>입력</a:t>
            </a:r>
          </a:p>
          <a:p>
            <a:pPr lvl="1"/>
            <a:r>
              <a:rPr lang="en-US" altLang="ko-KR" dirty="0"/>
              <a:t>Windows: Ctrl + Z → Enter</a:t>
            </a:r>
          </a:p>
          <a:p>
            <a:pPr lvl="1"/>
            <a:r>
              <a:rPr lang="en-US" altLang="ko-KR" dirty="0"/>
              <a:t>Linux/macOS: Ctrl + D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A00EB-CE55-33B5-04E9-F52E50143C4D}"/>
              </a:ext>
            </a:extLst>
          </p:cNvPr>
          <p:cNvSpPr txBox="1"/>
          <p:nvPr/>
        </p:nvSpPr>
        <p:spPr>
          <a:xfrm>
            <a:off x="1115616" y="2276872"/>
            <a:ext cx="5976664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4000" dirty="0">
                <a:solidFill>
                  <a:srgbClr val="8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#define</a:t>
            </a:r>
            <a:r>
              <a:rPr lang="en-US" altLang="ko-KR" sz="4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40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EOF</a:t>
            </a:r>
            <a:r>
              <a:rPr lang="en-US" altLang="ko-KR" sz="4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(-</a:t>
            </a:r>
            <a:r>
              <a:rPr lang="en-US" altLang="ko-KR" sz="40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</a:t>
            </a:r>
            <a:r>
              <a:rPr lang="en-US" altLang="ko-KR" sz="4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63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A0078-08D2-3F34-48FE-03F97777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90A05-8257-82EF-5CF5-60B403BE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16.2.2 </a:t>
            </a:r>
            <a:r>
              <a:rPr lang="en-US" altLang="ko-KR" dirty="0" err="1"/>
              <a:t>feof</a:t>
            </a:r>
            <a:r>
              <a:rPr lang="en-US" altLang="ko-KR" dirty="0"/>
              <a:t> / </a:t>
            </a:r>
            <a:r>
              <a:rPr lang="en-US" altLang="ko-KR" dirty="0" err="1"/>
              <a:t>ferror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7942C0-57A6-894A-642E-42F4AB2C8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feof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(FILE* stream)</a:t>
            </a:r>
          </a:p>
          <a:p>
            <a:pPr lvl="1"/>
            <a:r>
              <a:rPr lang="ko-KR" altLang="en-US" dirty="0"/>
              <a:t>스트림이 파일 끝</a:t>
            </a:r>
            <a:r>
              <a:rPr lang="en-US" altLang="ko-KR" dirty="0"/>
              <a:t>(EOF)</a:t>
            </a:r>
            <a:r>
              <a:rPr lang="ko-KR" altLang="en-US" dirty="0"/>
              <a:t>에 도달한 경우 </a:t>
            </a:r>
            <a:r>
              <a:rPr lang="en-US" altLang="ko-KR" dirty="0"/>
              <a:t>0</a:t>
            </a:r>
            <a:r>
              <a:rPr lang="ko-KR" altLang="en-US" dirty="0"/>
              <a:t>이 아닌 값 반환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en-US" altLang="ko-KR" sz="2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ferror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 FILE* stream)</a:t>
            </a:r>
          </a:p>
          <a:p>
            <a:pPr lvl="1"/>
            <a:r>
              <a:rPr lang="ko-KR" altLang="en-US" dirty="0"/>
              <a:t>스트림에서 읽기</a:t>
            </a:r>
            <a:r>
              <a:rPr lang="en-US" altLang="ko-KR" dirty="0"/>
              <a:t>/</a:t>
            </a:r>
            <a:r>
              <a:rPr lang="ko-KR" altLang="en-US" dirty="0"/>
              <a:t>쓰기 오류가 발생한 경우 </a:t>
            </a:r>
            <a:r>
              <a:rPr lang="en-US" altLang="ko-KR" dirty="0"/>
              <a:t>0</a:t>
            </a:r>
            <a:r>
              <a:rPr lang="ko-KR" altLang="en-US" dirty="0"/>
              <a:t>이 아닌 값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B85408-4EBB-9F9D-C9B9-3295BCB1B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949B3-89DE-44A9-394F-3A7AAE24B080}"/>
              </a:ext>
            </a:extLst>
          </p:cNvPr>
          <p:cNvSpPr txBox="1"/>
          <p:nvPr/>
        </p:nvSpPr>
        <p:spPr>
          <a:xfrm>
            <a:off x="755576" y="3231416"/>
            <a:ext cx="6264696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(..., fp);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feof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 끝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(EOF)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에 도달했습니다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ferror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읽기 오류가 발생했습니다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5896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 </a:t>
            </a:r>
            <a:r>
              <a:rPr lang="ko-KR" altLang="en-US" dirty="0"/>
              <a:t>형식 기반 입출력 함수 계열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형식 기반 출력 함수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914400" lvl="2" indent="0">
              <a:buNone/>
            </a:pPr>
            <a:endParaRPr lang="en-US" altLang="ko-KR" sz="1800" dirty="0"/>
          </a:p>
          <a:p>
            <a:r>
              <a:rPr lang="ko-KR" altLang="en-US" sz="2400" dirty="0"/>
              <a:t>형식 기반 입력 함수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3DFB0A-14B9-C26A-005B-CFAF24E6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322959"/>
              </p:ext>
            </p:extLst>
          </p:nvPr>
        </p:nvGraphicFramePr>
        <p:xfrm>
          <a:off x="611559" y="1304132"/>
          <a:ext cx="6912768" cy="2304255"/>
        </p:xfrm>
        <a:graphic>
          <a:graphicData uri="http://schemas.openxmlformats.org/drawingml/2006/table">
            <a:tbl>
              <a:tblPr/>
              <a:tblGrid>
                <a:gridCol w="886921">
                  <a:extLst>
                    <a:ext uri="{9D8B030D-6E8A-4147-A177-3AD203B41FA5}">
                      <a16:colId xmlns:a16="http://schemas.microsoft.com/office/drawing/2014/main" val="248885760"/>
                    </a:ext>
                  </a:extLst>
                </a:gridCol>
                <a:gridCol w="2165131">
                  <a:extLst>
                    <a:ext uri="{9D8B030D-6E8A-4147-A177-3AD203B41FA5}">
                      <a16:colId xmlns:a16="http://schemas.microsoft.com/office/drawing/2014/main" val="2748483704"/>
                    </a:ext>
                  </a:extLst>
                </a:gridCol>
                <a:gridCol w="3860716">
                  <a:extLst>
                    <a:ext uri="{9D8B030D-6E8A-4147-A177-3AD203B41FA5}">
                      <a16:colId xmlns:a16="http://schemas.microsoft.com/office/drawing/2014/main" val="3691301210"/>
                    </a:ext>
                  </a:extLst>
                </a:gridCol>
              </a:tblGrid>
              <a:tr h="4608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45194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printf</a:t>
                      </a:r>
                      <a:endParaRPr lang="en-US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출력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 err="1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stdout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콘솔 화면에 형식에 맞춰 출력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680057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fprintf</a:t>
                      </a:r>
                      <a:endParaRPr lang="en-US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스트림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파일에 형식에 맞춰 출력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438679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sprintf</a:t>
                      </a:r>
                      <a:endParaRPr lang="en-US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버퍼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char*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버퍼에 형식에 맞춰 저장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526987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snprintf</a:t>
                      </a:r>
                      <a:endParaRPr lang="en-US" sz="28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버퍼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char*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크기를 제한하여 안전하게 저장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37655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504F425-F188-6D9E-8FD6-9A7B2A334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052243"/>
              </p:ext>
            </p:extLst>
          </p:nvPr>
        </p:nvGraphicFramePr>
        <p:xfrm>
          <a:off x="611559" y="4725874"/>
          <a:ext cx="6912768" cy="1655456"/>
        </p:xfrm>
        <a:graphic>
          <a:graphicData uri="http://schemas.openxmlformats.org/drawingml/2006/table">
            <a:tbl>
              <a:tblPr/>
              <a:tblGrid>
                <a:gridCol w="909575">
                  <a:extLst>
                    <a:ext uri="{9D8B030D-6E8A-4147-A177-3AD203B41FA5}">
                      <a16:colId xmlns:a16="http://schemas.microsoft.com/office/drawing/2014/main" val="2983350252"/>
                    </a:ext>
                  </a:extLst>
                </a:gridCol>
                <a:gridCol w="2186770">
                  <a:extLst>
                    <a:ext uri="{9D8B030D-6E8A-4147-A177-3AD203B41FA5}">
                      <a16:colId xmlns:a16="http://schemas.microsoft.com/office/drawing/2014/main" val="3846751666"/>
                    </a:ext>
                  </a:extLst>
                </a:gridCol>
                <a:gridCol w="3816423">
                  <a:extLst>
                    <a:ext uri="{9D8B030D-6E8A-4147-A177-3AD203B41FA5}">
                      <a16:colId xmlns:a16="http://schemas.microsoft.com/office/drawing/2014/main" val="227842393"/>
                    </a:ext>
                  </a:extLst>
                </a:gridCol>
              </a:tblGrid>
              <a:tr h="4138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389070"/>
                  </a:ext>
                </a:extLst>
              </a:tr>
              <a:tr h="4138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scanf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입력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stdin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콘솔 입력을 형식에 맞게 읽음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92349"/>
                  </a:ext>
                </a:extLst>
              </a:tr>
              <a:tr h="4138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fscanf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스트림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파일에서 형식에 맞게 읽음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151133"/>
                  </a:ext>
                </a:extLst>
              </a:tr>
              <a:tr h="4138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sscanf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문자열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altLang="ko-KR" sz="16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char*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문자열을 형식에 맞게 해석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파싱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16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257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12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E2F79-BF06-47C8-4DB7-1A06A21DD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16.3.1 </a:t>
            </a:r>
            <a:r>
              <a:rPr lang="ko-KR" altLang="en-US" dirty="0"/>
              <a:t>형식 기반 입출력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300F5-DE48-B08F-990C-916A889B2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EA5B39-18E3-4898-39FD-35CAE73DA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63220-546E-A247-6C23-449C98C71041}"/>
              </a:ext>
            </a:extLst>
          </p:cNvPr>
          <p:cNvSpPr txBox="1"/>
          <p:nvPr/>
        </p:nvSpPr>
        <p:spPr>
          <a:xfrm>
            <a:off x="251520" y="678480"/>
            <a:ext cx="8497193" cy="504753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level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hp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98.5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printf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"Level: %d, HP: %.1f\n"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level, hp);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FILE* fp = fopen(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"status.txt"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  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fprintf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"Level: %d, HP: %.1f\n"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level, hp);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  fclose(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  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sprintf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 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"Level: %d, HP: %.1f\n"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level, hp);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buffer);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56270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16.3.2 </a:t>
            </a:r>
            <a:r>
              <a:rPr lang="en-US" altLang="ko-KR" dirty="0" err="1"/>
              <a:t>snprintf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snprintf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b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uffer,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format,...)</a:t>
            </a:r>
          </a:p>
          <a:p>
            <a:endParaRPr lang="en-US" altLang="ko-KR" sz="20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/>
              <a:t>동작</a:t>
            </a:r>
          </a:p>
          <a:p>
            <a:pPr lvl="1"/>
            <a:r>
              <a:rPr lang="ko-KR" altLang="en-US" sz="2000" dirty="0"/>
              <a:t>주어진 크기 내에서 문자열 저장</a:t>
            </a:r>
          </a:p>
          <a:p>
            <a:pPr lvl="1"/>
            <a:r>
              <a:rPr lang="ko-KR" altLang="en-US" sz="2000" dirty="0"/>
              <a:t>최대 </a:t>
            </a:r>
            <a:r>
              <a:rPr lang="en-US" altLang="ko-KR" sz="2000" dirty="0">
                <a:solidFill>
                  <a:srgbClr val="CC00CC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count-1</a:t>
            </a:r>
            <a:r>
              <a:rPr lang="en-US" altLang="ko-KR" sz="2000" dirty="0"/>
              <a:t> </a:t>
            </a:r>
            <a:r>
              <a:rPr lang="ko-KR" altLang="en-US" sz="2000" dirty="0"/>
              <a:t>문자 </a:t>
            </a:r>
            <a:r>
              <a:rPr lang="en-US" altLang="ko-KR" sz="2000" dirty="0"/>
              <a:t>+ </a:t>
            </a:r>
            <a:r>
              <a:rPr lang="en-US" altLang="ko-KR" sz="2000" dirty="0">
                <a:solidFill>
                  <a:srgbClr val="CC00CC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'\0'</a:t>
            </a:r>
            <a:r>
              <a:rPr lang="en-US" altLang="ko-KR" sz="2000" dirty="0"/>
              <a:t> </a:t>
            </a:r>
            <a:r>
              <a:rPr lang="ko-KR" altLang="en-US" sz="2000" dirty="0"/>
              <a:t>기록</a:t>
            </a:r>
          </a:p>
          <a:p>
            <a:pPr lvl="1"/>
            <a:r>
              <a:rPr lang="ko-KR" altLang="en-US" sz="2000" dirty="0"/>
              <a:t>버퍼 범위를 넘지 않음</a:t>
            </a:r>
            <a:endParaRPr lang="en-US" altLang="ko-KR" sz="2000" dirty="0"/>
          </a:p>
          <a:p>
            <a:pPr lvl="1"/>
            <a:r>
              <a:rPr lang="ko-KR" altLang="en-US" sz="2000" dirty="0"/>
              <a:t>문자열이 잘릴 수 있음</a:t>
            </a:r>
            <a:endParaRPr lang="en-US" altLang="ko-KR" sz="2000" dirty="0"/>
          </a:p>
          <a:p>
            <a:pPr lvl="2"/>
            <a:endParaRPr lang="ko-KR" altLang="en-US" sz="1400" dirty="0"/>
          </a:p>
          <a:p>
            <a:r>
              <a:rPr lang="ko-KR" altLang="en-US" sz="2400" dirty="0"/>
              <a:t>반환값</a:t>
            </a:r>
          </a:p>
          <a:p>
            <a:pPr lvl="1"/>
            <a:r>
              <a:rPr lang="ko-KR" altLang="en-US" sz="2000" dirty="0">
                <a:solidFill>
                  <a:srgbClr val="CC00CC"/>
                </a:solidFill>
              </a:rPr>
              <a:t>실제로 출력하려고 했던</a:t>
            </a:r>
            <a:br>
              <a:rPr lang="en-US" altLang="ko-KR" sz="2000" dirty="0">
                <a:solidFill>
                  <a:srgbClr val="CC00CC"/>
                </a:solidFill>
              </a:rPr>
            </a:br>
            <a:r>
              <a:rPr lang="ko-KR" altLang="en-US" sz="2000" dirty="0">
                <a:solidFill>
                  <a:srgbClr val="CC00CC"/>
                </a:solidFill>
              </a:rPr>
              <a:t>전체 문자열 길이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CD7C2-491D-088C-4AEE-8AB7D27A618F}"/>
              </a:ext>
            </a:extLst>
          </p:cNvPr>
          <p:cNvSpPr txBox="1"/>
          <p:nvPr/>
        </p:nvSpPr>
        <p:spPr>
          <a:xfrm>
            <a:off x="4354907" y="2564904"/>
            <a:ext cx="468052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123456789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snprintf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              ,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value);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문자열이 잘렸습니다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buffer);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764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16.3.3 </a:t>
            </a:r>
            <a:r>
              <a:rPr lang="ko-KR" altLang="en-US" dirty="0"/>
              <a:t>형식 기반 입력 </a:t>
            </a:r>
            <a:r>
              <a:rPr lang="en-US" altLang="ko-KR" dirty="0"/>
              <a:t>- scanf </a:t>
            </a:r>
            <a:r>
              <a:rPr lang="ko-KR" altLang="en-US" dirty="0"/>
              <a:t>계열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공백 처리 </a:t>
            </a:r>
            <a:r>
              <a:rPr lang="en-US" altLang="ko-KR" sz="2400" dirty="0"/>
              <a:t>%s</a:t>
            </a:r>
          </a:p>
          <a:p>
            <a:pPr lvl="1"/>
            <a:r>
              <a:rPr lang="en-US" altLang="ko-KR" sz="2000" dirty="0"/>
              <a:t>→ </a:t>
            </a:r>
            <a:r>
              <a:rPr lang="ko-KR" altLang="en-US" sz="2000" dirty="0"/>
              <a:t>선행 공백 무시</a:t>
            </a:r>
          </a:p>
          <a:p>
            <a:pPr lvl="1"/>
            <a:r>
              <a:rPr lang="ko-KR" altLang="en-US" sz="2000" dirty="0"/>
              <a:t>→ 읽는 도중 공백에서 입력 종료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길이 제한 </a:t>
            </a:r>
            <a:r>
              <a:rPr lang="en-US" altLang="ko-KR" sz="2400" dirty="0"/>
              <a:t>(</a:t>
            </a:r>
            <a:r>
              <a:rPr lang="ko-KR" altLang="en-US" sz="2400" dirty="0"/>
              <a:t>중요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문자열 입력 시 반드시 제한 지정</a:t>
            </a:r>
          </a:p>
          <a:p>
            <a:pPr lvl="1"/>
            <a:r>
              <a:rPr lang="ko-KR" altLang="en-US" sz="2000" dirty="0"/>
              <a:t>예</a:t>
            </a:r>
            <a:r>
              <a:rPr lang="en-US" altLang="ko-KR" sz="2000" dirty="0"/>
              <a:t>: char name[20] → %19s </a:t>
            </a:r>
            <a:r>
              <a:rPr lang="ko-KR" altLang="en-US" sz="2000" dirty="0"/>
              <a:t>← 버퍼 오버플로 방지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반환값 검증</a:t>
            </a:r>
          </a:p>
          <a:p>
            <a:pPr lvl="1"/>
            <a:r>
              <a:rPr lang="ko-KR" altLang="en-US" sz="2000" dirty="0"/>
              <a:t>반환값 </a:t>
            </a:r>
            <a:r>
              <a:rPr lang="en-US" altLang="ko-KR" sz="2000" dirty="0"/>
              <a:t>= </a:t>
            </a:r>
            <a:r>
              <a:rPr lang="ko-KR" altLang="en-US" sz="2000" dirty="0"/>
              <a:t>성공적으로 읽은 항목 수</a:t>
            </a:r>
            <a:r>
              <a:rPr lang="en-US" altLang="ko-KR" sz="2000" dirty="0"/>
              <a:t> </a:t>
            </a:r>
            <a:r>
              <a:rPr lang="ko-KR" altLang="en-US" sz="2000" dirty="0"/>
              <a:t>← 입력 오류 검사 필수</a:t>
            </a:r>
          </a:p>
          <a:p>
            <a:pPr lvl="1"/>
            <a:r>
              <a:rPr lang="en-US" altLang="ko-KR" sz="2000" dirty="0"/>
              <a:t>Ex)</a:t>
            </a:r>
            <a:r>
              <a:rPr lang="ko-KR" altLang="en-US" sz="2000" dirty="0"/>
              <a:t> </a:t>
            </a:r>
            <a:r>
              <a:rPr lang="en-US" altLang="ko-KR" sz="2000" dirty="0"/>
              <a:t>if (scanf("%d", &amp;value) != 1)</a:t>
            </a:r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개행 문자 주의</a:t>
            </a:r>
          </a:p>
          <a:p>
            <a:pPr lvl="1"/>
            <a:r>
              <a:rPr lang="en-US" altLang="ko-KR" sz="2000" dirty="0"/>
              <a:t>scanf </a:t>
            </a:r>
            <a:r>
              <a:rPr lang="ko-KR" altLang="en-US" sz="2000" dirty="0"/>
              <a:t>후 </a:t>
            </a:r>
            <a:r>
              <a:rPr lang="en-US" altLang="ko-KR" sz="2000" dirty="0"/>
              <a:t>'\n'</a:t>
            </a:r>
            <a:r>
              <a:rPr lang="ko-KR" altLang="en-US" sz="2000" dirty="0"/>
              <a:t>이 버퍼에 남을 수 있음</a:t>
            </a:r>
          </a:p>
          <a:p>
            <a:pPr lvl="1"/>
            <a:r>
              <a:rPr lang="ko-KR" altLang="en-US" sz="2000" dirty="0"/>
              <a:t>특히 문자 입력에서 문제 발생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607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61FF2-84DF-1389-4E71-3610CC14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051CF-E743-005C-C237-531F6CDE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16.3.3 </a:t>
            </a:r>
            <a:r>
              <a:rPr lang="ko-KR" altLang="en-US" dirty="0"/>
              <a:t>형식 기반 입력 </a:t>
            </a:r>
            <a:r>
              <a:rPr lang="en-US" altLang="ko-KR" dirty="0"/>
              <a:t>- scanf </a:t>
            </a:r>
            <a:r>
              <a:rPr lang="ko-KR" altLang="en-US" dirty="0"/>
              <a:t>계열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F59F60-FF9A-DF7E-BBE2-66FE74CB7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7FA5D2-A8C0-8091-D109-9D65592F93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D432F-B8D9-1E6A-31C1-E0B36F980799}"/>
              </a:ext>
            </a:extLst>
          </p:cNvPr>
          <p:cNvSpPr txBox="1"/>
          <p:nvPr/>
        </p:nvSpPr>
        <p:spPr>
          <a:xfrm>
            <a:off x="539750" y="620688"/>
            <a:ext cx="8064698" cy="59708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value;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위험한 입력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길이 제한 없음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scanf("%s", name);  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위험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안전한 문자열 입력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ret =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3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%19s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name);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(ret !=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 입력 성공 여부 확인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문자열 입력 오류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 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name);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 입력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반환값 검증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ret =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&amp;value);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(ret !=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 입력 성공 여부 확인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정수 입력 오류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 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입력된 값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value);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7037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en-US" altLang="ko-KR" dirty="0" err="1"/>
              <a:t>sscanf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sscanf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format, ...)</a:t>
            </a:r>
            <a:endParaRPr lang="en-US" altLang="ko-KR" sz="2400" dirty="0"/>
          </a:p>
          <a:p>
            <a:endParaRPr lang="en-US" altLang="ko-KR" dirty="0"/>
          </a:p>
          <a:p>
            <a:pPr lvl="1"/>
            <a:r>
              <a:rPr lang="ko-KR" altLang="en-US" dirty="0"/>
              <a:t>입력 대상 </a:t>
            </a:r>
            <a:r>
              <a:rPr lang="en-US" altLang="ko-KR" dirty="0"/>
              <a:t>= </a:t>
            </a:r>
            <a:r>
              <a:rPr lang="ko-KR" altLang="en-US" dirty="0"/>
              <a:t>메모리 문자열</a:t>
            </a:r>
            <a:endParaRPr lang="en-US" altLang="ko-KR" dirty="0"/>
          </a:p>
          <a:p>
            <a:pPr lvl="1"/>
            <a:r>
              <a:rPr lang="ko-KR" altLang="en-US" dirty="0"/>
              <a:t>문자열을 형식에 맞게 해석</a:t>
            </a:r>
          </a:p>
          <a:p>
            <a:pPr lvl="1"/>
            <a:r>
              <a:rPr lang="en-US" altLang="ko-KR" dirty="0"/>
              <a:t>scanf</a:t>
            </a:r>
            <a:r>
              <a:rPr lang="ko-KR" altLang="en-US" dirty="0"/>
              <a:t>와 동일한 방식으로 동작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사용 예</a:t>
            </a:r>
          </a:p>
          <a:p>
            <a:pPr lvl="1"/>
            <a:r>
              <a:rPr lang="ko-KR" altLang="en-US" dirty="0"/>
              <a:t>로그 파싱</a:t>
            </a:r>
          </a:p>
          <a:p>
            <a:pPr lvl="1"/>
            <a:r>
              <a:rPr lang="ko-KR" altLang="en-US" dirty="0"/>
              <a:t>설정 파일 처리</a:t>
            </a:r>
          </a:p>
          <a:p>
            <a:pPr lvl="1"/>
            <a:r>
              <a:rPr lang="ko-KR" altLang="en-US" dirty="0"/>
              <a:t>네트워크 데이터 해석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462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2529-8FBC-7AB0-E078-5798FF5E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35DFE-17B8-3C72-A4AC-8F53AE9C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16.3.4 </a:t>
            </a:r>
            <a:r>
              <a:rPr lang="en-US" altLang="ko-KR" dirty="0" err="1"/>
              <a:t>sscanf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1CEA1-0D6C-9B89-F295-E3F588BC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51351B-3EAE-1AB9-9A01-76860A86AF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B7834-3B7A-DF3E-73BC-9E7C827D72BC}"/>
              </a:ext>
            </a:extLst>
          </p:cNvPr>
          <p:cNvSpPr txBox="1"/>
          <p:nvPr/>
        </p:nvSpPr>
        <p:spPr>
          <a:xfrm>
            <a:off x="523110" y="792231"/>
            <a:ext cx="7920682" cy="58785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data[] 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"10 20"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x, y;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36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sscanf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(data,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%d"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&amp;x, &amp;y) ==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"x=%d y=%d\n"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x, y);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파싱 실패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2128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16.3.5 </a:t>
            </a:r>
            <a:r>
              <a:rPr lang="en-US" altLang="ko-KR" dirty="0" err="1"/>
              <a:t>fscanf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fscanf</a:t>
            </a:r>
            <a:br>
              <a:rPr lang="en-US" altLang="ko-KR" sz="24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(FILE *stream,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2400" dirty="0">
                <a:solidFill>
                  <a:srgbClr val="A626A4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 format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...)</a:t>
            </a:r>
          </a:p>
          <a:p>
            <a:pPr lvl="3"/>
            <a:endParaRPr lang="en-US" altLang="ko-KR" sz="16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lvl="1"/>
            <a:r>
              <a:rPr lang="ko-KR" altLang="en-US" sz="2000" dirty="0"/>
              <a:t>파일 스트림에서 형식에 맞게 데이터 읽기</a:t>
            </a:r>
          </a:p>
          <a:p>
            <a:pPr lvl="1"/>
            <a:r>
              <a:rPr lang="en-US" altLang="ko-KR" sz="2000" dirty="0"/>
              <a:t>scanf → stdin </a:t>
            </a:r>
            <a:r>
              <a:rPr lang="ko-KR" altLang="en-US" sz="2000" dirty="0"/>
              <a:t>대상</a:t>
            </a:r>
          </a:p>
          <a:p>
            <a:pPr lvl="1"/>
            <a:r>
              <a:rPr lang="en-US" altLang="ko-KR" sz="2000" dirty="0" err="1"/>
              <a:t>fscanf</a:t>
            </a:r>
            <a:r>
              <a:rPr lang="en-US" altLang="ko-KR" sz="2000" dirty="0"/>
              <a:t> → FILE </a:t>
            </a:r>
            <a:r>
              <a:rPr lang="ko-KR" altLang="en-US" sz="2000" dirty="0"/>
              <a:t>대상*</a:t>
            </a:r>
          </a:p>
          <a:p>
            <a:pPr lvl="1"/>
            <a:r>
              <a:rPr lang="ko-KR" altLang="en-US" sz="2000" dirty="0"/>
              <a:t>반환값 </a:t>
            </a:r>
            <a:r>
              <a:rPr lang="en-US" altLang="ko-KR" sz="2000" dirty="0"/>
              <a:t>= </a:t>
            </a:r>
            <a:r>
              <a:rPr lang="ko-KR" altLang="en-US" sz="2000" dirty="0"/>
              <a:t>성공적으로 읽은 항목 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BA40D-0604-4041-5959-8660AD69104B}"/>
              </a:ext>
            </a:extLst>
          </p:cNvPr>
          <p:cNvSpPr txBox="1"/>
          <p:nvPr/>
        </p:nvSpPr>
        <p:spPr>
          <a:xfrm>
            <a:off x="899592" y="3318570"/>
            <a:ext cx="6336704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open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FILE* fp = fopen(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(fp)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x, y;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en-US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로 파일 읽기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32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%d"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&amp;x, &amp;y) ==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"x=%d y=%d\n"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x, y);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05180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 </a:t>
            </a:r>
            <a:r>
              <a:rPr lang="ko-KR" altLang="en-US" dirty="0"/>
              <a:t>문자열 단위 입출력 함수 계열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출력 계열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입력 계열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67C46F-C12B-4966-A1F9-10904C00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79393"/>
              </p:ext>
            </p:extLst>
          </p:nvPr>
        </p:nvGraphicFramePr>
        <p:xfrm>
          <a:off x="755576" y="1556792"/>
          <a:ext cx="6696744" cy="1479322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3011911289"/>
                    </a:ext>
                  </a:extLst>
                </a:gridCol>
                <a:gridCol w="2265558">
                  <a:extLst>
                    <a:ext uri="{9D8B030D-6E8A-4147-A177-3AD203B41FA5}">
                      <a16:colId xmlns:a16="http://schemas.microsoft.com/office/drawing/2014/main" val="4035342512"/>
                    </a:ext>
                  </a:extLst>
                </a:gridCol>
                <a:gridCol w="2702994">
                  <a:extLst>
                    <a:ext uri="{9D8B030D-6E8A-4147-A177-3AD203B41FA5}">
                      <a16:colId xmlns:a16="http://schemas.microsoft.com/office/drawing/2014/main" val="627227531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함수</a:t>
                      </a:r>
                      <a:endParaRPr lang="ko-KR" altLang="en-US" sz="14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  <a:endParaRPr lang="ko-KR" altLang="en-US" sz="14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4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8349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putchar</a:t>
                      </a:r>
                      <a:endParaRPr lang="en-US" sz="48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표준 출력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stdout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 출력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99028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fputc</a:t>
                      </a:r>
                      <a:endParaRPr lang="en-US" sz="48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파일 스트림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 출력</a:t>
                      </a:r>
                      <a:endParaRPr lang="ko-KR" altLang="en-US" sz="3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14640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6092956-DD9D-4656-A909-9B4484A4E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58421"/>
              </p:ext>
            </p:extLst>
          </p:nvPr>
        </p:nvGraphicFramePr>
        <p:xfrm>
          <a:off x="755576" y="4221226"/>
          <a:ext cx="6696743" cy="1479322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156950512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02663703"/>
                    </a:ext>
                  </a:extLst>
                </a:gridCol>
                <a:gridCol w="2448271">
                  <a:extLst>
                    <a:ext uri="{9D8B030D-6E8A-4147-A177-3AD203B41FA5}">
                      <a16:colId xmlns:a16="http://schemas.microsoft.com/office/drawing/2014/main" val="207899577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함수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10580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getchar</a:t>
                      </a:r>
                      <a:endParaRPr lang="en-US" sz="48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표준 입력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stdin)</a:t>
                      </a:r>
                      <a:endParaRPr lang="en-US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 입력</a:t>
                      </a:r>
                      <a:endParaRPr lang="ko-KR" altLang="en-US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769963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fgetc</a:t>
                      </a:r>
                      <a:endParaRPr lang="en-US" sz="48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파일 스트림</a:t>
                      </a:r>
                      <a:endParaRPr lang="ko-KR" altLang="en-US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문자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 입력</a:t>
                      </a:r>
                      <a:endParaRPr lang="ko-KR" altLang="en-US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604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580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16.4.1 </a:t>
            </a:r>
            <a:r>
              <a:rPr lang="ko-KR" altLang="en-US" dirty="0"/>
              <a:t>문자열 단위 입출력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getchar</a:t>
            </a:r>
            <a:r>
              <a:rPr lang="en-US" altLang="ko-KR" dirty="0"/>
              <a:t> / </a:t>
            </a:r>
            <a:r>
              <a:rPr lang="en-US" altLang="ko-KR" dirty="0" err="1"/>
              <a:t>putchar</a:t>
            </a:r>
            <a:endParaRPr lang="en-US" altLang="ko-KR" dirty="0"/>
          </a:p>
          <a:p>
            <a:pPr lvl="1"/>
            <a:r>
              <a:rPr lang="ko-KR" altLang="en-US" dirty="0"/>
              <a:t>기본 스트림 사용 → </a:t>
            </a:r>
            <a:r>
              <a:rPr lang="en-US" altLang="ko-KR" dirty="0"/>
              <a:t>stdin, </a:t>
            </a:r>
            <a:r>
              <a:rPr lang="en-US" altLang="ko-KR" dirty="0" err="1"/>
              <a:t>stdout</a:t>
            </a:r>
            <a:endParaRPr lang="en-US" altLang="ko-KR" dirty="0"/>
          </a:p>
          <a:p>
            <a:r>
              <a:rPr lang="en-US" altLang="ko-KR" dirty="0" err="1"/>
              <a:t>fgetc</a:t>
            </a:r>
            <a:r>
              <a:rPr lang="en-US" altLang="ko-KR" dirty="0"/>
              <a:t> / </a:t>
            </a:r>
            <a:r>
              <a:rPr lang="en-US" altLang="ko-KR" dirty="0" err="1"/>
              <a:t>fputc</a:t>
            </a:r>
            <a:endParaRPr lang="en-US" altLang="ko-KR" dirty="0"/>
          </a:p>
          <a:p>
            <a:pPr lvl="1"/>
            <a:r>
              <a:rPr lang="en-US" altLang="ko-KR" dirty="0"/>
              <a:t>FILE* </a:t>
            </a:r>
            <a:r>
              <a:rPr lang="ko-KR" altLang="en-US" dirty="0"/>
              <a:t>스트림 직접 지정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720AE-FB93-4A14-5A7E-239C59C5C654}"/>
              </a:ext>
            </a:extLst>
          </p:cNvPr>
          <p:cNvSpPr txBox="1"/>
          <p:nvPr/>
        </p:nvSpPr>
        <p:spPr>
          <a:xfrm>
            <a:off x="286892" y="2704868"/>
            <a:ext cx="4069084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표준 입력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(stdin)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에서 문자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개를 읽는다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EOF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이면 루프 종료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(EOF == ch)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putchar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표준 출력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문자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개를 출력한다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putchar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(ch);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D436D-08AF-9A3F-9A09-3CF0E3042C0E}"/>
              </a:ext>
            </a:extLst>
          </p:cNvPr>
          <p:cNvSpPr txBox="1"/>
          <p:nvPr/>
        </p:nvSpPr>
        <p:spPr>
          <a:xfrm>
            <a:off x="4391349" y="2708920"/>
            <a:ext cx="4501131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stdin  :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표준 입력 스트림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보통 키보드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표준 출력 스트림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보통 콘솔 화면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fputc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FILE*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을 직접 지정하는 형태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 =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>
              <a:effectLst/>
            </a:endParaRPr>
          </a:p>
          <a:p>
            <a:pPr>
              <a:buNone/>
            </a:pPr>
            <a:br>
              <a:rPr lang="ko-KR" altLang="en-US" sz="1400" b="1" dirty="0">
                <a:effectLst/>
              </a:rPr>
            </a:b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EOF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이면 루프 종료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(EOF == ch)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fputc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(ch, 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stdout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24582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16.4.2 </a:t>
            </a:r>
            <a:r>
              <a:rPr lang="ko-KR" altLang="en-US" dirty="0"/>
              <a:t>문자열 단위 입출력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출력 계열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입력 계열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0BE9265-6850-48D0-9BEF-54D97E911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4961"/>
              </p:ext>
            </p:extLst>
          </p:nvPr>
        </p:nvGraphicFramePr>
        <p:xfrm>
          <a:off x="547225" y="1340768"/>
          <a:ext cx="7344618" cy="1113562"/>
        </p:xfrm>
        <a:graphic>
          <a:graphicData uri="http://schemas.openxmlformats.org/drawingml/2006/table">
            <a:tbl>
              <a:tblPr/>
              <a:tblGrid>
                <a:gridCol w="1102795">
                  <a:extLst>
                    <a:ext uri="{9D8B030D-6E8A-4147-A177-3AD203B41FA5}">
                      <a16:colId xmlns:a16="http://schemas.microsoft.com/office/drawing/2014/main" val="2796536153"/>
                    </a:ext>
                  </a:extLst>
                </a:gridCol>
                <a:gridCol w="2137367">
                  <a:extLst>
                    <a:ext uri="{9D8B030D-6E8A-4147-A177-3AD203B41FA5}">
                      <a16:colId xmlns:a16="http://schemas.microsoft.com/office/drawing/2014/main" val="2837719974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1368099088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53755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puts</a:t>
                      </a:r>
                      <a:endParaRPr lang="en-US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출력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stdout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출력 후 자동 개행</a:t>
                      </a:r>
                      <a:endParaRPr lang="ko-KR" altLang="en-US" sz="28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688639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fputs</a:t>
                      </a:r>
                      <a:endParaRPr lang="en-US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스트림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출력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개행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자동 추가 없음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76375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CFD625B-63F2-4040-81C4-34BBFA537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454030"/>
              </p:ext>
            </p:extLst>
          </p:nvPr>
        </p:nvGraphicFramePr>
        <p:xfrm>
          <a:off x="539750" y="3921900"/>
          <a:ext cx="7920683" cy="1490346"/>
        </p:xfrm>
        <a:graphic>
          <a:graphicData uri="http://schemas.openxmlformats.org/drawingml/2006/table">
            <a:tbl>
              <a:tblPr/>
              <a:tblGrid>
                <a:gridCol w="1242280">
                  <a:extLst>
                    <a:ext uri="{9D8B030D-6E8A-4147-A177-3AD203B41FA5}">
                      <a16:colId xmlns:a16="http://schemas.microsoft.com/office/drawing/2014/main" val="3502618698"/>
                    </a:ext>
                  </a:extLst>
                </a:gridCol>
                <a:gridCol w="2069890">
                  <a:extLst>
                    <a:ext uri="{9D8B030D-6E8A-4147-A177-3AD203B41FA5}">
                      <a16:colId xmlns:a16="http://schemas.microsoft.com/office/drawing/2014/main" val="660957919"/>
                    </a:ext>
                  </a:extLst>
                </a:gridCol>
                <a:gridCol w="4608513">
                  <a:extLst>
                    <a:ext uri="{9D8B030D-6E8A-4147-A177-3AD203B41FA5}">
                      <a16:colId xmlns:a16="http://schemas.microsoft.com/office/drawing/2014/main" val="3730559619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24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144342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fgets</a:t>
                      </a:r>
                      <a:endParaRPr lang="en-US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입력 또는 파일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한 줄 입력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개행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포함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483942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gets(X)</a:t>
                      </a:r>
                      <a:endParaRPr lang="en-US" sz="36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(C11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표준에서 제거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크기 확인 없음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오버플로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위험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fgets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9055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gets_s</a:t>
                      </a:r>
                      <a:endParaRPr lang="en-US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표준 입력</a:t>
                      </a:r>
                      <a:endParaRPr lang="ko-KR" altLang="en-US" sz="28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일부 환경에서만 제공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545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121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A09BA-EE6B-CC84-3414-1B45E0CF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16.4.2 </a:t>
            </a:r>
            <a:r>
              <a:rPr lang="ko-KR" altLang="en-US" dirty="0"/>
              <a:t>문자열 단위 입출력 </a:t>
            </a:r>
            <a:r>
              <a:rPr lang="en-US" altLang="ko-KR" dirty="0"/>
              <a:t>-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8B8E16-6996-6CE7-A45F-D742C281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3A78F-D448-A3EA-397C-8205048C84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70342-8097-DC6D-1BE0-1868175F69F4}"/>
              </a:ext>
            </a:extLst>
          </p:cNvPr>
          <p:cNvSpPr txBox="1"/>
          <p:nvPr/>
        </p:nvSpPr>
        <p:spPr>
          <a:xfrm>
            <a:off x="287524" y="692150"/>
            <a:ext cx="8568952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문자열 입력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최대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n-1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개의 문자를 읽고 마지막에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을 추가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(buffer),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끝의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'\n'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제거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buffer[</a:t>
            </a: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strcspn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)] 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입력한 내용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5005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 Text File </a:t>
            </a:r>
            <a:r>
              <a:rPr lang="ko-KR" altLang="en-US" dirty="0"/>
              <a:t>입출력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Text File</a:t>
            </a:r>
            <a:endParaRPr lang="ko-KR" altLang="en-US" dirty="0"/>
          </a:p>
          <a:p>
            <a:pPr lvl="1"/>
            <a:r>
              <a:rPr lang="ko-KR" altLang="en-US" dirty="0"/>
              <a:t>사람이 읽을 수 있는 문자 형태로 저장</a:t>
            </a:r>
          </a:p>
          <a:p>
            <a:pPr lvl="1"/>
            <a:r>
              <a:rPr lang="en-US" altLang="ko-KR" dirty="0" err="1"/>
              <a:t>fprintf</a:t>
            </a:r>
            <a:r>
              <a:rPr lang="en-US" altLang="ko-KR" dirty="0"/>
              <a:t>, </a:t>
            </a:r>
            <a:r>
              <a:rPr lang="en-US" altLang="ko-KR" dirty="0" err="1"/>
              <a:t>fputs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201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16.5.1 </a:t>
            </a:r>
            <a:r>
              <a:rPr lang="en-US" altLang="ko-KR" dirty="0" err="1"/>
              <a:t>fprintf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4078F2"/>
                </a:solidFill>
                <a:latin typeface="Consolas" panose="020B0609020204030204" pitchFamily="49" charset="0"/>
              </a:rPr>
              <a:t>fprintf</a:t>
            </a:r>
            <a:br>
              <a:rPr lang="en-US" altLang="ko-KR" sz="2000" dirty="0">
                <a:solidFill>
                  <a:srgbClr val="4078F2"/>
                </a:solidFill>
                <a:latin typeface="Consolas" panose="020B0609020204030204" pitchFamily="49" charset="0"/>
              </a:rPr>
            </a:b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(FILE* </a:t>
            </a:r>
            <a:r>
              <a:rPr lang="en-US" altLang="ko-KR" sz="2000" dirty="0">
                <a:solidFill>
                  <a:srgbClr val="A626A4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 stream</a:t>
            </a:r>
            <a:b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2000" dirty="0">
                <a:solidFill>
                  <a:srgbClr val="A626A4"/>
                </a:solidFill>
                <a:latin typeface="Consolas" panose="020B0609020204030204" pitchFamily="49" charset="0"/>
              </a:rPr>
              <a:t>const char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* </a:t>
            </a:r>
            <a:r>
              <a:rPr lang="en-US" altLang="ko-KR" sz="2000" dirty="0">
                <a:solidFill>
                  <a:srgbClr val="A626A4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 format</a:t>
            </a:r>
            <a:b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</a:b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,...)</a:t>
            </a:r>
          </a:p>
          <a:p>
            <a:endParaRPr lang="en-US" altLang="ko-KR" sz="20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pPr lvl="1"/>
            <a:r>
              <a:rPr lang="ko-KR" altLang="en-US" sz="2000" dirty="0"/>
              <a:t>서식 문자열 사용 </a:t>
            </a:r>
            <a:r>
              <a:rPr lang="en-US" altLang="ko-KR" sz="2000" dirty="0"/>
              <a:t>(%d, %s</a:t>
            </a:r>
            <a:r>
              <a:rPr lang="ko-KR" altLang="en-US" sz="2000" dirty="0"/>
              <a:t> 등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printf </a:t>
            </a:r>
            <a:r>
              <a:rPr lang="ko-KR" altLang="en-US" sz="2000" dirty="0"/>
              <a:t>→ 표준 출력 창에 출력</a:t>
            </a:r>
          </a:p>
          <a:p>
            <a:pPr lvl="1"/>
            <a:r>
              <a:rPr lang="en-US" altLang="ko-KR" sz="2000" dirty="0" err="1"/>
              <a:t>fprintf</a:t>
            </a:r>
            <a:r>
              <a:rPr lang="en-US" altLang="ko-KR" sz="2000" dirty="0"/>
              <a:t> </a:t>
            </a:r>
            <a:r>
              <a:rPr lang="ko-KR" altLang="en-US" sz="2000" dirty="0"/>
              <a:t>→ 파일 스트림에 출력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8C2C4-DC0C-781F-74FE-F6473FD4401A}"/>
              </a:ext>
            </a:extLst>
          </p:cNvPr>
          <p:cNvSpPr txBox="1"/>
          <p:nvPr/>
        </p:nvSpPr>
        <p:spPr>
          <a:xfrm>
            <a:off x="827584" y="3861048"/>
            <a:ext cx="6552728" cy="243143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FILE* fp = fopen(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"player.txt"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32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 %d %d %d\n"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, player[i].name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, player[i].level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, player[i].attack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, player[i].defense);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71629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16.5.2 </a:t>
            </a:r>
            <a:r>
              <a:rPr lang="en-US" altLang="ko-KR" dirty="0" err="1"/>
              <a:t>fgets</a:t>
            </a:r>
            <a:r>
              <a:rPr lang="en-US" altLang="ko-KR" dirty="0"/>
              <a:t> + </a:t>
            </a:r>
            <a:r>
              <a:rPr lang="en-US" altLang="ko-KR" dirty="0" err="1"/>
              <a:t>sscanf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7528B-3652-E94C-F580-F0392550CA8D}"/>
              </a:ext>
            </a:extLst>
          </p:cNvPr>
          <p:cNvSpPr txBox="1"/>
          <p:nvPr/>
        </p:nvSpPr>
        <p:spPr>
          <a:xfrm>
            <a:off x="107504" y="692150"/>
            <a:ext cx="8280920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Player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level;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attack;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defense;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Player;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FILE* fp = fopen(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"player.txt"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Player p;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(1)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ptr = 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(buffer), fp);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(!ptr)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12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sscanf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read count.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sscanf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"%19s %d %d %d"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    , p.name,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p.level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p.attack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p.defense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:%s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레벨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:%d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공격력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:%d 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방어력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:%d\n"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p.name,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p.level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p.attack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p.defense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14761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 </a:t>
            </a:r>
            <a:r>
              <a:rPr lang="ko-KR" altLang="en-US" dirty="0"/>
              <a:t>바이너리 파일 입출력 </a:t>
            </a:r>
            <a:r>
              <a:rPr lang="en-US" altLang="ko-KR" dirty="0"/>
              <a:t>(</a:t>
            </a:r>
            <a:r>
              <a:rPr lang="en-US" altLang="ko-KR" dirty="0" err="1"/>
              <a:t>fread</a:t>
            </a:r>
            <a:r>
              <a:rPr lang="en-US" altLang="ko-KR" dirty="0"/>
              <a:t>, </a:t>
            </a:r>
            <a:r>
              <a:rPr lang="en-US" altLang="ko-KR" dirty="0" err="1"/>
              <a:t>fwrite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파일</a:t>
            </a:r>
          </a:p>
          <a:p>
            <a:pPr lvl="1"/>
            <a:r>
              <a:rPr lang="ko-KR" altLang="en-US" dirty="0"/>
              <a:t>사람이 읽기 쉬움</a:t>
            </a:r>
          </a:p>
          <a:p>
            <a:pPr lvl="1"/>
            <a:r>
              <a:rPr lang="ko-KR" altLang="en-US" dirty="0"/>
              <a:t>문자열 변환 필요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바이너리 파일</a:t>
            </a:r>
          </a:p>
          <a:p>
            <a:pPr lvl="1"/>
            <a:r>
              <a:rPr lang="ko-KR" altLang="en-US" dirty="0"/>
              <a:t> 데이터 그대로 저장 </a:t>
            </a:r>
            <a:r>
              <a:rPr lang="en-US" altLang="ko-KR" dirty="0"/>
              <a:t>(</a:t>
            </a:r>
            <a:r>
              <a:rPr lang="ko-KR" altLang="en-US" dirty="0"/>
              <a:t>바이트 단위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변환 과정 없음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sz="2200" dirty="0"/>
              <a:t>처리 속도 빠름</a:t>
            </a:r>
          </a:p>
          <a:p>
            <a:pPr lvl="1"/>
            <a:r>
              <a:rPr lang="ko-KR" altLang="en-US" sz="2200" dirty="0"/>
              <a:t>데이터 원형 그대로 유지</a:t>
            </a:r>
          </a:p>
          <a:p>
            <a:pPr lvl="1"/>
            <a:r>
              <a:rPr lang="ko-KR" altLang="en-US" sz="2200" dirty="0"/>
              <a:t>구조체</a:t>
            </a:r>
            <a:r>
              <a:rPr lang="en-US" altLang="ko-KR" sz="2200" dirty="0"/>
              <a:t>/</a:t>
            </a:r>
            <a:r>
              <a:rPr lang="ko-KR" altLang="en-US" sz="2200" dirty="0"/>
              <a:t>배열을 메모리 형태 그대로 기록 가능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225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16.6.1~2 </a:t>
            </a:r>
            <a:r>
              <a:rPr lang="en-US" altLang="ko-KR" dirty="0" err="1"/>
              <a:t>fwrite</a:t>
            </a:r>
            <a:r>
              <a:rPr lang="en-US" altLang="ko-KR" dirty="0"/>
              <a:t> / </a:t>
            </a:r>
            <a:r>
              <a:rPr lang="en-US" altLang="ko-KR" dirty="0" err="1"/>
              <a:t>fread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fwrite</a:t>
            </a:r>
            <a:b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ptr, 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size, 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count, FILE* stream)</a:t>
            </a:r>
            <a:endParaRPr lang="en-US" altLang="ko-KR" sz="240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ko-KR" altLang="en-US" sz="2000" dirty="0"/>
              <a:t>메모리 → 파일 기록</a:t>
            </a:r>
            <a:endParaRPr lang="en-US" altLang="ko-KR" sz="2000" dirty="0"/>
          </a:p>
          <a:p>
            <a:pPr lvl="2"/>
            <a:endParaRPr lang="en-US" altLang="ko-KR" sz="1400" dirty="0"/>
          </a:p>
          <a:p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fread</a:t>
            </a:r>
            <a:b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ptr, 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size, </a:t>
            </a:r>
            <a:r>
              <a:rPr lang="en-US" altLang="ko-KR" sz="20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20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count, FILE* stream)</a:t>
            </a:r>
            <a:endParaRPr lang="en-US" altLang="ko-KR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ko-KR" altLang="en-US" sz="2000" dirty="0"/>
              <a:t>파일 → 메모리 읽기</a:t>
            </a:r>
            <a:endParaRPr lang="en-US" altLang="ko-KR" sz="2000" dirty="0"/>
          </a:p>
          <a:p>
            <a:pPr lvl="3"/>
            <a:endParaRPr lang="en-US" altLang="ko-KR" sz="800" dirty="0"/>
          </a:p>
          <a:p>
            <a:r>
              <a:rPr lang="en-US" altLang="ko-KR" sz="2000" dirty="0"/>
              <a:t>ptr : </a:t>
            </a:r>
            <a:r>
              <a:rPr lang="ko-KR" altLang="en-US" sz="2000" dirty="0"/>
              <a:t>데이터 시작 주소</a:t>
            </a:r>
          </a:p>
          <a:p>
            <a:pPr lvl="1"/>
            <a:r>
              <a:rPr lang="en-US" altLang="ko-KR" sz="1800" dirty="0"/>
              <a:t>size : </a:t>
            </a:r>
            <a:r>
              <a:rPr lang="ko-KR" altLang="en-US" sz="1800" dirty="0"/>
              <a:t>원소 크기 </a:t>
            </a:r>
            <a:r>
              <a:rPr lang="en-US" altLang="ko-KR" sz="1800" dirty="0"/>
              <a:t>(</a:t>
            </a:r>
            <a:r>
              <a:rPr lang="ko-KR" altLang="en-US" sz="1800" dirty="0"/>
              <a:t>바이트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count : </a:t>
            </a:r>
            <a:r>
              <a:rPr lang="ko-KR" altLang="en-US" sz="1800" dirty="0"/>
              <a:t>원소 개수</a:t>
            </a:r>
          </a:p>
          <a:p>
            <a:pPr lvl="1"/>
            <a:r>
              <a:rPr lang="en-US" altLang="ko-KR" sz="1800" dirty="0"/>
              <a:t>stream: </a:t>
            </a:r>
            <a:r>
              <a:rPr lang="ko-KR" altLang="en-US" sz="1800" dirty="0"/>
              <a:t>파일 스트림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반환값</a:t>
            </a:r>
            <a:r>
              <a:rPr lang="en-US" altLang="ko-KR" sz="2000" dirty="0"/>
              <a:t>: </a:t>
            </a:r>
            <a:r>
              <a:rPr lang="ko-KR" altLang="en-US" sz="2000" dirty="0"/>
              <a:t>실제로 처리된 원소 개수</a:t>
            </a:r>
          </a:p>
          <a:p>
            <a:pPr lvl="2"/>
            <a:endParaRPr lang="ko-KR" altLang="en-US" sz="1200" dirty="0"/>
          </a:p>
          <a:p>
            <a:r>
              <a:rPr lang="ko-KR" altLang="en-US" sz="2000" dirty="0"/>
              <a:t>오류 </a:t>
            </a:r>
            <a:r>
              <a:rPr lang="en-US" altLang="ko-KR" sz="2000" dirty="0"/>
              <a:t>/ EOF</a:t>
            </a:r>
          </a:p>
          <a:p>
            <a:pPr lvl="1"/>
            <a:r>
              <a:rPr lang="ko-KR" altLang="en-US" sz="1800" dirty="0"/>
              <a:t>반환값 </a:t>
            </a:r>
            <a:r>
              <a:rPr lang="en-US" altLang="ko-KR" sz="1800" dirty="0"/>
              <a:t>&lt; count → </a:t>
            </a:r>
            <a:r>
              <a:rPr lang="ko-KR" altLang="en-US" sz="1800" dirty="0"/>
              <a:t>처리 실패</a:t>
            </a:r>
          </a:p>
          <a:p>
            <a:pPr lvl="1"/>
            <a:r>
              <a:rPr lang="en-US" altLang="ko-KR" sz="1800" dirty="0" err="1"/>
              <a:t>fread</a:t>
            </a:r>
            <a:r>
              <a:rPr lang="en-US" altLang="ko-KR" sz="1800" dirty="0"/>
              <a:t> </a:t>
            </a:r>
            <a:r>
              <a:rPr lang="ko-KR" altLang="en-US" sz="1800" dirty="0"/>
              <a:t>반환값 </a:t>
            </a:r>
            <a:r>
              <a:rPr lang="en-US" altLang="ko-KR" sz="1800" dirty="0"/>
              <a:t>= 0 → EOF </a:t>
            </a:r>
            <a:r>
              <a:rPr lang="ko-KR" altLang="en-US" sz="1800" dirty="0"/>
              <a:t>또는 오류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feof</a:t>
            </a:r>
            <a:r>
              <a:rPr lang="en-US" altLang="ko-KR" sz="1800" dirty="0"/>
              <a:t> / </a:t>
            </a:r>
            <a:r>
              <a:rPr lang="en-US" altLang="ko-KR" sz="1800" dirty="0" err="1"/>
              <a:t>ferror</a:t>
            </a:r>
            <a:r>
              <a:rPr lang="ko-KR" altLang="en-US" sz="1800" dirty="0"/>
              <a:t>로 구분</a:t>
            </a:r>
            <a:r>
              <a:rPr lang="en-US" altLang="ko-KR" sz="1800" dirty="0"/>
              <a:t>)</a:t>
            </a:r>
            <a:endParaRPr lang="ko-KR" altLang="en-US" sz="11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55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16.6.3 copy binary 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복사</a:t>
            </a:r>
            <a:endParaRPr lang="en-US" altLang="ko-KR" dirty="0"/>
          </a:p>
          <a:p>
            <a:pPr lvl="1"/>
            <a:r>
              <a:rPr lang="ko-KR" altLang="en-US" dirty="0"/>
              <a:t>특정 길이 버퍼 사용</a:t>
            </a:r>
            <a:r>
              <a:rPr lang="en-US" altLang="ko-KR" dirty="0"/>
              <a:t>	4096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F249E-E523-352F-B113-154594320804}"/>
              </a:ext>
            </a:extLst>
          </p:cNvPr>
          <p:cNvSpPr txBox="1"/>
          <p:nvPr/>
        </p:nvSpPr>
        <p:spPr>
          <a:xfrm>
            <a:off x="755675" y="1722404"/>
            <a:ext cx="7632749" cy="477053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BUFFER_SIZE,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 끝 도달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ferror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 읽기 오류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bytes_read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 쓰기 오류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494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16.7.1 </a:t>
            </a:r>
            <a:r>
              <a:rPr lang="ko-KR" altLang="en-US" dirty="0"/>
              <a:t>파일 위치 표시자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 err="1">
                <a:solidFill>
                  <a:srgbClr val="4078F2"/>
                </a:solidFill>
                <a:latin typeface="Consolas" panose="020B0609020204030204" pitchFamily="49" charset="0"/>
              </a:rPr>
              <a:t>fseek</a:t>
            </a:r>
            <a:br>
              <a:rPr lang="en-US" altLang="ko-KR" sz="2400" dirty="0">
                <a:solidFill>
                  <a:srgbClr val="4078F2"/>
                </a:solidFill>
                <a:latin typeface="Consolas" panose="020B0609020204030204" pitchFamily="49" charset="0"/>
              </a:rPr>
            </a:b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(FILE *stream, </a:t>
            </a:r>
            <a:r>
              <a:rPr lang="en-US" altLang="ko-KR" sz="2400" dirty="0">
                <a:solidFill>
                  <a:srgbClr val="A626A4"/>
                </a:solidFill>
                <a:latin typeface="Consolas" panose="020B0609020204030204" pitchFamily="49" charset="0"/>
              </a:rPr>
              <a:t>long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 offset, </a:t>
            </a:r>
            <a:r>
              <a:rPr lang="en-US" altLang="ko-KR" sz="2400" dirty="0">
                <a:solidFill>
                  <a:srgbClr val="A626A4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400" dirty="0">
                <a:solidFill>
                  <a:srgbClr val="383A42"/>
                </a:solidFill>
                <a:latin typeface="Consolas" panose="020B0609020204030204" pitchFamily="49" charset="0"/>
              </a:rPr>
              <a:t> origin)</a:t>
            </a:r>
          </a:p>
          <a:p>
            <a:pPr lvl="1"/>
            <a:r>
              <a:rPr lang="ko-KR" altLang="en-US" sz="2000" dirty="0"/>
              <a:t>파일은 기본적으로 순차 접근</a:t>
            </a:r>
          </a:p>
          <a:p>
            <a:pPr lvl="1"/>
            <a:r>
              <a:rPr lang="ko-KR" altLang="en-US" sz="2000" dirty="0"/>
              <a:t>원하는 위치로 직접 이동 </a:t>
            </a:r>
            <a:r>
              <a:rPr lang="en-US" altLang="ko-KR" sz="2000" dirty="0"/>
              <a:t>(</a:t>
            </a:r>
            <a:r>
              <a:rPr lang="ko-KR" altLang="en-US" sz="2000" dirty="0"/>
              <a:t>랜덤 접근</a:t>
            </a:r>
            <a:r>
              <a:rPr lang="en-US" altLang="ko-KR" sz="2000" dirty="0"/>
              <a:t>)</a:t>
            </a:r>
          </a:p>
          <a:p>
            <a:pPr lvl="3"/>
            <a:endParaRPr lang="en-US" altLang="ko-KR" sz="14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/>
              <a:t> </a:t>
            </a:r>
            <a:r>
              <a:rPr lang="ko-KR" altLang="en-US" sz="2400" dirty="0"/>
              <a:t>매개변수</a:t>
            </a:r>
          </a:p>
          <a:p>
            <a:pPr lvl="1"/>
            <a:r>
              <a:rPr lang="en-US" altLang="ko-KR" sz="2000" dirty="0"/>
              <a:t>offset : </a:t>
            </a:r>
            <a:r>
              <a:rPr lang="ko-KR" altLang="en-US" sz="2000" dirty="0"/>
              <a:t>이동할 바이트 수 → 양수</a:t>
            </a:r>
            <a:r>
              <a:rPr lang="en-US" altLang="ko-KR" sz="2000" dirty="0"/>
              <a:t>: </a:t>
            </a:r>
            <a:r>
              <a:rPr lang="ko-KR" altLang="en-US" sz="2000" dirty="0"/>
              <a:t>앞으로 </a:t>
            </a:r>
            <a:r>
              <a:rPr lang="en-US" altLang="ko-KR" sz="2000" dirty="0"/>
              <a:t>/ </a:t>
            </a:r>
            <a:r>
              <a:rPr lang="ko-KR" altLang="en-US" sz="2000" dirty="0"/>
              <a:t>음수</a:t>
            </a:r>
            <a:r>
              <a:rPr lang="en-US" altLang="ko-KR" sz="2000" dirty="0"/>
              <a:t>: </a:t>
            </a:r>
            <a:r>
              <a:rPr lang="ko-KR" altLang="en-US" sz="2000" dirty="0"/>
              <a:t>뒤로</a:t>
            </a:r>
          </a:p>
          <a:p>
            <a:pPr lvl="1"/>
            <a:r>
              <a:rPr lang="en-US" altLang="ko-KR" sz="2000" dirty="0"/>
              <a:t>origin : </a:t>
            </a:r>
            <a:r>
              <a:rPr lang="ko-KR" altLang="en-US" sz="2000" dirty="0"/>
              <a:t>기준 위치</a:t>
            </a:r>
          </a:p>
          <a:p>
            <a:pPr lvl="2"/>
            <a:r>
              <a:rPr lang="en-US" altLang="ko-KR" sz="1600" dirty="0">
                <a:solidFill>
                  <a:srgbClr val="CC00CC"/>
                </a:solidFill>
              </a:rPr>
              <a:t>SEEK_SET</a:t>
            </a:r>
            <a:r>
              <a:rPr lang="en-US" altLang="ko-KR" sz="1600" dirty="0"/>
              <a:t>  // </a:t>
            </a:r>
            <a:r>
              <a:rPr lang="ko-KR" altLang="en-US" sz="1600" dirty="0"/>
              <a:t>파일 시작</a:t>
            </a:r>
          </a:p>
          <a:p>
            <a:pPr lvl="2"/>
            <a:r>
              <a:rPr lang="en-US" altLang="ko-KR" sz="1600" dirty="0">
                <a:solidFill>
                  <a:srgbClr val="CC00CC"/>
                </a:solidFill>
              </a:rPr>
              <a:t>SEEK_CUR</a:t>
            </a:r>
            <a:r>
              <a:rPr lang="en-US" altLang="ko-KR" sz="1600" dirty="0"/>
              <a:t>  // </a:t>
            </a:r>
            <a:r>
              <a:rPr lang="ko-KR" altLang="en-US" sz="1600" dirty="0"/>
              <a:t>현재 위치</a:t>
            </a:r>
          </a:p>
          <a:p>
            <a:pPr lvl="2"/>
            <a:r>
              <a:rPr lang="en-US" altLang="ko-KR" sz="1600" dirty="0">
                <a:solidFill>
                  <a:srgbClr val="CC00CC"/>
                </a:solidFill>
              </a:rPr>
              <a:t>SEEK_END </a:t>
            </a:r>
            <a:r>
              <a:rPr lang="en-US" altLang="ko-KR" sz="1600" dirty="0"/>
              <a:t> // </a:t>
            </a:r>
            <a:r>
              <a:rPr lang="ko-KR" altLang="en-US" sz="1600" dirty="0"/>
              <a:t>파일 끝</a:t>
            </a:r>
          </a:p>
          <a:p>
            <a:pPr lvl="4"/>
            <a:endParaRPr lang="en-US" altLang="ko-KR" sz="1200" dirty="0"/>
          </a:p>
          <a:p>
            <a:r>
              <a:rPr lang="ko-KR" altLang="en-US" sz="2400" dirty="0"/>
              <a:t>사용 예</a:t>
            </a:r>
          </a:p>
          <a:p>
            <a:pPr lvl="1"/>
            <a:r>
              <a:rPr lang="en-US" altLang="ko-KR" sz="2000" dirty="0" err="1">
                <a:latin typeface="Consolas" panose="020B0609020204030204" pitchFamily="49" charset="0"/>
              </a:rPr>
              <a:t>fseek</a:t>
            </a:r>
            <a:r>
              <a:rPr lang="en-US" altLang="ko-KR" sz="2000" dirty="0">
                <a:latin typeface="Consolas" panose="020B0609020204030204" pitchFamily="49" charset="0"/>
              </a:rPr>
              <a:t>(fp,   0, </a:t>
            </a:r>
            <a:r>
              <a:rPr lang="en-US" altLang="ko-KR" sz="2000" dirty="0">
                <a:solidFill>
                  <a:srgbClr val="CC00CC"/>
                </a:solidFill>
                <a:latin typeface="Consolas" panose="020B0609020204030204" pitchFamily="49" charset="0"/>
              </a:rPr>
              <a:t>SEEK_SET</a:t>
            </a:r>
            <a:r>
              <a:rPr lang="en-US" altLang="ko-KR" sz="2000" dirty="0">
                <a:latin typeface="Consolas" panose="020B0609020204030204" pitchFamily="49" charset="0"/>
              </a:rPr>
              <a:t>); 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처음</a:t>
            </a:r>
          </a:p>
          <a:p>
            <a:pPr lvl="1"/>
            <a:r>
              <a:rPr lang="en-US" altLang="ko-KR" sz="2000" dirty="0" err="1">
                <a:latin typeface="Consolas" panose="020B0609020204030204" pitchFamily="49" charset="0"/>
              </a:rPr>
              <a:t>fseek</a:t>
            </a:r>
            <a:r>
              <a:rPr lang="en-US" altLang="ko-KR" sz="2000" dirty="0">
                <a:latin typeface="Consolas" panose="020B0609020204030204" pitchFamily="49" charset="0"/>
              </a:rPr>
              <a:t>(fp,   0, </a:t>
            </a:r>
            <a:r>
              <a:rPr lang="en-US" altLang="ko-KR" sz="2000" dirty="0">
                <a:solidFill>
                  <a:srgbClr val="CC00CC"/>
                </a:solidFill>
                <a:latin typeface="Consolas" panose="020B0609020204030204" pitchFamily="49" charset="0"/>
              </a:rPr>
              <a:t>SEEK_END</a:t>
            </a:r>
            <a:r>
              <a:rPr lang="en-US" altLang="ko-KR" sz="2000" dirty="0">
                <a:latin typeface="Consolas" panose="020B0609020204030204" pitchFamily="49" charset="0"/>
              </a:rPr>
              <a:t>); 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끝</a:t>
            </a:r>
          </a:p>
          <a:p>
            <a:pPr lvl="1"/>
            <a:r>
              <a:rPr lang="en-US" altLang="ko-KR" sz="2000" dirty="0" err="1">
                <a:latin typeface="Consolas" panose="020B0609020204030204" pitchFamily="49" charset="0"/>
              </a:rPr>
              <a:t>fseek</a:t>
            </a:r>
            <a:r>
              <a:rPr lang="en-US" altLang="ko-KR" sz="2000" dirty="0">
                <a:latin typeface="Consolas" panose="020B0609020204030204" pitchFamily="49" charset="0"/>
              </a:rPr>
              <a:t>(fp, -10, </a:t>
            </a:r>
            <a:r>
              <a:rPr lang="en-US" altLang="ko-KR" sz="2000" dirty="0">
                <a:solidFill>
                  <a:srgbClr val="CC00CC"/>
                </a:solidFill>
                <a:latin typeface="Consolas" panose="020B0609020204030204" pitchFamily="49" charset="0"/>
              </a:rPr>
              <a:t>SEEK_END</a:t>
            </a:r>
            <a:r>
              <a:rPr lang="en-US" altLang="ko-KR" sz="2000" dirty="0">
                <a:latin typeface="Consolas" panose="020B0609020204030204" pitchFamily="49" charset="0"/>
              </a:rPr>
              <a:t>); 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끝에서 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바이트 앞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73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16.7.2~3 </a:t>
            </a:r>
            <a:r>
              <a:rPr lang="ko-KR" altLang="en-US" dirty="0"/>
              <a:t>현재 위치</a:t>
            </a:r>
            <a:r>
              <a:rPr lang="en-US" altLang="ko-KR" dirty="0"/>
              <a:t>: </a:t>
            </a:r>
            <a:r>
              <a:rPr lang="en-US" altLang="ko-KR" dirty="0" err="1"/>
              <a:t>ftell</a:t>
            </a:r>
            <a:r>
              <a:rPr lang="en-US" altLang="ko-KR" dirty="0"/>
              <a:t> - </a:t>
            </a:r>
            <a:r>
              <a:rPr lang="ko-KR" altLang="en-US" dirty="0"/>
              <a:t>파일 크기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ftell</a:t>
            </a:r>
            <a:r>
              <a:rPr lang="en-US" altLang="ko-KR" sz="24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(FILE *stream)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현재 파일 위치 반환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파일 시작 기준 바이트 오프셋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실패 시 </a:t>
            </a:r>
            <a:r>
              <a:rPr lang="en-US" altLang="ko-KR" sz="2000" dirty="0">
                <a:solidFill>
                  <a:srgbClr val="383A42"/>
                </a:solidFill>
                <a:latin typeface="Consolas" panose="020B0609020204030204" pitchFamily="49" charset="0"/>
              </a:rPr>
              <a:t>-1</a:t>
            </a:r>
          </a:p>
          <a:p>
            <a:pPr lvl="3"/>
            <a:endParaRPr lang="en-US" altLang="ko-KR" sz="1600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파일 크기 구하기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현재 위치 저장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파일 끝으로 이동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위치 값 읽기 → 파일 크기</a:t>
            </a:r>
          </a:p>
          <a:p>
            <a:pPr lvl="1"/>
            <a:r>
              <a:rPr lang="ko-KR" altLang="en-US" sz="2000" dirty="0">
                <a:solidFill>
                  <a:srgbClr val="383A42"/>
                </a:solidFill>
                <a:latin typeface="Consolas" panose="020B0609020204030204" pitchFamily="49" charset="0"/>
              </a:rPr>
              <a:t>원래 위치 복원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73811-5A4C-EC06-FACB-0FB85C55252E}"/>
              </a:ext>
            </a:extLst>
          </p:cNvPr>
          <p:cNvSpPr txBox="1"/>
          <p:nvPr/>
        </p:nvSpPr>
        <p:spPr>
          <a:xfrm>
            <a:off x="4644008" y="1456869"/>
            <a:ext cx="4392488" cy="470898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GetFileSize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(FILE*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(!fp)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현재 위치 저장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current = </a:t>
            </a:r>
            <a:r>
              <a:rPr lang="en-US" altLang="ko-KR" sz="20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ftell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(fp);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(current ==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fseek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SEEK_END) !=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파일 끝 위치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= </a:t>
            </a:r>
            <a:r>
              <a:rPr lang="ko-KR" altLang="en-US" sz="14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파일 크기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altLang="ko-KR" sz="20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ftell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(fp);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fseek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(fp, current, SEEK_END) !=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88837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16.7.4 rewind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rewind</a:t>
            </a:r>
            <a:r>
              <a:rPr lang="en-US" altLang="ko-KR" sz="280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(FILE* stream)</a:t>
            </a:r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파일 위치를 처음으로 이동</a:t>
            </a:r>
          </a:p>
          <a:p>
            <a:pPr lvl="1"/>
            <a:r>
              <a:rPr lang="en-US" altLang="ko-KR" dirty="0" err="1"/>
              <a:t>fseek</a:t>
            </a:r>
            <a:r>
              <a:rPr lang="en-US" altLang="ko-KR" dirty="0"/>
              <a:t>(fp, 0, SEEK_SET)</a:t>
            </a:r>
            <a:r>
              <a:rPr lang="ko-KR" altLang="en-US" dirty="0"/>
              <a:t>과 동일하게 동작</a:t>
            </a:r>
          </a:p>
          <a:p>
            <a:pPr lvl="1"/>
            <a:r>
              <a:rPr lang="en-US" altLang="ko-KR" dirty="0"/>
              <a:t>EOF </a:t>
            </a:r>
            <a:r>
              <a:rPr lang="ko-KR" altLang="en-US" dirty="0"/>
              <a:t>및 오류 상태도 함께 초기화</a:t>
            </a:r>
          </a:p>
          <a:p>
            <a:pPr lvl="1"/>
            <a:r>
              <a:rPr lang="ko-KR" altLang="en-US" dirty="0"/>
              <a:t>반환값 없음 → 오류 여부를 직접 확인할 수 없음</a:t>
            </a:r>
            <a:endParaRPr lang="en-US" altLang="ko-KR" dirty="0"/>
          </a:p>
          <a:p>
            <a:pPr lvl="1"/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    ※ rewind = </a:t>
            </a:r>
            <a:r>
              <a:rPr lang="ko-KR" altLang="en-US" dirty="0"/>
              <a:t>파일 위치 처음으로 이동 </a:t>
            </a:r>
            <a:r>
              <a:rPr lang="en-US" altLang="ko-KR" dirty="0"/>
              <a:t>+ </a:t>
            </a:r>
            <a:r>
              <a:rPr lang="ko-KR" altLang="en-US" dirty="0"/>
              <a:t>상태 초기화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3736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 </a:t>
            </a:r>
            <a:r>
              <a:rPr lang="ko-KR" altLang="en-US" dirty="0"/>
              <a:t>파일 입출력 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형식</a:t>
            </a:r>
          </a:p>
          <a:p>
            <a:pPr lvl="1"/>
            <a:r>
              <a:rPr lang="ko-KR" altLang="en-US" dirty="0"/>
              <a:t>구조가 단순하고 사용이 쉬움</a:t>
            </a:r>
          </a:p>
          <a:p>
            <a:pPr lvl="1"/>
            <a:r>
              <a:rPr lang="ko-KR" altLang="en-US" dirty="0"/>
              <a:t>쉼표</a:t>
            </a:r>
            <a:r>
              <a:rPr lang="en-US" altLang="ko-KR" dirty="0"/>
              <a:t>(,)</a:t>
            </a:r>
            <a:r>
              <a:rPr lang="ko-KR" altLang="en-US" dirty="0"/>
              <a:t>로 데이터를 구분</a:t>
            </a:r>
          </a:p>
          <a:p>
            <a:pPr lvl="1"/>
            <a:r>
              <a:rPr lang="ko-KR" altLang="en-US" dirty="0"/>
              <a:t>텍스트 기반 데이터 파일 → 자료 구조 파악하기 용이</a:t>
            </a:r>
            <a:endParaRPr lang="ko-KR" altLang="en-US" sz="1800" dirty="0"/>
          </a:p>
          <a:p>
            <a:pPr lvl="1"/>
            <a:r>
              <a:rPr lang="ko-KR" altLang="en-US" dirty="0"/>
              <a:t>게임 데이터 테이블 구성에 적합</a:t>
            </a:r>
          </a:p>
          <a:p>
            <a:pPr lvl="1"/>
            <a:r>
              <a:rPr lang="ko-KR" altLang="en-US" dirty="0"/>
              <a:t>주의</a:t>
            </a:r>
            <a:endParaRPr lang="en-US" altLang="ko-KR" dirty="0"/>
          </a:p>
          <a:p>
            <a:pPr lvl="2"/>
            <a:r>
              <a:rPr lang="ko-KR" altLang="en-US" dirty="0"/>
              <a:t>필드 내부에 쉼표</a:t>
            </a:r>
            <a:r>
              <a:rPr lang="en-US" altLang="ko-KR" dirty="0"/>
              <a:t>(,)</a:t>
            </a:r>
            <a:r>
              <a:rPr lang="ko-KR" altLang="en-US" dirty="0"/>
              <a:t>가 포함되면 추가 처리 필요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1604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16.8.1~2 csv </a:t>
            </a:r>
            <a:r>
              <a:rPr lang="ko-KR" altLang="en-US" dirty="0"/>
              <a:t>스키마 </a:t>
            </a:r>
            <a:r>
              <a:rPr lang="en-US" altLang="ko-KR" dirty="0"/>
              <a:t>- </a:t>
            </a:r>
            <a:r>
              <a:rPr lang="ko-KR" altLang="en-US" dirty="0"/>
              <a:t>구조체 자료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스키마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구조체 자료 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DC02238-1F51-D21A-7891-FF0E54C7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337272"/>
              </p:ext>
            </p:extLst>
          </p:nvPr>
        </p:nvGraphicFramePr>
        <p:xfrm>
          <a:off x="2699792" y="809931"/>
          <a:ext cx="5472608" cy="2526592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799644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559014839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660290410"/>
                    </a:ext>
                  </a:extLst>
                </a:gridCol>
              </a:tblGrid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컬럼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406203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key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아이템 고유 키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218120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string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아이템 이름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13387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string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아이템 설명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530643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itemtype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string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아이템 분류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(Weapon, Armor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32259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rarity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string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희귀도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Common, Rare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6766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가격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246179"/>
                  </a:ext>
                </a:extLst>
              </a:tr>
              <a:tr h="19992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weight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float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무게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9205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9AB104-C339-9E1C-039C-EFB1295C8FB2}"/>
              </a:ext>
            </a:extLst>
          </p:cNvPr>
          <p:cNvSpPr txBox="1"/>
          <p:nvPr/>
        </p:nvSpPr>
        <p:spPr>
          <a:xfrm>
            <a:off x="2699792" y="3507973"/>
            <a:ext cx="5472608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ItemInfo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id[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description[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itemtype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rarity[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price;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weight;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ItemInfo;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78386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16.8.3 CSV </a:t>
            </a:r>
            <a:r>
              <a:rPr lang="ko-KR" altLang="en-US" dirty="0"/>
              <a:t>파일 읽기 예제 </a:t>
            </a:r>
            <a:r>
              <a:rPr lang="en-US" altLang="ko-KR" dirty="0"/>
              <a:t>(</a:t>
            </a:r>
            <a:r>
              <a:rPr lang="en-US" altLang="ko-KR" dirty="0" err="1"/>
              <a:t>fgets</a:t>
            </a:r>
            <a:r>
              <a:rPr lang="en-US" altLang="ko-KR" dirty="0"/>
              <a:t> + </a:t>
            </a:r>
            <a:r>
              <a:rPr lang="en-US" altLang="ko-KR" dirty="0" err="1"/>
              <a:t>sscanf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91D4A-20F9-FA74-AA41-0EC23D98E569}"/>
              </a:ext>
            </a:extLst>
          </p:cNvPr>
          <p:cNvSpPr txBox="1"/>
          <p:nvPr/>
        </p:nvSpPr>
        <p:spPr>
          <a:xfrm>
            <a:off x="683568" y="692150"/>
            <a:ext cx="6858000" cy="59708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아이템 정보 저장할 공간 확보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ItemInfo*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itemList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(ItemInfo*)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(ItemInfo) 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아이템 정보 초기화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itemList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(ItemInfo) 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아이템 정보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레코드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읽기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ptr = </a:t>
            </a:r>
            <a:r>
              <a:rPr lang="en-US" altLang="ko-KR" sz="16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(buffer,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(buffer), fp);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(!ptr)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itemCount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아이템이 비어 있으면 </a:t>
            </a:r>
            <a:r>
              <a:rPr lang="ko-KR" altLang="en-US" sz="12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빈곳이면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더이상 데이터가 없음을 인식하고 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(buffer))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아이템 정보 파싱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ItemInfo*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itemList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sscanf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(buffer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"%15[^,],%59[^,],%119[^,],%31[^,],%31[^,],%</a:t>
            </a:r>
            <a:r>
              <a:rPr lang="en-US" altLang="ko-KR" sz="12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d,%f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-&gt;id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-&gt;name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-&gt;description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itemtype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-&gt;rarity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-&gt;price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, &amp;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pItem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-&gt;weight) ==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++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49225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16.8.4 Data </a:t>
            </a:r>
            <a:r>
              <a:rPr lang="ko-KR" altLang="en-US" dirty="0"/>
              <a:t>파일 </a:t>
            </a:r>
            <a:r>
              <a:rPr lang="en-US" altLang="ko-KR" dirty="0"/>
              <a:t>Binary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바이너리 저장 </a:t>
            </a:r>
            <a:r>
              <a:rPr lang="en-US" altLang="ko-KR" dirty="0"/>
              <a:t>/ </a:t>
            </a:r>
            <a:r>
              <a:rPr lang="ko-KR" altLang="en-US" dirty="0"/>
              <a:t>로드</a:t>
            </a:r>
          </a:p>
          <a:p>
            <a:pPr lvl="1"/>
            <a:r>
              <a:rPr lang="ko-KR" altLang="en-US" dirty="0"/>
              <a:t>텍스트 방식 대비 빠르고 단순</a:t>
            </a:r>
          </a:p>
          <a:p>
            <a:pPr lvl="1"/>
            <a:r>
              <a:rPr lang="ko-KR" altLang="en-US" dirty="0"/>
              <a:t>숫자 ↔ 문자열 변환 없음</a:t>
            </a:r>
          </a:p>
          <a:p>
            <a:pPr lvl="1"/>
            <a:r>
              <a:rPr lang="ko-KR" altLang="en-US" dirty="0"/>
              <a:t>구조체 메모리를 그대로 저장 → 처리 속도 향상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코드 단순화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저장 구조</a:t>
            </a:r>
          </a:p>
          <a:p>
            <a:pPr lvl="1"/>
            <a:r>
              <a:rPr lang="ko-KR" altLang="en-US" dirty="0"/>
              <a:t>플레이어 수 저장</a:t>
            </a:r>
          </a:p>
          <a:p>
            <a:pPr lvl="1"/>
            <a:r>
              <a:rPr lang="ko-KR" altLang="en-US" dirty="0"/>
              <a:t>플레이어 배열 전체 저장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로드 구조</a:t>
            </a:r>
          </a:p>
          <a:p>
            <a:pPr lvl="1"/>
            <a:r>
              <a:rPr lang="ko-KR" altLang="en-US" dirty="0"/>
              <a:t>저장 구조와 </a:t>
            </a:r>
            <a:r>
              <a:rPr lang="en-US" altLang="ko-KR" dirty="0"/>
              <a:t>1:1 </a:t>
            </a:r>
            <a:r>
              <a:rPr lang="ko-KR" altLang="en-US" dirty="0"/>
              <a:t>대응</a:t>
            </a:r>
            <a:endParaRPr lang="en-US" altLang="ko-KR" dirty="0"/>
          </a:p>
          <a:p>
            <a:pPr lvl="1"/>
            <a:r>
              <a:rPr lang="ko-KR" altLang="en-US" dirty="0"/>
              <a:t>플레이어 수 읽기 → 메모리 동적 할당</a:t>
            </a:r>
          </a:p>
          <a:p>
            <a:pPr lvl="1"/>
            <a:r>
              <a:rPr lang="ko-KR" altLang="en-US" dirty="0"/>
              <a:t>배열 전체 읽기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371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16.8.4.1 </a:t>
            </a:r>
            <a:r>
              <a:rPr lang="ko-KR" altLang="en-US" dirty="0"/>
              <a:t>바이너리 저장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AE88D-37E1-2F92-0ED4-96D14E5410B4}"/>
              </a:ext>
            </a:extLst>
          </p:cNvPr>
          <p:cNvSpPr txBox="1"/>
          <p:nvPr/>
        </p:nvSpPr>
        <p:spPr>
          <a:xfrm>
            <a:off x="395287" y="692149"/>
            <a:ext cx="8353426" cy="569386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SavePlayerData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Player* player,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저장 파일 열기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 = </a:t>
            </a:r>
            <a:r>
              <a:rPr lang="en-US" altLang="ko-KR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wb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(!fp)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저장 파일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%s 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열기 실패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플레이어 숫자 저장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(&amp;count,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fp))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구조체 리스트 전체 저장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(count !=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(Player), count, fp))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 닫기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ERR_HANDLE: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21270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16.8.4.2 </a:t>
            </a:r>
            <a:r>
              <a:rPr lang="ko-KR" altLang="en-US" dirty="0"/>
              <a:t>바이너리 로드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EAA66-214F-EBEE-9359-B0F95F4B379D}"/>
              </a:ext>
            </a:extLst>
          </p:cNvPr>
          <p:cNvSpPr txBox="1"/>
          <p:nvPr/>
        </p:nvSpPr>
        <p:spPr>
          <a:xfrm>
            <a:off x="533949" y="593725"/>
            <a:ext cx="7416824" cy="60478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LoadPlayerData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Player** player)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저장 파일 열기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FILE* fp = </a:t>
            </a:r>
            <a:r>
              <a:rPr lang="en-US" altLang="ko-KR" sz="14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rb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(!fp)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 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열기 실패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플레이어 숫자 읽기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4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fp))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에서 플레이어 수 읽기 실패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에서 읽을 플레이어 데이터가 없습니다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파일에서 읽어온 플레이어 데이터를 임시로 저장할 버퍼 동적 할당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tmpPlayer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 *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tmpPlayer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메모리 생성 실패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4.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플레이어 데이터 통째로 로드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tmpPlayer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(Player),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fp);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5.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읽어온 데이터 개수가 원소 개수와 일치하는지 확인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(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파일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</a:t>
            </a:r>
            <a:r>
              <a:rPr lang="ko-KR" altLang="en-US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에서 플레이어 데이터를 읽는 중 오류 발생</a:t>
            </a:r>
            <a:r>
              <a:rPr lang="en-US" altLang="ko-KR" sz="11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ERR_HANDLE;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//6. </a:t>
            </a:r>
            <a:r>
              <a:rPr lang="ko-KR" altLang="en-US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읽어온 플레이어 데이터 버퍼 주소 전달</a:t>
            </a:r>
            <a:r>
              <a:rPr lang="en-US" altLang="ko-KR" sz="11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 =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tmpPlayer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(fp);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ERR_HANDLE: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38154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16.8.4.3 </a:t>
            </a:r>
            <a:r>
              <a:rPr lang="ko-KR" altLang="en-US" dirty="0"/>
              <a:t>저장</a:t>
            </a:r>
            <a:r>
              <a:rPr lang="en-US" altLang="ko-KR" dirty="0"/>
              <a:t>/</a:t>
            </a:r>
            <a:r>
              <a:rPr lang="ko-KR" altLang="en-US" dirty="0"/>
              <a:t>로드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345FE-5997-4CB6-FD28-E631D578D20E}"/>
              </a:ext>
            </a:extLst>
          </p:cNvPr>
          <p:cNvSpPr txBox="1"/>
          <p:nvPr/>
        </p:nvSpPr>
        <p:spPr>
          <a:xfrm>
            <a:off x="539750" y="692150"/>
            <a:ext cx="7200602" cy="581697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Player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player_src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 =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"Knight"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"Archer"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"Wizard"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},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"Paladin"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원본 플레이어 데이터를 바이너리 파일로 저장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player_src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player_src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SavePlayerData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"player.dat"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player_src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player_count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파일에 저장된 플레이어 데이터 읽기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Player*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dest_buf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dest_count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LoadPlayerData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"player.dat"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dest_buf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읽어온 플레이어 데이터 출력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\t\t\t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레벨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공격력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방어력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i=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i&lt;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dest_count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++i)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Player* ptr =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dest_buf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[i];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"%19s\t%4d\t%4d\t%4d\n"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, ptr-&gt;name, ptr-&gt;level, ptr-&gt;attack, ptr-&gt;defense);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6826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  <a:r>
              <a:rPr lang="en-US" altLang="ko-KR" dirty="0"/>
              <a:t>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스트림</a:t>
            </a:r>
            <a:r>
              <a:rPr lang="en-US" altLang="ko-KR" sz="2400" dirty="0"/>
              <a:t>(Stream)</a:t>
            </a:r>
          </a:p>
          <a:p>
            <a:pPr lvl="1"/>
            <a:r>
              <a:rPr lang="ko-KR" altLang="en-US" sz="2000" dirty="0"/>
              <a:t>연속된 바이트 흐름</a:t>
            </a:r>
          </a:p>
          <a:p>
            <a:pPr lvl="1"/>
            <a:r>
              <a:rPr lang="ko-KR" altLang="en-US" sz="2000" dirty="0"/>
              <a:t>콘솔 </a:t>
            </a:r>
            <a:r>
              <a:rPr lang="en-US" altLang="ko-KR" sz="2000" dirty="0"/>
              <a:t>/ </a:t>
            </a:r>
            <a:r>
              <a:rPr lang="ko-KR" altLang="en-US" sz="2000" dirty="0"/>
              <a:t>파일 </a:t>
            </a:r>
            <a:r>
              <a:rPr lang="en-US" altLang="ko-KR" sz="2000" dirty="0"/>
              <a:t>/ </a:t>
            </a:r>
            <a:r>
              <a:rPr lang="ko-KR" altLang="en-US" sz="2000" dirty="0"/>
              <a:t>메모리 → 동일한 방식으로 처리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파일과 자원 관리</a:t>
            </a:r>
          </a:p>
          <a:p>
            <a:pPr lvl="1"/>
            <a:r>
              <a:rPr lang="ko-KR" altLang="en-US" sz="2000" dirty="0"/>
              <a:t>파일 </a:t>
            </a:r>
            <a:r>
              <a:rPr lang="en-US" altLang="ko-KR" sz="2000" dirty="0"/>
              <a:t>= OS </a:t>
            </a:r>
            <a:r>
              <a:rPr lang="ko-KR" altLang="en-US" sz="2000" dirty="0"/>
              <a:t>자원</a:t>
            </a:r>
            <a:r>
              <a:rPr lang="en-US" altLang="ko-KR" sz="2000" dirty="0"/>
              <a:t>:           fopen → </a:t>
            </a:r>
            <a:r>
              <a:rPr lang="ko-KR" altLang="en-US" sz="2000" dirty="0"/>
              <a:t>사용 → </a:t>
            </a:r>
            <a:r>
              <a:rPr lang="en-US" altLang="ko-KR" sz="2000" dirty="0"/>
              <a:t>fclose</a:t>
            </a:r>
          </a:p>
          <a:p>
            <a:pPr lvl="1"/>
            <a:r>
              <a:rPr lang="ko-KR" altLang="en-US" sz="2000" dirty="0"/>
              <a:t>메모리와 동일한 흐름</a:t>
            </a:r>
            <a:r>
              <a:rPr lang="en-US" altLang="ko-KR" sz="2000" dirty="0"/>
              <a:t>: malloc → </a:t>
            </a:r>
            <a:r>
              <a:rPr lang="ko-KR" altLang="en-US" sz="2000" dirty="0"/>
              <a:t>사용 → </a:t>
            </a:r>
            <a:r>
              <a:rPr lang="en-US" altLang="ko-KR" sz="2000" dirty="0"/>
              <a:t>free</a:t>
            </a:r>
          </a:p>
          <a:p>
            <a:pPr lvl="3"/>
            <a:endParaRPr lang="en-US" altLang="ko-KR" sz="1600" dirty="0"/>
          </a:p>
          <a:p>
            <a:r>
              <a:rPr lang="ko-KR" altLang="en-US" sz="2400" dirty="0"/>
              <a:t>텍스트 </a:t>
            </a:r>
            <a:r>
              <a:rPr lang="en-US" altLang="ko-KR" sz="2400" dirty="0"/>
              <a:t>vs </a:t>
            </a:r>
            <a:r>
              <a:rPr lang="ko-KR" altLang="en-US" sz="2400" dirty="0"/>
              <a:t>바이너리</a:t>
            </a:r>
          </a:p>
          <a:p>
            <a:pPr lvl="1"/>
            <a:r>
              <a:rPr lang="ko-KR" altLang="en-US" sz="2000" dirty="0"/>
              <a:t>텍스트</a:t>
            </a:r>
            <a:r>
              <a:rPr lang="en-US" altLang="ko-KR" sz="2000" dirty="0"/>
              <a:t>: </a:t>
            </a:r>
            <a:r>
              <a:rPr lang="ko-KR" altLang="en-US" sz="2000" dirty="0"/>
              <a:t>사람이 읽기 가능</a:t>
            </a:r>
            <a:r>
              <a:rPr lang="en-US" altLang="ko-KR" sz="2000" dirty="0"/>
              <a:t>, </a:t>
            </a:r>
            <a:r>
              <a:rPr lang="ko-KR" altLang="en-US" sz="2000" dirty="0"/>
              <a:t>변환 필요</a:t>
            </a:r>
          </a:p>
          <a:p>
            <a:pPr lvl="1"/>
            <a:r>
              <a:rPr lang="ko-KR" altLang="en-US" sz="2000" dirty="0"/>
              <a:t>바이너리</a:t>
            </a:r>
            <a:r>
              <a:rPr lang="en-US" altLang="ko-KR" sz="2000" dirty="0"/>
              <a:t>: </a:t>
            </a:r>
            <a:r>
              <a:rPr lang="ko-KR" altLang="en-US" sz="2000" dirty="0"/>
              <a:t>바이트 그대로 저장 → 속도 빠름 </a:t>
            </a:r>
            <a:r>
              <a:rPr lang="en-US" altLang="ko-KR" sz="2000" dirty="0"/>
              <a:t>/ </a:t>
            </a:r>
            <a:r>
              <a:rPr lang="ko-KR" altLang="en-US" sz="2000" dirty="0"/>
              <a:t>구조 단순</a:t>
            </a:r>
            <a:endParaRPr lang="en-US" altLang="ko-KR" sz="2000" dirty="0"/>
          </a:p>
          <a:p>
            <a:pPr lvl="2"/>
            <a:endParaRPr lang="ko-KR" altLang="en-US" sz="1600" dirty="0"/>
          </a:p>
          <a:p>
            <a:r>
              <a:rPr lang="ko-KR" altLang="en-US" sz="2400" dirty="0"/>
              <a:t>파일 처리</a:t>
            </a:r>
          </a:p>
          <a:p>
            <a:pPr lvl="1"/>
            <a:r>
              <a:rPr lang="en-US" altLang="ko-KR" sz="2000" dirty="0"/>
              <a:t>EOF vs </a:t>
            </a:r>
            <a:r>
              <a:rPr lang="ko-KR" altLang="en-US" sz="2000" dirty="0"/>
              <a:t>오류 구분 → </a:t>
            </a:r>
            <a:r>
              <a:rPr lang="en-US" altLang="ko-KR" sz="2000" dirty="0" err="1"/>
              <a:t>feof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ferror</a:t>
            </a:r>
            <a:endParaRPr lang="en-US" altLang="ko-KR" sz="2000" dirty="0"/>
          </a:p>
          <a:p>
            <a:pPr lvl="1"/>
            <a:r>
              <a:rPr lang="ko-KR" altLang="en-US" sz="2000" dirty="0"/>
              <a:t>반환값 검사 필수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8603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36CC2-A364-7954-6867-27246A4D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99BECF-AB14-0286-5647-C3AAA766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출력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BE91B1-EC2D-09A0-DD9A-23DF7C9B69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C04BD4C-CBCA-E565-2028-5A25AAF94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133946"/>
              </p:ext>
            </p:extLst>
          </p:nvPr>
        </p:nvGraphicFramePr>
        <p:xfrm>
          <a:off x="323528" y="1268760"/>
          <a:ext cx="8712967" cy="4312920"/>
        </p:xfrm>
        <a:graphic>
          <a:graphicData uri="http://schemas.openxmlformats.org/drawingml/2006/table">
            <a:tbl>
              <a:tblPr/>
              <a:tblGrid>
                <a:gridCol w="1340417">
                  <a:extLst>
                    <a:ext uri="{9D8B030D-6E8A-4147-A177-3AD203B41FA5}">
                      <a16:colId xmlns:a16="http://schemas.microsoft.com/office/drawing/2014/main" val="20053611"/>
                    </a:ext>
                  </a:extLst>
                </a:gridCol>
                <a:gridCol w="1762067">
                  <a:extLst>
                    <a:ext uri="{9D8B030D-6E8A-4147-A177-3AD203B41FA5}">
                      <a16:colId xmlns:a16="http://schemas.microsoft.com/office/drawing/2014/main" val="1524749387"/>
                    </a:ext>
                  </a:extLst>
                </a:gridCol>
                <a:gridCol w="5610483">
                  <a:extLst>
                    <a:ext uri="{9D8B030D-6E8A-4147-A177-3AD203B41FA5}">
                      <a16:colId xmlns:a16="http://schemas.microsoft.com/office/drawing/2014/main" val="1630107316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71914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printf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stdout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 문자열에 맞춰 표준 출력으로 출력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8776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fprintf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파일 스트림에 형식에 맞춰 출력</a:t>
                      </a:r>
                      <a:endParaRPr lang="ko-KR" altLang="en-US" sz="40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4614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sprintf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char* </a:t>
                      </a:r>
                      <a:r>
                        <a:rPr lang="ko-KR" alt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버퍼</a:t>
                      </a:r>
                      <a:endParaRPr lang="ko-KR" alt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형식에 맞춰 문자열 버퍼에 저장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79584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snprintf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char* </a:t>
                      </a:r>
                      <a:r>
                        <a:rPr lang="ko-KR" alt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버퍼</a:t>
                      </a:r>
                      <a:endParaRPr lang="ko-KR" alt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크기를 제한하여 안전하게 문자열 저장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6738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putchar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stdout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 출력</a:t>
                      </a:r>
                      <a:endParaRPr lang="ko-KR" altLang="en-US" sz="4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3707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fputc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파일 스트림에 문자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 출력</a:t>
                      </a:r>
                      <a:endParaRPr lang="ko-KR" altLang="en-US" sz="4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66197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puts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stdout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출력 후 자동 개행</a:t>
                      </a:r>
                      <a:endParaRPr lang="ko-KR" altLang="en-US" sz="4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4137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fputs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출력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자동 개행 없음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04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758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191A-614C-09A9-3485-F26C0D68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9221F-A2C7-0304-0F12-FF953BE3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CB1F6-AEDB-B301-4B05-2A9D76CEA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입력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634F9B-F89C-6C31-C14E-BC53370E40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8699B56-E1A1-205D-7FDF-A9EAD9A74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72683"/>
              </p:ext>
            </p:extLst>
          </p:nvPr>
        </p:nvGraphicFramePr>
        <p:xfrm>
          <a:off x="323527" y="1268760"/>
          <a:ext cx="8568953" cy="3327400"/>
        </p:xfrm>
        <a:graphic>
          <a:graphicData uri="http://schemas.openxmlformats.org/drawingml/2006/table">
            <a:tbl>
              <a:tblPr/>
              <a:tblGrid>
                <a:gridCol w="1296145">
                  <a:extLst>
                    <a:ext uri="{9D8B030D-6E8A-4147-A177-3AD203B41FA5}">
                      <a16:colId xmlns:a16="http://schemas.microsoft.com/office/drawing/2014/main" val="3345906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19822273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389152139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96895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scanf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stdin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형식에 맞게 표준 입력에서 읽기</a:t>
                      </a:r>
                      <a:endParaRPr lang="ko-KR" altLang="en-US" sz="40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71334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fscanf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파일 스트림에서 형식에 맞게 읽기</a:t>
                      </a:r>
                      <a:endParaRPr lang="ko-KR" altLang="en-US" sz="4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1131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sscanf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char* </a:t>
                      </a:r>
                      <a:r>
                        <a:rPr lang="ko-KR" alt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문자열</a:t>
                      </a:r>
                      <a:endParaRPr lang="ko-KR" alt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메모리 문자열을 형식에 맞게 해석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파싱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76685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getchar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stdin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 입력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7629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fgetc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파일 스트림에서 문자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 입력</a:t>
                      </a:r>
                      <a:endParaRPr lang="ko-KR" altLang="en-US" sz="4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07733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fgets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stdin / 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한 줄 문자열 입력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크기 제한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1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235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336B-D2E1-E691-342A-82043497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6B9ED-EC70-48CD-041F-948FFC6C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D0968-E73F-180B-E693-517E4B30F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관리 및 바이너리 입출력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8EA669-F0B1-07ED-9A1B-CDA15D8621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BA1BAD-62F2-42E1-4E8E-9E97776BA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16077"/>
              </p:ext>
            </p:extLst>
          </p:nvPr>
        </p:nvGraphicFramePr>
        <p:xfrm>
          <a:off x="563522" y="1196752"/>
          <a:ext cx="7968918" cy="4371744"/>
        </p:xfrm>
        <a:graphic>
          <a:graphicData uri="http://schemas.openxmlformats.org/drawingml/2006/table">
            <a:tbl>
              <a:tblPr/>
              <a:tblGrid>
                <a:gridCol w="1328153">
                  <a:extLst>
                    <a:ext uri="{9D8B030D-6E8A-4147-A177-3AD203B41FA5}">
                      <a16:colId xmlns:a16="http://schemas.microsoft.com/office/drawing/2014/main" val="1496565613"/>
                    </a:ext>
                  </a:extLst>
                </a:gridCol>
                <a:gridCol w="1277717">
                  <a:extLst>
                    <a:ext uri="{9D8B030D-6E8A-4147-A177-3AD203B41FA5}">
                      <a16:colId xmlns:a16="http://schemas.microsoft.com/office/drawing/2014/main" val="2499930283"/>
                    </a:ext>
                  </a:extLst>
                </a:gridCol>
                <a:gridCol w="5363048">
                  <a:extLst>
                    <a:ext uri="{9D8B030D-6E8A-4147-A177-3AD203B41FA5}">
                      <a16:colId xmlns:a16="http://schemas.microsoft.com/office/drawing/2014/main" val="269629603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5069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fopen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파일</a:t>
                      </a:r>
                      <a:endParaRPr lang="ko-KR" alt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열기 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스트림 생성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35158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fclose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파일</a:t>
                      </a:r>
                      <a:endParaRPr lang="ko-KR" alt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닫기 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자원 반환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40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94711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fread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파일에서 바이트 단위로 읽기</a:t>
                      </a:r>
                      <a:endParaRPr lang="ko-KR" altLang="en-US" sz="400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40067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fwrite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파일에 바이트 단위로 쓰기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72621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fseek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위치 표시자 이동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91746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ftell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파일 위치 반환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4055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feof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끝 도달 여부 확인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62629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ferror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오류 발생 여부 확인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9888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fflush</a:t>
                      </a:r>
                      <a:endParaRPr lang="en-US" sz="4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FILE*</a:t>
                      </a:r>
                      <a:endParaRPr lang="en-US" sz="4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해당 스트림의 출력 버퍼를 즉시 비움</a:t>
                      </a:r>
                      <a:endParaRPr lang="ko-KR" altLang="en-US" sz="4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400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764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93FE-F978-489D-9126-A8BCA433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6C866-BC09-44A4-A8FC-2903F6F16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 파일 생성 및 분석 </a:t>
            </a:r>
          </a:p>
          <a:p>
            <a:r>
              <a:rPr lang="en-US" altLang="ko-KR" dirty="0"/>
              <a:t>CSV </a:t>
            </a:r>
            <a:r>
              <a:rPr lang="ko-KR" altLang="en-US" dirty="0"/>
              <a:t>읽기 및 정렬 </a:t>
            </a:r>
            <a:r>
              <a:rPr lang="en-US" altLang="ko-KR" dirty="0"/>
              <a:t>+ </a:t>
            </a:r>
            <a:r>
              <a:rPr lang="ko-KR" altLang="en-US" dirty="0"/>
              <a:t>바이너리 저장</a:t>
            </a:r>
            <a:r>
              <a:rPr lang="en-US" altLang="ko-KR" dirty="0"/>
              <a:t>/</a:t>
            </a:r>
            <a:r>
              <a:rPr lang="ko-KR" altLang="en-US" dirty="0"/>
              <a:t>로드 </a:t>
            </a:r>
          </a:p>
          <a:p>
            <a:r>
              <a:rPr lang="ko-KR" altLang="en-US" dirty="0"/>
              <a:t>파일 크기 계산 및 파일 복사 </a:t>
            </a:r>
          </a:p>
          <a:p>
            <a:r>
              <a:rPr lang="ko-KR" altLang="en-US" dirty="0"/>
              <a:t>구조체 랜덤 접근 수정 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23ABA-7B78-40C3-86E6-3BA9A6AC80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29459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200" b="1" i="0" u="none" strike="noStrike" dirty="0">
            <a:solidFill>
              <a:srgbClr val="C18401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8640</TotalTime>
  <Words>4928</Words>
  <Application>Microsoft Office PowerPoint</Application>
  <PresentationFormat>화면 슬라이드 쇼(4:3)</PresentationFormat>
  <Paragraphs>629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1" baseType="lpstr">
      <vt:lpstr>Arial</vt:lpstr>
      <vt:lpstr>굴림</vt:lpstr>
      <vt:lpstr>D2Coding</vt:lpstr>
      <vt:lpstr>Consolas</vt:lpstr>
      <vt:lpstr>HY견고딕</vt:lpstr>
      <vt:lpstr>나눔바른고딕</vt:lpstr>
      <vt:lpstr>가을체</vt:lpstr>
      <vt:lpstr>Wingdings</vt:lpstr>
      <vt:lpstr>기본 디자인</vt:lpstr>
      <vt:lpstr>16. 자료와 파일 입출력 (Data Structure and File I/O)</vt:lpstr>
      <vt:lpstr>16.1 스트림(Stream)</vt:lpstr>
      <vt:lpstr>16.1 스트림(Stream)</vt:lpstr>
      <vt:lpstr>16.1 스트림(Stream)</vt:lpstr>
      <vt:lpstr>16.2 파일 스트림 생성/종료 fopen, fclose</vt:lpstr>
      <vt:lpstr>16.2.1 파일 열기 모드</vt:lpstr>
      <vt:lpstr>16.2.1 파일 열기 모드</vt:lpstr>
      <vt:lpstr>16.2.2 EOF</vt:lpstr>
      <vt:lpstr>16.2.2 feof / ferror</vt:lpstr>
      <vt:lpstr>16.3 형식 기반 입출력 함수 계열</vt:lpstr>
      <vt:lpstr>16.3.1 형식 기반 입출력 예제</vt:lpstr>
      <vt:lpstr>16.3.2 snprintf</vt:lpstr>
      <vt:lpstr>16.3.3 형식 기반 입력 - scanf 계열</vt:lpstr>
      <vt:lpstr>16.3.3 형식 기반 입력 - scanf 계열</vt:lpstr>
      <vt:lpstr>16.3.4 sscanf</vt:lpstr>
      <vt:lpstr>16.3.4 sscanf</vt:lpstr>
      <vt:lpstr>16.3.5 fscanf</vt:lpstr>
      <vt:lpstr>16.4 문자열 단위 입출력 함수 계열</vt:lpstr>
      <vt:lpstr>16.4.1 문자열 단위 입출력 예제</vt:lpstr>
      <vt:lpstr>16.4.2 문자열 단위 입출력</vt:lpstr>
      <vt:lpstr>16.4.2 문자열 단위 입출력 - 예제</vt:lpstr>
      <vt:lpstr>16.5 Text File 입출력</vt:lpstr>
      <vt:lpstr>16.5.1 fprintf</vt:lpstr>
      <vt:lpstr>16.5.2 fgets + sscanf</vt:lpstr>
      <vt:lpstr>16.6 바이너리 파일 입출력 (fread, fwrite)</vt:lpstr>
      <vt:lpstr>16.6.1~2 fwrite / fread</vt:lpstr>
      <vt:lpstr>16.6.3 copy binary file</vt:lpstr>
      <vt:lpstr>16.7.1 파일 위치 표시자</vt:lpstr>
      <vt:lpstr>16.7.2~3 현재 위치: ftell - 파일 크기 구하기</vt:lpstr>
      <vt:lpstr>16.7.4 rewind</vt:lpstr>
      <vt:lpstr>16.8 파일 입출력 응용</vt:lpstr>
      <vt:lpstr>16.8.1~2 csv 스키마 - 구조체 자료 구조</vt:lpstr>
      <vt:lpstr>16.8.3 CSV 파일 읽기 예제 (fgets + sscanf)</vt:lpstr>
      <vt:lpstr>16.8.4 Data 파일 Binary 예제</vt:lpstr>
      <vt:lpstr>16.8.4.1 바이너리 저장 함수</vt:lpstr>
      <vt:lpstr>16.8.4.2 바이너리 로드 함수</vt:lpstr>
      <vt:lpstr>16.8.4.3 저장/로드 실행</vt:lpstr>
      <vt:lpstr>학습 정리</vt:lpstr>
      <vt:lpstr>학습 정리</vt:lpstr>
      <vt:lpstr>학습 정리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300</cp:revision>
  <dcterms:created xsi:type="dcterms:W3CDTF">2003-11-30T16:03:20Z</dcterms:created>
  <dcterms:modified xsi:type="dcterms:W3CDTF">2026-06-02T07:19:50Z</dcterms:modified>
</cp:coreProperties>
</file>